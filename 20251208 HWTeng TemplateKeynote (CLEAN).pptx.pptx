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753600" cy="7315200"/>
  <p:notesSz cx="6858000" cy="9144000"/>
  <p:embeddedFontLst>
    <p:embeddedFont>
      <p:font typeface="Noto Sans T Chinese Bold" panose="020B0800000000000000" pitchFamily="34" charset="-128"/>
      <p:regular r:id="rId19"/>
      <p:bold r:id="rId20"/>
    </p:embeddedFont>
    <p:embeddedFont>
      <p:font typeface="Calibri" panose="020F0502020204030204" pitchFamily="34" charset="0"/>
      <p:regular r:id="rId21"/>
      <p:bold r:id="rId22"/>
      <p:italic r:id="rId23"/>
      <p:boldItalic r:id="rId24"/>
    </p:embeddedFont>
    <p:embeddedFont>
      <p:font typeface="Helvetica" pitchFamily="2" charset="0"/>
      <p:regular r:id="rId25"/>
    </p:embeddedFont>
    <p:embeddedFont>
      <p:font typeface="Helvetica Bold" pitchFamily="2" charset="0"/>
      <p:regular r:id="rId26"/>
      <p:italic r:id="rId27"/>
      <p:boldItalic r:id="rId28"/>
    </p:embeddedFont>
    <p:embeddedFont>
      <p:font typeface="TT Commons Pro Bold" panose="020B0103030102020204" pitchFamily="34" charset="77"/>
      <p:regular r:id="rId29"/>
      <p:bold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77462" autoAdjust="0"/>
  </p:normalViewPr>
  <p:slideViewPr>
    <p:cSldViewPr>
      <p:cViewPr varScale="1">
        <p:scale>
          <a:sx n="80" d="100"/>
          <a:sy n="80" d="100"/>
        </p:scale>
        <p:origin x="2312"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8C09C5-1C71-D849-8FE8-71360F73A9A9}" type="datetimeFigureOut">
              <a:rPr lang="en-VN" smtClean="0"/>
              <a:t>8/12/25</a:t>
            </a:fld>
            <a:endParaRPr lang="en-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410384-FE1C-134F-8F67-E9C4AC5598B0}" type="slidenum">
              <a:rPr lang="en-VN" smtClean="0"/>
              <a:t>‹#›</a:t>
            </a:fld>
            <a:endParaRPr lang="en-VN"/>
          </a:p>
        </p:txBody>
      </p:sp>
    </p:spTree>
    <p:extLst>
      <p:ext uri="{BB962C8B-B14F-4D97-AF65-F5344CB8AC3E}">
        <p14:creationId xmlns:p14="http://schemas.microsoft.com/office/powerpoint/2010/main" val="25187782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rPr>
              <a:t>Opening slide</a:t>
            </a:r>
          </a:p>
          <a:p>
            <a:pPr algn="l"/>
            <a:r>
              <a:rPr lang="en-US" b="0" i="0" u="none" strike="noStrike" dirty="0">
                <a:solidFill>
                  <a:srgbClr val="000000"/>
                </a:solidFill>
                <a:effectLst/>
              </a:rPr>
              <a:t>“Hello everyone, and thank you for joining us today.</a:t>
            </a:r>
            <a:br>
              <a:rPr lang="en-US" b="0" i="0" u="none" strike="noStrike" dirty="0">
                <a:solidFill>
                  <a:srgbClr val="000000"/>
                </a:solidFill>
                <a:effectLst/>
              </a:rPr>
            </a:br>
            <a:r>
              <a:rPr lang="en-US" b="0" i="0" u="none" strike="noStrike" dirty="0">
                <a:solidFill>
                  <a:srgbClr val="000000"/>
                </a:solidFill>
                <a:effectLst/>
              </a:rPr>
              <a:t>Our project is titled </a:t>
            </a:r>
            <a:r>
              <a:rPr lang="en-US" b="0" i="1" u="none" strike="noStrike" dirty="0">
                <a:solidFill>
                  <a:srgbClr val="000000"/>
                </a:solidFill>
                <a:effectLst/>
              </a:rPr>
              <a:t>‘Next-Gen Credit Risk and Fraud Detection with Explainable AI’</a:t>
            </a:r>
            <a:r>
              <a:rPr lang="en-US" b="0" i="0" u="none" strike="noStrike" dirty="0">
                <a:solidFill>
                  <a:srgbClr val="000000"/>
                </a:solidFill>
                <a:effectLst/>
              </a:rPr>
              <a:t>. This work is a collaboration between Cheng-Min Tsai, Nguyen-Thu Thuy, and Professor </a:t>
            </a:r>
            <a:r>
              <a:rPr lang="en-US" b="0" i="0" u="none" strike="noStrike" dirty="0" err="1">
                <a:solidFill>
                  <a:srgbClr val="000000"/>
                </a:solidFill>
                <a:effectLst/>
              </a:rPr>
              <a:t>Huei</a:t>
            </a:r>
            <a:r>
              <a:rPr lang="en-US" b="0" i="0" u="none" strike="noStrike" dirty="0">
                <a:solidFill>
                  <a:srgbClr val="000000"/>
                </a:solidFill>
                <a:effectLst/>
              </a:rPr>
              <a:t>-Wen Teng here at NYCU.</a:t>
            </a:r>
          </a:p>
          <a:p>
            <a:pPr algn="l"/>
            <a:r>
              <a:rPr lang="en-US" b="0" i="0" u="none" strike="noStrike" dirty="0">
                <a:solidFill>
                  <a:srgbClr val="000000"/>
                </a:solidFill>
                <a:effectLst/>
              </a:rPr>
              <a:t>In this study, we explore how machine learning — especially explainable AI — can improve the accuracy and interpretability of risk and fraud detection in modern financial systems. As digital finance grows rapidly, traditional models are no longer sufficient, so our goal is to build smarter, more transparent, and more reliable solutions.</a:t>
            </a:r>
          </a:p>
          <a:p>
            <a:pPr algn="l"/>
            <a:r>
              <a:rPr lang="en-US" b="0" i="0" u="none" strike="noStrike" dirty="0">
                <a:solidFill>
                  <a:srgbClr val="000000"/>
                </a:solidFill>
                <a:effectLst/>
              </a:rPr>
              <a:t>Let’s begin.”</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a:t>
            </a:fld>
            <a:endParaRPr lang="en-VN"/>
          </a:p>
        </p:txBody>
      </p:sp>
    </p:spTree>
    <p:extLst>
      <p:ext uri="{BB962C8B-B14F-4D97-AF65-F5344CB8AC3E}">
        <p14:creationId xmlns:p14="http://schemas.microsoft.com/office/powerpoint/2010/main" val="37603656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VN" b="1" i="0" u="none" strike="noStrike" dirty="0">
                <a:solidFill>
                  <a:srgbClr val="000000"/>
                </a:solidFill>
                <a:effectLst/>
              </a:rPr>
              <a:t>🎤 </a:t>
            </a:r>
            <a:r>
              <a:rPr lang="en-US" b="1" i="0" u="none" strike="noStrike" dirty="0">
                <a:solidFill>
                  <a:srgbClr val="000000"/>
                </a:solidFill>
                <a:effectLst/>
              </a:rPr>
              <a:t>Outline Slide </a:t>
            </a:r>
          </a:p>
          <a:p>
            <a:pPr algn="l"/>
            <a:r>
              <a:rPr lang="en-US" b="0" i="0" u="none" strike="noStrike" dirty="0">
                <a:solidFill>
                  <a:srgbClr val="000000"/>
                </a:solidFill>
                <a:effectLst/>
              </a:rPr>
              <a:t>“Here is a quick overview of today’s presentation.</a:t>
            </a:r>
          </a:p>
          <a:p>
            <a:pPr algn="l"/>
            <a:r>
              <a:rPr lang="en-US" b="0" i="0" u="none" strike="noStrike" dirty="0">
                <a:solidFill>
                  <a:srgbClr val="000000"/>
                </a:solidFill>
                <a:effectLst/>
              </a:rPr>
              <a:t>We’ll start with the </a:t>
            </a:r>
            <a:r>
              <a:rPr lang="en-US" b="1" i="0" u="none" strike="noStrike" dirty="0">
                <a:solidFill>
                  <a:srgbClr val="000000"/>
                </a:solidFill>
                <a:effectLst/>
              </a:rPr>
              <a:t>motivation</a:t>
            </a:r>
            <a:r>
              <a:rPr lang="en-US" b="0" i="0" u="none" strike="noStrike" dirty="0">
                <a:solidFill>
                  <a:srgbClr val="000000"/>
                </a:solidFill>
                <a:effectLst/>
              </a:rPr>
              <a:t>, discussing why credit risk and fraud detection are becoming more challenging in the digital era.</a:t>
            </a:r>
            <a:br>
              <a:rPr lang="en-US" b="0" i="0" u="none" strike="noStrike" dirty="0">
                <a:solidFill>
                  <a:srgbClr val="000000"/>
                </a:solidFill>
                <a:effectLst/>
              </a:rPr>
            </a:br>
            <a:r>
              <a:rPr lang="en-US" b="0" i="0" u="none" strike="noStrike" dirty="0">
                <a:solidFill>
                  <a:srgbClr val="000000"/>
                </a:solidFill>
                <a:effectLst/>
              </a:rPr>
              <a:t>Next, I’ll walk through the </a:t>
            </a:r>
            <a:r>
              <a:rPr lang="en-US" b="1" i="0" u="none" strike="noStrike" dirty="0">
                <a:solidFill>
                  <a:srgbClr val="000000"/>
                </a:solidFill>
                <a:effectLst/>
              </a:rPr>
              <a:t>overall study plan</a:t>
            </a:r>
            <a:r>
              <a:rPr lang="en-US" b="0" i="0" u="none" strike="noStrike" dirty="0">
                <a:solidFill>
                  <a:srgbClr val="000000"/>
                </a:solidFill>
                <a:effectLst/>
              </a:rPr>
              <a:t>, showing how we structured our approach from data to modeling.</a:t>
            </a:r>
          </a:p>
          <a:p>
            <a:pPr algn="l"/>
            <a:r>
              <a:rPr lang="en-US" b="0" i="0" u="none" strike="noStrike" dirty="0">
                <a:solidFill>
                  <a:srgbClr val="000000"/>
                </a:solidFill>
                <a:effectLst/>
              </a:rPr>
              <a:t>Then, we introduce the </a:t>
            </a:r>
            <a:r>
              <a:rPr lang="en-US" b="1" i="0" u="none" strike="noStrike" dirty="0">
                <a:solidFill>
                  <a:srgbClr val="000000"/>
                </a:solidFill>
                <a:effectLst/>
              </a:rPr>
              <a:t>datasets</a:t>
            </a:r>
            <a:r>
              <a:rPr lang="en-US" b="0" i="0" u="none" strike="noStrike" dirty="0">
                <a:solidFill>
                  <a:srgbClr val="000000"/>
                </a:solidFill>
                <a:effectLst/>
              </a:rPr>
              <a:t>, followed by a clear definition of what we consider to be potential </a:t>
            </a:r>
            <a:r>
              <a:rPr lang="en-US" b="1" i="0" u="none" strike="noStrike" dirty="0">
                <a:solidFill>
                  <a:srgbClr val="000000"/>
                </a:solidFill>
                <a:effectLst/>
              </a:rPr>
              <a:t>fraud behaviors</a:t>
            </a:r>
            <a:r>
              <a:rPr lang="en-US" b="0" i="0" u="none" strike="noStrike" dirty="0">
                <a:solidFill>
                  <a:srgbClr val="000000"/>
                </a:solidFill>
                <a:effectLst/>
              </a:rPr>
              <a:t>.</a:t>
            </a:r>
            <a:br>
              <a:rPr lang="en-US" b="0" i="0" u="none" strike="noStrike" dirty="0">
                <a:solidFill>
                  <a:srgbClr val="000000"/>
                </a:solidFill>
                <a:effectLst/>
              </a:rPr>
            </a:br>
            <a:r>
              <a:rPr lang="en-US" b="0" i="0" u="none" strike="noStrike" dirty="0">
                <a:solidFill>
                  <a:srgbClr val="000000"/>
                </a:solidFill>
                <a:effectLst/>
              </a:rPr>
              <a:t>After that, we move into </a:t>
            </a:r>
            <a:r>
              <a:rPr lang="en-US" b="1" i="0" u="none" strike="noStrike" dirty="0">
                <a:solidFill>
                  <a:srgbClr val="000000"/>
                </a:solidFill>
                <a:effectLst/>
              </a:rPr>
              <a:t>data cleaning</a:t>
            </a:r>
            <a:r>
              <a:rPr lang="en-US" b="0" i="0" u="none" strike="noStrike" dirty="0">
                <a:solidFill>
                  <a:srgbClr val="000000"/>
                </a:solidFill>
                <a:effectLst/>
              </a:rPr>
              <a:t> and preprocessing, which is critical for building reliable models.</a:t>
            </a:r>
          </a:p>
          <a:p>
            <a:pPr algn="l"/>
            <a:r>
              <a:rPr lang="en-US" b="0" i="0" u="none" strike="noStrike" dirty="0">
                <a:solidFill>
                  <a:srgbClr val="000000"/>
                </a:solidFill>
                <a:effectLst/>
              </a:rPr>
              <a:t>We then examine several </a:t>
            </a:r>
            <a:r>
              <a:rPr lang="en-US" b="1" i="0" u="none" strike="noStrike" dirty="0">
                <a:solidFill>
                  <a:srgbClr val="000000"/>
                </a:solidFill>
                <a:effectLst/>
              </a:rPr>
              <a:t>EDA charts</a:t>
            </a:r>
            <a:r>
              <a:rPr lang="en-US" b="0" i="0" u="none" strike="noStrike" dirty="0">
                <a:solidFill>
                  <a:srgbClr val="000000"/>
                </a:solidFill>
                <a:effectLst/>
              </a:rPr>
              <a:t> to identify unusual patterns in the data.</a:t>
            </a:r>
            <a:br>
              <a:rPr lang="en-US" b="0" i="0" u="none" strike="noStrike" dirty="0">
                <a:solidFill>
                  <a:srgbClr val="000000"/>
                </a:solidFill>
                <a:effectLst/>
              </a:rPr>
            </a:br>
            <a:r>
              <a:rPr lang="en-US" b="0" i="0" u="none" strike="noStrike" dirty="0">
                <a:solidFill>
                  <a:srgbClr val="000000"/>
                </a:solidFill>
                <a:effectLst/>
              </a:rPr>
              <a:t>Finally, we wrap up with the </a:t>
            </a:r>
            <a:r>
              <a:rPr lang="en-US" b="1" i="0" u="none" strike="noStrike" dirty="0">
                <a:solidFill>
                  <a:srgbClr val="000000"/>
                </a:solidFill>
                <a:effectLst/>
              </a:rPr>
              <a:t>conclusion</a:t>
            </a:r>
            <a:r>
              <a:rPr lang="en-US" b="0" i="0" u="none" strike="noStrike" dirty="0">
                <a:solidFill>
                  <a:srgbClr val="000000"/>
                </a:solidFill>
                <a:effectLst/>
              </a:rPr>
              <a:t>—highlighting key insights and the best-performing model.</a:t>
            </a:r>
          </a:p>
          <a:p>
            <a:pPr algn="l"/>
            <a:r>
              <a:rPr lang="en-US" b="0" i="0" u="none" strike="noStrike" dirty="0">
                <a:solidFill>
                  <a:srgbClr val="000000"/>
                </a:solidFill>
                <a:effectLst/>
              </a:rPr>
              <a:t>Now let’s begin with the motivation.”</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2</a:t>
            </a:fld>
            <a:endParaRPr lang="en-VN"/>
          </a:p>
        </p:txBody>
      </p:sp>
    </p:spTree>
    <p:extLst>
      <p:ext uri="{BB962C8B-B14F-4D97-AF65-F5344CB8AC3E}">
        <p14:creationId xmlns:p14="http://schemas.microsoft.com/office/powerpoint/2010/main" val="28239719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rPr>
              <a:t>“Digital finance today operates at massive scale and incredible speed. This brings many benefits, but it also creates fast-changing credit risks and increasingly sophisticated fraud activities.</a:t>
            </a:r>
          </a:p>
          <a:p>
            <a:pPr algn="l"/>
            <a:r>
              <a:rPr lang="en-US" b="0" i="0" u="none" strike="noStrike" dirty="0">
                <a:solidFill>
                  <a:srgbClr val="000000"/>
                </a:solidFill>
                <a:effectLst/>
              </a:rPr>
              <a:t>Traditional rule-based systems and simple linear models are no longer enough, because they cannot capture the complex and evolving behavior of modern users and fraudsters. Fraud patterns change quickly, and static systems fall behind almost immediately.</a:t>
            </a:r>
          </a:p>
          <a:p>
            <a:pPr algn="l"/>
            <a:r>
              <a:rPr lang="en-US" b="0" i="0" u="none" strike="noStrike" dirty="0">
                <a:solidFill>
                  <a:srgbClr val="000000"/>
                </a:solidFill>
                <a:effectLst/>
              </a:rPr>
              <a:t>At the same time, financial regulators now expect transparency, fairness, and </a:t>
            </a:r>
            <a:r>
              <a:rPr lang="en-US" b="0" i="0" u="none" strike="noStrike" dirty="0" err="1">
                <a:solidFill>
                  <a:srgbClr val="000000"/>
                </a:solidFill>
                <a:effectLst/>
              </a:rPr>
              <a:t>explainability</a:t>
            </a:r>
            <a:r>
              <a:rPr lang="en-US" b="0" i="0" u="none" strike="noStrike" dirty="0">
                <a:solidFill>
                  <a:srgbClr val="000000"/>
                </a:solidFill>
                <a:effectLst/>
              </a:rPr>
              <a:t> in every model that is deployed. So, it’s no longer enough for a model to be accurate — it must also be interpretable and trustworthy.</a:t>
            </a:r>
          </a:p>
          <a:p>
            <a:pPr algn="l"/>
            <a:r>
              <a:rPr lang="en-US" b="0" i="0" u="none" strike="noStrike" dirty="0">
                <a:solidFill>
                  <a:srgbClr val="000000"/>
                </a:solidFill>
                <a:effectLst/>
              </a:rPr>
              <a:t>This creates a clear need for approaches that combine strong predictive performance with high interpretability.</a:t>
            </a:r>
          </a:p>
          <a:p>
            <a:pPr algn="l"/>
            <a:r>
              <a:rPr lang="en-US" b="0" i="0" u="none" strike="noStrike" dirty="0">
                <a:solidFill>
                  <a:srgbClr val="000000"/>
                </a:solidFill>
                <a:effectLst/>
              </a:rPr>
              <a:t>In this study, I explore how machine learning, together with explainable AI techniques, can improve both risk detection and fraud detection. The goal is to develop models that are accurate, adaptive, and suitable for real-world financial applications.”</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3</a:t>
            </a:fld>
            <a:endParaRPr lang="en-VN"/>
          </a:p>
        </p:txBody>
      </p:sp>
    </p:spTree>
    <p:extLst>
      <p:ext uri="{BB962C8B-B14F-4D97-AF65-F5344CB8AC3E}">
        <p14:creationId xmlns:p14="http://schemas.microsoft.com/office/powerpoint/2010/main" val="33942028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“Overview Study Plan”</a:t>
            </a:r>
          </a:p>
          <a:p>
            <a:pPr algn="l"/>
            <a:r>
              <a:rPr lang="en-US" b="0" i="0" u="none" strike="noStrike" dirty="0">
                <a:solidFill>
                  <a:srgbClr val="000000"/>
                </a:solidFill>
                <a:effectLst/>
              </a:rPr>
              <a:t>“In this slide, I will give a quick overview of the entire study workflow.</a:t>
            </a:r>
          </a:p>
          <a:p>
            <a:pPr algn="l"/>
            <a:r>
              <a:rPr lang="en-US" b="0" i="0" u="none" strike="noStrike" dirty="0">
                <a:solidFill>
                  <a:srgbClr val="000000"/>
                </a:solidFill>
                <a:effectLst/>
              </a:rPr>
              <a:t>We start with three raw datasets: card information, user profiles, and transaction records, along with the fraud labels. These datasets are merged together, and we also create new variables such as hourly transaction volume to capture behavioral patterns.</a:t>
            </a:r>
          </a:p>
          <a:p>
            <a:pPr algn="l"/>
            <a:r>
              <a:rPr lang="en-US" b="0" i="0" u="none" strike="noStrike" dirty="0">
                <a:solidFill>
                  <a:srgbClr val="000000"/>
                </a:solidFill>
                <a:effectLst/>
              </a:rPr>
              <a:t>Next, the data processing stage includes removing columns with too many missing values, converting all features to numeric, imputing missing entries, and applying both Z-score standardization and Min–Max scaling. After processing, we split the data into an 80% training set and a 20% testing set, and extract our final feature matrix X and target label Y.</a:t>
            </a:r>
          </a:p>
          <a:p>
            <a:pPr algn="l"/>
            <a:r>
              <a:rPr lang="en-US" b="0" i="0" u="none" strike="noStrike" dirty="0">
                <a:solidFill>
                  <a:srgbClr val="000000"/>
                </a:solidFill>
                <a:effectLst/>
              </a:rPr>
              <a:t>Model training involves five-fold cross-validation to ensure stability and avoid overfitting. We compare four machine learning models: Logistic Regression, LDA, QDA, and </a:t>
            </a:r>
            <a:r>
              <a:rPr lang="en-US" b="0" i="0" u="none" strike="noStrike" dirty="0" err="1">
                <a:solidFill>
                  <a:srgbClr val="000000"/>
                </a:solidFill>
                <a:effectLst/>
              </a:rPr>
              <a:t>XGBoost</a:t>
            </a:r>
            <a:r>
              <a:rPr lang="en-US" b="0" i="0" u="none" strike="noStrike" dirty="0">
                <a:solidFill>
                  <a:srgbClr val="000000"/>
                </a:solidFill>
                <a:effectLst/>
              </a:rPr>
              <a:t>. We also evaluate multiple feature selection methods, including Lasso and Ridge with different regularization strengths.</a:t>
            </a:r>
          </a:p>
          <a:p>
            <a:pPr algn="l"/>
            <a:r>
              <a:rPr lang="en-US" b="0" i="0" u="none" strike="noStrike" dirty="0">
                <a:solidFill>
                  <a:srgbClr val="000000"/>
                </a:solidFill>
                <a:effectLst/>
              </a:rPr>
              <a:t>Finally, we assess all model combinations using F1 score, recall, precision, ROC-AUC, and PR-AUC, and select the best-performing pipeline as our final fraud detection model.”</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4</a:t>
            </a:fld>
            <a:endParaRPr lang="en-VN"/>
          </a:p>
        </p:txBody>
      </p:sp>
    </p:spTree>
    <p:extLst>
      <p:ext uri="{BB962C8B-B14F-4D97-AF65-F5344CB8AC3E}">
        <p14:creationId xmlns:p14="http://schemas.microsoft.com/office/powerpoint/2010/main" val="24207817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Intro Datasets</a:t>
            </a:r>
          </a:p>
          <a:p>
            <a:pPr algn="l"/>
            <a:r>
              <a:rPr lang="en-US" b="0" i="0" u="none" strike="noStrike" dirty="0">
                <a:solidFill>
                  <a:srgbClr val="000000"/>
                </a:solidFill>
                <a:effectLst/>
              </a:rPr>
              <a:t>“For this project, we used the financial transaction datasets that our teacher provided from Kaggle, introduced by Chrissy. The dataset is quite comprehensive and is designed for fraud and credit risk analytics.</a:t>
            </a:r>
          </a:p>
          <a:p>
            <a:pPr algn="l"/>
            <a:r>
              <a:rPr lang="en-US" b="0" i="0" u="none" strike="noStrike" dirty="0">
                <a:solidFill>
                  <a:srgbClr val="000000"/>
                </a:solidFill>
                <a:effectLst/>
              </a:rPr>
              <a:t>It consists of </a:t>
            </a:r>
            <a:r>
              <a:rPr lang="en-US" b="1" i="0" u="none" strike="noStrike" dirty="0">
                <a:solidFill>
                  <a:srgbClr val="000000"/>
                </a:solidFill>
                <a:effectLst/>
              </a:rPr>
              <a:t>three main tables</a:t>
            </a:r>
            <a:r>
              <a:rPr lang="en-US" b="0" i="0" u="none" strike="noStrike" dirty="0">
                <a:solidFill>
                  <a:srgbClr val="000000"/>
                </a:solidFill>
                <a:effectLst/>
              </a:rPr>
              <a:t>:</a:t>
            </a:r>
            <a:br>
              <a:rPr lang="en-US" b="0" i="0" u="none" strike="noStrike" dirty="0">
                <a:solidFill>
                  <a:srgbClr val="000000"/>
                </a:solidFill>
                <a:effectLst/>
              </a:rPr>
            </a:br>
            <a:r>
              <a:rPr lang="en-US" b="1" i="0" u="none" strike="noStrike" dirty="0">
                <a:solidFill>
                  <a:srgbClr val="000000"/>
                </a:solidFill>
                <a:effectLst/>
              </a:rPr>
              <a:t>Cards</a:t>
            </a:r>
            <a:r>
              <a:rPr lang="en-US" b="0" i="0" u="none" strike="noStrike" dirty="0">
                <a:solidFill>
                  <a:srgbClr val="000000"/>
                </a:solidFill>
                <a:effectLst/>
              </a:rPr>
              <a:t>, </a:t>
            </a:r>
            <a:r>
              <a:rPr lang="en-US" b="1" i="0" u="none" strike="noStrike" dirty="0">
                <a:solidFill>
                  <a:srgbClr val="000000"/>
                </a:solidFill>
                <a:effectLst/>
              </a:rPr>
              <a:t>Transactions</a:t>
            </a:r>
            <a:r>
              <a:rPr lang="en-US" b="0" i="0" u="none" strike="noStrike" dirty="0">
                <a:solidFill>
                  <a:srgbClr val="000000"/>
                </a:solidFill>
                <a:effectLst/>
              </a:rPr>
              <a:t>, and </a:t>
            </a:r>
            <a:r>
              <a:rPr lang="en-US" b="1" i="0" u="none" strike="noStrike" dirty="0">
                <a:solidFill>
                  <a:srgbClr val="000000"/>
                </a:solidFill>
                <a:effectLst/>
              </a:rPr>
              <a:t>Users</a:t>
            </a:r>
            <a:r>
              <a:rPr lang="en-US" b="0" i="0" u="none" strike="noStrike" dirty="0">
                <a:solidFill>
                  <a:srgbClr val="000000"/>
                </a:solidFill>
                <a:effectLst/>
              </a:rPr>
              <a:t>.</a:t>
            </a:r>
            <a:br>
              <a:rPr lang="en-US" b="0" i="0" u="none" strike="noStrike" dirty="0">
                <a:solidFill>
                  <a:srgbClr val="000000"/>
                </a:solidFill>
                <a:effectLst/>
              </a:rPr>
            </a:br>
            <a:r>
              <a:rPr lang="en-US" b="0" i="0" u="none" strike="noStrike" dirty="0">
                <a:solidFill>
                  <a:srgbClr val="000000"/>
                </a:solidFill>
                <a:effectLst/>
              </a:rPr>
              <a:t>Each table contributes different types of information.</a:t>
            </a:r>
          </a:p>
          <a:p>
            <a:pPr algn="l"/>
            <a:r>
              <a:rPr lang="en-US" b="0" i="0" u="none" strike="noStrike" dirty="0">
                <a:solidFill>
                  <a:srgbClr val="000000"/>
                </a:solidFill>
                <a:effectLst/>
              </a:rPr>
              <a:t>The </a:t>
            </a:r>
            <a:r>
              <a:rPr lang="en-US" b="0" i="1" u="none" strike="noStrike" dirty="0">
                <a:solidFill>
                  <a:srgbClr val="000000"/>
                </a:solidFill>
                <a:effectLst/>
              </a:rPr>
              <a:t>Cards</a:t>
            </a:r>
            <a:r>
              <a:rPr lang="en-US" b="0" i="0" u="none" strike="noStrike" dirty="0">
                <a:solidFill>
                  <a:srgbClr val="000000"/>
                </a:solidFill>
                <a:effectLst/>
              </a:rPr>
              <a:t> dataset includes fields such as card ID, card brand, card type, expiration date, and whether the card uses a chip.</a:t>
            </a:r>
            <a:br>
              <a:rPr lang="en-US" b="0" i="0" u="none" strike="noStrike" dirty="0">
                <a:solidFill>
                  <a:srgbClr val="000000"/>
                </a:solidFill>
                <a:effectLst/>
              </a:rPr>
            </a:br>
            <a:r>
              <a:rPr lang="en-US" b="0" i="0" u="none" strike="noStrike" dirty="0">
                <a:solidFill>
                  <a:srgbClr val="000000"/>
                </a:solidFill>
                <a:effectLst/>
              </a:rPr>
              <a:t>The </a:t>
            </a:r>
            <a:r>
              <a:rPr lang="en-US" b="0" i="1" u="none" strike="noStrike" dirty="0">
                <a:solidFill>
                  <a:srgbClr val="000000"/>
                </a:solidFill>
                <a:effectLst/>
              </a:rPr>
              <a:t>Users</a:t>
            </a:r>
            <a:r>
              <a:rPr lang="en-US" b="0" i="0" u="none" strike="noStrike" dirty="0">
                <a:solidFill>
                  <a:srgbClr val="000000"/>
                </a:solidFill>
                <a:effectLst/>
              </a:rPr>
              <a:t> dataset provides demographic details like age, gender, income, and credit limit.</a:t>
            </a:r>
            <a:br>
              <a:rPr lang="en-US" b="0" i="0" u="none" strike="noStrike" dirty="0">
                <a:solidFill>
                  <a:srgbClr val="000000"/>
                </a:solidFill>
                <a:effectLst/>
              </a:rPr>
            </a:br>
            <a:r>
              <a:rPr lang="en-US" b="0" i="0" u="none" strike="noStrike" dirty="0">
                <a:solidFill>
                  <a:srgbClr val="000000"/>
                </a:solidFill>
                <a:effectLst/>
              </a:rPr>
              <a:t>And the largest dataset is </a:t>
            </a:r>
            <a:r>
              <a:rPr lang="en-US" b="0" i="1" u="none" strike="noStrike" dirty="0">
                <a:solidFill>
                  <a:srgbClr val="000000"/>
                </a:solidFill>
                <a:effectLst/>
              </a:rPr>
              <a:t>Transactions</a:t>
            </a:r>
            <a:r>
              <a:rPr lang="en-US" b="0" i="0" u="none" strike="noStrike" dirty="0">
                <a:solidFill>
                  <a:srgbClr val="000000"/>
                </a:solidFill>
                <a:effectLst/>
              </a:rPr>
              <a:t>, which contains the actual transaction records including amount, merchant information, transaction method, location, and timestamps.</a:t>
            </a:r>
          </a:p>
          <a:p>
            <a:pPr algn="l"/>
            <a:r>
              <a:rPr lang="en-US" b="0" i="0" u="none" strike="noStrike" dirty="0">
                <a:solidFill>
                  <a:srgbClr val="000000"/>
                </a:solidFill>
                <a:effectLst/>
              </a:rPr>
              <a:t>By combining these three sources, we can capture both behavioral and demographic patterns, which is essential for identifying unusual or potentially fraudulent activities.</a:t>
            </a:r>
          </a:p>
          <a:p>
            <a:pPr algn="l"/>
            <a:r>
              <a:rPr lang="en-US" b="0" i="0" u="none" strike="noStrike" dirty="0">
                <a:solidFill>
                  <a:srgbClr val="000000"/>
                </a:solidFill>
                <a:effectLst/>
              </a:rPr>
              <a:t>Overall, these datasets give us a strong foundation to build machine learning models for fraud detection and credit risk analysis.”</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5</a:t>
            </a:fld>
            <a:endParaRPr lang="en-VN"/>
          </a:p>
        </p:txBody>
      </p:sp>
    </p:spTree>
    <p:extLst>
      <p:ext uri="{BB962C8B-B14F-4D97-AF65-F5344CB8AC3E}">
        <p14:creationId xmlns:p14="http://schemas.microsoft.com/office/powerpoint/2010/main" val="1083153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rPr>
              <a:t>“In this study, I use a financial transactions dataset provided by the teacher, originally from Kaggle. The dataset was introduced by Chrissy, and it contains three main components: card information, transaction records, and user profiles.</a:t>
            </a:r>
          </a:p>
          <a:p>
            <a:pPr algn="l"/>
            <a:r>
              <a:rPr lang="en-US" b="0" i="0" u="none" strike="noStrike" dirty="0">
                <a:solidFill>
                  <a:srgbClr val="000000"/>
                </a:solidFill>
                <a:effectLst/>
              </a:rPr>
              <a:t>The transaction dataset includes fields like transaction ID, date and time, amount, merchant information, and whether the customer used a chip. The card dataset includes details such as card type, brand, expiration date, and security information.</a:t>
            </a:r>
          </a:p>
          <a:p>
            <a:pPr algn="l"/>
            <a:r>
              <a:rPr lang="en-US" b="0" i="0" u="none" strike="noStrike" dirty="0">
                <a:solidFill>
                  <a:srgbClr val="000000"/>
                </a:solidFill>
                <a:effectLst/>
              </a:rPr>
              <a:t>The user dataset provides demographic and behavioral information, including age, gender, income, and credit limit. These three datasets together give us a complete view of customer behavior — who the user is, what card they are using, and how they transact.</a:t>
            </a:r>
          </a:p>
          <a:p>
            <a:pPr algn="l"/>
            <a:r>
              <a:rPr lang="en-US" b="0" i="0" u="none" strike="noStrike" dirty="0">
                <a:solidFill>
                  <a:srgbClr val="000000"/>
                </a:solidFill>
                <a:effectLst/>
              </a:rPr>
              <a:t>All datasets are later merged to form a unified table for fraud detection analysis. This allows the model to learn from both customer attributes and real transaction patterns, which is essential for identifying potential fraud.”</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6</a:t>
            </a:fld>
            <a:endParaRPr lang="en-VN"/>
          </a:p>
        </p:txBody>
      </p:sp>
    </p:spTree>
    <p:extLst>
      <p:ext uri="{BB962C8B-B14F-4D97-AF65-F5344CB8AC3E}">
        <p14:creationId xmlns:p14="http://schemas.microsoft.com/office/powerpoint/2010/main" val="42657188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rPr>
              <a:t>I introduce how we define credit fraud and what kinds of situations are commonly considered suspicious.</a:t>
            </a:r>
          </a:p>
          <a:p>
            <a:pPr algn="l"/>
            <a:r>
              <a:rPr lang="en-US" b="0" i="0" u="none" strike="noStrike" dirty="0">
                <a:solidFill>
                  <a:srgbClr val="000000"/>
                </a:solidFill>
                <a:effectLst/>
              </a:rPr>
              <a:t>Fraud is usually identified when a customer’s transactions do not match their normal behavior. For example, a low credit score can indicate higher risk, but behavioral patterns are often more important. One common signal is late-night transactions, which are more likely to be fraudulent because the real cardholder may not notice them immediately.</a:t>
            </a:r>
          </a:p>
          <a:p>
            <a:pPr algn="l"/>
            <a:r>
              <a:rPr lang="en-US" b="0" i="0" u="none" strike="noStrike" dirty="0">
                <a:solidFill>
                  <a:srgbClr val="000000"/>
                </a:solidFill>
                <a:effectLst/>
              </a:rPr>
              <a:t>Another strong indicator is multiple transactions happening within a very short time window. Fraudsters often try to make several purchases quickly before the card gets blocked.</a:t>
            </a:r>
          </a:p>
          <a:p>
            <a:pPr algn="l"/>
            <a:r>
              <a:rPr lang="en-US" b="0" i="0" u="none" strike="noStrike" dirty="0">
                <a:solidFill>
                  <a:srgbClr val="000000"/>
                </a:solidFill>
                <a:effectLst/>
              </a:rPr>
              <a:t>We also examine changes in spending patterns, such as transactions that are much larger or much smaller than usual, as well as transactions that occur far away from the customer’s typical location. These can signal that someone else may be using the card.</a:t>
            </a:r>
          </a:p>
          <a:p>
            <a:pPr algn="l"/>
            <a:r>
              <a:rPr lang="en-US" b="0" i="0" u="none" strike="noStrike" dirty="0">
                <a:solidFill>
                  <a:srgbClr val="000000"/>
                </a:solidFill>
                <a:effectLst/>
              </a:rPr>
              <a:t>Finally, behavioral factors—like not updating a card PIN for a long period—can increase vulnerability to fraud.</a:t>
            </a:r>
          </a:p>
          <a:p>
            <a:pPr algn="l"/>
            <a:r>
              <a:rPr lang="en-US" b="0" i="0" u="none" strike="noStrike" dirty="0">
                <a:solidFill>
                  <a:srgbClr val="000000"/>
                </a:solidFill>
                <a:effectLst/>
              </a:rPr>
              <a:t>By understanding these patterns, we can select meaningful features and design a model that better detects real fraudulent behavior.”</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7</a:t>
            </a:fld>
            <a:endParaRPr lang="en-VN"/>
          </a:p>
        </p:txBody>
      </p:sp>
    </p:spTree>
    <p:extLst>
      <p:ext uri="{BB962C8B-B14F-4D97-AF65-F5344CB8AC3E}">
        <p14:creationId xmlns:p14="http://schemas.microsoft.com/office/powerpoint/2010/main" val="30595281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rPr>
              <a:t>“In this slide, I focus on one of the key behavioral signals of credit fraud: frequent transactions occurring within a very short period of time. In this dataset, we define this as more than three transactions within five minutes. Although this pattern only represents about 0.03% of all transactions, it is an important risk indicator because fraudsters often try to make several purchases quickly before a card gets blocked.</a:t>
            </a:r>
          </a:p>
          <a:p>
            <a:pPr algn="l"/>
            <a:r>
              <a:rPr lang="en-US" b="0" i="0" u="none" strike="noStrike" dirty="0">
                <a:solidFill>
                  <a:srgbClr val="000000"/>
                </a:solidFill>
                <a:effectLst/>
              </a:rPr>
              <a:t>We mark these cases directly in the transaction dataset so that we can compare their characteristics with normal transactions. The chart on the left shows the mean differences of several features. We can observe noticeable shifts in variables such as transaction amount and spending behavior when multiple transactions occur in a short time.</a:t>
            </a:r>
          </a:p>
          <a:p>
            <a:pPr algn="l"/>
            <a:r>
              <a:rPr lang="en-US" b="0" i="0" u="none" strike="noStrike" dirty="0">
                <a:solidFill>
                  <a:srgbClr val="000000"/>
                </a:solidFill>
                <a:effectLst/>
              </a:rPr>
              <a:t>The chart on the right breaks these rapid transactions down by transaction type. Most of them come from swipe transactions and chip transactions, while online transactions make up a very small portion. This makes sense because in physical fraud, the card is often present and used repeatedly.</a:t>
            </a:r>
          </a:p>
          <a:p>
            <a:pPr algn="l"/>
            <a:r>
              <a:rPr lang="en-US" b="0" i="0" u="none" strike="noStrike" dirty="0">
                <a:solidFill>
                  <a:srgbClr val="000000"/>
                </a:solidFill>
                <a:effectLst/>
              </a:rPr>
              <a:t>This early EDA helps us understand how unusual behaviors differ from normal ones and provides useful insights for selecting features for the fraud detection model.”</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8</a:t>
            </a:fld>
            <a:endParaRPr lang="en-VN"/>
          </a:p>
        </p:txBody>
      </p:sp>
    </p:spTree>
    <p:extLst>
      <p:ext uri="{BB962C8B-B14F-4D97-AF65-F5344CB8AC3E}">
        <p14:creationId xmlns:p14="http://schemas.microsoft.com/office/powerpoint/2010/main" val="22358698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“EDA Chart – Transaction Time”</a:t>
            </a:r>
          </a:p>
          <a:p>
            <a:pPr algn="l"/>
            <a:r>
              <a:rPr lang="en-US" b="0" i="0" u="none" strike="noStrike" dirty="0">
                <a:solidFill>
                  <a:srgbClr val="000000"/>
                </a:solidFill>
                <a:effectLst/>
              </a:rPr>
              <a:t>“In this slide, I explore how transaction time can indicate unusual or potentially fraudulent activity. The chart on the left shows the overall transaction volume by hour of the day. As expected, most transactions happen during daytime hours, especially between 8 AM and 4 PM. Activity drops significantly late at night, which makes late-night transactions more suspicious because they deviate from normal behavior.</a:t>
            </a:r>
          </a:p>
          <a:p>
            <a:pPr algn="l"/>
            <a:r>
              <a:rPr lang="en-US" b="0" i="0" u="none" strike="noStrike" dirty="0">
                <a:solidFill>
                  <a:srgbClr val="000000"/>
                </a:solidFill>
                <a:effectLst/>
              </a:rPr>
              <a:t>To investigate this further, I created a heatmap showing the hourly transaction patterns of the top 20 most active clients. Each row represents a client, and each column represents an hour of the day. Darker red colors indicate a higher number of transactions.</a:t>
            </a:r>
          </a:p>
          <a:p>
            <a:pPr algn="l"/>
            <a:r>
              <a:rPr lang="en-US" b="0" i="0" u="none" strike="noStrike" dirty="0">
                <a:solidFill>
                  <a:srgbClr val="000000"/>
                </a:solidFill>
                <a:effectLst/>
              </a:rPr>
              <a:t>From this visualization, we can clearly see some clients—such as Client 114 and Client 1168—who show extremely high activity at unusual times, including very late at night or very early in the morning. These patterns stand out compared to typical customers and may signal abnormal or risky behavior.</a:t>
            </a:r>
          </a:p>
          <a:p>
            <a:pPr algn="l"/>
            <a:r>
              <a:rPr lang="en-US" b="0" i="0" u="none" strike="noStrike" dirty="0">
                <a:solidFill>
                  <a:srgbClr val="000000"/>
                </a:solidFill>
                <a:effectLst/>
              </a:rPr>
              <a:t>Understanding these time-based anomalies helps us identify features that could strengthen our fraud detection model, especially in capturing unusual transaction timing.”</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9</a:t>
            </a:fld>
            <a:endParaRPr lang="en-VN"/>
          </a:p>
        </p:txBody>
      </p:sp>
    </p:spTree>
    <p:extLst>
      <p:ext uri="{BB962C8B-B14F-4D97-AF65-F5344CB8AC3E}">
        <p14:creationId xmlns:p14="http://schemas.microsoft.com/office/powerpoint/2010/main" val="34583108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Feature Selection Slide</a:t>
            </a:r>
          </a:p>
          <a:p>
            <a:pPr algn="l"/>
            <a:r>
              <a:rPr lang="en-US" b="0" i="0" u="none" strike="noStrike" dirty="0">
                <a:solidFill>
                  <a:srgbClr val="000000"/>
                </a:solidFill>
                <a:effectLst/>
              </a:rPr>
              <a:t>“In this slide, I show how feature selection was performed using Lasso and Ridge regularization. Both methods help us control model complexity by shrinking the coefficients toward zero as the regularization strength increases.</a:t>
            </a:r>
          </a:p>
          <a:p>
            <a:pPr algn="l"/>
            <a:r>
              <a:rPr lang="en-US" b="0" i="0" u="none" strike="noStrike" dirty="0">
                <a:solidFill>
                  <a:srgbClr val="000000"/>
                </a:solidFill>
                <a:effectLst/>
              </a:rPr>
              <a:t>On the left is the Lasso coefficient path. As alpha becomes larger, many coefficients drop exactly to zero. This is because Lasso performs both regularization and feature selection at the same time. It automatically removes weak or irrelevant features, which is very helpful in reducing noise and simplifying the model.</a:t>
            </a:r>
          </a:p>
          <a:p>
            <a:pPr algn="l"/>
            <a:r>
              <a:rPr lang="en-US" b="0" i="0" u="none" strike="noStrike" dirty="0">
                <a:solidFill>
                  <a:srgbClr val="000000"/>
                </a:solidFill>
                <a:effectLst/>
              </a:rPr>
              <a:t>On the right is the Ridge coefficient path. Ridge also shrinks coefficients but does not set them to zero. Instead, it keeps all features but reduces their magnitude smoothly. This helps stabilize the model, especially when there is multicollinearity.</a:t>
            </a:r>
          </a:p>
          <a:p>
            <a:pPr algn="l"/>
            <a:r>
              <a:rPr lang="en-US" b="0" i="0" u="none" strike="noStrike" dirty="0">
                <a:solidFill>
                  <a:srgbClr val="000000"/>
                </a:solidFill>
                <a:effectLst/>
              </a:rPr>
              <a:t>By examining these coefficient paths across different alpha values, we can identify which features remain important under strong regularization. These results guide us in selecting feature sets for our later machine learning experiments.”</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10</a:t>
            </a:fld>
            <a:endParaRPr lang="en-VN"/>
          </a:p>
        </p:txBody>
      </p:sp>
    </p:spTree>
    <p:extLst>
      <p:ext uri="{BB962C8B-B14F-4D97-AF65-F5344CB8AC3E}">
        <p14:creationId xmlns:p14="http://schemas.microsoft.com/office/powerpoint/2010/main" val="29242980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 Model Training Slide</a:t>
            </a:r>
          </a:p>
          <a:p>
            <a:pPr algn="l"/>
            <a:r>
              <a:rPr lang="en-US" b="0" i="0" u="none" strike="noStrike" dirty="0">
                <a:solidFill>
                  <a:srgbClr val="000000"/>
                </a:solidFill>
                <a:effectLst/>
              </a:rPr>
              <a:t>“This slide shows the results of training different machine learning models under multiple feature selection settings. The table compares Logistic Regression, LDA, QDA, and </a:t>
            </a:r>
            <a:r>
              <a:rPr lang="en-US" b="0" i="0" u="none" strike="noStrike" dirty="0" err="1">
                <a:solidFill>
                  <a:srgbClr val="000000"/>
                </a:solidFill>
                <a:effectLst/>
              </a:rPr>
              <a:t>XGBoost</a:t>
            </a:r>
            <a:r>
              <a:rPr lang="en-US" b="0" i="0" u="none" strike="noStrike" dirty="0">
                <a:solidFill>
                  <a:srgbClr val="000000"/>
                </a:solidFill>
                <a:effectLst/>
              </a:rPr>
              <a:t> across various Lasso and Ridge regularization strengths.</a:t>
            </a:r>
          </a:p>
          <a:p>
            <a:pPr algn="l"/>
            <a:r>
              <a:rPr lang="en-US" b="0" i="0" u="none" strike="noStrike" dirty="0">
                <a:solidFill>
                  <a:srgbClr val="000000"/>
                </a:solidFill>
                <a:effectLst/>
              </a:rPr>
              <a:t>From the training and test metrics, we can clearly see that the classical linear models — Logistic Regression, LDA, and QDA — struggle with this dataset. Most of them produce extremely low test F1 scores, mainly because their recall is close to zero. This suggests that these models cannot effectively capture the complex, nonlinear patterns present in fraud detection.</a:t>
            </a:r>
          </a:p>
          <a:p>
            <a:pPr algn="l"/>
            <a:r>
              <a:rPr lang="en-US" b="0" i="0" u="none" strike="noStrike" dirty="0">
                <a:solidFill>
                  <a:srgbClr val="000000"/>
                </a:solidFill>
                <a:effectLst/>
              </a:rPr>
              <a:t>In contrast, </a:t>
            </a:r>
            <a:r>
              <a:rPr lang="en-US" b="0" i="0" u="none" strike="noStrike" dirty="0" err="1">
                <a:solidFill>
                  <a:srgbClr val="000000"/>
                </a:solidFill>
                <a:effectLst/>
              </a:rPr>
              <a:t>XGBoost</a:t>
            </a:r>
            <a:r>
              <a:rPr lang="en-US" b="0" i="0" u="none" strike="noStrike" dirty="0">
                <a:solidFill>
                  <a:srgbClr val="000000"/>
                </a:solidFill>
                <a:effectLst/>
              </a:rPr>
              <a:t> consistently performs much better. When combined with the right feature selection strategy, especially Lasso with very small alpha, the model achieves significantly higher precision, recall, and F1. This shows that tree-based boosting methods are more suitable for this type of problem, where behaviors and relationships are not linear.</a:t>
            </a:r>
          </a:p>
          <a:p>
            <a:pPr algn="l"/>
            <a:r>
              <a:rPr lang="en-US" b="0" i="0" u="none" strike="noStrike" dirty="0">
                <a:solidFill>
                  <a:srgbClr val="000000"/>
                </a:solidFill>
                <a:effectLst/>
              </a:rPr>
              <a:t>These results help us narrow down the best model configurations and lead directly to the model comparison and selection in the next slides.”</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11</a:t>
            </a:fld>
            <a:endParaRPr lang="en-VN"/>
          </a:p>
        </p:txBody>
      </p:sp>
    </p:spTree>
    <p:extLst>
      <p:ext uri="{BB962C8B-B14F-4D97-AF65-F5344CB8AC3E}">
        <p14:creationId xmlns:p14="http://schemas.microsoft.com/office/powerpoint/2010/main" val="41472185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Model Evaluation (Top 10 F1 Scores)</a:t>
            </a:r>
          </a:p>
          <a:p>
            <a:pPr algn="l"/>
            <a:r>
              <a:rPr lang="en-US" b="0" i="0" u="none" strike="noStrike" dirty="0">
                <a:solidFill>
                  <a:srgbClr val="000000"/>
                </a:solidFill>
                <a:effectLst/>
              </a:rPr>
              <a:t>“This slide shows the Top 10 best-performing model configurations based on Test F1 score. The F1 score is especially important in fraud detection because it balances precision and recall, helping us capture fraudulent cases while avoiding too many false alarms.</a:t>
            </a:r>
          </a:p>
          <a:p>
            <a:pPr algn="l"/>
            <a:r>
              <a:rPr lang="en-US" b="0" i="0" u="none" strike="noStrike" dirty="0">
                <a:solidFill>
                  <a:srgbClr val="000000"/>
                </a:solidFill>
                <a:effectLst/>
              </a:rPr>
              <a:t>From the chart, we can see that </a:t>
            </a:r>
            <a:r>
              <a:rPr lang="en-US" b="0" i="0" u="none" strike="noStrike" dirty="0" err="1">
                <a:solidFill>
                  <a:srgbClr val="000000"/>
                </a:solidFill>
                <a:effectLst/>
              </a:rPr>
              <a:t>XGBoost</a:t>
            </a:r>
            <a:r>
              <a:rPr lang="en-US" b="0" i="0" u="none" strike="noStrike" dirty="0">
                <a:solidFill>
                  <a:srgbClr val="000000"/>
                </a:solidFill>
                <a:effectLst/>
              </a:rPr>
              <a:t> consistently outperforms the classical models across all feature selection settings. The highest performance comes from two pipelines: the full feature set with </a:t>
            </a:r>
            <a:r>
              <a:rPr lang="en-US" b="0" i="0" u="none" strike="noStrike" dirty="0" err="1">
                <a:solidFill>
                  <a:srgbClr val="000000"/>
                </a:solidFill>
                <a:effectLst/>
              </a:rPr>
              <a:t>XGBoost</a:t>
            </a:r>
            <a:r>
              <a:rPr lang="en-US" b="0" i="0" u="none" strike="noStrike" dirty="0">
                <a:solidFill>
                  <a:srgbClr val="000000"/>
                </a:solidFill>
                <a:effectLst/>
              </a:rPr>
              <a:t>, and Lasso with alpha equal to 1e-6 combined with </a:t>
            </a:r>
            <a:r>
              <a:rPr lang="en-US" b="0" i="0" u="none" strike="noStrike" dirty="0" err="1">
                <a:solidFill>
                  <a:srgbClr val="000000"/>
                </a:solidFill>
                <a:effectLst/>
              </a:rPr>
              <a:t>XGBoost</a:t>
            </a:r>
            <a:r>
              <a:rPr lang="en-US" b="0" i="0" u="none" strike="noStrike" dirty="0">
                <a:solidFill>
                  <a:srgbClr val="000000"/>
                </a:solidFill>
                <a:effectLst/>
              </a:rPr>
              <a:t>. These two models achieve Test F1 scores of around 0.74, with strong cross-validation scores as well, showing excellent stability and generalization.</a:t>
            </a:r>
          </a:p>
          <a:p>
            <a:pPr algn="l"/>
            <a:r>
              <a:rPr lang="en-US" b="0" i="0" u="none" strike="noStrike" dirty="0">
                <a:solidFill>
                  <a:srgbClr val="000000"/>
                </a:solidFill>
                <a:effectLst/>
              </a:rPr>
              <a:t>Ridge-based models perform moderately well, with F1 scores around 0.40 to 0.43, but they are still far below the </a:t>
            </a:r>
            <a:r>
              <a:rPr lang="en-US" b="0" i="0" u="none" strike="noStrike" dirty="0" err="1">
                <a:solidFill>
                  <a:srgbClr val="000000"/>
                </a:solidFill>
                <a:effectLst/>
              </a:rPr>
              <a:t>XGBoost</a:t>
            </a:r>
            <a:r>
              <a:rPr lang="en-US" b="0" i="0" u="none" strike="noStrike" dirty="0">
                <a:solidFill>
                  <a:srgbClr val="000000"/>
                </a:solidFill>
                <a:effectLst/>
              </a:rPr>
              <a:t> models. Meanwhile, the worst performance comes from Lasso with higher regularization values, where too many features are removed and the model collapses.</a:t>
            </a:r>
          </a:p>
          <a:p>
            <a:pPr algn="l"/>
            <a:r>
              <a:rPr lang="en-US" b="0" i="0" u="none" strike="noStrike" dirty="0">
                <a:solidFill>
                  <a:srgbClr val="000000"/>
                </a:solidFill>
                <a:effectLst/>
              </a:rPr>
              <a:t>Overall, this ranking clearly shows that the combination of careful feature selection and a strong nonlinear model like </a:t>
            </a:r>
            <a:r>
              <a:rPr lang="en-US" b="0" i="0" u="none" strike="noStrike" dirty="0" err="1">
                <a:solidFill>
                  <a:srgbClr val="000000"/>
                </a:solidFill>
                <a:effectLst/>
              </a:rPr>
              <a:t>XGBoost</a:t>
            </a:r>
            <a:r>
              <a:rPr lang="en-US" b="0" i="0" u="none" strike="noStrike" dirty="0">
                <a:solidFill>
                  <a:srgbClr val="000000"/>
                </a:solidFill>
                <a:effectLst/>
              </a:rPr>
              <a:t> is the most effective strategy for this fraud detection task</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12</a:t>
            </a:fld>
            <a:endParaRPr lang="en-VN"/>
          </a:p>
        </p:txBody>
      </p:sp>
    </p:spTree>
    <p:extLst>
      <p:ext uri="{BB962C8B-B14F-4D97-AF65-F5344CB8AC3E}">
        <p14:creationId xmlns:p14="http://schemas.microsoft.com/office/powerpoint/2010/main" val="11065015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Model Evaluation (ROC &amp; PR Curves)</a:t>
            </a:r>
          </a:p>
          <a:p>
            <a:pPr algn="l"/>
            <a:r>
              <a:rPr lang="en-US" b="0" i="0" u="none" strike="noStrike" dirty="0">
                <a:solidFill>
                  <a:srgbClr val="000000"/>
                </a:solidFill>
                <a:effectLst/>
              </a:rPr>
              <a:t>“This slide gives us a deeper look into model performance using ROC curves and Precision–Recall curves. ROC curves measure the ability to distinguish between fraud and non-fraud cases, while PR curves are especially important for imbalanced datasets like ours.</a:t>
            </a:r>
          </a:p>
          <a:p>
            <a:pPr algn="l"/>
            <a:r>
              <a:rPr lang="en-US" b="0" i="0" u="none" strike="noStrike" dirty="0">
                <a:solidFill>
                  <a:srgbClr val="000000"/>
                </a:solidFill>
                <a:effectLst/>
              </a:rPr>
              <a:t>Looking first at the ROC curves, the best models cluster near the top-left corner, with AUC values around 0.90 or higher. This indicates excellent discriminative ability. Lasso with very small alpha and the full </a:t>
            </a:r>
            <a:r>
              <a:rPr lang="en-US" b="0" i="0" u="none" strike="noStrike" dirty="0" err="1">
                <a:solidFill>
                  <a:srgbClr val="000000"/>
                </a:solidFill>
                <a:effectLst/>
              </a:rPr>
              <a:t>XGBoost</a:t>
            </a:r>
            <a:r>
              <a:rPr lang="en-US" b="0" i="0" u="none" strike="noStrike" dirty="0">
                <a:solidFill>
                  <a:srgbClr val="000000"/>
                </a:solidFill>
                <a:effectLst/>
              </a:rPr>
              <a:t> model both achieve the strongest results, confirming what we saw earlier with the F1 scores.</a:t>
            </a:r>
          </a:p>
          <a:p>
            <a:pPr algn="l"/>
            <a:r>
              <a:rPr lang="en-US" b="0" i="0" u="none" strike="noStrike" dirty="0">
                <a:solidFill>
                  <a:srgbClr val="000000"/>
                </a:solidFill>
                <a:effectLst/>
              </a:rPr>
              <a:t>The Precision–Recall curves offer an even more realistic view. Fraud cases are rare, so PR-AUC tells us how well the model performs under imbalance. Here again, the </a:t>
            </a:r>
            <a:r>
              <a:rPr lang="en-US" b="0" i="0" u="none" strike="noStrike" dirty="0" err="1">
                <a:solidFill>
                  <a:srgbClr val="000000"/>
                </a:solidFill>
                <a:effectLst/>
              </a:rPr>
              <a:t>XGBoost</a:t>
            </a:r>
            <a:r>
              <a:rPr lang="en-US" b="0" i="0" u="none" strike="noStrike" dirty="0">
                <a:solidFill>
                  <a:srgbClr val="000000"/>
                </a:solidFill>
                <a:effectLst/>
              </a:rPr>
              <a:t> models clearly dominate, especially the Lasso-selected version with alpha = 1e-6. These models maintain high precision over a wide range of recall values, meaning they accurately identify fraud while minimizing false positives.</a:t>
            </a:r>
          </a:p>
          <a:p>
            <a:pPr algn="l"/>
            <a:r>
              <a:rPr lang="en-US" b="0" i="0" u="none" strike="noStrike" dirty="0">
                <a:solidFill>
                  <a:srgbClr val="000000"/>
                </a:solidFill>
                <a:effectLst/>
              </a:rPr>
              <a:t>On the other hand, classical models and poorly tuned feature selection methods show much weaker curves. This reinforces the conclusion that tree-based boosting methods paired with thoughtful feature selection are the best choice for this dataset.”</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13</a:t>
            </a:fld>
            <a:endParaRPr lang="en-VN"/>
          </a:p>
        </p:txBody>
      </p:sp>
    </p:spTree>
    <p:extLst>
      <p:ext uri="{BB962C8B-B14F-4D97-AF65-F5344CB8AC3E}">
        <p14:creationId xmlns:p14="http://schemas.microsoft.com/office/powerpoint/2010/main" val="34216666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Best Model (Lasso + </a:t>
            </a:r>
            <a:r>
              <a:rPr lang="en-US" b="1" i="0" u="none" strike="noStrike" dirty="0" err="1">
                <a:solidFill>
                  <a:srgbClr val="000000"/>
                </a:solidFill>
                <a:effectLst/>
              </a:rPr>
              <a:t>XGBoost</a:t>
            </a:r>
            <a:r>
              <a:rPr lang="en-US" b="1" i="0" u="none" strike="noStrike" dirty="0">
                <a:solidFill>
                  <a:srgbClr val="000000"/>
                </a:solidFill>
                <a:effectLst/>
              </a:rPr>
              <a:t>)</a:t>
            </a:r>
          </a:p>
          <a:p>
            <a:pPr algn="l"/>
            <a:r>
              <a:rPr lang="en-US" b="0" i="0" u="none" strike="noStrike" dirty="0">
                <a:solidFill>
                  <a:srgbClr val="000000"/>
                </a:solidFill>
                <a:effectLst/>
              </a:rPr>
              <a:t>“This slide shows the performance of the best model identified in the study: </a:t>
            </a:r>
            <a:r>
              <a:rPr lang="en-US" b="0" i="0" u="none" strike="noStrike" dirty="0" err="1">
                <a:solidFill>
                  <a:srgbClr val="000000"/>
                </a:solidFill>
                <a:effectLst/>
              </a:rPr>
              <a:t>XGBoost</a:t>
            </a:r>
            <a:r>
              <a:rPr lang="en-US" b="0" i="0" u="none" strike="noStrike" dirty="0">
                <a:solidFill>
                  <a:srgbClr val="000000"/>
                </a:solidFill>
                <a:effectLst/>
              </a:rPr>
              <a:t> combined with Lasso feature selection using alpha equal to 1e-6. After evaluating all model configurations, this pipeline achieved the highest F1 score, making it the most effective for detecting fraud.</a:t>
            </a:r>
          </a:p>
          <a:p>
            <a:pPr algn="l"/>
            <a:r>
              <a:rPr lang="en-US" b="0" i="0" u="none" strike="noStrike" dirty="0">
                <a:solidFill>
                  <a:srgbClr val="000000"/>
                </a:solidFill>
                <a:effectLst/>
              </a:rPr>
              <a:t>The chart here shows how precision, recall, and the F1 score change as we adjust the classification threshold. Instead of using the default threshold of 0.5, we tuned the threshold to find the point that gives the best balance between precision and recall. This is very important in fraud detection, because increasing precision reduces false alarms, while increasing recall helps us catch more fraud cases.</a:t>
            </a:r>
          </a:p>
          <a:p>
            <a:pPr algn="l"/>
            <a:r>
              <a:rPr lang="en-US" b="0" i="0" u="none" strike="noStrike" dirty="0">
                <a:solidFill>
                  <a:srgbClr val="000000"/>
                </a:solidFill>
                <a:effectLst/>
              </a:rPr>
              <a:t>The optimal threshold for this model is approximately </a:t>
            </a:r>
            <a:r>
              <a:rPr lang="en-US" b="1" i="0" u="none" strike="noStrike" dirty="0">
                <a:solidFill>
                  <a:srgbClr val="000000"/>
                </a:solidFill>
                <a:effectLst/>
              </a:rPr>
              <a:t>0.548</a:t>
            </a:r>
            <a:r>
              <a:rPr lang="en-US" b="0" i="0" u="none" strike="noStrike" dirty="0">
                <a:solidFill>
                  <a:srgbClr val="000000"/>
                </a:solidFill>
                <a:effectLst/>
              </a:rPr>
              <a:t>, where the F1 score reaches its maximum of </a:t>
            </a:r>
            <a:r>
              <a:rPr lang="en-US" b="1" i="0" u="none" strike="noStrike" dirty="0">
                <a:solidFill>
                  <a:srgbClr val="000000"/>
                </a:solidFill>
                <a:effectLst/>
              </a:rPr>
              <a:t>0.7436</a:t>
            </a:r>
            <a:r>
              <a:rPr lang="en-US" b="0" i="0" u="none" strike="noStrike" dirty="0">
                <a:solidFill>
                  <a:srgbClr val="000000"/>
                </a:solidFill>
                <a:effectLst/>
              </a:rPr>
              <a:t>. This indicates that the model performs better when we slightly shift the decision boundary rather than relying on the default value.</a:t>
            </a:r>
          </a:p>
          <a:p>
            <a:pPr algn="l"/>
            <a:r>
              <a:rPr lang="en-US" b="0" i="0" u="none" strike="noStrike" dirty="0">
                <a:solidFill>
                  <a:srgbClr val="000000"/>
                </a:solidFill>
                <a:effectLst/>
              </a:rPr>
              <a:t>Overall, this result highlights two key ideas: first, Lasso helps remove noisy features and improves model stability; second, </a:t>
            </a:r>
            <a:r>
              <a:rPr lang="en-US" b="0" i="0" u="none" strike="noStrike" dirty="0" err="1">
                <a:solidFill>
                  <a:srgbClr val="000000"/>
                </a:solidFill>
                <a:effectLst/>
              </a:rPr>
              <a:t>XGBoost</a:t>
            </a:r>
            <a:r>
              <a:rPr lang="en-US" b="0" i="0" u="none" strike="noStrike" dirty="0">
                <a:solidFill>
                  <a:srgbClr val="000000"/>
                </a:solidFill>
                <a:effectLst/>
              </a:rPr>
              <a:t> effectively captures complex patterns in the data. And finally, tuning the classification threshold significantly boosts real-world performance.”</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14</a:t>
            </a:fld>
            <a:endParaRPr lang="en-VN"/>
          </a:p>
        </p:txBody>
      </p:sp>
    </p:spTree>
    <p:extLst>
      <p:ext uri="{BB962C8B-B14F-4D97-AF65-F5344CB8AC3E}">
        <p14:creationId xmlns:p14="http://schemas.microsoft.com/office/powerpoint/2010/main" val="39043601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Conclusion Slide</a:t>
            </a:r>
          </a:p>
          <a:p>
            <a:pPr algn="l"/>
            <a:r>
              <a:rPr lang="en-US" b="0" i="0" u="none" strike="noStrike" dirty="0">
                <a:solidFill>
                  <a:srgbClr val="000000"/>
                </a:solidFill>
                <a:effectLst/>
              </a:rPr>
              <a:t>“To conclude, this study shows that feature selection and model choice play a major role in improving fraud detection performance. Lasso, particularly with a very small regularization parameter, was effective in removing weak features and improving generalization.</a:t>
            </a:r>
          </a:p>
          <a:p>
            <a:pPr algn="l"/>
            <a:r>
              <a:rPr lang="en-US" b="0" i="0" u="none" strike="noStrike" dirty="0">
                <a:solidFill>
                  <a:srgbClr val="000000"/>
                </a:solidFill>
                <a:effectLst/>
              </a:rPr>
              <a:t>In contrast, classical models like Logistic Regression, LDA, and QDA performed poorly across all settings. Their very low F1 scores and recalls indicate that the fraud detection task is highly nonlinear and cannot be captured well by linear decision boundaries.</a:t>
            </a:r>
          </a:p>
          <a:p>
            <a:pPr algn="l"/>
            <a:r>
              <a:rPr lang="en-US" b="0" i="0" u="none" strike="noStrike" dirty="0" err="1">
                <a:solidFill>
                  <a:srgbClr val="000000"/>
                </a:solidFill>
                <a:effectLst/>
              </a:rPr>
              <a:t>XGBoost</a:t>
            </a:r>
            <a:r>
              <a:rPr lang="en-US" b="0" i="0" u="none" strike="noStrike" dirty="0">
                <a:solidFill>
                  <a:srgbClr val="000000"/>
                </a:solidFill>
                <a:effectLst/>
              </a:rPr>
              <a:t> was the strongest model overall. It consistently produced the highest F1 scores, ROC-AUC, and PR-AUC across all feature sets. The best pipeline was Lasso with alpha = 1e-6 combined with </a:t>
            </a:r>
            <a:r>
              <a:rPr lang="en-US" b="0" i="0" u="none" strike="noStrike" dirty="0" err="1">
                <a:solidFill>
                  <a:srgbClr val="000000"/>
                </a:solidFill>
                <a:effectLst/>
              </a:rPr>
              <a:t>XGBoost</a:t>
            </a:r>
            <a:r>
              <a:rPr lang="en-US" b="0" i="0" u="none" strike="noStrike" dirty="0">
                <a:solidFill>
                  <a:srgbClr val="000000"/>
                </a:solidFill>
                <a:effectLst/>
              </a:rPr>
              <a:t>, achieving a Test F1 of 0.7436 and stable cross-validation performance.</a:t>
            </a:r>
          </a:p>
          <a:p>
            <a:pPr algn="l"/>
            <a:r>
              <a:rPr lang="en-US" b="0" i="0" u="none" strike="noStrike" dirty="0">
                <a:solidFill>
                  <a:srgbClr val="000000"/>
                </a:solidFill>
                <a:effectLst/>
              </a:rPr>
              <a:t>Model evaluation metrics confirmed the robustness of this approach. ROC-AUC reached approximately 0.913, and PR-AUC remained strong despite the dataset imbalance.</a:t>
            </a:r>
          </a:p>
          <a:p>
            <a:pPr algn="l"/>
            <a:r>
              <a:rPr lang="en-US" b="0" i="0" u="none" strike="noStrike" dirty="0">
                <a:solidFill>
                  <a:srgbClr val="000000"/>
                </a:solidFill>
                <a:effectLst/>
              </a:rPr>
              <a:t>Finally, threshold tuning further improved predictive performance. Setting the probability threshold to 0.548 increased the F1 score and provided a better precision–recall balance. Altogether, these results show a clear path to building an accurate and reliable fraud detection system.”</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15</a:t>
            </a:fld>
            <a:endParaRPr lang="en-VN"/>
          </a:p>
        </p:txBody>
      </p:sp>
    </p:spTree>
    <p:extLst>
      <p:ext uri="{BB962C8B-B14F-4D97-AF65-F5344CB8AC3E}">
        <p14:creationId xmlns:p14="http://schemas.microsoft.com/office/powerpoint/2010/main" val="16611520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16</a:t>
            </a:fld>
            <a:endParaRPr lang="en-VN"/>
          </a:p>
        </p:txBody>
      </p:sp>
    </p:spTree>
    <p:extLst>
      <p:ext uri="{BB962C8B-B14F-4D97-AF65-F5344CB8AC3E}">
        <p14:creationId xmlns:p14="http://schemas.microsoft.com/office/powerpoint/2010/main" val="2430976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12/8/25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jpeg"/><Relationship Id="rId4" Type="http://schemas.openxmlformats.org/officeDocument/2006/relationships/image" Target="../media/image2.svg"/><Relationship Id="rId9" Type="http://schemas.openxmlformats.org/officeDocument/2006/relationships/hyperlink" Target="https://www.kaggle.com/datasets/computingvictor/transactions-fraud-datasets?resource=download"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4.jpeg"/><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4.jpeg"/><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VN"/>
          </a:p>
        </p:txBody>
      </p:sp>
      <p:grpSp>
        <p:nvGrpSpPr>
          <p:cNvPr id="3" name="Group 3"/>
          <p:cNvGrpSpPr>
            <a:grpSpLocks noChangeAspect="1"/>
          </p:cNvGrpSpPr>
          <p:nvPr/>
        </p:nvGrpSpPr>
        <p:grpSpPr>
          <a:xfrm>
            <a:off x="511325" y="168064"/>
            <a:ext cx="1787623" cy="1734183"/>
            <a:chOff x="0" y="0"/>
            <a:chExt cx="2383497" cy="2312245"/>
          </a:xfrm>
        </p:grpSpPr>
        <p:sp>
          <p:nvSpPr>
            <p:cNvPr id="4" name="Freeform 4" descr="pasted-image.png"/>
            <p:cNvSpPr/>
            <p:nvPr/>
          </p:nvSpPr>
          <p:spPr>
            <a:xfrm>
              <a:off x="0" y="0"/>
              <a:ext cx="2383536" cy="2312289"/>
            </a:xfrm>
            <a:custGeom>
              <a:avLst/>
              <a:gdLst/>
              <a:ahLst/>
              <a:cxnLst/>
              <a:rect l="l" t="t" r="r" b="b"/>
              <a:pathLst>
                <a:path w="2383536" h="2312289">
                  <a:moveTo>
                    <a:pt x="0" y="0"/>
                  </a:moveTo>
                  <a:lnTo>
                    <a:pt x="2383536" y="0"/>
                  </a:lnTo>
                  <a:lnTo>
                    <a:pt x="2383536" y="2312289"/>
                  </a:lnTo>
                  <a:lnTo>
                    <a:pt x="0" y="2312289"/>
                  </a:lnTo>
                  <a:lnTo>
                    <a:pt x="0" y="0"/>
                  </a:lnTo>
                  <a:close/>
                </a:path>
              </a:pathLst>
            </a:custGeom>
            <a:blipFill>
              <a:blip r:embed="rId5"/>
              <a:stretch>
                <a:fillRect l="-8" r="-6" b="1"/>
              </a:stretch>
            </a:blipFill>
          </p:spPr>
          <p:txBody>
            <a:bodyPr/>
            <a:lstStyle/>
            <a:p>
              <a:endParaRPr lang="en-VN"/>
            </a:p>
          </p:txBody>
        </p:sp>
      </p:grpSp>
      <p:sp>
        <p:nvSpPr>
          <p:cNvPr id="5" name="TextBox 5"/>
          <p:cNvSpPr txBox="1"/>
          <p:nvPr/>
        </p:nvSpPr>
        <p:spPr>
          <a:xfrm>
            <a:off x="627203" y="3352023"/>
            <a:ext cx="8503527" cy="1104900"/>
          </a:xfrm>
          <a:prstGeom prst="rect">
            <a:avLst/>
          </a:prstGeom>
        </p:spPr>
        <p:txBody>
          <a:bodyPr lIns="0" tIns="0" rIns="0" bIns="0" rtlCol="0" anchor="t">
            <a:spAutoFit/>
          </a:bodyPr>
          <a:lstStyle/>
          <a:p>
            <a:pPr algn="l">
              <a:lnSpc>
                <a:spcPts val="2880"/>
              </a:lnSpc>
            </a:pPr>
            <a:r>
              <a:rPr lang="en-US" sz="2400">
                <a:solidFill>
                  <a:srgbClr val="5A5F5E"/>
                </a:solidFill>
                <a:latin typeface="Helvetica"/>
                <a:ea typeface="Helvetica"/>
                <a:cs typeface="Helvetica"/>
                <a:sym typeface="Helvetica"/>
              </a:rPr>
              <a:t>Cheng-Min Tsai, </a:t>
            </a:r>
          </a:p>
          <a:p>
            <a:pPr algn="l">
              <a:lnSpc>
                <a:spcPts val="2880"/>
              </a:lnSpc>
            </a:pPr>
            <a:r>
              <a:rPr lang="en-US" sz="2400">
                <a:solidFill>
                  <a:srgbClr val="5A5F5E"/>
                </a:solidFill>
                <a:latin typeface="Helvetica"/>
                <a:ea typeface="Helvetica"/>
                <a:cs typeface="Helvetica"/>
                <a:sym typeface="Helvetica"/>
              </a:rPr>
              <a:t>Nguyen-Thu Thuy, </a:t>
            </a:r>
          </a:p>
          <a:p>
            <a:pPr algn="l">
              <a:lnSpc>
                <a:spcPts val="2880"/>
              </a:lnSpc>
            </a:pPr>
            <a:r>
              <a:rPr lang="en-US" sz="2400">
                <a:solidFill>
                  <a:srgbClr val="5A5F5E"/>
                </a:solidFill>
                <a:latin typeface="Helvetica"/>
                <a:ea typeface="Helvetica"/>
                <a:cs typeface="Helvetica"/>
                <a:sym typeface="Helvetica"/>
              </a:rPr>
              <a:t>Huei-Wen Teng</a:t>
            </a:r>
          </a:p>
        </p:txBody>
      </p:sp>
      <p:sp>
        <p:nvSpPr>
          <p:cNvPr id="6" name="TextBox 6"/>
          <p:cNvSpPr txBox="1"/>
          <p:nvPr/>
        </p:nvSpPr>
        <p:spPr>
          <a:xfrm>
            <a:off x="627203" y="5267016"/>
            <a:ext cx="8501575" cy="742950"/>
          </a:xfrm>
          <a:prstGeom prst="rect">
            <a:avLst/>
          </a:prstGeom>
        </p:spPr>
        <p:txBody>
          <a:bodyPr lIns="0" tIns="0" rIns="0" bIns="0" rtlCol="0" anchor="t">
            <a:spAutoFit/>
          </a:bodyPr>
          <a:lstStyle/>
          <a:p>
            <a:pPr algn="l">
              <a:lnSpc>
                <a:spcPts val="2879"/>
              </a:lnSpc>
            </a:pPr>
            <a:r>
              <a:rPr lang="en-US" sz="2400">
                <a:solidFill>
                  <a:srgbClr val="5A5F5E"/>
                </a:solidFill>
                <a:latin typeface="Helvetica"/>
                <a:ea typeface="Helvetica"/>
                <a:cs typeface="Helvetica"/>
                <a:sym typeface="Helvetica"/>
              </a:rPr>
              <a:t>NYCU</a:t>
            </a:r>
          </a:p>
          <a:p>
            <a:pPr algn="l">
              <a:lnSpc>
                <a:spcPts val="2879"/>
              </a:lnSpc>
            </a:pPr>
            <a:r>
              <a:rPr lang="en-US" sz="2400" u="sng">
                <a:solidFill>
                  <a:srgbClr val="0000FF"/>
                </a:solidFill>
                <a:latin typeface="Helvetica"/>
                <a:ea typeface="Helvetica"/>
                <a:cs typeface="Helvetica"/>
                <a:sym typeface="Helvetica"/>
              </a:rPr>
              <a:t>MY SITE</a:t>
            </a:r>
          </a:p>
        </p:txBody>
      </p:sp>
      <p:sp>
        <p:nvSpPr>
          <p:cNvPr id="7" name="TextBox 7"/>
          <p:cNvSpPr txBox="1"/>
          <p:nvPr/>
        </p:nvSpPr>
        <p:spPr>
          <a:xfrm>
            <a:off x="626190" y="2005411"/>
            <a:ext cx="8503601" cy="1285875"/>
          </a:xfrm>
          <a:prstGeom prst="rect">
            <a:avLst/>
          </a:prstGeom>
        </p:spPr>
        <p:txBody>
          <a:bodyPr lIns="0" tIns="0" rIns="0" bIns="0" rtlCol="0" anchor="t">
            <a:spAutoFit/>
          </a:bodyPr>
          <a:lstStyle/>
          <a:p>
            <a:pPr algn="l">
              <a:lnSpc>
                <a:spcPts val="4951"/>
              </a:lnSpc>
            </a:pPr>
            <a:r>
              <a:rPr lang="en-US" sz="4126" dirty="0">
                <a:solidFill>
                  <a:srgbClr val="D30F11"/>
                </a:solidFill>
                <a:latin typeface="Helvetica"/>
                <a:ea typeface="Helvetica"/>
                <a:cs typeface="Helvetica"/>
                <a:sym typeface="Helvetica"/>
              </a:rPr>
              <a:t>Next-Gen Credit Risk and Fraud Detection with Explainable AI</a:t>
            </a:r>
          </a:p>
        </p:txBody>
      </p:sp>
      <p:sp>
        <p:nvSpPr>
          <p:cNvPr id="8" name="TextBox 8"/>
          <p:cNvSpPr txBox="1"/>
          <p:nvPr/>
        </p:nvSpPr>
        <p:spPr>
          <a:xfrm>
            <a:off x="7187593" y="6966606"/>
            <a:ext cx="2281232" cy="180975"/>
          </a:xfrm>
          <a:prstGeom prst="rect">
            <a:avLst/>
          </a:prstGeom>
        </p:spPr>
        <p:txBody>
          <a:bodyPr lIns="0" tIns="0" rIns="0" bIns="0" rtlCol="0" anchor="t">
            <a:spAutoFit/>
          </a:bodyPr>
          <a:lstStyle/>
          <a:p>
            <a:pPr algn="l">
              <a:lnSpc>
                <a:spcPts val="1350"/>
              </a:lnSpc>
            </a:pPr>
            <a:r>
              <a:rPr lang="en-US" sz="1125">
                <a:solidFill>
                  <a:srgbClr val="D30F11"/>
                </a:solidFill>
                <a:latin typeface="Helvetica"/>
                <a:ea typeface="Helvetica"/>
                <a:cs typeface="Helvetica"/>
                <a:sym typeface="Helvetica"/>
              </a:rPr>
              <a:t>20251013 Project presentation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VN"/>
          </a:p>
        </p:txBody>
      </p:sp>
      <p:sp>
        <p:nvSpPr>
          <p:cNvPr id="3" name="TextBox 3"/>
          <p:cNvSpPr txBox="1"/>
          <p:nvPr/>
        </p:nvSpPr>
        <p:spPr>
          <a:xfrm>
            <a:off x="617676" y="589101"/>
            <a:ext cx="8510865" cy="39400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Outline</a:t>
            </a:r>
          </a:p>
        </p:txBody>
      </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5"/>
              <a:stretch>
                <a:fillRect l="-8988" t="-16686" r="-7973" b="-18989"/>
              </a:stretch>
            </a:blipFill>
          </p:spPr>
          <p:txBody>
            <a:bodyPr/>
            <a:lstStyle/>
            <a:p>
              <a:endParaRPr lang="en-VN"/>
            </a:p>
          </p:txBody>
        </p:sp>
      </p:grpSp>
      <p:grpSp>
        <p:nvGrpSpPr>
          <p:cNvPr id="8" name="Group 8"/>
          <p:cNvGrpSpPr/>
          <p:nvPr/>
        </p:nvGrpSpPr>
        <p:grpSpPr>
          <a:xfrm>
            <a:off x="571759" y="6866373"/>
            <a:ext cx="4310996" cy="308875"/>
            <a:chOff x="0" y="0"/>
            <a:chExt cx="5747995" cy="411834"/>
          </a:xfrm>
        </p:grpSpPr>
        <p:sp>
          <p:nvSpPr>
            <p:cNvPr id="9" name="Freeform 9"/>
            <p:cNvSpPr/>
            <p:nvPr/>
          </p:nvSpPr>
          <p:spPr>
            <a:xfrm>
              <a:off x="0" y="0"/>
              <a:ext cx="5747995" cy="411834"/>
            </a:xfrm>
            <a:custGeom>
              <a:avLst/>
              <a:gdLst/>
              <a:ahLst/>
              <a:cxnLst/>
              <a:rect l="l" t="t" r="r" b="b"/>
              <a:pathLst>
                <a:path w="5747995" h="411834">
                  <a:moveTo>
                    <a:pt x="0" y="0"/>
                  </a:moveTo>
                  <a:lnTo>
                    <a:pt x="5747995" y="0"/>
                  </a:lnTo>
                  <a:lnTo>
                    <a:pt x="5747995"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747995" cy="430884"/>
            </a:xfrm>
            <a:prstGeom prst="rect">
              <a:avLst/>
            </a:prstGeom>
          </p:spPr>
          <p:txBody>
            <a:bodyPr lIns="0" tIns="0" rIns="0" bIns="0" rtlCol="0" anchor="b"/>
            <a:lstStyle/>
            <a:p>
              <a:pPr algn="l">
                <a:lnSpc>
                  <a:spcPts val="1800"/>
                </a:lnSpc>
              </a:pPr>
              <a:r>
                <a:rPr lang="en-US" sz="1500">
                  <a:solidFill>
                    <a:srgbClr val="5A5F5E"/>
                  </a:solidFill>
                  <a:latin typeface="Helvetica"/>
                  <a:ea typeface="Helvetica"/>
                  <a:cs typeface="Helvetica"/>
                  <a:sym typeface="Helvetica"/>
                </a:rPr>
                <a:t>IDA Template</a:t>
              </a:r>
            </a:p>
          </p:txBody>
        </p:sp>
      </p:grpSp>
      <p:sp>
        <p:nvSpPr>
          <p:cNvPr id="11" name="TextBox 11"/>
          <p:cNvSpPr txBox="1"/>
          <p:nvPr/>
        </p:nvSpPr>
        <p:spPr>
          <a:xfrm>
            <a:off x="617676" y="1254429"/>
            <a:ext cx="8510865" cy="3571833"/>
          </a:xfrm>
          <a:prstGeom prst="rect">
            <a:avLst/>
          </a:prstGeom>
        </p:spPr>
        <p:txBody>
          <a:bodyPr lIns="0" tIns="0" rIns="0" bIns="0" rtlCol="0" anchor="t">
            <a:spAutoFit/>
          </a:bodyPr>
          <a:lstStyle/>
          <a:p>
            <a:pPr marL="203504" lvl="1" indent="-101752" algn="l">
              <a:lnSpc>
                <a:spcPts val="4050"/>
              </a:lnSpc>
              <a:buAutoNum type="arabicPeriod"/>
            </a:pPr>
            <a:r>
              <a:rPr lang="en-US" sz="2250">
                <a:solidFill>
                  <a:srgbClr val="5A5F5E"/>
                </a:solidFill>
                <a:latin typeface="Helvetica"/>
                <a:ea typeface="Helvetica"/>
                <a:cs typeface="Helvetica"/>
                <a:sym typeface="Helvetica"/>
              </a:rPr>
              <a:t> Motivation ✓</a:t>
            </a:r>
          </a:p>
          <a:p>
            <a:pPr marL="203504" lvl="1" indent="-101752" algn="l">
              <a:lnSpc>
                <a:spcPts val="4050"/>
              </a:lnSpc>
              <a:buAutoNum type="arabicPeriod"/>
            </a:pPr>
            <a:r>
              <a:rPr lang="en-US" sz="2250">
                <a:solidFill>
                  <a:srgbClr val="5A5F5E"/>
                </a:solidFill>
                <a:latin typeface="Helvetica"/>
                <a:ea typeface="Helvetica"/>
                <a:cs typeface="Helvetica"/>
                <a:sym typeface="Helvetica"/>
              </a:rPr>
              <a:t> Overview Study Plan</a:t>
            </a:r>
          </a:p>
          <a:p>
            <a:pPr marL="203696" lvl="1" indent="-101848" algn="l">
              <a:lnSpc>
                <a:spcPts val="4050"/>
              </a:lnSpc>
              <a:buAutoNum type="arabicPeriod"/>
            </a:pPr>
            <a:r>
              <a:rPr lang="en-US" sz="2250">
                <a:solidFill>
                  <a:srgbClr val="5A5F5E"/>
                </a:solidFill>
                <a:latin typeface="Helvetica"/>
                <a:ea typeface="Helvetica"/>
                <a:cs typeface="Helvetica"/>
                <a:sym typeface="Helvetica"/>
              </a:rPr>
              <a:t> Intro Datasets</a:t>
            </a:r>
          </a:p>
          <a:p>
            <a:pPr marL="203504" lvl="1" indent="-101752" algn="l">
              <a:lnSpc>
                <a:spcPts val="4050"/>
              </a:lnSpc>
              <a:buAutoNum type="arabicPeriod"/>
            </a:pPr>
            <a:r>
              <a:rPr lang="en-US" sz="2250">
                <a:solidFill>
                  <a:srgbClr val="5A5F5E"/>
                </a:solidFill>
                <a:latin typeface="Helvetica"/>
                <a:ea typeface="Helvetica"/>
                <a:cs typeface="Helvetica"/>
                <a:sym typeface="Helvetica"/>
              </a:rPr>
              <a:t> Define Credit Fraud</a:t>
            </a:r>
          </a:p>
          <a:p>
            <a:pPr marL="203504" lvl="1" indent="-101752" algn="l">
              <a:lnSpc>
                <a:spcPts val="4050"/>
              </a:lnSpc>
              <a:buAutoNum type="arabicPeriod"/>
            </a:pPr>
            <a:r>
              <a:rPr lang="en-US" sz="2250">
                <a:solidFill>
                  <a:srgbClr val="5A5F5E"/>
                </a:solidFill>
                <a:latin typeface="Helvetica"/>
                <a:ea typeface="Helvetica"/>
                <a:cs typeface="Helvetica"/>
                <a:sym typeface="Helvetica"/>
              </a:rPr>
              <a:t> Clean Data</a:t>
            </a:r>
          </a:p>
          <a:p>
            <a:pPr marL="203504" lvl="1" indent="-101752" algn="l">
              <a:lnSpc>
                <a:spcPts val="4050"/>
              </a:lnSpc>
              <a:buAutoNum type="arabicPeriod"/>
            </a:pPr>
            <a:r>
              <a:rPr lang="en-US" sz="2250">
                <a:solidFill>
                  <a:srgbClr val="5A5F5E"/>
                </a:solidFill>
                <a:latin typeface="Helvetica"/>
                <a:ea typeface="Helvetica"/>
                <a:cs typeface="Helvetica"/>
                <a:sym typeface="Helvetica"/>
              </a:rPr>
              <a:t> EDA Chart</a:t>
            </a:r>
          </a:p>
          <a:p>
            <a:pPr marL="203696" lvl="1" indent="-101848" algn="l">
              <a:lnSpc>
                <a:spcPts val="4050"/>
              </a:lnSpc>
              <a:buAutoNum type="arabicPeriod"/>
            </a:pPr>
            <a:r>
              <a:rPr lang="en-US" sz="2250">
                <a:solidFill>
                  <a:srgbClr val="5A5F5E"/>
                </a:solidFill>
                <a:latin typeface="Helvetica"/>
                <a:ea typeface="Helvetica"/>
                <a:cs typeface="Helvetica"/>
                <a:sym typeface="Helvetica"/>
              </a:rPr>
              <a:t> Conclusion</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VN"/>
          </a:p>
        </p:txBody>
      </p:sp>
      <p:grpSp>
        <p:nvGrpSpPr>
          <p:cNvPr id="3" name="Group 3"/>
          <p:cNvGrpSpPr/>
          <p:nvPr/>
        </p:nvGrpSpPr>
        <p:grpSpPr>
          <a:xfrm>
            <a:off x="562111" y="459246"/>
            <a:ext cx="8626875" cy="19055"/>
            <a:chOff x="0" y="0"/>
            <a:chExt cx="11502500" cy="25407"/>
          </a:xfrm>
        </p:grpSpPr>
        <p:sp>
          <p:nvSpPr>
            <p:cNvPr id="4" name="Freeform 4"/>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5" name="Group 5"/>
          <p:cNvGrpSpPr/>
          <p:nvPr/>
        </p:nvGrpSpPr>
        <p:grpSpPr>
          <a:xfrm>
            <a:off x="516270" y="6861609"/>
            <a:ext cx="7928605" cy="19055"/>
            <a:chOff x="0" y="0"/>
            <a:chExt cx="10571473" cy="25407"/>
          </a:xfrm>
        </p:grpSpPr>
        <p:sp>
          <p:nvSpPr>
            <p:cNvPr id="6" name="Freeform 6"/>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7" name="Group 7"/>
          <p:cNvGrpSpPr>
            <a:grpSpLocks noChangeAspect="1"/>
          </p:cNvGrpSpPr>
          <p:nvPr/>
        </p:nvGrpSpPr>
        <p:grpSpPr>
          <a:xfrm>
            <a:off x="8589923" y="6449440"/>
            <a:ext cx="954170" cy="582012"/>
            <a:chOff x="0" y="0"/>
            <a:chExt cx="1272227" cy="776016"/>
          </a:xfrm>
        </p:grpSpPr>
        <p:sp>
          <p:nvSpPr>
            <p:cNvPr id="8" name="Freeform 8"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5"/>
              <a:stretch>
                <a:fillRect l="-8988" t="-16686" r="-7973" b="-18989"/>
              </a:stretch>
            </a:blipFill>
          </p:spPr>
          <p:txBody>
            <a:bodyPr/>
            <a:lstStyle/>
            <a:p>
              <a:endParaRPr lang="en-VN"/>
            </a:p>
          </p:txBody>
        </p:sp>
      </p:grpSp>
      <p:sp>
        <p:nvSpPr>
          <p:cNvPr id="9" name="TextBox 9"/>
          <p:cNvSpPr txBox="1"/>
          <p:nvPr/>
        </p:nvSpPr>
        <p:spPr>
          <a:xfrm>
            <a:off x="613032" y="186886"/>
            <a:ext cx="7036811" cy="226325"/>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Motivation</a:t>
            </a:r>
          </a:p>
        </p:txBody>
      </p:sp>
      <p:sp>
        <p:nvSpPr>
          <p:cNvPr id="10" name="TextBox 10"/>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Motivation</a:t>
            </a:r>
          </a:p>
        </p:txBody>
      </p:sp>
      <p:sp>
        <p:nvSpPr>
          <p:cNvPr id="11" name="TextBox 11"/>
          <p:cNvSpPr txBox="1"/>
          <p:nvPr/>
        </p:nvSpPr>
        <p:spPr>
          <a:xfrm>
            <a:off x="731520" y="1141551"/>
            <a:ext cx="8510865" cy="5562579"/>
          </a:xfrm>
          <a:prstGeom prst="rect">
            <a:avLst/>
          </a:prstGeom>
        </p:spPr>
        <p:txBody>
          <a:bodyPr lIns="0" tIns="0" rIns="0" bIns="0" rtlCol="0" anchor="t">
            <a:spAutoFit/>
          </a:bodyPr>
          <a:lstStyle/>
          <a:p>
            <a:pPr marL="485893" lvl="1" indent="-242947" algn="l">
              <a:lnSpc>
                <a:spcPts val="3375"/>
              </a:lnSpc>
              <a:buFont typeface="Arial"/>
              <a:buChar char="•"/>
            </a:pPr>
            <a:r>
              <a:rPr lang="en-US" sz="2250">
                <a:solidFill>
                  <a:srgbClr val="00599E"/>
                </a:solidFill>
                <a:latin typeface="Helvetica"/>
                <a:ea typeface="Helvetica"/>
                <a:cs typeface="Helvetica"/>
                <a:sym typeface="Helvetica"/>
              </a:rPr>
              <a:t>Digital finance creates high-volume, fast-changing credit and fraud risks.</a:t>
            </a:r>
          </a:p>
          <a:p>
            <a:pPr marL="485893" lvl="1" indent="-242947" algn="l">
              <a:lnSpc>
                <a:spcPts val="3375"/>
              </a:lnSpc>
              <a:buFont typeface="Arial"/>
              <a:buChar char="•"/>
            </a:pPr>
            <a:r>
              <a:rPr lang="en-US" sz="2250">
                <a:solidFill>
                  <a:srgbClr val="00599E"/>
                </a:solidFill>
                <a:latin typeface="Helvetica"/>
                <a:ea typeface="Helvetica"/>
                <a:cs typeface="Helvetica"/>
                <a:sym typeface="Helvetica"/>
              </a:rPr>
              <a:t>Traditional rule-based and linear models fail to capture complex behavioral patterns.</a:t>
            </a:r>
          </a:p>
          <a:p>
            <a:pPr marL="485893" lvl="1" indent="-242947" algn="l">
              <a:lnSpc>
                <a:spcPts val="3375"/>
              </a:lnSpc>
              <a:buFont typeface="Arial"/>
              <a:buChar char="•"/>
            </a:pPr>
            <a:r>
              <a:rPr lang="en-US" sz="2250">
                <a:solidFill>
                  <a:srgbClr val="00599E"/>
                </a:solidFill>
                <a:latin typeface="Helvetica"/>
                <a:ea typeface="Helvetica"/>
                <a:cs typeface="Helvetica"/>
                <a:sym typeface="Helvetica"/>
              </a:rPr>
              <a:t>Fraud schemes evolve quickly and are difficult to detect with static systems.</a:t>
            </a:r>
          </a:p>
          <a:p>
            <a:pPr marL="485893" lvl="1" indent="-242947" algn="l">
              <a:lnSpc>
                <a:spcPts val="3375"/>
              </a:lnSpc>
              <a:buFont typeface="Arial"/>
              <a:buChar char="•"/>
            </a:pPr>
            <a:r>
              <a:rPr lang="en-US" sz="2250">
                <a:solidFill>
                  <a:srgbClr val="00599E"/>
                </a:solidFill>
                <a:latin typeface="Helvetica"/>
                <a:ea typeface="Helvetica"/>
                <a:cs typeface="Helvetica"/>
                <a:sym typeface="Helvetica"/>
              </a:rPr>
              <a:t>Regulators require transparency, fairness, and explainable model decisions.</a:t>
            </a:r>
          </a:p>
          <a:p>
            <a:pPr marL="485893" lvl="1" indent="-242947" algn="l">
              <a:lnSpc>
                <a:spcPts val="3375"/>
              </a:lnSpc>
              <a:buFont typeface="Arial"/>
              <a:buChar char="•"/>
            </a:pPr>
            <a:r>
              <a:rPr lang="en-US" sz="2250">
                <a:solidFill>
                  <a:srgbClr val="00599E"/>
                </a:solidFill>
                <a:latin typeface="Helvetica"/>
                <a:ea typeface="Helvetica"/>
                <a:cs typeface="Helvetica"/>
                <a:sym typeface="Helvetica"/>
              </a:rPr>
              <a:t>Need models that are both accurate and interpretable for real-world deployment.</a:t>
            </a:r>
          </a:p>
          <a:p>
            <a:pPr marL="485893" lvl="1" indent="-242947" algn="l">
              <a:lnSpc>
                <a:spcPts val="3375"/>
              </a:lnSpc>
              <a:buFont typeface="Arial"/>
              <a:buChar char="•"/>
            </a:pPr>
            <a:r>
              <a:rPr lang="en-US" sz="2250">
                <a:solidFill>
                  <a:srgbClr val="00599E"/>
                </a:solidFill>
                <a:latin typeface="Helvetica"/>
                <a:ea typeface="Helvetica"/>
                <a:cs typeface="Helvetica"/>
                <a:sym typeface="Helvetica"/>
              </a:rPr>
              <a:t>This study explores machine learning with explainable AI to improve risk and fraud detection.</a:t>
            </a:r>
          </a:p>
          <a:p>
            <a:pPr algn="l">
              <a:lnSpc>
                <a:spcPts val="3375"/>
              </a:lnSpc>
            </a:pPr>
            <a:endParaRPr lang="en-US" sz="2250">
              <a:solidFill>
                <a:srgbClr val="00599E"/>
              </a:solidFill>
              <a:latin typeface="Helvetica"/>
              <a:ea typeface="Helvetica"/>
              <a:cs typeface="Helvetica"/>
              <a:sym typeface="Helvetica"/>
            </a:endParaRPr>
          </a:p>
        </p:txBody>
      </p:sp>
      <p:grpSp>
        <p:nvGrpSpPr>
          <p:cNvPr id="12" name="Group 12"/>
          <p:cNvGrpSpPr/>
          <p:nvPr/>
        </p:nvGrpSpPr>
        <p:grpSpPr>
          <a:xfrm>
            <a:off x="531924" y="6923537"/>
            <a:ext cx="4119966" cy="308875"/>
            <a:chOff x="0" y="0"/>
            <a:chExt cx="5493288" cy="411834"/>
          </a:xfrm>
        </p:grpSpPr>
        <p:sp>
          <p:nvSpPr>
            <p:cNvPr id="13" name="Freeform 13"/>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4" name="TextBox 14"/>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IDA Template</a:t>
              </a:r>
            </a:p>
          </p:txBody>
        </p:sp>
      </p:grpSp>
    </p:spTree>
  </p:cSld>
  <p:clrMapOvr>
    <a:masterClrMapping/>
  </p:clrMapOvr>
  <p:transition>
    <p:cover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111" y="459246"/>
            <a:ext cx="8626875" cy="19055"/>
            <a:chOff x="0" y="0"/>
            <a:chExt cx="11502500" cy="25407"/>
          </a:xfrm>
        </p:grpSpPr>
        <p:sp>
          <p:nvSpPr>
            <p:cNvPr id="3" name="Freeform 3"/>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grpSp>
        <p:nvGrpSpPr>
          <p:cNvPr id="8" name="Group 8"/>
          <p:cNvGrpSpPr/>
          <p:nvPr/>
        </p:nvGrpSpPr>
        <p:grpSpPr>
          <a:xfrm>
            <a:off x="531924" y="6923537"/>
            <a:ext cx="4119966" cy="308875"/>
            <a:chOff x="0" y="0"/>
            <a:chExt cx="5493288" cy="411834"/>
          </a:xfrm>
        </p:grpSpPr>
        <p:sp>
          <p:nvSpPr>
            <p:cNvPr id="9" name="Freeform 9"/>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1" name="TextBox 11"/>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Motivation</a:t>
            </a:r>
          </a:p>
        </p:txBody>
      </p:sp>
      <p:sp>
        <p:nvSpPr>
          <p:cNvPr id="12" name="TextBox 12"/>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Overview Study Plan</a:t>
            </a:r>
          </a:p>
        </p:txBody>
      </p:sp>
      <p:sp>
        <p:nvSpPr>
          <p:cNvPr id="13" name="Freeform 13"/>
          <p:cNvSpPr/>
          <p:nvPr/>
        </p:nvSpPr>
        <p:spPr>
          <a:xfrm>
            <a:off x="921816" y="1878411"/>
            <a:ext cx="7902585" cy="5354001"/>
          </a:xfrm>
          <a:custGeom>
            <a:avLst/>
            <a:gdLst/>
            <a:ahLst/>
            <a:cxnLst/>
            <a:rect l="l" t="t" r="r" b="b"/>
            <a:pathLst>
              <a:path w="7902585" h="5354001">
                <a:moveTo>
                  <a:pt x="0" y="0"/>
                </a:moveTo>
                <a:lnTo>
                  <a:pt x="7902585" y="0"/>
                </a:lnTo>
                <a:lnTo>
                  <a:pt x="7902585" y="5354001"/>
                </a:lnTo>
                <a:lnTo>
                  <a:pt x="0" y="5354001"/>
                </a:lnTo>
                <a:lnTo>
                  <a:pt x="0" y="0"/>
                </a:lnTo>
                <a:close/>
              </a:path>
            </a:pathLst>
          </a:custGeom>
          <a:blipFill>
            <a:blip r:embed="rId4"/>
            <a:stretch>
              <a:fillRect/>
            </a:stretch>
          </a:blipFill>
        </p:spPr>
        <p:txBody>
          <a:bodyPr/>
          <a:lstStyle/>
          <a:p>
            <a:endParaRPr lang="en-VN"/>
          </a:p>
        </p:txBody>
      </p:sp>
      <p:grpSp>
        <p:nvGrpSpPr>
          <p:cNvPr id="14" name="Group 14"/>
          <p:cNvGrpSpPr/>
          <p:nvPr/>
        </p:nvGrpSpPr>
        <p:grpSpPr>
          <a:xfrm>
            <a:off x="4351510" y="2165214"/>
            <a:ext cx="2081853" cy="1697031"/>
            <a:chOff x="0" y="0"/>
            <a:chExt cx="716270" cy="583870"/>
          </a:xfrm>
        </p:grpSpPr>
        <p:sp>
          <p:nvSpPr>
            <p:cNvPr id="15" name="Freeform 15"/>
            <p:cNvSpPr/>
            <p:nvPr/>
          </p:nvSpPr>
          <p:spPr>
            <a:xfrm>
              <a:off x="0" y="0"/>
              <a:ext cx="716270" cy="583870"/>
            </a:xfrm>
            <a:custGeom>
              <a:avLst/>
              <a:gdLst/>
              <a:ahLst/>
              <a:cxnLst/>
              <a:rect l="l" t="t" r="r" b="b"/>
              <a:pathLst>
                <a:path w="716270" h="583870">
                  <a:moveTo>
                    <a:pt x="52063" y="0"/>
                  </a:moveTo>
                  <a:lnTo>
                    <a:pt x="664207" y="0"/>
                  </a:lnTo>
                  <a:cubicBezTo>
                    <a:pt x="678015" y="0"/>
                    <a:pt x="691257" y="5485"/>
                    <a:pt x="701021" y="15249"/>
                  </a:cubicBezTo>
                  <a:cubicBezTo>
                    <a:pt x="710785" y="25012"/>
                    <a:pt x="716270" y="38255"/>
                    <a:pt x="716270" y="52063"/>
                  </a:cubicBezTo>
                  <a:lnTo>
                    <a:pt x="716270" y="531808"/>
                  </a:lnTo>
                  <a:cubicBezTo>
                    <a:pt x="716270" y="560561"/>
                    <a:pt x="692960" y="583870"/>
                    <a:pt x="664207" y="583870"/>
                  </a:cubicBezTo>
                  <a:lnTo>
                    <a:pt x="52063" y="583870"/>
                  </a:lnTo>
                  <a:cubicBezTo>
                    <a:pt x="23309" y="583870"/>
                    <a:pt x="0" y="560561"/>
                    <a:pt x="0" y="531808"/>
                  </a:cubicBezTo>
                  <a:lnTo>
                    <a:pt x="0" y="52063"/>
                  </a:lnTo>
                  <a:cubicBezTo>
                    <a:pt x="0" y="23309"/>
                    <a:pt x="23309" y="0"/>
                    <a:pt x="52063" y="0"/>
                  </a:cubicBezTo>
                  <a:close/>
                </a:path>
              </a:pathLst>
            </a:custGeom>
            <a:solidFill>
              <a:srgbClr val="F7D5AA"/>
            </a:solidFill>
            <a:ln w="9525" cap="sq">
              <a:solidFill>
                <a:srgbClr val="000000"/>
              </a:solidFill>
              <a:prstDash val="solid"/>
              <a:miter/>
            </a:ln>
          </p:spPr>
          <p:txBody>
            <a:bodyPr/>
            <a:lstStyle/>
            <a:p>
              <a:endParaRPr lang="en-VN"/>
            </a:p>
          </p:txBody>
        </p:sp>
        <p:sp>
          <p:nvSpPr>
            <p:cNvPr id="16" name="TextBox 16"/>
            <p:cNvSpPr txBox="1"/>
            <p:nvPr/>
          </p:nvSpPr>
          <p:spPr>
            <a:xfrm>
              <a:off x="0" y="9525"/>
              <a:ext cx="716270" cy="574345"/>
            </a:xfrm>
            <a:prstGeom prst="rect">
              <a:avLst/>
            </a:prstGeom>
          </p:spPr>
          <p:txBody>
            <a:bodyPr lIns="150807" tIns="150807" rIns="150807" bIns="150807" rtlCol="0" anchor="ctr"/>
            <a:lstStyle/>
            <a:p>
              <a:pPr marL="194312" lvl="1" indent="-97156" algn="l">
                <a:lnSpc>
                  <a:spcPts val="1080"/>
                </a:lnSpc>
                <a:buFont typeface="Arial"/>
                <a:buChar char="•"/>
              </a:pPr>
              <a:r>
                <a:rPr lang="en-US" sz="900" b="1" dirty="0">
                  <a:solidFill>
                    <a:srgbClr val="000000"/>
                  </a:solidFill>
                  <a:latin typeface="TT Commons Pro Bold"/>
                  <a:ea typeface="TT Commons Pro Bold"/>
                  <a:cs typeface="TT Commons Pro Bold"/>
                  <a:sym typeface="TT Commons Pro Bold"/>
                </a:rPr>
                <a:t>Remove high-missing-value columns</a:t>
              </a:r>
            </a:p>
            <a:p>
              <a:pPr marL="194312" lvl="1" indent="-97156" algn="l">
                <a:lnSpc>
                  <a:spcPts val="1080"/>
                </a:lnSpc>
                <a:spcBef>
                  <a:spcPct val="0"/>
                </a:spcBef>
                <a:buFont typeface="Arial"/>
                <a:buChar char="•"/>
              </a:pPr>
              <a:r>
                <a:rPr lang="en-US" sz="900" b="1" dirty="0">
                  <a:solidFill>
                    <a:srgbClr val="000000"/>
                  </a:solidFill>
                  <a:latin typeface="TT Commons Pro Bold"/>
                  <a:ea typeface="TT Commons Pro Bold"/>
                  <a:cs typeface="TT Commons Pro Bold"/>
                  <a:sym typeface="TT Commons Pro Bold"/>
                </a:rPr>
                <a:t>Conver</a:t>
              </a:r>
              <a:r>
                <a:rPr lang="en-US" sz="900" b="1" u="none" strike="noStrike" dirty="0">
                  <a:solidFill>
                    <a:srgbClr val="000000"/>
                  </a:solidFill>
                  <a:latin typeface="TT Commons Pro Bold"/>
                  <a:ea typeface="TT Commons Pro Bold"/>
                  <a:cs typeface="TT Commons Pro Bold"/>
                  <a:sym typeface="TT Commons Pro Bold"/>
                </a:rPr>
                <a:t>t all features to numeric</a:t>
              </a:r>
            </a:p>
            <a:p>
              <a:pPr marL="194312" lvl="1" indent="-97156" algn="l">
                <a:lnSpc>
                  <a:spcPts val="1080"/>
                </a:lnSpc>
                <a:spcBef>
                  <a:spcPct val="0"/>
                </a:spcBef>
                <a:buFont typeface="Arial"/>
                <a:buChar char="•"/>
              </a:pPr>
              <a:r>
                <a:rPr lang="en-US" sz="900" b="1" u="none" strike="noStrike" dirty="0">
                  <a:solidFill>
                    <a:srgbClr val="000000"/>
                  </a:solidFill>
                  <a:latin typeface="TT Commons Pro Bold"/>
                  <a:ea typeface="TT Commons Pro Bold"/>
                  <a:cs typeface="TT Commons Pro Bold"/>
                  <a:sym typeface="TT Commons Pro Bold"/>
                </a:rPr>
                <a:t>Impute missing values</a:t>
              </a:r>
            </a:p>
            <a:p>
              <a:pPr marL="194312" lvl="1" indent="-97156" algn="l">
                <a:lnSpc>
                  <a:spcPts val="1080"/>
                </a:lnSpc>
                <a:spcBef>
                  <a:spcPct val="0"/>
                </a:spcBef>
                <a:buFont typeface="Arial"/>
                <a:buChar char="•"/>
              </a:pPr>
              <a:r>
                <a:rPr lang="en-US" sz="900" b="1" u="none" strike="noStrike" dirty="0">
                  <a:solidFill>
                    <a:srgbClr val="000000"/>
                  </a:solidFill>
                  <a:latin typeface="TT Commons Pro Bold"/>
                  <a:ea typeface="TT Commons Pro Bold"/>
                  <a:cs typeface="TT Commons Pro Bold"/>
                  <a:sym typeface="TT Commons Pro Bold"/>
                </a:rPr>
                <a:t>Apply Z-score standardization</a:t>
              </a:r>
            </a:p>
            <a:p>
              <a:pPr marL="194312" lvl="1" indent="-97156" algn="l">
                <a:lnSpc>
                  <a:spcPts val="1080"/>
                </a:lnSpc>
                <a:spcBef>
                  <a:spcPct val="0"/>
                </a:spcBef>
                <a:buFont typeface="Arial"/>
                <a:buChar char="•"/>
              </a:pPr>
              <a:r>
                <a:rPr lang="en-US" sz="900" b="1" u="none" strike="noStrike" dirty="0">
                  <a:solidFill>
                    <a:srgbClr val="000000"/>
                  </a:solidFill>
                  <a:latin typeface="TT Commons Pro Bold"/>
                  <a:ea typeface="TT Commons Pro Bold"/>
                  <a:cs typeface="TT Commons Pro Bold"/>
                  <a:sym typeface="TT Commons Pro Bold"/>
                </a:rPr>
                <a:t>Apply Min–Max scaling (to [-1, 1])</a:t>
              </a:r>
            </a:p>
            <a:p>
              <a:pPr marL="194312" lvl="1" indent="-97156" algn="l">
                <a:lnSpc>
                  <a:spcPts val="1080"/>
                </a:lnSpc>
                <a:spcBef>
                  <a:spcPct val="0"/>
                </a:spcBef>
                <a:buFont typeface="Arial"/>
                <a:buChar char="•"/>
              </a:pPr>
              <a:r>
                <a:rPr lang="en-US" sz="900" b="1" u="none" strike="noStrike" dirty="0">
                  <a:solidFill>
                    <a:srgbClr val="000000"/>
                  </a:solidFill>
                  <a:latin typeface="TT Commons Pro Bold"/>
                  <a:ea typeface="TT Commons Pro Bold"/>
                  <a:cs typeface="TT Commons Pro Bold"/>
                  <a:sym typeface="TT Commons Pro Bold"/>
                </a:rPr>
                <a:t>Split data: 80% train / 20% test</a:t>
              </a:r>
            </a:p>
          </p:txBody>
        </p:sp>
      </p:gr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VN"/>
          </a:p>
        </p:txBody>
      </p:sp>
      <p:grpSp>
        <p:nvGrpSpPr>
          <p:cNvPr id="3" name="Group 3"/>
          <p:cNvGrpSpPr/>
          <p:nvPr/>
        </p:nvGrpSpPr>
        <p:grpSpPr>
          <a:xfrm>
            <a:off x="562111" y="459246"/>
            <a:ext cx="8626875" cy="19055"/>
            <a:chOff x="0" y="0"/>
            <a:chExt cx="11502500" cy="25407"/>
          </a:xfrm>
        </p:grpSpPr>
        <p:sp>
          <p:nvSpPr>
            <p:cNvPr id="4" name="Freeform 4"/>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5" name="Group 5"/>
          <p:cNvGrpSpPr/>
          <p:nvPr/>
        </p:nvGrpSpPr>
        <p:grpSpPr>
          <a:xfrm>
            <a:off x="516270" y="6861609"/>
            <a:ext cx="7928605" cy="19055"/>
            <a:chOff x="0" y="0"/>
            <a:chExt cx="10571473" cy="25407"/>
          </a:xfrm>
        </p:grpSpPr>
        <p:sp>
          <p:nvSpPr>
            <p:cNvPr id="6" name="Freeform 6"/>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7" name="Group 7"/>
          <p:cNvGrpSpPr>
            <a:grpSpLocks noChangeAspect="1"/>
          </p:cNvGrpSpPr>
          <p:nvPr/>
        </p:nvGrpSpPr>
        <p:grpSpPr>
          <a:xfrm>
            <a:off x="8589923" y="6449440"/>
            <a:ext cx="954170" cy="582012"/>
            <a:chOff x="0" y="0"/>
            <a:chExt cx="1272227" cy="776016"/>
          </a:xfrm>
        </p:grpSpPr>
        <p:sp>
          <p:nvSpPr>
            <p:cNvPr id="8" name="Freeform 8"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5"/>
              <a:stretch>
                <a:fillRect l="-8988" t="-16686" r="-7973" b="-18989"/>
              </a:stretch>
            </a:blipFill>
          </p:spPr>
          <p:txBody>
            <a:bodyPr/>
            <a:lstStyle/>
            <a:p>
              <a:endParaRPr lang="en-VN"/>
            </a:p>
          </p:txBody>
        </p:sp>
      </p:grpSp>
      <p:grpSp>
        <p:nvGrpSpPr>
          <p:cNvPr id="9" name="Group 9"/>
          <p:cNvGrpSpPr/>
          <p:nvPr/>
        </p:nvGrpSpPr>
        <p:grpSpPr>
          <a:xfrm>
            <a:off x="531924" y="6923537"/>
            <a:ext cx="4119966" cy="308875"/>
            <a:chOff x="0" y="0"/>
            <a:chExt cx="5493288" cy="411834"/>
          </a:xfrm>
        </p:grpSpPr>
        <p:sp>
          <p:nvSpPr>
            <p:cNvPr id="10" name="Freeform 10"/>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1" name="TextBox 11"/>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2" name="Freeform 12"/>
          <p:cNvSpPr/>
          <p:nvPr/>
        </p:nvSpPr>
        <p:spPr>
          <a:xfrm>
            <a:off x="335555" y="2758812"/>
            <a:ext cx="3006856" cy="3675046"/>
          </a:xfrm>
          <a:custGeom>
            <a:avLst/>
            <a:gdLst/>
            <a:ahLst/>
            <a:cxnLst/>
            <a:rect l="l" t="t" r="r" b="b"/>
            <a:pathLst>
              <a:path w="3006856" h="3675046">
                <a:moveTo>
                  <a:pt x="0" y="0"/>
                </a:moveTo>
                <a:lnTo>
                  <a:pt x="3006856" y="0"/>
                </a:lnTo>
                <a:lnTo>
                  <a:pt x="3006856" y="3675046"/>
                </a:lnTo>
                <a:lnTo>
                  <a:pt x="0" y="3675046"/>
                </a:lnTo>
                <a:lnTo>
                  <a:pt x="0" y="0"/>
                </a:lnTo>
                <a:close/>
              </a:path>
            </a:pathLst>
          </a:custGeom>
          <a:blipFill>
            <a:blip r:embed="rId6"/>
            <a:stretch>
              <a:fillRect/>
            </a:stretch>
          </a:blipFill>
        </p:spPr>
        <p:txBody>
          <a:bodyPr/>
          <a:lstStyle/>
          <a:p>
            <a:endParaRPr lang="en-VN"/>
          </a:p>
        </p:txBody>
      </p:sp>
      <p:sp>
        <p:nvSpPr>
          <p:cNvPr id="13" name="Freeform 13"/>
          <p:cNvSpPr/>
          <p:nvPr/>
        </p:nvSpPr>
        <p:spPr>
          <a:xfrm>
            <a:off x="3342411" y="2758812"/>
            <a:ext cx="3151155" cy="3675046"/>
          </a:xfrm>
          <a:custGeom>
            <a:avLst/>
            <a:gdLst/>
            <a:ahLst/>
            <a:cxnLst/>
            <a:rect l="l" t="t" r="r" b="b"/>
            <a:pathLst>
              <a:path w="3151155" h="3675046">
                <a:moveTo>
                  <a:pt x="0" y="0"/>
                </a:moveTo>
                <a:lnTo>
                  <a:pt x="3151154" y="0"/>
                </a:lnTo>
                <a:lnTo>
                  <a:pt x="3151154" y="3675046"/>
                </a:lnTo>
                <a:lnTo>
                  <a:pt x="0" y="3675046"/>
                </a:lnTo>
                <a:lnTo>
                  <a:pt x="0" y="0"/>
                </a:lnTo>
                <a:close/>
              </a:path>
            </a:pathLst>
          </a:custGeom>
          <a:blipFill>
            <a:blip r:embed="rId7"/>
            <a:stretch>
              <a:fillRect l="-658" r="-658"/>
            </a:stretch>
          </a:blipFill>
        </p:spPr>
        <p:txBody>
          <a:bodyPr/>
          <a:lstStyle/>
          <a:p>
            <a:endParaRPr lang="en-VN"/>
          </a:p>
        </p:txBody>
      </p:sp>
      <p:sp>
        <p:nvSpPr>
          <p:cNvPr id="14" name="Freeform 14"/>
          <p:cNvSpPr/>
          <p:nvPr/>
        </p:nvSpPr>
        <p:spPr>
          <a:xfrm>
            <a:off x="6420917" y="2758812"/>
            <a:ext cx="2997128" cy="3675046"/>
          </a:xfrm>
          <a:custGeom>
            <a:avLst/>
            <a:gdLst/>
            <a:ahLst/>
            <a:cxnLst/>
            <a:rect l="l" t="t" r="r" b="b"/>
            <a:pathLst>
              <a:path w="2997128" h="3675046">
                <a:moveTo>
                  <a:pt x="0" y="0"/>
                </a:moveTo>
                <a:lnTo>
                  <a:pt x="2997128" y="0"/>
                </a:lnTo>
                <a:lnTo>
                  <a:pt x="2997128" y="3675046"/>
                </a:lnTo>
                <a:lnTo>
                  <a:pt x="0" y="3675046"/>
                </a:lnTo>
                <a:lnTo>
                  <a:pt x="0" y="0"/>
                </a:lnTo>
                <a:close/>
              </a:path>
            </a:pathLst>
          </a:custGeom>
          <a:blipFill>
            <a:blip r:embed="rId8"/>
            <a:stretch>
              <a:fillRect l="-439" r="-439" b="-424"/>
            </a:stretch>
          </a:blipFill>
        </p:spPr>
        <p:txBody>
          <a:bodyPr/>
          <a:lstStyle/>
          <a:p>
            <a:endParaRPr lang="en-VN"/>
          </a:p>
        </p:txBody>
      </p:sp>
      <p:sp>
        <p:nvSpPr>
          <p:cNvPr id="15" name="TextBox 15"/>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Intro Datasets</a:t>
            </a:r>
          </a:p>
        </p:txBody>
      </p:sp>
      <p:sp>
        <p:nvSpPr>
          <p:cNvPr id="16" name="TextBox 16"/>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Intro Datasets</a:t>
            </a:r>
          </a:p>
        </p:txBody>
      </p:sp>
      <p:sp>
        <p:nvSpPr>
          <p:cNvPr id="17" name="TextBox 17"/>
          <p:cNvSpPr txBox="1"/>
          <p:nvPr/>
        </p:nvSpPr>
        <p:spPr>
          <a:xfrm>
            <a:off x="617675" y="1156484"/>
            <a:ext cx="8510865" cy="1276329"/>
          </a:xfrm>
          <a:prstGeom prst="rect">
            <a:avLst/>
          </a:prstGeom>
        </p:spPr>
        <p:txBody>
          <a:bodyPr lIns="0" tIns="0" rIns="0" bIns="0" rtlCol="0" anchor="t">
            <a:spAutoFit/>
          </a:bodyPr>
          <a:lstStyle/>
          <a:p>
            <a:pPr marL="203504" lvl="1" indent="-101752" algn="l">
              <a:lnSpc>
                <a:spcPts val="3375"/>
              </a:lnSpc>
              <a:buFont typeface="Arial"/>
              <a:buChar char="•"/>
            </a:pPr>
            <a:r>
              <a:rPr lang="en-US" sz="2250">
                <a:solidFill>
                  <a:srgbClr val="00599E"/>
                </a:solidFill>
                <a:latin typeface="Helvetica"/>
                <a:ea typeface="Helvetica"/>
                <a:cs typeface="Helvetica"/>
                <a:sym typeface="Helvetica"/>
              </a:rPr>
              <a:t>Teachers datasets on kaggle (</a:t>
            </a:r>
            <a:r>
              <a:rPr lang="en-US" sz="2250" u="sng">
                <a:solidFill>
                  <a:srgbClr val="00599E"/>
                </a:solidFill>
                <a:latin typeface="Helvetica"/>
                <a:ea typeface="Helvetica"/>
                <a:cs typeface="Helvetica"/>
                <a:sym typeface="Helvetica"/>
                <a:hlinkClick r:id="rId9" tooltip="https://www.kaggle.com/datasets/computingvictor/transactions-fraud-datasets?resource=download"/>
              </a:rPr>
              <a:t>Kaggle's Financial Transactions Dataset: Analytics</a:t>
            </a:r>
            <a:r>
              <a:rPr lang="en-US" sz="2250">
                <a:solidFill>
                  <a:srgbClr val="00599E"/>
                </a:solidFill>
                <a:latin typeface="Helvetica"/>
                <a:ea typeface="Helvetica"/>
                <a:cs typeface="Helvetica"/>
                <a:sym typeface="Helvetica"/>
              </a:rPr>
              <a:t>, introduced by Chrissy)</a:t>
            </a:r>
          </a:p>
          <a:p>
            <a:pPr marL="203504" lvl="1" indent="-101752" algn="l">
              <a:lnSpc>
                <a:spcPts val="3375"/>
              </a:lnSpc>
              <a:buFont typeface="Arial"/>
              <a:buChar char="•"/>
            </a:pPr>
            <a:r>
              <a:rPr lang="en-US" sz="2250" b="1">
                <a:solidFill>
                  <a:srgbClr val="00599E"/>
                </a:solidFill>
                <a:latin typeface="Helvetica Bold"/>
                <a:ea typeface="Helvetica Bold"/>
                <a:cs typeface="Helvetica Bold"/>
                <a:sym typeface="Helvetica Bold"/>
              </a:rPr>
              <a:t>Cards, Transactions, Users</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VN"/>
          </a:p>
        </p:txBody>
      </p:sp>
      <p:grpSp>
        <p:nvGrpSpPr>
          <p:cNvPr id="3" name="Group 3"/>
          <p:cNvGrpSpPr/>
          <p:nvPr/>
        </p:nvGrpSpPr>
        <p:grpSpPr>
          <a:xfrm>
            <a:off x="562111" y="459246"/>
            <a:ext cx="8626875" cy="19055"/>
            <a:chOff x="0" y="0"/>
            <a:chExt cx="11502500" cy="25407"/>
          </a:xfrm>
        </p:grpSpPr>
        <p:sp>
          <p:nvSpPr>
            <p:cNvPr id="4" name="Freeform 4"/>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5" name="Group 5"/>
          <p:cNvGrpSpPr/>
          <p:nvPr/>
        </p:nvGrpSpPr>
        <p:grpSpPr>
          <a:xfrm>
            <a:off x="516270" y="6861609"/>
            <a:ext cx="7928605" cy="19055"/>
            <a:chOff x="0" y="0"/>
            <a:chExt cx="10571473" cy="25407"/>
          </a:xfrm>
        </p:grpSpPr>
        <p:sp>
          <p:nvSpPr>
            <p:cNvPr id="6" name="Freeform 6"/>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7" name="Group 7"/>
          <p:cNvGrpSpPr>
            <a:grpSpLocks noChangeAspect="1"/>
          </p:cNvGrpSpPr>
          <p:nvPr/>
        </p:nvGrpSpPr>
        <p:grpSpPr>
          <a:xfrm>
            <a:off x="8589923" y="6449440"/>
            <a:ext cx="954170" cy="582012"/>
            <a:chOff x="0" y="0"/>
            <a:chExt cx="1272227" cy="776016"/>
          </a:xfrm>
        </p:grpSpPr>
        <p:sp>
          <p:nvSpPr>
            <p:cNvPr id="8" name="Freeform 8"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5"/>
              <a:stretch>
                <a:fillRect l="-8988" t="-16686" r="-7973" b="-18989"/>
              </a:stretch>
            </a:blipFill>
          </p:spPr>
          <p:txBody>
            <a:bodyPr/>
            <a:lstStyle/>
            <a:p>
              <a:endParaRPr lang="en-VN"/>
            </a:p>
          </p:txBody>
        </p:sp>
      </p:grpSp>
      <p:grpSp>
        <p:nvGrpSpPr>
          <p:cNvPr id="9" name="Group 9"/>
          <p:cNvGrpSpPr/>
          <p:nvPr/>
        </p:nvGrpSpPr>
        <p:grpSpPr>
          <a:xfrm>
            <a:off x="531924" y="6923537"/>
            <a:ext cx="4119966" cy="308875"/>
            <a:chOff x="0" y="0"/>
            <a:chExt cx="5493288" cy="411834"/>
          </a:xfrm>
        </p:grpSpPr>
        <p:sp>
          <p:nvSpPr>
            <p:cNvPr id="10" name="Freeform 10"/>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1" name="TextBox 11"/>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2" name="Freeform 12"/>
          <p:cNvSpPr/>
          <p:nvPr/>
        </p:nvSpPr>
        <p:spPr>
          <a:xfrm>
            <a:off x="562111" y="3146673"/>
            <a:ext cx="8459969" cy="1173821"/>
          </a:xfrm>
          <a:custGeom>
            <a:avLst/>
            <a:gdLst/>
            <a:ahLst/>
            <a:cxnLst/>
            <a:rect l="l" t="t" r="r" b="b"/>
            <a:pathLst>
              <a:path w="8459969" h="1173821">
                <a:moveTo>
                  <a:pt x="0" y="0"/>
                </a:moveTo>
                <a:lnTo>
                  <a:pt x="8459969" y="0"/>
                </a:lnTo>
                <a:lnTo>
                  <a:pt x="8459969" y="1173820"/>
                </a:lnTo>
                <a:lnTo>
                  <a:pt x="0" y="1173820"/>
                </a:lnTo>
                <a:lnTo>
                  <a:pt x="0" y="0"/>
                </a:lnTo>
                <a:close/>
              </a:path>
            </a:pathLst>
          </a:custGeom>
          <a:blipFill>
            <a:blip r:embed="rId6"/>
            <a:stretch>
              <a:fillRect/>
            </a:stretch>
          </a:blipFill>
        </p:spPr>
        <p:txBody>
          <a:bodyPr/>
          <a:lstStyle/>
          <a:p>
            <a:endParaRPr lang="en-VN"/>
          </a:p>
        </p:txBody>
      </p:sp>
      <p:sp>
        <p:nvSpPr>
          <p:cNvPr id="13" name="TextBox 13"/>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Intro Datasets</a:t>
            </a:r>
          </a:p>
        </p:txBody>
      </p:sp>
      <p:sp>
        <p:nvSpPr>
          <p:cNvPr id="14" name="TextBox 14"/>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Clean the data</a:t>
            </a:r>
          </a:p>
        </p:txBody>
      </p:sp>
      <p:sp>
        <p:nvSpPr>
          <p:cNvPr id="15" name="TextBox 15"/>
          <p:cNvSpPr txBox="1"/>
          <p:nvPr/>
        </p:nvSpPr>
        <p:spPr>
          <a:xfrm>
            <a:off x="617675" y="1156484"/>
            <a:ext cx="8510865" cy="2133579"/>
          </a:xfrm>
          <a:prstGeom prst="rect">
            <a:avLst/>
          </a:prstGeom>
        </p:spPr>
        <p:txBody>
          <a:bodyPr lIns="0" tIns="0" rIns="0" bIns="0" rtlCol="0" anchor="t">
            <a:spAutoFit/>
          </a:bodyPr>
          <a:lstStyle/>
          <a:p>
            <a:pPr marL="203504" lvl="1" indent="-101752" algn="l">
              <a:lnSpc>
                <a:spcPts val="3375"/>
              </a:lnSpc>
              <a:buFont typeface="Arial"/>
              <a:buChar char="•"/>
            </a:pPr>
            <a:r>
              <a:rPr lang="en-US" sz="2250">
                <a:solidFill>
                  <a:srgbClr val="00599E"/>
                </a:solidFill>
                <a:latin typeface="Helvetica"/>
                <a:ea typeface="Helvetica"/>
                <a:cs typeface="Helvetica"/>
                <a:sym typeface="Helvetica"/>
              </a:rPr>
              <a:t>There datasets we use is </a:t>
            </a:r>
            <a:r>
              <a:rPr lang="en-US" sz="2250" b="1">
                <a:solidFill>
                  <a:srgbClr val="00599E"/>
                </a:solidFill>
                <a:latin typeface="Helvetica Bold"/>
                <a:ea typeface="Helvetica Bold"/>
                <a:cs typeface="Helvetica Bold"/>
                <a:sym typeface="Helvetica Bold"/>
              </a:rPr>
              <a:t>Cards, Transactions, Users</a:t>
            </a:r>
          </a:p>
          <a:p>
            <a:pPr marL="203504" lvl="1" indent="-101752" algn="l">
              <a:lnSpc>
                <a:spcPts val="3375"/>
              </a:lnSpc>
              <a:buFont typeface="Arial"/>
              <a:buChar char="•"/>
            </a:pPr>
            <a:r>
              <a:rPr lang="en-US" sz="2250">
                <a:solidFill>
                  <a:srgbClr val="00599E"/>
                </a:solidFill>
                <a:latin typeface="Helvetica"/>
                <a:ea typeface="Helvetica"/>
                <a:cs typeface="Helvetica"/>
                <a:sym typeface="Helvetica"/>
              </a:rPr>
              <a:t>Remove or make up the missing values</a:t>
            </a:r>
          </a:p>
          <a:p>
            <a:pPr marL="203504" lvl="1" indent="-101752" algn="l">
              <a:lnSpc>
                <a:spcPts val="3375"/>
              </a:lnSpc>
              <a:buFont typeface="Arial"/>
              <a:buChar char="•"/>
            </a:pPr>
            <a:r>
              <a:rPr lang="en-US" sz="2250">
                <a:solidFill>
                  <a:srgbClr val="00599E"/>
                </a:solidFill>
                <a:latin typeface="Helvetica"/>
                <a:ea typeface="Helvetica"/>
                <a:cs typeface="Helvetica"/>
                <a:sym typeface="Helvetica"/>
              </a:rPr>
              <a:t>Combine three datasets</a:t>
            </a:r>
          </a:p>
          <a:p>
            <a:pPr marL="203504" lvl="1" indent="-101752" algn="l">
              <a:lnSpc>
                <a:spcPts val="3375"/>
              </a:lnSpc>
              <a:buFont typeface="Arial"/>
              <a:buChar char="•"/>
            </a:pPr>
            <a:r>
              <a:rPr lang="en-US" sz="2250">
                <a:solidFill>
                  <a:srgbClr val="00599E"/>
                </a:solidFill>
                <a:latin typeface="Helvetica"/>
                <a:ea typeface="Helvetica"/>
                <a:cs typeface="Helvetica"/>
                <a:sym typeface="Helvetica"/>
              </a:rPr>
              <a:t>Remove unused datas (cvv, card_on_dark_web...)</a:t>
            </a:r>
          </a:p>
          <a:p>
            <a:pPr algn="l">
              <a:lnSpc>
                <a:spcPts val="3375"/>
              </a:lnSpc>
            </a:pPr>
            <a:endParaRPr lang="en-US" sz="2250">
              <a:solidFill>
                <a:srgbClr val="00599E"/>
              </a:solidFill>
              <a:latin typeface="Helvetica"/>
              <a:ea typeface="Helvetica"/>
              <a:cs typeface="Helvetica"/>
              <a:sym typeface="Helvetica"/>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VN"/>
          </a:p>
        </p:txBody>
      </p:sp>
      <p:grpSp>
        <p:nvGrpSpPr>
          <p:cNvPr id="3" name="Group 3"/>
          <p:cNvGrpSpPr/>
          <p:nvPr/>
        </p:nvGrpSpPr>
        <p:grpSpPr>
          <a:xfrm>
            <a:off x="562111" y="459246"/>
            <a:ext cx="8626875" cy="19055"/>
            <a:chOff x="0" y="0"/>
            <a:chExt cx="11502500" cy="25407"/>
          </a:xfrm>
        </p:grpSpPr>
        <p:sp>
          <p:nvSpPr>
            <p:cNvPr id="4" name="Freeform 4"/>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5" name="Group 5"/>
          <p:cNvGrpSpPr/>
          <p:nvPr/>
        </p:nvGrpSpPr>
        <p:grpSpPr>
          <a:xfrm>
            <a:off x="516270" y="6861609"/>
            <a:ext cx="7928605" cy="19055"/>
            <a:chOff x="0" y="0"/>
            <a:chExt cx="10571473" cy="25407"/>
          </a:xfrm>
        </p:grpSpPr>
        <p:sp>
          <p:nvSpPr>
            <p:cNvPr id="6" name="Freeform 6"/>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7" name="Group 7"/>
          <p:cNvGrpSpPr>
            <a:grpSpLocks noChangeAspect="1"/>
          </p:cNvGrpSpPr>
          <p:nvPr/>
        </p:nvGrpSpPr>
        <p:grpSpPr>
          <a:xfrm>
            <a:off x="8589923" y="6449440"/>
            <a:ext cx="954170" cy="582012"/>
            <a:chOff x="0" y="0"/>
            <a:chExt cx="1272227" cy="776016"/>
          </a:xfrm>
        </p:grpSpPr>
        <p:sp>
          <p:nvSpPr>
            <p:cNvPr id="8" name="Freeform 8"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5"/>
              <a:stretch>
                <a:fillRect l="-8988" t="-16686" r="-7973" b="-18989"/>
              </a:stretch>
            </a:blipFill>
          </p:spPr>
          <p:txBody>
            <a:bodyPr/>
            <a:lstStyle/>
            <a:p>
              <a:endParaRPr lang="en-VN"/>
            </a:p>
          </p:txBody>
        </p:sp>
      </p:grpSp>
      <p:sp>
        <p:nvSpPr>
          <p:cNvPr id="9" name="TextBox 9"/>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Define Credit Fraud</a:t>
            </a:r>
          </a:p>
        </p:txBody>
      </p:sp>
      <p:sp>
        <p:nvSpPr>
          <p:cNvPr id="10" name="TextBox 10"/>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dirty="0">
                <a:solidFill>
                  <a:srgbClr val="D30F11"/>
                </a:solidFill>
                <a:latin typeface="Helvetica"/>
                <a:ea typeface="Helvetica"/>
                <a:cs typeface="Helvetica"/>
                <a:sym typeface="Helvetica"/>
              </a:rPr>
              <a:t>Define Credit Fraud</a:t>
            </a:r>
          </a:p>
        </p:txBody>
      </p:sp>
      <p:grpSp>
        <p:nvGrpSpPr>
          <p:cNvPr id="11" name="Group 11"/>
          <p:cNvGrpSpPr/>
          <p:nvPr/>
        </p:nvGrpSpPr>
        <p:grpSpPr>
          <a:xfrm>
            <a:off x="531924" y="6923537"/>
            <a:ext cx="4119966" cy="308875"/>
            <a:chOff x="0" y="0"/>
            <a:chExt cx="5493288" cy="411834"/>
          </a:xfrm>
        </p:grpSpPr>
        <p:sp>
          <p:nvSpPr>
            <p:cNvPr id="12" name="Freeform 12"/>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3" name="TextBox 13"/>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4" name="TextBox 14"/>
          <p:cNvSpPr txBox="1"/>
          <p:nvPr/>
        </p:nvSpPr>
        <p:spPr>
          <a:xfrm>
            <a:off x="617675" y="1156484"/>
            <a:ext cx="8510865" cy="3419454"/>
          </a:xfrm>
          <a:prstGeom prst="rect">
            <a:avLst/>
          </a:prstGeom>
        </p:spPr>
        <p:txBody>
          <a:bodyPr lIns="0" tIns="0" rIns="0" bIns="0" rtlCol="0" anchor="t">
            <a:spAutoFit/>
          </a:bodyPr>
          <a:lstStyle/>
          <a:p>
            <a:pPr marL="203696" lvl="1" indent="-101848" algn="l">
              <a:lnSpc>
                <a:spcPts val="3375"/>
              </a:lnSpc>
              <a:buFont typeface="Arial"/>
              <a:buChar char="•"/>
            </a:pPr>
            <a:r>
              <a:rPr lang="en-US" sz="2250">
                <a:solidFill>
                  <a:srgbClr val="00599E"/>
                </a:solidFill>
                <a:latin typeface="Helvetica"/>
                <a:ea typeface="Helvetica"/>
                <a:cs typeface="Helvetica"/>
                <a:sym typeface="Helvetica"/>
              </a:rPr>
              <a:t>To define what situations conform to fraud.</a:t>
            </a:r>
          </a:p>
          <a:p>
            <a:pPr marL="203696" lvl="1" indent="-101848" algn="l">
              <a:lnSpc>
                <a:spcPts val="3375"/>
              </a:lnSpc>
              <a:buFont typeface="Arial"/>
              <a:buChar char="•"/>
            </a:pPr>
            <a:r>
              <a:rPr lang="en-US" sz="2250">
                <a:solidFill>
                  <a:srgbClr val="00599E"/>
                </a:solidFill>
                <a:latin typeface="Helvetica"/>
                <a:ea typeface="Helvetica"/>
                <a:cs typeface="Helvetica"/>
                <a:sym typeface="Helvetica"/>
              </a:rPr>
              <a:t>Common situations</a:t>
            </a:r>
          </a:p>
          <a:p>
            <a:pPr marL="537055" lvl="2" indent="-179018" algn="l">
              <a:lnSpc>
                <a:spcPts val="3375"/>
              </a:lnSpc>
              <a:buFont typeface="Arial"/>
              <a:buChar char="⚬"/>
            </a:pPr>
            <a:r>
              <a:rPr lang="en-US" sz="2250">
                <a:solidFill>
                  <a:srgbClr val="00599E"/>
                </a:solidFill>
                <a:latin typeface="Helvetica"/>
                <a:ea typeface="Helvetica"/>
                <a:cs typeface="Helvetica"/>
                <a:sym typeface="Helvetica"/>
              </a:rPr>
              <a:t>Low credit score</a:t>
            </a:r>
          </a:p>
          <a:p>
            <a:pPr marL="537055" lvl="2" indent="-179018" algn="l">
              <a:lnSpc>
                <a:spcPts val="3375"/>
              </a:lnSpc>
              <a:buFont typeface="Arial"/>
              <a:buChar char="⚬"/>
            </a:pPr>
            <a:r>
              <a:rPr lang="en-US" sz="2250" b="1">
                <a:solidFill>
                  <a:srgbClr val="00599E"/>
                </a:solidFill>
                <a:latin typeface="Helvetica Bold"/>
                <a:ea typeface="Helvetica Bold"/>
                <a:cs typeface="Helvetica Bold"/>
                <a:sym typeface="Helvetica Bold"/>
              </a:rPr>
              <a:t>Late-night transactions  ✓</a:t>
            </a:r>
          </a:p>
          <a:p>
            <a:pPr marL="537055" lvl="2" indent="-179018" algn="l">
              <a:lnSpc>
                <a:spcPts val="3375"/>
              </a:lnSpc>
              <a:buFont typeface="Arial"/>
              <a:buChar char="⚬"/>
            </a:pPr>
            <a:r>
              <a:rPr lang="en-US" sz="2250" b="1">
                <a:solidFill>
                  <a:srgbClr val="00599E"/>
                </a:solidFill>
                <a:latin typeface="Helvetica Bold"/>
                <a:ea typeface="Helvetica Bold"/>
                <a:cs typeface="Helvetica Bold"/>
                <a:sym typeface="Helvetica Bold"/>
              </a:rPr>
              <a:t>Multiple transactions in a short period  ✓</a:t>
            </a:r>
          </a:p>
          <a:p>
            <a:pPr marL="537055" lvl="2" indent="-179018" algn="l">
              <a:lnSpc>
                <a:spcPts val="3375"/>
              </a:lnSpc>
              <a:buFont typeface="Arial"/>
              <a:buChar char="⚬"/>
            </a:pPr>
            <a:r>
              <a:rPr lang="en-US" sz="2250">
                <a:solidFill>
                  <a:srgbClr val="00599E"/>
                </a:solidFill>
                <a:latin typeface="Helvetica"/>
                <a:ea typeface="Helvetica"/>
                <a:cs typeface="Helvetica"/>
                <a:sym typeface="Helvetica"/>
              </a:rPr>
              <a:t>Spending amount significantly different from usual</a:t>
            </a:r>
          </a:p>
          <a:p>
            <a:pPr marL="537055" lvl="2" indent="-179018" algn="l">
              <a:lnSpc>
                <a:spcPts val="3375"/>
              </a:lnSpc>
              <a:buFont typeface="Arial"/>
              <a:buChar char="⚬"/>
            </a:pPr>
            <a:r>
              <a:rPr lang="en-US" sz="2250">
                <a:solidFill>
                  <a:srgbClr val="00599E"/>
                </a:solidFill>
                <a:latin typeface="Helvetica"/>
                <a:ea typeface="Helvetica"/>
                <a:cs typeface="Helvetica"/>
                <a:sym typeface="Helvetica"/>
              </a:rPr>
              <a:t>Spending location too far from home</a:t>
            </a:r>
          </a:p>
          <a:p>
            <a:pPr marL="537153" lvl="2" indent="-179051" algn="l">
              <a:lnSpc>
                <a:spcPts val="3375"/>
              </a:lnSpc>
              <a:buFont typeface="Arial"/>
              <a:buChar char="⚬"/>
            </a:pPr>
            <a:r>
              <a:rPr lang="en-US" sz="2250">
                <a:solidFill>
                  <a:srgbClr val="00599E"/>
                </a:solidFill>
                <a:latin typeface="Helvetica"/>
                <a:ea typeface="Helvetica"/>
                <a:cs typeface="Helvetica"/>
                <a:sym typeface="Helvetica"/>
              </a:rPr>
              <a:t>Don’t change card pin for long time</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111" y="459246"/>
            <a:ext cx="8626875" cy="19055"/>
            <a:chOff x="0" y="0"/>
            <a:chExt cx="11502500" cy="25407"/>
          </a:xfrm>
        </p:grpSpPr>
        <p:sp>
          <p:nvSpPr>
            <p:cNvPr id="3" name="Freeform 3"/>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grpSp>
        <p:nvGrpSpPr>
          <p:cNvPr id="8" name="Group 8"/>
          <p:cNvGrpSpPr/>
          <p:nvPr/>
        </p:nvGrpSpPr>
        <p:grpSpPr>
          <a:xfrm>
            <a:off x="531924" y="6923537"/>
            <a:ext cx="4119966" cy="308875"/>
            <a:chOff x="0" y="0"/>
            <a:chExt cx="5493288" cy="411834"/>
          </a:xfrm>
        </p:grpSpPr>
        <p:sp>
          <p:nvSpPr>
            <p:cNvPr id="9" name="Freeform 9"/>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1" name="Freeform 11"/>
          <p:cNvSpPr/>
          <p:nvPr/>
        </p:nvSpPr>
        <p:spPr>
          <a:xfrm>
            <a:off x="731520" y="2956520"/>
            <a:ext cx="5109160" cy="230142"/>
          </a:xfrm>
          <a:custGeom>
            <a:avLst/>
            <a:gdLst/>
            <a:ahLst/>
            <a:cxnLst/>
            <a:rect l="l" t="t" r="r" b="b"/>
            <a:pathLst>
              <a:path w="5109160" h="230142">
                <a:moveTo>
                  <a:pt x="0" y="0"/>
                </a:moveTo>
                <a:lnTo>
                  <a:pt x="5109160" y="0"/>
                </a:lnTo>
                <a:lnTo>
                  <a:pt x="5109160" y="230142"/>
                </a:lnTo>
                <a:lnTo>
                  <a:pt x="0" y="230142"/>
                </a:lnTo>
                <a:lnTo>
                  <a:pt x="0" y="0"/>
                </a:lnTo>
                <a:close/>
              </a:path>
            </a:pathLst>
          </a:custGeom>
          <a:blipFill>
            <a:blip r:embed="rId4"/>
            <a:stretch>
              <a:fillRect/>
            </a:stretch>
          </a:blipFill>
        </p:spPr>
        <p:txBody>
          <a:bodyPr/>
          <a:lstStyle/>
          <a:p>
            <a:endParaRPr lang="en-VN"/>
          </a:p>
        </p:txBody>
      </p:sp>
      <p:sp>
        <p:nvSpPr>
          <p:cNvPr id="12" name="Freeform 12"/>
          <p:cNvSpPr/>
          <p:nvPr/>
        </p:nvSpPr>
        <p:spPr>
          <a:xfrm>
            <a:off x="5211811" y="3312530"/>
            <a:ext cx="3855197" cy="2731291"/>
          </a:xfrm>
          <a:custGeom>
            <a:avLst/>
            <a:gdLst/>
            <a:ahLst/>
            <a:cxnLst/>
            <a:rect l="l" t="t" r="r" b="b"/>
            <a:pathLst>
              <a:path w="3855197" h="2731291">
                <a:moveTo>
                  <a:pt x="0" y="0"/>
                </a:moveTo>
                <a:lnTo>
                  <a:pt x="3855197" y="0"/>
                </a:lnTo>
                <a:lnTo>
                  <a:pt x="3855197" y="2731291"/>
                </a:lnTo>
                <a:lnTo>
                  <a:pt x="0" y="2731291"/>
                </a:lnTo>
                <a:lnTo>
                  <a:pt x="0" y="0"/>
                </a:lnTo>
                <a:close/>
              </a:path>
            </a:pathLst>
          </a:custGeom>
          <a:blipFill>
            <a:blip r:embed="rId5"/>
            <a:stretch>
              <a:fillRect r="-6270"/>
            </a:stretch>
          </a:blipFill>
        </p:spPr>
        <p:txBody>
          <a:bodyPr/>
          <a:lstStyle/>
          <a:p>
            <a:endParaRPr lang="en-VN"/>
          </a:p>
        </p:txBody>
      </p:sp>
      <p:sp>
        <p:nvSpPr>
          <p:cNvPr id="13" name="Freeform 13"/>
          <p:cNvSpPr/>
          <p:nvPr/>
        </p:nvSpPr>
        <p:spPr>
          <a:xfrm>
            <a:off x="416190" y="3530445"/>
            <a:ext cx="4908098" cy="2454049"/>
          </a:xfrm>
          <a:custGeom>
            <a:avLst/>
            <a:gdLst/>
            <a:ahLst/>
            <a:cxnLst/>
            <a:rect l="l" t="t" r="r" b="b"/>
            <a:pathLst>
              <a:path w="4908098" h="2454049">
                <a:moveTo>
                  <a:pt x="0" y="0"/>
                </a:moveTo>
                <a:lnTo>
                  <a:pt x="4908098" y="0"/>
                </a:lnTo>
                <a:lnTo>
                  <a:pt x="4908098" y="2454049"/>
                </a:lnTo>
                <a:lnTo>
                  <a:pt x="0" y="2454049"/>
                </a:lnTo>
                <a:lnTo>
                  <a:pt x="0" y="0"/>
                </a:lnTo>
                <a:close/>
              </a:path>
            </a:pathLst>
          </a:custGeom>
          <a:blipFill>
            <a:blip r:embed="rId6"/>
            <a:stretch>
              <a:fillRect/>
            </a:stretch>
          </a:blipFill>
        </p:spPr>
        <p:txBody>
          <a:bodyPr/>
          <a:lstStyle/>
          <a:p>
            <a:endParaRPr lang="en-VN"/>
          </a:p>
        </p:txBody>
      </p:sp>
      <p:sp>
        <p:nvSpPr>
          <p:cNvPr id="14" name="TextBox 14"/>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EDA Chart</a:t>
            </a:r>
          </a:p>
        </p:txBody>
      </p:sp>
      <p:sp>
        <p:nvSpPr>
          <p:cNvPr id="15" name="TextBox 15"/>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EDA Chart</a:t>
            </a:r>
          </a:p>
        </p:txBody>
      </p:sp>
      <p:sp>
        <p:nvSpPr>
          <p:cNvPr id="16" name="TextBox 16"/>
          <p:cNvSpPr txBox="1"/>
          <p:nvPr/>
        </p:nvSpPr>
        <p:spPr>
          <a:xfrm>
            <a:off x="617675" y="1156484"/>
            <a:ext cx="8510865" cy="1276329"/>
          </a:xfrm>
          <a:prstGeom prst="rect">
            <a:avLst/>
          </a:prstGeom>
        </p:spPr>
        <p:txBody>
          <a:bodyPr lIns="0" tIns="0" rIns="0" bIns="0" rtlCol="0" anchor="t">
            <a:spAutoFit/>
          </a:bodyPr>
          <a:lstStyle/>
          <a:p>
            <a:pPr marL="203696" lvl="1" indent="-101848" algn="l">
              <a:lnSpc>
                <a:spcPts val="3375"/>
              </a:lnSpc>
              <a:buFont typeface="Arial"/>
              <a:buChar char="•"/>
            </a:pPr>
            <a:r>
              <a:rPr lang="en-US" sz="2250" b="1">
                <a:solidFill>
                  <a:srgbClr val="00599E"/>
                </a:solidFill>
                <a:latin typeface="Helvetica Bold"/>
                <a:ea typeface="Helvetica Bold"/>
                <a:cs typeface="Helvetica Bold"/>
                <a:sym typeface="Helvetica Bold"/>
              </a:rPr>
              <a:t>Frequent transactions in a short period of time  (5min)</a:t>
            </a:r>
          </a:p>
          <a:p>
            <a:pPr marL="203504" lvl="1" indent="-101752" algn="l">
              <a:lnSpc>
                <a:spcPts val="3375"/>
              </a:lnSpc>
              <a:buFont typeface="Arial"/>
              <a:buChar char="•"/>
            </a:pPr>
            <a:r>
              <a:rPr lang="en-US" sz="2250">
                <a:solidFill>
                  <a:srgbClr val="00599E"/>
                </a:solidFill>
                <a:latin typeface="Helvetica"/>
                <a:ea typeface="Helvetica"/>
                <a:cs typeface="Helvetica"/>
                <a:sym typeface="Helvetica"/>
              </a:rPr>
              <a:t>Notated these datas in Trans_Data</a:t>
            </a:r>
          </a:p>
          <a:p>
            <a:pPr marL="203504" lvl="1" indent="-101752" algn="l">
              <a:lnSpc>
                <a:spcPts val="3375"/>
              </a:lnSpc>
              <a:buFont typeface="Arial"/>
              <a:buChar char="•"/>
            </a:pPr>
            <a:r>
              <a:rPr lang="en-US" sz="2250">
                <a:solidFill>
                  <a:srgbClr val="00599E"/>
                </a:solidFill>
                <a:latin typeface="Helvetica"/>
                <a:ea typeface="Helvetica"/>
                <a:cs typeface="Helvetica"/>
                <a:sym typeface="Helvetica"/>
              </a:rPr>
              <a:t>Measure the difference in these bias data</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VN"/>
          </a:p>
        </p:txBody>
      </p:sp>
      <p:grpSp>
        <p:nvGrpSpPr>
          <p:cNvPr id="3" name="Group 3"/>
          <p:cNvGrpSpPr/>
          <p:nvPr/>
        </p:nvGrpSpPr>
        <p:grpSpPr>
          <a:xfrm>
            <a:off x="562111" y="459246"/>
            <a:ext cx="8626875" cy="19055"/>
            <a:chOff x="0" y="0"/>
            <a:chExt cx="11502500" cy="25407"/>
          </a:xfrm>
        </p:grpSpPr>
        <p:sp>
          <p:nvSpPr>
            <p:cNvPr id="4" name="Freeform 4"/>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5" name="Group 5"/>
          <p:cNvGrpSpPr/>
          <p:nvPr/>
        </p:nvGrpSpPr>
        <p:grpSpPr>
          <a:xfrm>
            <a:off x="516270" y="6861609"/>
            <a:ext cx="7928605" cy="19055"/>
            <a:chOff x="0" y="0"/>
            <a:chExt cx="10571473" cy="25407"/>
          </a:xfrm>
        </p:grpSpPr>
        <p:sp>
          <p:nvSpPr>
            <p:cNvPr id="6" name="Freeform 6"/>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7" name="Group 7"/>
          <p:cNvGrpSpPr>
            <a:grpSpLocks noChangeAspect="1"/>
          </p:cNvGrpSpPr>
          <p:nvPr/>
        </p:nvGrpSpPr>
        <p:grpSpPr>
          <a:xfrm>
            <a:off x="8589923" y="6449440"/>
            <a:ext cx="954170" cy="582012"/>
            <a:chOff x="0" y="0"/>
            <a:chExt cx="1272227" cy="776016"/>
          </a:xfrm>
        </p:grpSpPr>
        <p:sp>
          <p:nvSpPr>
            <p:cNvPr id="8" name="Freeform 8"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5"/>
              <a:stretch>
                <a:fillRect l="-8988" t="-16686" r="-7973" b="-18989"/>
              </a:stretch>
            </a:blipFill>
          </p:spPr>
          <p:txBody>
            <a:bodyPr/>
            <a:lstStyle/>
            <a:p>
              <a:endParaRPr lang="en-VN"/>
            </a:p>
          </p:txBody>
        </p:sp>
      </p:grpSp>
      <p:grpSp>
        <p:nvGrpSpPr>
          <p:cNvPr id="9" name="Group 9"/>
          <p:cNvGrpSpPr/>
          <p:nvPr/>
        </p:nvGrpSpPr>
        <p:grpSpPr>
          <a:xfrm>
            <a:off x="531924" y="6923537"/>
            <a:ext cx="4119966" cy="308875"/>
            <a:chOff x="0" y="0"/>
            <a:chExt cx="5493288" cy="411834"/>
          </a:xfrm>
        </p:grpSpPr>
        <p:sp>
          <p:nvSpPr>
            <p:cNvPr id="10" name="Freeform 10"/>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1" name="TextBox 11"/>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2" name="Freeform 12"/>
          <p:cNvSpPr/>
          <p:nvPr/>
        </p:nvSpPr>
        <p:spPr>
          <a:xfrm>
            <a:off x="199734" y="3330356"/>
            <a:ext cx="4190208" cy="2403903"/>
          </a:xfrm>
          <a:custGeom>
            <a:avLst/>
            <a:gdLst/>
            <a:ahLst/>
            <a:cxnLst/>
            <a:rect l="l" t="t" r="r" b="b"/>
            <a:pathLst>
              <a:path w="4190208" h="2403903">
                <a:moveTo>
                  <a:pt x="0" y="0"/>
                </a:moveTo>
                <a:lnTo>
                  <a:pt x="4190208" y="0"/>
                </a:lnTo>
                <a:lnTo>
                  <a:pt x="4190208" y="2403903"/>
                </a:lnTo>
                <a:lnTo>
                  <a:pt x="0" y="2403903"/>
                </a:lnTo>
                <a:lnTo>
                  <a:pt x="0" y="0"/>
                </a:lnTo>
                <a:close/>
              </a:path>
            </a:pathLst>
          </a:custGeom>
          <a:blipFill>
            <a:blip r:embed="rId6"/>
            <a:stretch>
              <a:fillRect l="-5855" r="-8883"/>
            </a:stretch>
          </a:blipFill>
        </p:spPr>
        <p:txBody>
          <a:bodyPr/>
          <a:lstStyle/>
          <a:p>
            <a:endParaRPr lang="en-VN"/>
          </a:p>
        </p:txBody>
      </p:sp>
      <p:sp>
        <p:nvSpPr>
          <p:cNvPr id="13" name="Freeform 13"/>
          <p:cNvSpPr/>
          <p:nvPr/>
        </p:nvSpPr>
        <p:spPr>
          <a:xfrm>
            <a:off x="4389942" y="2911327"/>
            <a:ext cx="5273028" cy="3241961"/>
          </a:xfrm>
          <a:custGeom>
            <a:avLst/>
            <a:gdLst/>
            <a:ahLst/>
            <a:cxnLst/>
            <a:rect l="l" t="t" r="r" b="b"/>
            <a:pathLst>
              <a:path w="5273028" h="3241961">
                <a:moveTo>
                  <a:pt x="0" y="0"/>
                </a:moveTo>
                <a:lnTo>
                  <a:pt x="5273027" y="0"/>
                </a:lnTo>
                <a:lnTo>
                  <a:pt x="5273027" y="3241961"/>
                </a:lnTo>
                <a:lnTo>
                  <a:pt x="0" y="3241961"/>
                </a:lnTo>
                <a:lnTo>
                  <a:pt x="0" y="0"/>
                </a:lnTo>
                <a:close/>
              </a:path>
            </a:pathLst>
          </a:custGeom>
          <a:blipFill>
            <a:blip r:embed="rId7"/>
            <a:stretch>
              <a:fillRect l="-6116" r="-16847"/>
            </a:stretch>
          </a:blipFill>
        </p:spPr>
        <p:txBody>
          <a:bodyPr/>
          <a:lstStyle/>
          <a:p>
            <a:endParaRPr lang="en-VN"/>
          </a:p>
        </p:txBody>
      </p:sp>
      <p:sp>
        <p:nvSpPr>
          <p:cNvPr id="14" name="TextBox 14"/>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EDA Chart</a:t>
            </a:r>
          </a:p>
        </p:txBody>
      </p:sp>
      <p:sp>
        <p:nvSpPr>
          <p:cNvPr id="15" name="TextBox 15"/>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EDA Chart</a:t>
            </a:r>
          </a:p>
        </p:txBody>
      </p:sp>
      <p:sp>
        <p:nvSpPr>
          <p:cNvPr id="16" name="TextBox 16"/>
          <p:cNvSpPr txBox="1"/>
          <p:nvPr/>
        </p:nvSpPr>
        <p:spPr>
          <a:xfrm>
            <a:off x="617675" y="1156484"/>
            <a:ext cx="8510865" cy="1704954"/>
          </a:xfrm>
          <a:prstGeom prst="rect">
            <a:avLst/>
          </a:prstGeom>
        </p:spPr>
        <p:txBody>
          <a:bodyPr lIns="0" tIns="0" rIns="0" bIns="0" rtlCol="0" anchor="t">
            <a:spAutoFit/>
          </a:bodyPr>
          <a:lstStyle/>
          <a:p>
            <a:pPr marL="203696" lvl="1" indent="-101848" algn="l">
              <a:lnSpc>
                <a:spcPts val="3375"/>
              </a:lnSpc>
              <a:buFont typeface="Arial"/>
              <a:buChar char="•"/>
            </a:pPr>
            <a:r>
              <a:rPr lang="en-US" sz="2250" b="1">
                <a:solidFill>
                  <a:srgbClr val="00599E"/>
                </a:solidFill>
                <a:latin typeface="Helvetica Bold"/>
                <a:ea typeface="Helvetica Bold"/>
                <a:cs typeface="Helvetica Bold"/>
                <a:sym typeface="Helvetica Bold"/>
              </a:rPr>
              <a:t>About transactions</a:t>
            </a:r>
            <a:r>
              <a:rPr lang="en-US" sz="2250">
                <a:solidFill>
                  <a:srgbClr val="00599E"/>
                </a:solidFill>
                <a:latin typeface="Helvetica"/>
                <a:ea typeface="Helvetica"/>
                <a:cs typeface="Helvetica"/>
                <a:sym typeface="Helvetica"/>
              </a:rPr>
              <a:t> </a:t>
            </a:r>
            <a:r>
              <a:rPr lang="en-US" sz="2250" b="1">
                <a:solidFill>
                  <a:srgbClr val="00599E"/>
                </a:solidFill>
                <a:latin typeface="Helvetica Bold"/>
                <a:ea typeface="Helvetica Bold"/>
                <a:cs typeface="Helvetica Bold"/>
                <a:sym typeface="Helvetica Bold"/>
              </a:rPr>
              <a:t>Time</a:t>
            </a:r>
          </a:p>
          <a:p>
            <a:pPr marL="203504" lvl="1" indent="-101752" algn="l">
              <a:lnSpc>
                <a:spcPts val="3375"/>
              </a:lnSpc>
              <a:buFont typeface="Arial"/>
              <a:buChar char="•"/>
            </a:pPr>
            <a:r>
              <a:rPr lang="en-US" sz="2250">
                <a:solidFill>
                  <a:srgbClr val="00599E"/>
                </a:solidFill>
                <a:latin typeface="Helvetica"/>
                <a:ea typeface="Helvetica"/>
                <a:cs typeface="Helvetica"/>
                <a:sym typeface="Helvetica"/>
              </a:rPr>
              <a:t>Observe numerous amount at strange time </a:t>
            </a:r>
          </a:p>
          <a:p>
            <a:pPr marL="971786" lvl="2" indent="-323929" algn="l">
              <a:lnSpc>
                <a:spcPts val="3375"/>
              </a:lnSpc>
              <a:buFont typeface="Arial"/>
              <a:buChar char="⚬"/>
            </a:pPr>
            <a:r>
              <a:rPr lang="en-US" sz="2250">
                <a:solidFill>
                  <a:srgbClr val="00599E"/>
                </a:solidFill>
                <a:latin typeface="Helvetica"/>
                <a:ea typeface="Helvetica"/>
                <a:cs typeface="Helvetica"/>
                <a:sym typeface="Helvetica"/>
              </a:rPr>
              <a:t>Client 114</a:t>
            </a:r>
          </a:p>
          <a:p>
            <a:pPr marL="971786" lvl="2" indent="-323929" algn="l">
              <a:lnSpc>
                <a:spcPts val="3375"/>
              </a:lnSpc>
              <a:buFont typeface="Arial"/>
              <a:buChar char="⚬"/>
            </a:pPr>
            <a:r>
              <a:rPr lang="en-US" sz="2250">
                <a:solidFill>
                  <a:srgbClr val="00599E"/>
                </a:solidFill>
                <a:latin typeface="Helvetica"/>
                <a:ea typeface="Helvetica"/>
                <a:cs typeface="Helvetica"/>
                <a:sym typeface="Helvetica"/>
              </a:rPr>
              <a:t>Client 1168</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111" y="459246"/>
            <a:ext cx="8626875" cy="19055"/>
            <a:chOff x="0" y="0"/>
            <a:chExt cx="11502500" cy="25407"/>
          </a:xfrm>
        </p:grpSpPr>
        <p:sp>
          <p:nvSpPr>
            <p:cNvPr id="3" name="Freeform 3"/>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grpSp>
        <p:nvGrpSpPr>
          <p:cNvPr id="8" name="Group 8"/>
          <p:cNvGrpSpPr/>
          <p:nvPr/>
        </p:nvGrpSpPr>
        <p:grpSpPr>
          <a:xfrm>
            <a:off x="531924" y="6923537"/>
            <a:ext cx="4119966" cy="308875"/>
            <a:chOff x="0" y="0"/>
            <a:chExt cx="5493288" cy="411834"/>
          </a:xfrm>
        </p:grpSpPr>
        <p:sp>
          <p:nvSpPr>
            <p:cNvPr id="9" name="Freeform 9"/>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1" name="TextBox 11"/>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Feature selection</a:t>
            </a:r>
          </a:p>
        </p:txBody>
      </p:sp>
      <p:sp>
        <p:nvSpPr>
          <p:cNvPr id="12" name="TextBox 12"/>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Feature selection</a:t>
            </a:r>
          </a:p>
        </p:txBody>
      </p:sp>
      <p:sp>
        <p:nvSpPr>
          <p:cNvPr id="13" name="Freeform 13"/>
          <p:cNvSpPr/>
          <p:nvPr/>
        </p:nvSpPr>
        <p:spPr>
          <a:xfrm>
            <a:off x="184077" y="1586178"/>
            <a:ext cx="9378062" cy="3942968"/>
          </a:xfrm>
          <a:custGeom>
            <a:avLst/>
            <a:gdLst/>
            <a:ahLst/>
            <a:cxnLst/>
            <a:rect l="l" t="t" r="r" b="b"/>
            <a:pathLst>
              <a:path w="9378062" h="3942968">
                <a:moveTo>
                  <a:pt x="0" y="0"/>
                </a:moveTo>
                <a:lnTo>
                  <a:pt x="9378062" y="0"/>
                </a:lnTo>
                <a:lnTo>
                  <a:pt x="9378062" y="3942968"/>
                </a:lnTo>
                <a:lnTo>
                  <a:pt x="0" y="3942968"/>
                </a:lnTo>
                <a:lnTo>
                  <a:pt x="0" y="0"/>
                </a:lnTo>
                <a:close/>
              </a:path>
            </a:pathLst>
          </a:custGeom>
          <a:blipFill>
            <a:blip r:embed="rId4"/>
            <a:stretch>
              <a:fillRect l="-1815" r="-1815" b="-1673"/>
            </a:stretch>
          </a:blipFill>
        </p:spPr>
        <p:txBody>
          <a:bodyPr/>
          <a:lstStyle/>
          <a:p>
            <a:endParaRPr lang="en-VN"/>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111" y="459246"/>
            <a:ext cx="8626875" cy="19055"/>
            <a:chOff x="0" y="0"/>
            <a:chExt cx="11502500" cy="25407"/>
          </a:xfrm>
        </p:grpSpPr>
        <p:sp>
          <p:nvSpPr>
            <p:cNvPr id="3" name="Freeform 3"/>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grpSp>
        <p:nvGrpSpPr>
          <p:cNvPr id="8" name="Group 8"/>
          <p:cNvGrpSpPr/>
          <p:nvPr/>
        </p:nvGrpSpPr>
        <p:grpSpPr>
          <a:xfrm>
            <a:off x="531924" y="6923537"/>
            <a:ext cx="4119966" cy="308875"/>
            <a:chOff x="0" y="0"/>
            <a:chExt cx="5493288" cy="411834"/>
          </a:xfrm>
        </p:grpSpPr>
        <p:sp>
          <p:nvSpPr>
            <p:cNvPr id="9" name="Freeform 9"/>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1" name="Freeform 11"/>
          <p:cNvSpPr/>
          <p:nvPr/>
        </p:nvSpPr>
        <p:spPr>
          <a:xfrm>
            <a:off x="291897" y="1007823"/>
            <a:ext cx="9169805" cy="5299554"/>
          </a:xfrm>
          <a:custGeom>
            <a:avLst/>
            <a:gdLst/>
            <a:ahLst/>
            <a:cxnLst/>
            <a:rect l="l" t="t" r="r" b="b"/>
            <a:pathLst>
              <a:path w="9169805" h="5299554">
                <a:moveTo>
                  <a:pt x="0" y="0"/>
                </a:moveTo>
                <a:lnTo>
                  <a:pt x="9169806" y="0"/>
                </a:lnTo>
                <a:lnTo>
                  <a:pt x="9169806" y="5299554"/>
                </a:lnTo>
                <a:lnTo>
                  <a:pt x="0" y="5299554"/>
                </a:lnTo>
                <a:lnTo>
                  <a:pt x="0" y="0"/>
                </a:lnTo>
                <a:close/>
              </a:path>
            </a:pathLst>
          </a:custGeom>
          <a:blipFill>
            <a:blip r:embed="rId4"/>
            <a:stretch>
              <a:fillRect l="-9868" t="-14448" r="-13664" b="-36778"/>
            </a:stretch>
          </a:blipFill>
        </p:spPr>
        <p:txBody>
          <a:bodyPr/>
          <a:lstStyle/>
          <a:p>
            <a:endParaRPr lang="en-VN"/>
          </a:p>
        </p:txBody>
      </p:sp>
      <p:sp>
        <p:nvSpPr>
          <p:cNvPr id="12" name="TextBox 12"/>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Model Training</a:t>
            </a:r>
          </a:p>
        </p:txBody>
      </p:sp>
      <p:sp>
        <p:nvSpPr>
          <p:cNvPr id="13" name="TextBox 13"/>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Model Training</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111" y="459246"/>
            <a:ext cx="8626875" cy="19055"/>
            <a:chOff x="0" y="0"/>
            <a:chExt cx="11502500" cy="25407"/>
          </a:xfrm>
        </p:grpSpPr>
        <p:sp>
          <p:nvSpPr>
            <p:cNvPr id="3" name="Freeform 3"/>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grpSp>
        <p:nvGrpSpPr>
          <p:cNvPr id="8" name="Group 8"/>
          <p:cNvGrpSpPr/>
          <p:nvPr/>
        </p:nvGrpSpPr>
        <p:grpSpPr>
          <a:xfrm>
            <a:off x="531924" y="6923537"/>
            <a:ext cx="4119966" cy="308875"/>
            <a:chOff x="0" y="0"/>
            <a:chExt cx="5493288" cy="411834"/>
          </a:xfrm>
        </p:grpSpPr>
        <p:sp>
          <p:nvSpPr>
            <p:cNvPr id="9" name="Freeform 9"/>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1" name="TextBox 11"/>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Model Evaluation </a:t>
            </a:r>
          </a:p>
        </p:txBody>
      </p:sp>
      <p:sp>
        <p:nvSpPr>
          <p:cNvPr id="12" name="Freeform 12"/>
          <p:cNvSpPr/>
          <p:nvPr/>
        </p:nvSpPr>
        <p:spPr>
          <a:xfrm>
            <a:off x="516270" y="1133943"/>
            <a:ext cx="9027278" cy="5224537"/>
          </a:xfrm>
          <a:custGeom>
            <a:avLst/>
            <a:gdLst/>
            <a:ahLst/>
            <a:cxnLst/>
            <a:rect l="l" t="t" r="r" b="b"/>
            <a:pathLst>
              <a:path w="9027278" h="5224537">
                <a:moveTo>
                  <a:pt x="0" y="0"/>
                </a:moveTo>
                <a:lnTo>
                  <a:pt x="9027278" y="0"/>
                </a:lnTo>
                <a:lnTo>
                  <a:pt x="9027278" y="5224537"/>
                </a:lnTo>
                <a:lnTo>
                  <a:pt x="0" y="5224537"/>
                </a:lnTo>
                <a:lnTo>
                  <a:pt x="0" y="0"/>
                </a:lnTo>
                <a:close/>
              </a:path>
            </a:pathLst>
          </a:custGeom>
          <a:blipFill>
            <a:blip r:embed="rId4"/>
            <a:stretch>
              <a:fillRect/>
            </a:stretch>
          </a:blipFill>
        </p:spPr>
        <p:txBody>
          <a:bodyPr/>
          <a:lstStyle/>
          <a:p>
            <a:endParaRPr lang="en-VN"/>
          </a:p>
        </p:txBody>
      </p:sp>
      <p:sp>
        <p:nvSpPr>
          <p:cNvPr id="13" name="TextBox 13"/>
          <p:cNvSpPr txBox="1"/>
          <p:nvPr/>
        </p:nvSpPr>
        <p:spPr>
          <a:xfrm>
            <a:off x="3824957" y="3524250"/>
            <a:ext cx="2103686" cy="247650"/>
          </a:xfrm>
          <a:prstGeom prst="rect">
            <a:avLst/>
          </a:prstGeom>
        </p:spPr>
        <p:txBody>
          <a:bodyPr lIns="0" tIns="0" rIns="0" bIns="0" rtlCol="0" anchor="t">
            <a:spAutoFit/>
          </a:bodyPr>
          <a:lstStyle/>
          <a:p>
            <a:pPr algn="ctr">
              <a:lnSpc>
                <a:spcPts val="1800"/>
              </a:lnSpc>
              <a:spcBef>
                <a:spcPct val="0"/>
              </a:spcBef>
            </a:pPr>
            <a:r>
              <a:rPr lang="en-US" sz="1500">
                <a:solidFill>
                  <a:srgbClr val="5A5F5E"/>
                </a:solidFill>
                <a:latin typeface="Helvetica"/>
                <a:ea typeface="Helvetica"/>
                <a:cs typeface="Helvetica"/>
                <a:sym typeface="Helvetica"/>
              </a:rPr>
              <a:t>Model Training &amp; Results</a:t>
            </a:r>
          </a:p>
        </p:txBody>
      </p:sp>
      <p:sp>
        <p:nvSpPr>
          <p:cNvPr id="14" name="TextBox 14"/>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Model Evaluation </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111" y="459246"/>
            <a:ext cx="8626875" cy="19055"/>
            <a:chOff x="0" y="0"/>
            <a:chExt cx="11502500" cy="25407"/>
          </a:xfrm>
        </p:grpSpPr>
        <p:sp>
          <p:nvSpPr>
            <p:cNvPr id="3" name="Freeform 3"/>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grpSp>
        <p:nvGrpSpPr>
          <p:cNvPr id="8" name="Group 8"/>
          <p:cNvGrpSpPr/>
          <p:nvPr/>
        </p:nvGrpSpPr>
        <p:grpSpPr>
          <a:xfrm>
            <a:off x="531924" y="6923537"/>
            <a:ext cx="4119966" cy="308875"/>
            <a:chOff x="0" y="0"/>
            <a:chExt cx="5493288" cy="411834"/>
          </a:xfrm>
        </p:grpSpPr>
        <p:sp>
          <p:nvSpPr>
            <p:cNvPr id="9" name="Freeform 9"/>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1" name="TextBox 11"/>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Model Evaluation </a:t>
            </a:r>
          </a:p>
        </p:txBody>
      </p:sp>
      <p:sp>
        <p:nvSpPr>
          <p:cNvPr id="12" name="TextBox 12"/>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Model Evaluation</a:t>
            </a:r>
          </a:p>
        </p:txBody>
      </p:sp>
      <p:sp>
        <p:nvSpPr>
          <p:cNvPr id="13" name="Freeform 13"/>
          <p:cNvSpPr/>
          <p:nvPr/>
        </p:nvSpPr>
        <p:spPr>
          <a:xfrm>
            <a:off x="731520" y="1804250"/>
            <a:ext cx="8574815" cy="3858667"/>
          </a:xfrm>
          <a:custGeom>
            <a:avLst/>
            <a:gdLst/>
            <a:ahLst/>
            <a:cxnLst/>
            <a:rect l="l" t="t" r="r" b="b"/>
            <a:pathLst>
              <a:path w="8574815" h="3858667">
                <a:moveTo>
                  <a:pt x="0" y="0"/>
                </a:moveTo>
                <a:lnTo>
                  <a:pt x="8574815" y="0"/>
                </a:lnTo>
                <a:lnTo>
                  <a:pt x="8574815" y="3858666"/>
                </a:lnTo>
                <a:lnTo>
                  <a:pt x="0" y="3858666"/>
                </a:lnTo>
                <a:lnTo>
                  <a:pt x="0" y="0"/>
                </a:lnTo>
                <a:close/>
              </a:path>
            </a:pathLst>
          </a:custGeom>
          <a:blipFill>
            <a:blip r:embed="rId4"/>
            <a:stretch>
              <a:fillRect/>
            </a:stretch>
          </a:blipFill>
        </p:spPr>
        <p:txBody>
          <a:bodyPr/>
          <a:lstStyle/>
          <a:p>
            <a:endParaRPr lang="en-VN"/>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111" y="459246"/>
            <a:ext cx="8626875" cy="19055"/>
            <a:chOff x="0" y="0"/>
            <a:chExt cx="11502500" cy="25407"/>
          </a:xfrm>
        </p:grpSpPr>
        <p:sp>
          <p:nvSpPr>
            <p:cNvPr id="3" name="Freeform 3"/>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grpSp>
        <p:nvGrpSpPr>
          <p:cNvPr id="8" name="Group 8"/>
          <p:cNvGrpSpPr/>
          <p:nvPr/>
        </p:nvGrpSpPr>
        <p:grpSpPr>
          <a:xfrm>
            <a:off x="531924" y="6923537"/>
            <a:ext cx="4119966" cy="308875"/>
            <a:chOff x="0" y="0"/>
            <a:chExt cx="5493288" cy="411834"/>
          </a:xfrm>
        </p:grpSpPr>
        <p:sp>
          <p:nvSpPr>
            <p:cNvPr id="9" name="Freeform 9"/>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1" name="TextBox 11"/>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Best Model</a:t>
            </a:r>
          </a:p>
        </p:txBody>
      </p:sp>
      <p:sp>
        <p:nvSpPr>
          <p:cNvPr id="12" name="TextBox 12"/>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Best Model</a:t>
            </a:r>
          </a:p>
        </p:txBody>
      </p:sp>
      <p:sp>
        <p:nvSpPr>
          <p:cNvPr id="13" name="Freeform 13"/>
          <p:cNvSpPr/>
          <p:nvPr/>
        </p:nvSpPr>
        <p:spPr>
          <a:xfrm>
            <a:off x="731520" y="1808199"/>
            <a:ext cx="8457467" cy="4942803"/>
          </a:xfrm>
          <a:custGeom>
            <a:avLst/>
            <a:gdLst/>
            <a:ahLst/>
            <a:cxnLst/>
            <a:rect l="l" t="t" r="r" b="b"/>
            <a:pathLst>
              <a:path w="8457467" h="4942803">
                <a:moveTo>
                  <a:pt x="0" y="0"/>
                </a:moveTo>
                <a:lnTo>
                  <a:pt x="8457467" y="0"/>
                </a:lnTo>
                <a:lnTo>
                  <a:pt x="8457467" y="4942804"/>
                </a:lnTo>
                <a:lnTo>
                  <a:pt x="0" y="4942804"/>
                </a:lnTo>
                <a:lnTo>
                  <a:pt x="0" y="0"/>
                </a:lnTo>
                <a:close/>
              </a:path>
            </a:pathLst>
          </a:custGeom>
          <a:blipFill>
            <a:blip r:embed="rId4"/>
            <a:stretch>
              <a:fillRect t="-8431" b="-14337"/>
            </a:stretch>
          </a:blipFill>
        </p:spPr>
        <p:txBody>
          <a:bodyPr/>
          <a:lstStyle/>
          <a:p>
            <a:endParaRPr lang="en-VN"/>
          </a:p>
        </p:txBody>
      </p:sp>
      <p:sp>
        <p:nvSpPr>
          <p:cNvPr id="14" name="TextBox 14"/>
          <p:cNvSpPr txBox="1"/>
          <p:nvPr/>
        </p:nvSpPr>
        <p:spPr>
          <a:xfrm>
            <a:off x="2264360" y="845640"/>
            <a:ext cx="5391785" cy="372745"/>
          </a:xfrm>
          <a:prstGeom prst="rect">
            <a:avLst/>
          </a:prstGeom>
        </p:spPr>
        <p:txBody>
          <a:bodyPr lIns="0" tIns="0" rIns="0" bIns="0" rtlCol="0" anchor="t">
            <a:spAutoFit/>
          </a:bodyPr>
          <a:lstStyle/>
          <a:p>
            <a:pPr algn="ctr">
              <a:lnSpc>
                <a:spcPts val="3079"/>
              </a:lnSpc>
              <a:spcBef>
                <a:spcPct val="0"/>
              </a:spcBef>
            </a:pPr>
            <a:r>
              <a:rPr lang="en-US" sz="2199" b="1" dirty="0">
                <a:solidFill>
                  <a:srgbClr val="000000"/>
                </a:solidFill>
                <a:latin typeface="Noto Sans T Chinese Bold"/>
                <a:ea typeface="Noto Sans T Chinese Bold"/>
                <a:cs typeface="Noto Sans T Chinese Bold"/>
                <a:sym typeface="Noto Sans T Chinese Bold"/>
              </a:rPr>
              <a:t>Best Model =&gt; Lasso (a=1e-6) + </a:t>
            </a:r>
            <a:r>
              <a:rPr lang="en-US" sz="2199" b="1" dirty="0" err="1">
                <a:solidFill>
                  <a:srgbClr val="000000"/>
                </a:solidFill>
                <a:latin typeface="Noto Sans T Chinese Bold"/>
                <a:ea typeface="Noto Sans T Chinese Bold"/>
                <a:cs typeface="Noto Sans T Chinese Bold"/>
                <a:sym typeface="Noto Sans T Chinese Bold"/>
              </a:rPr>
              <a:t>XGBoost</a:t>
            </a:r>
            <a:endParaRPr lang="en-US" sz="2199" b="1" dirty="0">
              <a:solidFill>
                <a:srgbClr val="000000"/>
              </a:solidFill>
              <a:latin typeface="Noto Sans T Chinese Bold"/>
              <a:ea typeface="Noto Sans T Chinese Bold"/>
              <a:cs typeface="Noto Sans T Chinese Bold"/>
              <a:sym typeface="Noto Sans T Chinese Bold"/>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111" y="459246"/>
            <a:ext cx="8626875" cy="19055"/>
            <a:chOff x="0" y="0"/>
            <a:chExt cx="11502500" cy="25407"/>
          </a:xfrm>
        </p:grpSpPr>
        <p:sp>
          <p:nvSpPr>
            <p:cNvPr id="3" name="Freeform 3"/>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grpSp>
        <p:nvGrpSpPr>
          <p:cNvPr id="8" name="Group 8"/>
          <p:cNvGrpSpPr/>
          <p:nvPr/>
        </p:nvGrpSpPr>
        <p:grpSpPr>
          <a:xfrm>
            <a:off x="531924" y="6923537"/>
            <a:ext cx="4119966" cy="308875"/>
            <a:chOff x="0" y="0"/>
            <a:chExt cx="5493288" cy="411834"/>
          </a:xfrm>
        </p:grpSpPr>
        <p:sp>
          <p:nvSpPr>
            <p:cNvPr id="9" name="Freeform 9"/>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1" name="TextBox 11"/>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Conclusion</a:t>
            </a:r>
          </a:p>
        </p:txBody>
      </p:sp>
      <p:sp>
        <p:nvSpPr>
          <p:cNvPr id="12" name="TextBox 12"/>
          <p:cNvSpPr txBox="1"/>
          <p:nvPr/>
        </p:nvSpPr>
        <p:spPr>
          <a:xfrm>
            <a:off x="613032" y="502920"/>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Conclusion</a:t>
            </a:r>
          </a:p>
        </p:txBody>
      </p:sp>
      <p:sp>
        <p:nvSpPr>
          <p:cNvPr id="13" name="TextBox 13"/>
          <p:cNvSpPr txBox="1"/>
          <p:nvPr/>
        </p:nvSpPr>
        <p:spPr>
          <a:xfrm>
            <a:off x="562111" y="1121176"/>
            <a:ext cx="8926417" cy="5328264"/>
          </a:xfrm>
          <a:prstGeom prst="rect">
            <a:avLst/>
          </a:prstGeom>
        </p:spPr>
        <p:txBody>
          <a:bodyPr lIns="0" tIns="0" rIns="0" bIns="0" rtlCol="0" anchor="t">
            <a:spAutoFit/>
          </a:bodyPr>
          <a:lstStyle/>
          <a:p>
            <a:pPr algn="l">
              <a:lnSpc>
                <a:spcPts val="3225"/>
              </a:lnSpc>
            </a:pPr>
            <a:r>
              <a:rPr lang="en-US" sz="2150">
                <a:solidFill>
                  <a:srgbClr val="00599E"/>
                </a:solidFill>
                <a:latin typeface="Helvetica"/>
                <a:ea typeface="Helvetica"/>
                <a:cs typeface="Helvetica"/>
                <a:sym typeface="Helvetica"/>
              </a:rPr>
              <a:t>Feature selection improved performance</a:t>
            </a:r>
          </a:p>
          <a:p>
            <a:pPr marL="928607" lvl="2" indent="-309536" algn="l">
              <a:lnSpc>
                <a:spcPts val="3225"/>
              </a:lnSpc>
              <a:buFont typeface="Arial"/>
              <a:buChar char="⚬"/>
            </a:pPr>
            <a:r>
              <a:rPr lang="en-US" sz="2150">
                <a:solidFill>
                  <a:srgbClr val="00599E"/>
                </a:solidFill>
                <a:latin typeface="Helvetica"/>
                <a:ea typeface="Helvetica"/>
                <a:cs typeface="Helvetica"/>
                <a:sym typeface="Helvetica"/>
              </a:rPr>
              <a:t>Lasso (α = 1e−6) removed weak features and boosted generalization.</a:t>
            </a:r>
          </a:p>
          <a:p>
            <a:pPr algn="l">
              <a:lnSpc>
                <a:spcPts val="3225"/>
              </a:lnSpc>
            </a:pPr>
            <a:r>
              <a:rPr lang="en-US" sz="2150">
                <a:solidFill>
                  <a:srgbClr val="00599E"/>
                </a:solidFill>
                <a:latin typeface="Helvetica"/>
                <a:ea typeface="Helvetica"/>
                <a:cs typeface="Helvetica"/>
                <a:sym typeface="Helvetica"/>
              </a:rPr>
              <a:t>Classical models underperformed</a:t>
            </a:r>
          </a:p>
          <a:p>
            <a:pPr marL="928607" lvl="2" indent="-309536" algn="l">
              <a:lnSpc>
                <a:spcPts val="3225"/>
              </a:lnSpc>
              <a:buFont typeface="Arial"/>
              <a:buChar char="⚬"/>
            </a:pPr>
            <a:r>
              <a:rPr lang="en-US" sz="2150">
                <a:solidFill>
                  <a:srgbClr val="00599E"/>
                </a:solidFill>
                <a:latin typeface="Helvetica"/>
                <a:ea typeface="Helvetica"/>
                <a:cs typeface="Helvetica"/>
                <a:sym typeface="Helvetica"/>
              </a:rPr>
              <a:t>Logistic, LDA, QDA had very low F1 → task is highly non-linear.</a:t>
            </a:r>
          </a:p>
          <a:p>
            <a:pPr algn="l">
              <a:lnSpc>
                <a:spcPts val="3225"/>
              </a:lnSpc>
            </a:pPr>
            <a:r>
              <a:rPr lang="en-US" sz="2150">
                <a:solidFill>
                  <a:srgbClr val="00599E"/>
                </a:solidFill>
                <a:latin typeface="Helvetica"/>
                <a:ea typeface="Helvetica"/>
                <a:cs typeface="Helvetica"/>
                <a:sym typeface="Helvetica"/>
              </a:rPr>
              <a:t>XGBoost was the best overall</a:t>
            </a:r>
          </a:p>
          <a:p>
            <a:pPr marL="928607" lvl="2" indent="-309536" algn="l">
              <a:lnSpc>
                <a:spcPts val="3225"/>
              </a:lnSpc>
              <a:buFont typeface="Arial"/>
              <a:buChar char="⚬"/>
            </a:pPr>
            <a:r>
              <a:rPr lang="en-US" sz="2150">
                <a:solidFill>
                  <a:srgbClr val="00599E"/>
                </a:solidFill>
                <a:latin typeface="Helvetica"/>
                <a:ea typeface="Helvetica"/>
                <a:cs typeface="Helvetica"/>
                <a:sym typeface="Helvetica"/>
              </a:rPr>
              <a:t>Highest F1, ROC-AUC, and PR-AUC across all feature sets.</a:t>
            </a:r>
          </a:p>
          <a:p>
            <a:pPr algn="l">
              <a:lnSpc>
                <a:spcPts val="3225"/>
              </a:lnSpc>
            </a:pPr>
            <a:r>
              <a:rPr lang="en-US" sz="2150">
                <a:solidFill>
                  <a:srgbClr val="00599E"/>
                </a:solidFill>
                <a:latin typeface="Helvetica"/>
                <a:ea typeface="Helvetica"/>
                <a:cs typeface="Helvetica"/>
                <a:sym typeface="Helvetica"/>
              </a:rPr>
              <a:t>Best pipeline: Lasso (1e−6) + XGBoost</a:t>
            </a:r>
          </a:p>
          <a:p>
            <a:pPr marL="928607" lvl="2" indent="-309536" algn="l">
              <a:lnSpc>
                <a:spcPts val="3225"/>
              </a:lnSpc>
              <a:buFont typeface="Arial"/>
              <a:buChar char="⚬"/>
            </a:pPr>
            <a:r>
              <a:rPr lang="en-US" sz="2150">
                <a:solidFill>
                  <a:srgbClr val="00599E"/>
                </a:solidFill>
                <a:latin typeface="Helvetica"/>
                <a:ea typeface="Helvetica"/>
                <a:cs typeface="Helvetica"/>
                <a:sym typeface="Helvetica"/>
              </a:rPr>
              <a:t>Test F1 = 0.7436 (CV ≈ 0.767) → strong and stable model.</a:t>
            </a:r>
          </a:p>
          <a:p>
            <a:pPr algn="l">
              <a:lnSpc>
                <a:spcPts val="3225"/>
              </a:lnSpc>
            </a:pPr>
            <a:r>
              <a:rPr lang="en-US" sz="2150">
                <a:solidFill>
                  <a:srgbClr val="00599E"/>
                </a:solidFill>
                <a:latin typeface="Helvetica"/>
                <a:ea typeface="Helvetica"/>
                <a:cs typeface="Helvetica"/>
                <a:sym typeface="Helvetica"/>
              </a:rPr>
              <a:t>Strong model evaluation</a:t>
            </a:r>
          </a:p>
          <a:p>
            <a:pPr marL="928607" lvl="2" indent="-309536" algn="l">
              <a:lnSpc>
                <a:spcPts val="3225"/>
              </a:lnSpc>
              <a:buFont typeface="Arial"/>
              <a:buChar char="⚬"/>
            </a:pPr>
            <a:r>
              <a:rPr lang="en-US" sz="2150">
                <a:solidFill>
                  <a:srgbClr val="00599E"/>
                </a:solidFill>
                <a:latin typeface="Helvetica"/>
                <a:ea typeface="Helvetica"/>
                <a:cs typeface="Helvetica"/>
                <a:sym typeface="Helvetica"/>
              </a:rPr>
              <a:t>ROC-AUC ≈ 0.913 and solid PR-AUC on imbalanced data.</a:t>
            </a:r>
          </a:p>
          <a:p>
            <a:pPr algn="l">
              <a:lnSpc>
                <a:spcPts val="3225"/>
              </a:lnSpc>
            </a:pPr>
            <a:r>
              <a:rPr lang="en-US" sz="2150">
                <a:solidFill>
                  <a:srgbClr val="00599E"/>
                </a:solidFill>
                <a:latin typeface="Helvetica"/>
                <a:ea typeface="Helvetica"/>
                <a:cs typeface="Helvetica"/>
                <a:sym typeface="Helvetica"/>
              </a:rPr>
              <a:t>Threshold tuning improved results</a:t>
            </a:r>
          </a:p>
          <a:p>
            <a:pPr marL="928607" lvl="2" indent="-309536" algn="l">
              <a:lnSpc>
                <a:spcPts val="3225"/>
              </a:lnSpc>
              <a:buFont typeface="Arial"/>
              <a:buChar char="⚬"/>
            </a:pPr>
            <a:r>
              <a:rPr lang="en-US" sz="2150">
                <a:solidFill>
                  <a:srgbClr val="00599E"/>
                </a:solidFill>
                <a:latin typeface="Helvetica"/>
                <a:ea typeface="Helvetica"/>
                <a:cs typeface="Helvetica"/>
                <a:sym typeface="Helvetica"/>
              </a:rPr>
              <a:t>Optimal threshold 0.548 boosted F1 and precision–recall balance.</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VN"/>
          </a:p>
        </p:txBody>
      </p:sp>
      <p:grpSp>
        <p:nvGrpSpPr>
          <p:cNvPr id="3" name="Group 3"/>
          <p:cNvGrpSpPr>
            <a:grpSpLocks noChangeAspect="1"/>
          </p:cNvGrpSpPr>
          <p:nvPr/>
        </p:nvGrpSpPr>
        <p:grpSpPr>
          <a:xfrm>
            <a:off x="511325" y="168064"/>
            <a:ext cx="1787623" cy="1734183"/>
            <a:chOff x="0" y="0"/>
            <a:chExt cx="2383497" cy="2312245"/>
          </a:xfrm>
        </p:grpSpPr>
        <p:sp>
          <p:nvSpPr>
            <p:cNvPr id="4" name="Freeform 4" descr="pasted-image.png"/>
            <p:cNvSpPr/>
            <p:nvPr/>
          </p:nvSpPr>
          <p:spPr>
            <a:xfrm>
              <a:off x="0" y="0"/>
              <a:ext cx="2383536" cy="2312289"/>
            </a:xfrm>
            <a:custGeom>
              <a:avLst/>
              <a:gdLst/>
              <a:ahLst/>
              <a:cxnLst/>
              <a:rect l="l" t="t" r="r" b="b"/>
              <a:pathLst>
                <a:path w="2383536" h="2312289">
                  <a:moveTo>
                    <a:pt x="0" y="0"/>
                  </a:moveTo>
                  <a:lnTo>
                    <a:pt x="2383536" y="0"/>
                  </a:lnTo>
                  <a:lnTo>
                    <a:pt x="2383536" y="2312289"/>
                  </a:lnTo>
                  <a:lnTo>
                    <a:pt x="0" y="2312289"/>
                  </a:lnTo>
                  <a:lnTo>
                    <a:pt x="0" y="0"/>
                  </a:lnTo>
                  <a:close/>
                </a:path>
              </a:pathLst>
            </a:custGeom>
            <a:blipFill>
              <a:blip r:embed="rId5"/>
              <a:stretch>
                <a:fillRect l="-8" r="-6" b="1"/>
              </a:stretch>
            </a:blipFill>
          </p:spPr>
          <p:txBody>
            <a:bodyPr/>
            <a:lstStyle/>
            <a:p>
              <a:endParaRPr lang="en-VN"/>
            </a:p>
          </p:txBody>
        </p:sp>
      </p:grpSp>
      <p:sp>
        <p:nvSpPr>
          <p:cNvPr id="5" name="TextBox 5"/>
          <p:cNvSpPr txBox="1"/>
          <p:nvPr/>
        </p:nvSpPr>
        <p:spPr>
          <a:xfrm>
            <a:off x="627203" y="3352023"/>
            <a:ext cx="8503527" cy="1466850"/>
          </a:xfrm>
          <a:prstGeom prst="rect">
            <a:avLst/>
          </a:prstGeom>
        </p:spPr>
        <p:txBody>
          <a:bodyPr lIns="0" tIns="0" rIns="0" bIns="0" rtlCol="0" anchor="t">
            <a:spAutoFit/>
          </a:bodyPr>
          <a:lstStyle/>
          <a:p>
            <a:pPr algn="l">
              <a:lnSpc>
                <a:spcPts val="2880"/>
              </a:lnSpc>
            </a:pPr>
            <a:r>
              <a:rPr lang="en-US" sz="2400">
                <a:solidFill>
                  <a:srgbClr val="5A5F5E"/>
                </a:solidFill>
                <a:latin typeface="Helvetica"/>
                <a:ea typeface="Helvetica"/>
                <a:cs typeface="Helvetica"/>
                <a:sym typeface="Helvetica"/>
              </a:rPr>
              <a:t>Cheng-Min Tsai, </a:t>
            </a:r>
          </a:p>
          <a:p>
            <a:pPr algn="l">
              <a:lnSpc>
                <a:spcPts val="2880"/>
              </a:lnSpc>
            </a:pPr>
            <a:r>
              <a:rPr lang="en-US" sz="2400">
                <a:solidFill>
                  <a:srgbClr val="5A5F5E"/>
                </a:solidFill>
                <a:latin typeface="Helvetica"/>
                <a:ea typeface="Helvetica"/>
                <a:cs typeface="Helvetica"/>
                <a:sym typeface="Helvetica"/>
              </a:rPr>
              <a:t>Nguyen-Thu Thuy, </a:t>
            </a:r>
          </a:p>
          <a:p>
            <a:pPr algn="l">
              <a:lnSpc>
                <a:spcPts val="2880"/>
              </a:lnSpc>
            </a:pPr>
            <a:r>
              <a:rPr lang="en-US" sz="2400">
                <a:solidFill>
                  <a:srgbClr val="5A5F5E"/>
                </a:solidFill>
                <a:latin typeface="Helvetica"/>
                <a:ea typeface="Helvetica"/>
                <a:cs typeface="Helvetica"/>
                <a:sym typeface="Helvetica"/>
              </a:rPr>
              <a:t>Huei-Wen Teng</a:t>
            </a:r>
          </a:p>
          <a:p>
            <a:pPr algn="l">
              <a:lnSpc>
                <a:spcPts val="2880"/>
              </a:lnSpc>
            </a:pPr>
            <a:endParaRPr lang="en-US" sz="2400">
              <a:solidFill>
                <a:srgbClr val="5A5F5E"/>
              </a:solidFill>
              <a:latin typeface="Helvetica"/>
              <a:ea typeface="Helvetica"/>
              <a:cs typeface="Helvetica"/>
              <a:sym typeface="Helvetica"/>
            </a:endParaRPr>
          </a:p>
        </p:txBody>
      </p:sp>
      <p:sp>
        <p:nvSpPr>
          <p:cNvPr id="6" name="TextBox 6"/>
          <p:cNvSpPr txBox="1"/>
          <p:nvPr/>
        </p:nvSpPr>
        <p:spPr>
          <a:xfrm>
            <a:off x="627203" y="5267016"/>
            <a:ext cx="8501575" cy="742950"/>
          </a:xfrm>
          <a:prstGeom prst="rect">
            <a:avLst/>
          </a:prstGeom>
        </p:spPr>
        <p:txBody>
          <a:bodyPr lIns="0" tIns="0" rIns="0" bIns="0" rtlCol="0" anchor="t">
            <a:spAutoFit/>
          </a:bodyPr>
          <a:lstStyle/>
          <a:p>
            <a:pPr algn="l">
              <a:lnSpc>
                <a:spcPts val="2879"/>
              </a:lnSpc>
            </a:pPr>
            <a:r>
              <a:rPr lang="en-US" sz="2400">
                <a:solidFill>
                  <a:srgbClr val="5A5F5E"/>
                </a:solidFill>
                <a:latin typeface="Helvetica"/>
                <a:ea typeface="Helvetica"/>
                <a:cs typeface="Helvetica"/>
                <a:sym typeface="Helvetica"/>
              </a:rPr>
              <a:t>NYCU</a:t>
            </a:r>
          </a:p>
          <a:p>
            <a:pPr algn="l">
              <a:lnSpc>
                <a:spcPts val="2879"/>
              </a:lnSpc>
            </a:pPr>
            <a:r>
              <a:rPr lang="en-US" sz="2400" u="sng">
                <a:solidFill>
                  <a:srgbClr val="0000FF"/>
                </a:solidFill>
                <a:latin typeface="Helvetica"/>
                <a:ea typeface="Helvetica"/>
                <a:cs typeface="Helvetica"/>
                <a:sym typeface="Helvetica"/>
              </a:rPr>
              <a:t>MY SITE</a:t>
            </a:r>
          </a:p>
        </p:txBody>
      </p:sp>
      <p:sp>
        <p:nvSpPr>
          <p:cNvPr id="7" name="TextBox 7"/>
          <p:cNvSpPr txBox="1"/>
          <p:nvPr/>
        </p:nvSpPr>
        <p:spPr>
          <a:xfrm>
            <a:off x="626190" y="2005411"/>
            <a:ext cx="8503601" cy="1285875"/>
          </a:xfrm>
          <a:prstGeom prst="rect">
            <a:avLst/>
          </a:prstGeom>
        </p:spPr>
        <p:txBody>
          <a:bodyPr lIns="0" tIns="0" rIns="0" bIns="0" rtlCol="0" anchor="t">
            <a:spAutoFit/>
          </a:bodyPr>
          <a:lstStyle/>
          <a:p>
            <a:pPr algn="l">
              <a:lnSpc>
                <a:spcPts val="4951"/>
              </a:lnSpc>
            </a:pPr>
            <a:r>
              <a:rPr lang="en-US" sz="4126">
                <a:solidFill>
                  <a:srgbClr val="D30F11"/>
                </a:solidFill>
                <a:latin typeface="Helvetica"/>
                <a:ea typeface="Helvetica"/>
                <a:cs typeface="Helvetica"/>
                <a:sym typeface="Helvetica"/>
              </a:rPr>
              <a:t>Next-Gen Credit Risk and Fraud Detection with Explainable AI</a:t>
            </a:r>
          </a:p>
        </p:txBody>
      </p:sp>
      <p:sp>
        <p:nvSpPr>
          <p:cNvPr id="8" name="TextBox 8"/>
          <p:cNvSpPr txBox="1"/>
          <p:nvPr/>
        </p:nvSpPr>
        <p:spPr>
          <a:xfrm>
            <a:off x="7187593" y="6966606"/>
            <a:ext cx="2281232" cy="180975"/>
          </a:xfrm>
          <a:prstGeom prst="rect">
            <a:avLst/>
          </a:prstGeom>
        </p:spPr>
        <p:txBody>
          <a:bodyPr lIns="0" tIns="0" rIns="0" bIns="0" rtlCol="0" anchor="t">
            <a:spAutoFit/>
          </a:bodyPr>
          <a:lstStyle/>
          <a:p>
            <a:pPr algn="l">
              <a:lnSpc>
                <a:spcPts val="1350"/>
              </a:lnSpc>
            </a:pPr>
            <a:r>
              <a:rPr lang="en-US" sz="1125">
                <a:solidFill>
                  <a:srgbClr val="D30F11"/>
                </a:solidFill>
                <a:latin typeface="Helvetica"/>
                <a:ea typeface="Helvetica"/>
                <a:cs typeface="Helvetica"/>
                <a:sym typeface="Helvetica"/>
              </a:rPr>
              <a:t>20251013 Project presentation</a:t>
            </a: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3340</Words>
  <Application>Microsoft Macintosh PowerPoint</Application>
  <PresentationFormat>Custom</PresentationFormat>
  <Paragraphs>202</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Calibri</vt:lpstr>
      <vt:lpstr>Helvetica Bold</vt:lpstr>
      <vt:lpstr>Noto Sans T Chinese Bold</vt:lpstr>
      <vt:lpstr>Arial</vt:lpstr>
      <vt:lpstr>Helvetica</vt:lpstr>
      <vt:lpstr>TT Commons Pro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20251117 HWTeng TemplateKeynote (CLEAN).pptx</dc:title>
  <cp:lastModifiedBy>Beth Nguyen</cp:lastModifiedBy>
  <cp:revision>3</cp:revision>
  <dcterms:created xsi:type="dcterms:W3CDTF">2006-08-16T00:00:00Z</dcterms:created>
  <dcterms:modified xsi:type="dcterms:W3CDTF">2025-12-07T23:24:49Z</dcterms:modified>
  <dc:identifier>DAG1Xvs6dnk</dc:identifier>
</cp:coreProperties>
</file>