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9753600" cx="13004800"/>
  <p:notesSz cx="6858000" cy="9144000"/>
  <p:embeddedFontLst>
    <p:embeddedFont>
      <p:font typeface="Helvetica Neue"/>
      <p:regular r:id="rId34"/>
      <p:bold r:id="rId35"/>
      <p:italic r:id="rId36"/>
      <p:boldItalic r:id="rId37"/>
    </p:embeddedFont>
    <p:embeddedFont>
      <p:font typeface="Helvetica Neue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246958-4DC6-4DF0-8B7F-D96BE8379324}">
  <a:tblStyle styleId="{79246958-4DC6-4DF0-8B7F-D96BE83793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italic.fntdata"/><Relationship Id="rId20" Type="http://schemas.openxmlformats.org/officeDocument/2006/relationships/slide" Target="slides/slide15.xml"/><Relationship Id="rId41" Type="http://schemas.openxmlformats.org/officeDocument/2006/relationships/font" Target="fonts/HelveticaNeueLight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7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2.xml"/><Relationship Id="rId39" Type="http://schemas.openxmlformats.org/officeDocument/2006/relationships/font" Target="fonts/HelveticaNeueLight-bold.fntdata"/><Relationship Id="rId16" Type="http://schemas.openxmlformats.org/officeDocument/2006/relationships/slide" Target="slides/slide11.xml"/><Relationship Id="rId38" Type="http://schemas.openxmlformats.org/officeDocument/2006/relationships/font" Target="fonts/HelveticaNeue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e49735378_1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ae49735378_1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49735378_2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ae49735378_2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1baab6856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a1baab6856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e49735378_2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ae49735378_2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baab6856_0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a1baab6856_0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1baab6856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1baab6856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e49735378_2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e49735378_2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e49735378_2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ae49735378_2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e49735378_2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e49735378_2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e49735378_2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ae49735378_2_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1baab6856_0_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1baab6856_0_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e49735378_2_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e49735378_2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e49735378_2_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e49735378_2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1baab6856_0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a1baab6856_0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e49735378_2_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e49735378_2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e49735378_2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e49735378_2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e49735378_2_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e49735378_2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49735378_2_2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ae49735378_2_2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e49735378_2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ae49735378_2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e49735378_2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ae49735378_2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e49735378_2_1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ae49735378_2_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e49735378_2_1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ae49735378_2_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e49735378_2_1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ae49735378_2_1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1baab6856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a1baab6856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copy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body"/>
          </p:nvPr>
        </p:nvSpPr>
        <p:spPr>
          <a:xfrm>
            <a:off x="773350" y="2345153"/>
            <a:ext cx="11458100" cy="17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500"/>
              <a:buFont typeface="Helvetica Neue Light"/>
              <a:buNone/>
              <a:defRPr sz="55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sz="1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 副本" showMasterSp="0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761999" y="624879"/>
            <a:ext cx="114742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body"/>
          </p:nvPr>
        </p:nvSpPr>
        <p:spPr>
          <a:xfrm>
            <a:off x="761999" y="1581811"/>
            <a:ext cx="11467783" cy="292595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body"/>
          </p:nvPr>
        </p:nvSpPr>
        <p:spPr>
          <a:xfrm>
            <a:off x="715409" y="9235479"/>
            <a:ext cx="5479247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 Light"/>
              <a:buNone/>
              <a:defRPr sz="20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24" name="Google Shape;24;p3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 showMasterSp="0">
  <p:cSld name="Outlin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68509" y="9159279"/>
            <a:ext cx="5733892" cy="399033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/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0" i="0" lang="en-US" sz="35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/>
          </a:p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761999" y="1581811"/>
            <a:ext cx="11467783" cy="6350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800"/>
              <a:buNone/>
              <a:defRPr/>
            </a:lvl9pPr>
          </a:lstStyle>
          <a:p/>
        </p:txBody>
      </p:sp>
      <p:cxnSp>
        <p:nvCxnSpPr>
          <p:cNvPr id="29" name="Google Shape;29;p4"/>
          <p:cNvCxnSpPr/>
          <p:nvPr/>
        </p:nvCxnSpPr>
        <p:spPr>
          <a:xfrm>
            <a:off x="700892" y="9159279"/>
            <a:ext cx="10543492" cy="1"/>
          </a:xfrm>
          <a:prstGeom prst="straightConnector1">
            <a:avLst/>
          </a:prstGeom>
          <a:noFill/>
          <a:ln cap="flat" cmpd="sng" w="25400">
            <a:solidFill>
              <a:srgbClr val="5A5F5E">
                <a:alpha val="15686"/>
              </a:srgbClr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descr="norm_quant.jpg" id="30" name="Google Shape;30;p4"/>
          <p:cNvPicPr preferRelativeResize="0"/>
          <p:nvPr/>
        </p:nvPicPr>
        <p:blipFill rotWithShape="1">
          <a:blip r:embed="rId2">
            <a:alphaModFix/>
          </a:blip>
          <a:srcRect b="13992" l="7684" r="6266" t="12299"/>
          <a:stretch/>
        </p:blipFill>
        <p:spPr>
          <a:xfrm>
            <a:off x="11456784" y="8603504"/>
            <a:ext cx="1259216" cy="763127"/>
          </a:xfrm>
          <a:custGeom>
            <a:rect b="b" l="l" r="r" t="t"/>
            <a:pathLst>
              <a:path extrusionOk="0" h="21575" w="21588">
                <a:moveTo>
                  <a:pt x="10967" y="0"/>
                </a:moveTo>
                <a:cubicBezTo>
                  <a:pt x="10620" y="33"/>
                  <a:pt x="10344" y="274"/>
                  <a:pt x="10014" y="819"/>
                </a:cubicBezTo>
                <a:cubicBezTo>
                  <a:pt x="9987" y="865"/>
                  <a:pt x="9960" y="917"/>
                  <a:pt x="9933" y="965"/>
                </a:cubicBezTo>
                <a:cubicBezTo>
                  <a:pt x="9318" y="2043"/>
                  <a:pt x="8762" y="3752"/>
                  <a:pt x="7544" y="8281"/>
                </a:cubicBezTo>
                <a:cubicBezTo>
                  <a:pt x="7443" y="8658"/>
                  <a:pt x="7392" y="8837"/>
                  <a:pt x="7306" y="9156"/>
                </a:cubicBezTo>
                <a:cubicBezTo>
                  <a:pt x="7307" y="9189"/>
                  <a:pt x="7299" y="9214"/>
                  <a:pt x="7286" y="9223"/>
                </a:cubicBezTo>
                <a:cubicBezTo>
                  <a:pt x="7153" y="9714"/>
                  <a:pt x="7023" y="10202"/>
                  <a:pt x="6918" y="10581"/>
                </a:cubicBezTo>
                <a:cubicBezTo>
                  <a:pt x="6916" y="10589"/>
                  <a:pt x="6915" y="10608"/>
                  <a:pt x="6912" y="10614"/>
                </a:cubicBezTo>
                <a:cubicBezTo>
                  <a:pt x="6699" y="11385"/>
                  <a:pt x="6514" y="12030"/>
                  <a:pt x="6354" y="12567"/>
                </a:cubicBezTo>
                <a:cubicBezTo>
                  <a:pt x="6353" y="12580"/>
                  <a:pt x="6344" y="12593"/>
                  <a:pt x="6340" y="12600"/>
                </a:cubicBezTo>
                <a:cubicBezTo>
                  <a:pt x="6308" y="12707"/>
                  <a:pt x="6270" y="12843"/>
                  <a:pt x="6238" y="12948"/>
                </a:cubicBezTo>
                <a:cubicBezTo>
                  <a:pt x="6194" y="13093"/>
                  <a:pt x="6152" y="13213"/>
                  <a:pt x="6109" y="13352"/>
                </a:cubicBezTo>
                <a:cubicBezTo>
                  <a:pt x="6109" y="13372"/>
                  <a:pt x="6110" y="13379"/>
                  <a:pt x="6102" y="13386"/>
                </a:cubicBezTo>
                <a:cubicBezTo>
                  <a:pt x="6074" y="13476"/>
                  <a:pt x="6041" y="13567"/>
                  <a:pt x="6013" y="13655"/>
                </a:cubicBezTo>
                <a:cubicBezTo>
                  <a:pt x="6009" y="13667"/>
                  <a:pt x="6011" y="13664"/>
                  <a:pt x="6007" y="13678"/>
                </a:cubicBezTo>
                <a:cubicBezTo>
                  <a:pt x="6005" y="13683"/>
                  <a:pt x="6002" y="13684"/>
                  <a:pt x="6000" y="13689"/>
                </a:cubicBezTo>
                <a:cubicBezTo>
                  <a:pt x="5386" y="15618"/>
                  <a:pt x="4805" y="17096"/>
                  <a:pt x="4197" y="18177"/>
                </a:cubicBezTo>
                <a:cubicBezTo>
                  <a:pt x="4193" y="18190"/>
                  <a:pt x="4197" y="18196"/>
                  <a:pt x="4190" y="18211"/>
                </a:cubicBezTo>
                <a:cubicBezTo>
                  <a:pt x="4177" y="18236"/>
                  <a:pt x="4160" y="18264"/>
                  <a:pt x="4142" y="18278"/>
                </a:cubicBezTo>
                <a:cubicBezTo>
                  <a:pt x="4111" y="18331"/>
                  <a:pt x="4078" y="18383"/>
                  <a:pt x="4047" y="18435"/>
                </a:cubicBezTo>
                <a:cubicBezTo>
                  <a:pt x="4033" y="18470"/>
                  <a:pt x="4019" y="18495"/>
                  <a:pt x="3999" y="18525"/>
                </a:cubicBezTo>
                <a:cubicBezTo>
                  <a:pt x="3988" y="18543"/>
                  <a:pt x="3981" y="18547"/>
                  <a:pt x="3972" y="18558"/>
                </a:cubicBezTo>
                <a:cubicBezTo>
                  <a:pt x="3371" y="19526"/>
                  <a:pt x="2740" y="20155"/>
                  <a:pt x="2013" y="20556"/>
                </a:cubicBezTo>
                <a:cubicBezTo>
                  <a:pt x="1944" y="20594"/>
                  <a:pt x="1865" y="20631"/>
                  <a:pt x="1788" y="20668"/>
                </a:cubicBezTo>
                <a:cubicBezTo>
                  <a:pt x="1784" y="20671"/>
                  <a:pt x="1777" y="20679"/>
                  <a:pt x="1775" y="20679"/>
                </a:cubicBezTo>
                <a:cubicBezTo>
                  <a:pt x="1442" y="20836"/>
                  <a:pt x="1063" y="20965"/>
                  <a:pt x="795" y="21016"/>
                </a:cubicBezTo>
                <a:cubicBezTo>
                  <a:pt x="633" y="21046"/>
                  <a:pt x="600" y="21072"/>
                  <a:pt x="577" y="21173"/>
                </a:cubicBezTo>
                <a:cubicBezTo>
                  <a:pt x="551" y="21285"/>
                  <a:pt x="537" y="21296"/>
                  <a:pt x="284" y="21296"/>
                </a:cubicBezTo>
                <a:cubicBezTo>
                  <a:pt x="56" y="21296"/>
                  <a:pt x="17" y="21301"/>
                  <a:pt x="5" y="21375"/>
                </a:cubicBezTo>
                <a:cubicBezTo>
                  <a:pt x="-2" y="21422"/>
                  <a:pt x="-1" y="21487"/>
                  <a:pt x="5" y="21521"/>
                </a:cubicBezTo>
                <a:cubicBezTo>
                  <a:pt x="22" y="21600"/>
                  <a:pt x="21568" y="21589"/>
                  <a:pt x="21561" y="21509"/>
                </a:cubicBezTo>
                <a:cubicBezTo>
                  <a:pt x="21558" y="21482"/>
                  <a:pt x="21567" y="21428"/>
                  <a:pt x="21581" y="21386"/>
                </a:cubicBezTo>
                <a:cubicBezTo>
                  <a:pt x="21598" y="21334"/>
                  <a:pt x="21584" y="21269"/>
                  <a:pt x="21540" y="21184"/>
                </a:cubicBezTo>
                <a:cubicBezTo>
                  <a:pt x="21484" y="21076"/>
                  <a:pt x="21424" y="21043"/>
                  <a:pt x="21146" y="20971"/>
                </a:cubicBezTo>
                <a:cubicBezTo>
                  <a:pt x="21141" y="20972"/>
                  <a:pt x="21142" y="20972"/>
                  <a:pt x="21139" y="20971"/>
                </a:cubicBezTo>
                <a:cubicBezTo>
                  <a:pt x="21006" y="20936"/>
                  <a:pt x="20876" y="20891"/>
                  <a:pt x="20751" y="20847"/>
                </a:cubicBezTo>
                <a:cubicBezTo>
                  <a:pt x="20709" y="20840"/>
                  <a:pt x="20670" y="20832"/>
                  <a:pt x="20656" y="20814"/>
                </a:cubicBezTo>
                <a:cubicBezTo>
                  <a:pt x="20474" y="20746"/>
                  <a:pt x="20298" y="20667"/>
                  <a:pt x="20132" y="20578"/>
                </a:cubicBezTo>
                <a:cubicBezTo>
                  <a:pt x="20125" y="20578"/>
                  <a:pt x="20118" y="20574"/>
                  <a:pt x="20111" y="20567"/>
                </a:cubicBezTo>
                <a:cubicBezTo>
                  <a:pt x="19679" y="20332"/>
                  <a:pt x="19291" y="20019"/>
                  <a:pt x="18928" y="19613"/>
                </a:cubicBezTo>
                <a:cubicBezTo>
                  <a:pt x="18919" y="19605"/>
                  <a:pt x="18916" y="19600"/>
                  <a:pt x="18907" y="19591"/>
                </a:cubicBezTo>
                <a:cubicBezTo>
                  <a:pt x="18900" y="19583"/>
                  <a:pt x="18893" y="19576"/>
                  <a:pt x="18887" y="19568"/>
                </a:cubicBezTo>
                <a:cubicBezTo>
                  <a:pt x="18830" y="19503"/>
                  <a:pt x="18779" y="19436"/>
                  <a:pt x="18723" y="19366"/>
                </a:cubicBezTo>
                <a:cubicBezTo>
                  <a:pt x="18720" y="19367"/>
                  <a:pt x="18714" y="19365"/>
                  <a:pt x="18710" y="19366"/>
                </a:cubicBezTo>
                <a:cubicBezTo>
                  <a:pt x="18686" y="19371"/>
                  <a:pt x="18627" y="19281"/>
                  <a:pt x="18587" y="19198"/>
                </a:cubicBezTo>
                <a:cubicBezTo>
                  <a:pt x="18510" y="19095"/>
                  <a:pt x="18432" y="18985"/>
                  <a:pt x="18356" y="18873"/>
                </a:cubicBezTo>
                <a:cubicBezTo>
                  <a:pt x="18353" y="18871"/>
                  <a:pt x="18351" y="18864"/>
                  <a:pt x="18349" y="18861"/>
                </a:cubicBezTo>
                <a:cubicBezTo>
                  <a:pt x="18294" y="18780"/>
                  <a:pt x="18240" y="18702"/>
                  <a:pt x="18186" y="18614"/>
                </a:cubicBezTo>
                <a:cubicBezTo>
                  <a:pt x="17775" y="17959"/>
                  <a:pt x="17463" y="17349"/>
                  <a:pt x="17104" y="16483"/>
                </a:cubicBezTo>
                <a:cubicBezTo>
                  <a:pt x="17087" y="16455"/>
                  <a:pt x="17076" y="16412"/>
                  <a:pt x="17063" y="16370"/>
                </a:cubicBezTo>
                <a:cubicBezTo>
                  <a:pt x="17061" y="16363"/>
                  <a:pt x="17058" y="16366"/>
                  <a:pt x="17056" y="16359"/>
                </a:cubicBezTo>
                <a:cubicBezTo>
                  <a:pt x="17037" y="16312"/>
                  <a:pt x="17022" y="16274"/>
                  <a:pt x="17002" y="16225"/>
                </a:cubicBezTo>
                <a:cubicBezTo>
                  <a:pt x="16863" y="15881"/>
                  <a:pt x="16729" y="15535"/>
                  <a:pt x="16601" y="15181"/>
                </a:cubicBezTo>
                <a:cubicBezTo>
                  <a:pt x="16592" y="15163"/>
                  <a:pt x="16592" y="15152"/>
                  <a:pt x="16587" y="15136"/>
                </a:cubicBezTo>
                <a:cubicBezTo>
                  <a:pt x="16315" y="14383"/>
                  <a:pt x="16029" y="13464"/>
                  <a:pt x="15696" y="12320"/>
                </a:cubicBezTo>
                <a:cubicBezTo>
                  <a:pt x="15679" y="12291"/>
                  <a:pt x="15664" y="12242"/>
                  <a:pt x="15648" y="12163"/>
                </a:cubicBezTo>
                <a:cubicBezTo>
                  <a:pt x="15514" y="11699"/>
                  <a:pt x="15366" y="11192"/>
                  <a:pt x="15206" y="10614"/>
                </a:cubicBezTo>
                <a:cubicBezTo>
                  <a:pt x="15192" y="10579"/>
                  <a:pt x="15181" y="10530"/>
                  <a:pt x="15172" y="10480"/>
                </a:cubicBezTo>
                <a:cubicBezTo>
                  <a:pt x="15085" y="10167"/>
                  <a:pt x="14989" y="9822"/>
                  <a:pt x="14893" y="9470"/>
                </a:cubicBezTo>
                <a:cubicBezTo>
                  <a:pt x="14885" y="9463"/>
                  <a:pt x="14879" y="9447"/>
                  <a:pt x="14879" y="9425"/>
                </a:cubicBezTo>
                <a:cubicBezTo>
                  <a:pt x="14786" y="9084"/>
                  <a:pt x="14717" y="8830"/>
                  <a:pt x="14614" y="8449"/>
                </a:cubicBezTo>
                <a:cubicBezTo>
                  <a:pt x="14560" y="8250"/>
                  <a:pt x="14541" y="8183"/>
                  <a:pt x="14491" y="8000"/>
                </a:cubicBezTo>
                <a:cubicBezTo>
                  <a:pt x="13853" y="5643"/>
                  <a:pt x="13510" y="4430"/>
                  <a:pt x="13233" y="3579"/>
                </a:cubicBezTo>
                <a:cubicBezTo>
                  <a:pt x="12600" y="1643"/>
                  <a:pt x="12102" y="617"/>
                  <a:pt x="11593" y="202"/>
                </a:cubicBezTo>
                <a:cubicBezTo>
                  <a:pt x="11414" y="56"/>
                  <a:pt x="11335" y="16"/>
                  <a:pt x="11157" y="0"/>
                </a:cubicBezTo>
                <a:lnTo>
                  <a:pt x="11008" y="0"/>
                </a:lnTo>
                <a:lnTo>
                  <a:pt x="10967" y="0"/>
                </a:lnTo>
                <a:close/>
                <a:moveTo>
                  <a:pt x="16988" y="17190"/>
                </a:moveTo>
                <a:cubicBezTo>
                  <a:pt x="17071" y="17171"/>
                  <a:pt x="17192" y="17226"/>
                  <a:pt x="17192" y="17313"/>
                </a:cubicBezTo>
                <a:cubicBezTo>
                  <a:pt x="17192" y="17341"/>
                  <a:pt x="17221" y="17424"/>
                  <a:pt x="17254" y="17492"/>
                </a:cubicBezTo>
                <a:cubicBezTo>
                  <a:pt x="17286" y="17561"/>
                  <a:pt x="17304" y="17636"/>
                  <a:pt x="17295" y="17661"/>
                </a:cubicBezTo>
                <a:cubicBezTo>
                  <a:pt x="17285" y="17685"/>
                  <a:pt x="17273" y="17771"/>
                  <a:pt x="17267" y="17852"/>
                </a:cubicBezTo>
                <a:cubicBezTo>
                  <a:pt x="17255" y="18013"/>
                  <a:pt x="17313" y="18045"/>
                  <a:pt x="17376" y="17919"/>
                </a:cubicBezTo>
                <a:cubicBezTo>
                  <a:pt x="17419" y="17833"/>
                  <a:pt x="17474" y="17875"/>
                  <a:pt x="17451" y="17975"/>
                </a:cubicBezTo>
                <a:cubicBezTo>
                  <a:pt x="17441" y="18018"/>
                  <a:pt x="17458" y="18042"/>
                  <a:pt x="17492" y="18042"/>
                </a:cubicBezTo>
                <a:cubicBezTo>
                  <a:pt x="17571" y="18042"/>
                  <a:pt x="17588" y="18100"/>
                  <a:pt x="17539" y="18188"/>
                </a:cubicBezTo>
                <a:cubicBezTo>
                  <a:pt x="17501" y="18258"/>
                  <a:pt x="17509" y="18267"/>
                  <a:pt x="17594" y="18267"/>
                </a:cubicBezTo>
                <a:cubicBezTo>
                  <a:pt x="17687" y="18266"/>
                  <a:pt x="17689" y="18275"/>
                  <a:pt x="17689" y="18491"/>
                </a:cubicBezTo>
                <a:cubicBezTo>
                  <a:pt x="17689" y="18679"/>
                  <a:pt x="17701" y="18747"/>
                  <a:pt x="17737" y="18727"/>
                </a:cubicBezTo>
                <a:cubicBezTo>
                  <a:pt x="17858" y="18660"/>
                  <a:pt x="17941" y="18760"/>
                  <a:pt x="17921" y="18951"/>
                </a:cubicBezTo>
                <a:cubicBezTo>
                  <a:pt x="17904" y="19108"/>
                  <a:pt x="17935" y="19195"/>
                  <a:pt x="17982" y="19131"/>
                </a:cubicBezTo>
                <a:cubicBezTo>
                  <a:pt x="18004" y="19101"/>
                  <a:pt x="18026" y="19091"/>
                  <a:pt x="18036" y="19108"/>
                </a:cubicBezTo>
                <a:cubicBezTo>
                  <a:pt x="18047" y="19125"/>
                  <a:pt x="18074" y="19118"/>
                  <a:pt x="18097" y="19086"/>
                </a:cubicBezTo>
                <a:cubicBezTo>
                  <a:pt x="18143" y="19023"/>
                  <a:pt x="18196" y="19093"/>
                  <a:pt x="18165" y="19176"/>
                </a:cubicBezTo>
                <a:cubicBezTo>
                  <a:pt x="18156" y="19200"/>
                  <a:pt x="18172" y="19226"/>
                  <a:pt x="18199" y="19243"/>
                </a:cubicBezTo>
                <a:cubicBezTo>
                  <a:pt x="18237" y="19267"/>
                  <a:pt x="18240" y="19289"/>
                  <a:pt x="18213" y="19333"/>
                </a:cubicBezTo>
                <a:cubicBezTo>
                  <a:pt x="18165" y="19412"/>
                  <a:pt x="18168" y="19477"/>
                  <a:pt x="18220" y="19445"/>
                </a:cubicBezTo>
                <a:cubicBezTo>
                  <a:pt x="18283" y="19405"/>
                  <a:pt x="18455" y="19617"/>
                  <a:pt x="18417" y="19692"/>
                </a:cubicBezTo>
                <a:cubicBezTo>
                  <a:pt x="18388" y="19750"/>
                  <a:pt x="18407" y="19910"/>
                  <a:pt x="18444" y="19916"/>
                </a:cubicBezTo>
                <a:cubicBezTo>
                  <a:pt x="18455" y="19918"/>
                  <a:pt x="18504" y="19927"/>
                  <a:pt x="18560" y="19938"/>
                </a:cubicBezTo>
                <a:cubicBezTo>
                  <a:pt x="18616" y="19950"/>
                  <a:pt x="18683" y="19944"/>
                  <a:pt x="18703" y="19916"/>
                </a:cubicBezTo>
                <a:cubicBezTo>
                  <a:pt x="18786" y="19803"/>
                  <a:pt x="18895" y="19993"/>
                  <a:pt x="18880" y="20219"/>
                </a:cubicBezTo>
                <a:cubicBezTo>
                  <a:pt x="18872" y="20332"/>
                  <a:pt x="18886" y="20343"/>
                  <a:pt x="18975" y="20331"/>
                </a:cubicBezTo>
                <a:cubicBezTo>
                  <a:pt x="19073" y="20318"/>
                  <a:pt x="19157" y="20413"/>
                  <a:pt x="19125" y="20499"/>
                </a:cubicBezTo>
                <a:cubicBezTo>
                  <a:pt x="19116" y="20524"/>
                  <a:pt x="19132" y="20584"/>
                  <a:pt x="19166" y="20634"/>
                </a:cubicBezTo>
                <a:cubicBezTo>
                  <a:pt x="19214" y="20707"/>
                  <a:pt x="19282" y="20726"/>
                  <a:pt x="19485" y="20735"/>
                </a:cubicBezTo>
                <a:cubicBezTo>
                  <a:pt x="19821" y="20750"/>
                  <a:pt x="19863" y="20769"/>
                  <a:pt x="19866" y="20881"/>
                </a:cubicBezTo>
                <a:cubicBezTo>
                  <a:pt x="19875" y="21141"/>
                  <a:pt x="20018" y="21220"/>
                  <a:pt x="20173" y="21061"/>
                </a:cubicBezTo>
                <a:cubicBezTo>
                  <a:pt x="20222" y="21009"/>
                  <a:pt x="20252" y="21011"/>
                  <a:pt x="20295" y="21049"/>
                </a:cubicBezTo>
                <a:cubicBezTo>
                  <a:pt x="20327" y="21078"/>
                  <a:pt x="20364" y="21088"/>
                  <a:pt x="20377" y="21083"/>
                </a:cubicBezTo>
                <a:cubicBezTo>
                  <a:pt x="20426" y="21065"/>
                  <a:pt x="20564" y="21193"/>
                  <a:pt x="20547" y="21240"/>
                </a:cubicBezTo>
                <a:cubicBezTo>
                  <a:pt x="20525" y="21298"/>
                  <a:pt x="16894" y="21309"/>
                  <a:pt x="16893" y="21251"/>
                </a:cubicBezTo>
                <a:cubicBezTo>
                  <a:pt x="16879" y="20452"/>
                  <a:pt x="16907" y="17275"/>
                  <a:pt x="16927" y="17234"/>
                </a:cubicBezTo>
                <a:cubicBezTo>
                  <a:pt x="16940" y="17209"/>
                  <a:pt x="16961" y="17196"/>
                  <a:pt x="16988" y="1719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  <a:defRPr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53535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about:bl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72824">
              <a:srgbClr val="ECECEC"/>
            </a:gs>
            <a:gs pos="100000">
              <a:srgbClr val="DADAD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sted-image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7950" y="230380"/>
            <a:ext cx="2370215" cy="22989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773350" y="6475983"/>
            <a:ext cx="7488751" cy="205807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None/>
            </a:pPr>
            <a:r>
              <a:t/>
            </a:r>
            <a:endParaRPr b="0" i="0" sz="30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774700" y="4432300"/>
            <a:ext cx="11458002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Name (HWTeng)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74700" y="6985000"/>
            <a:ext cx="11455400" cy="264522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"/>
              <a:buNone/>
            </a:pPr>
            <a:r>
              <a:rPr b="0" i="0" lang="en-US" sz="3000" u="none" cap="none" strike="noStrike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affiliation</a:t>
            </a:r>
            <a:endParaRPr b="0" i="0" sz="5500" u="none" cap="none" strike="noStrike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5694"/>
              </a:buClr>
              <a:buSzPts val="3000"/>
              <a:buFont typeface="Helvetica Neue"/>
              <a:buNone/>
            </a:pPr>
            <a:r>
              <a:rPr b="0" i="0" lang="en-US" sz="30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2"/>
              </a:rPr>
              <a:t>Your Webpage</a:t>
            </a:r>
            <a:endParaRPr/>
          </a:p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773350" y="1733550"/>
            <a:ext cx="11458100" cy="1996629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"/>
              <a:buNone/>
              <a:defRPr b="0" i="0" sz="5400" u="none" cap="none" strike="noStrike">
                <a:solidFill>
                  <a:srgbClr val="D30F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55599" y="5270500"/>
            <a:ext cx="12293601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5400"/>
              <a:buFont typeface="Helvetica Neue Light"/>
              <a:buNone/>
              <a:defRPr b="0" i="0" sz="54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6325920" y="9271000"/>
            <a:ext cx="340260" cy="32451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Helvetica Neue"/>
              <a:buNone/>
              <a:defRPr b="0" i="0" sz="1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" type="body"/>
          </p:nvPr>
        </p:nvSpPr>
        <p:spPr>
          <a:xfrm>
            <a:off x="729950" y="2649953"/>
            <a:ext cx="11458200" cy="1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ct val="100000"/>
              <a:buFont typeface="Helvetica Neue Light"/>
              <a:buNone/>
            </a:pPr>
            <a:r>
              <a:rPr lang="en-US"/>
              <a:t>A Beta-Neutral Crypto ML Strategy: From Signal Inversion to Robust Alpha</a:t>
            </a:r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9519751" y="9237870"/>
            <a:ext cx="3163634" cy="32467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</a:t>
            </a:r>
            <a:r>
              <a:rPr lang="en-US" sz="15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51</a:t>
            </a: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</a:t>
            </a:r>
            <a:r>
              <a:rPr lang="en-US" sz="15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</a:t>
            </a:r>
            <a:r>
              <a:rPr b="0" i="0" lang="en-US" sz="1500" u="none" cap="none" strike="noStrike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IDA Template Keynote.key</a:t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729950" y="4410650"/>
            <a:ext cx="5678400" cy="66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 (and HW Teng)</a:t>
            </a:r>
            <a:endParaRPr sz="31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729950" y="7036125"/>
            <a:ext cx="9156900" cy="158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National Yang-Ming Chiao-Tung University</a:t>
            </a:r>
            <a:endParaRPr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Machine Learning and FinTech</a:t>
            </a:r>
            <a:endParaRPr i="1"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https://github.com/HWTeng-Teaching/202509-ML-FinTech</a:t>
            </a:r>
            <a:endParaRPr sz="2800">
              <a:solidFill>
                <a:srgbClr val="535353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40" name="Google Shape;40;p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974" y="7036125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idx="1" type="body"/>
          </p:nvPr>
        </p:nvSpPr>
        <p:spPr>
          <a:xfrm>
            <a:off x="768509" y="9159279"/>
            <a:ext cx="57339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/>
              <a:t>Machine Learning &amp; FinTech 2025</a:t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1154150" y="829050"/>
            <a:ext cx="99000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 Preprocessing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Factor Engineering &amp; EDA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Cross-Sectional ML Prediction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Portfolio Construction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Font typeface="Helvetica Neue Light"/>
              <a:buChar char="⊡"/>
            </a:pPr>
            <a:r>
              <a:rPr lang="en-US" sz="3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Results &amp; Interpretation</a:t>
            </a:r>
            <a:endParaRPr sz="3000">
              <a:solidFill>
                <a:srgbClr val="5A5F5E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68509" y="9159279"/>
            <a:ext cx="5733900" cy="410400"/>
          </a:xfrm>
          <a:prstGeom prst="rect">
            <a:avLst/>
          </a:prstGeom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52" name="Google Shape;52;p7" title="output-onlinepngtoo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925"/>
            <a:ext cx="12699998" cy="714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/>
          </a:p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 sz="3500"/>
              <a:t>Motivation</a:t>
            </a:r>
            <a:endParaRPr b="1"/>
          </a:p>
        </p:txBody>
      </p:sp>
      <p:sp>
        <p:nvSpPr>
          <p:cNvPr id="60" name="Google Shape;60;p8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61" name="Google Shape;61;p8"/>
          <p:cNvSpPr txBox="1"/>
          <p:nvPr>
            <p:ph idx="3" type="body"/>
          </p:nvPr>
        </p:nvSpPr>
        <p:spPr>
          <a:xfrm>
            <a:off x="768500" y="1521675"/>
            <a:ext cx="115887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 Problem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Crypto markets exhibit extreme volatility; single assets like BTC frequently suffer </a:t>
            </a:r>
            <a:r>
              <a:rPr lang="en-US" sz="3000">
                <a:solidFill>
                  <a:srgbClr val="FF0000"/>
                </a:solidFill>
              </a:rPr>
              <a:t>-50% to -70%</a:t>
            </a:r>
            <a:r>
              <a:rPr lang="en-US" sz="3000">
                <a:solidFill>
                  <a:srgbClr val="5A5F5E"/>
                </a:solidFill>
              </a:rPr>
              <a:t> drawdowns.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Traditional long-only BTC or index exposure delivers </a:t>
            </a:r>
            <a:r>
              <a:rPr lang="en-US" sz="3000">
                <a:solidFill>
                  <a:schemeClr val="lt1"/>
                </a:solidFill>
              </a:rPr>
              <a:t>high returns</a:t>
            </a:r>
            <a:r>
              <a:rPr lang="en-US" sz="3000">
                <a:solidFill>
                  <a:srgbClr val="5A5F5E"/>
                </a:solidFill>
              </a:rPr>
              <a:t> in bull markets but </a:t>
            </a:r>
            <a:r>
              <a:rPr lang="en-US" sz="3000">
                <a:solidFill>
                  <a:schemeClr val="lt1"/>
                </a:solidFill>
              </a:rPr>
              <a:t>catastrophic losses</a:t>
            </a:r>
            <a:r>
              <a:rPr lang="en-US" sz="3000">
                <a:solidFill>
                  <a:srgbClr val="5A5F5E"/>
                </a:solidFill>
              </a:rPr>
              <a:t> in bear markets.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Institutional and professional investors need </a:t>
            </a:r>
            <a:r>
              <a:rPr lang="en-US" sz="3000">
                <a:solidFill>
                  <a:srgbClr val="FF0000"/>
                </a:solidFill>
              </a:rPr>
              <a:t>stable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chemeClr val="lt1"/>
                </a:solidFill>
              </a:rPr>
              <a:t>risk-controlled</a:t>
            </a:r>
            <a:r>
              <a:rPr lang="en-US" sz="3000">
                <a:solidFill>
                  <a:srgbClr val="5A5F5E"/>
                </a:solidFill>
              </a:rPr>
              <a:t> strategies with superior risk-adjusted returns to BTC.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67" name="Google Shape;67;p9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Motivation</a:t>
            </a:r>
            <a:endParaRPr/>
          </a:p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 sz="3500"/>
              <a:t>Motivation</a:t>
            </a:r>
            <a:endParaRPr b="1"/>
          </a:p>
        </p:txBody>
      </p:sp>
      <p:sp>
        <p:nvSpPr>
          <p:cNvPr id="69" name="Google Shape;69;p9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70" name="Google Shape;70;p9"/>
          <p:cNvSpPr txBox="1"/>
          <p:nvPr>
            <p:ph idx="3" type="body"/>
          </p:nvPr>
        </p:nvSpPr>
        <p:spPr>
          <a:xfrm>
            <a:off x="768500" y="1521675"/>
            <a:ext cx="115887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Objectives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Build a </a:t>
            </a:r>
            <a:r>
              <a:rPr lang="en-US" sz="3000">
                <a:solidFill>
                  <a:srgbClr val="FF0000"/>
                </a:solidFill>
              </a:rPr>
              <a:t>beta-neutral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rgbClr val="FF0000"/>
                </a:solidFill>
              </a:rPr>
              <a:t>long–short</a:t>
            </a:r>
            <a:r>
              <a:rPr lang="en-US" sz="3000">
                <a:solidFill>
                  <a:srgbClr val="5A5F5E"/>
                </a:solidFill>
              </a:rPr>
              <a:t>, </a:t>
            </a:r>
            <a:r>
              <a:rPr lang="en-US" sz="3000">
                <a:solidFill>
                  <a:srgbClr val="FF0000"/>
                </a:solidFill>
              </a:rPr>
              <a:t>cross-sectional ML strategy</a:t>
            </a:r>
            <a:r>
              <a:rPr lang="en-US" sz="3000">
                <a:solidFill>
                  <a:srgbClr val="5A5F5E"/>
                </a:solidFill>
              </a:rPr>
              <a:t> that captures relative performance (alpha) while </a:t>
            </a:r>
            <a:r>
              <a:rPr lang="en-US" sz="3000">
                <a:solidFill>
                  <a:srgbClr val="FF0000"/>
                </a:solidFill>
              </a:rPr>
              <a:t>minimizing market-direction exposure (beta)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Control risk: reduce annual volatility and max drawdown to institutionally acceptable levels.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Improve Sharpe: target a long-run Sharpe ratio above </a:t>
            </a:r>
            <a:r>
              <a:rPr lang="en-US" sz="3000">
                <a:solidFill>
                  <a:srgbClr val="FF0000"/>
                </a:solidFill>
              </a:rPr>
              <a:t>2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Explain alpha sources: use feature importance and Rank IC to identify which factors drive excess returns (mean reversion, quality, liquidity, etc.).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11741879" y="213147"/>
            <a:ext cx="494413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755809" y="213147"/>
            <a:ext cx="9502858" cy="39903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77" name="Google Shape;77;p10"/>
          <p:cNvSpPr txBox="1"/>
          <p:nvPr>
            <p:ph idx="2" type="body"/>
          </p:nvPr>
        </p:nvSpPr>
        <p:spPr>
          <a:xfrm>
            <a:off x="762000" y="762000"/>
            <a:ext cx="11467783" cy="609855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Data Preprocessing</a:t>
            </a:r>
            <a:endParaRPr b="1"/>
          </a:p>
        </p:txBody>
      </p:sp>
      <p:sp>
        <p:nvSpPr>
          <p:cNvPr id="78" name="Google Shape;78;p10"/>
          <p:cNvSpPr txBox="1"/>
          <p:nvPr>
            <p:ph idx="3" type="body"/>
          </p:nvPr>
        </p:nvSpPr>
        <p:spPr>
          <a:xfrm>
            <a:off x="715400" y="1594500"/>
            <a:ext cx="121665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Sources &amp; Universe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OHLCV prices and base factors</a:t>
            </a:r>
            <a:r>
              <a:rPr lang="en-US" sz="3000">
                <a:solidFill>
                  <a:srgbClr val="5A5F5E"/>
                </a:solidFill>
              </a:rPr>
              <a:t> (Binance Spot Market)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Market factor: crypto market index CMKT </a:t>
            </a:r>
            <a:r>
              <a:rPr lang="en-US" sz="3000">
                <a:solidFill>
                  <a:schemeClr val="dk2"/>
                </a:solidFill>
              </a:rPr>
              <a:t>(Binance Spot Market)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Annual universe: selecting the </a:t>
            </a:r>
            <a:r>
              <a:rPr lang="en-US" sz="3000">
                <a:solidFill>
                  <a:srgbClr val="FF0000"/>
                </a:solidFill>
              </a:rPr>
              <a:t>top 30</a:t>
            </a:r>
            <a:r>
              <a:rPr lang="en-US" sz="3000">
                <a:solidFill>
                  <a:srgbClr val="5A5F5E"/>
                </a:solidFill>
              </a:rPr>
              <a:t> large-cap / liquid assets per year.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4-week Treasury Bill rate (DTB4WK)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Build dataset with </a:t>
            </a:r>
            <a:r>
              <a:rPr lang="en-US" sz="3000">
                <a:solidFill>
                  <a:srgbClr val="FF0000"/>
                </a:solidFill>
              </a:rPr>
              <a:t>weekly frequency</a:t>
            </a:r>
            <a:endParaRPr sz="3000">
              <a:solidFill>
                <a:srgbClr val="FF0000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►"/>
            </a:pPr>
            <a:r>
              <a:rPr lang="en-US" sz="3000">
                <a:solidFill>
                  <a:schemeClr val="dk2"/>
                </a:solidFill>
              </a:rPr>
              <a:t>Keep only the intersection of annual </a:t>
            </a:r>
            <a:r>
              <a:rPr lang="en-US" sz="3000">
                <a:solidFill>
                  <a:srgbClr val="FF0000"/>
                </a:solidFill>
              </a:rPr>
              <a:t>top 30</a:t>
            </a:r>
            <a:r>
              <a:rPr lang="en-US" sz="3000">
                <a:solidFill>
                  <a:schemeClr val="dk2"/>
                </a:solidFill>
              </a:rPr>
              <a:t> and complete </a:t>
            </a:r>
            <a:r>
              <a:rPr lang="en-US" sz="3000">
                <a:solidFill>
                  <a:srgbClr val="FF0000"/>
                </a:solidFill>
              </a:rPr>
              <a:t>weekly</a:t>
            </a:r>
            <a:r>
              <a:rPr lang="en-US" sz="3000">
                <a:solidFill>
                  <a:schemeClr val="dk2"/>
                </a:solidFill>
              </a:rPr>
              <a:t> data to ensure tradability and data quality.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9" name="Google Shape;79;p1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86" name="Google Shape;86;p1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Data Preprocessing</a:t>
            </a:r>
            <a:endParaRPr b="1"/>
          </a:p>
        </p:txBody>
      </p:sp>
      <p:sp>
        <p:nvSpPr>
          <p:cNvPr id="87" name="Google Shape;87;p11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Exploratory Data Analysis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Missing value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Descriptive statistics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Cross-sectional correlation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Factor Distribution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Time Series Stability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Principal Component Analysis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Information Coefficient Analysis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88" name="Google Shape;88;p1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95" name="Google Shape;95;p12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Data Preprocessing</a:t>
            </a:r>
            <a:endParaRPr b="1"/>
          </a:p>
        </p:txBody>
      </p:sp>
      <p:sp>
        <p:nvSpPr>
          <p:cNvPr id="96" name="Google Shape;96;p12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&amp; Volatility Definitions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excess return: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Next-week excess return (base prediction target):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Risk factors: 4-week and 12-week historical volatility (rolling std of weekly returns).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97" name="Google Shape;97;p1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98" name="Google Shape;98;p12" title="QianJianTec176513508039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8900" y="2834901"/>
            <a:ext cx="6280300" cy="7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2" title="QianJianTec17651353043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8900" y="4220675"/>
            <a:ext cx="7423299" cy="82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05" name="Google Shape;105;p1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06" name="Google Shape;106;p1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Data Analysis</a:t>
            </a:r>
            <a:endParaRPr b="1"/>
          </a:p>
        </p:txBody>
      </p:sp>
      <p:sp>
        <p:nvSpPr>
          <p:cNvPr id="107" name="Google Shape;107;p1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08" name="Google Shape;108;p13" title="output-onlinepngtool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50" y="3590725"/>
            <a:ext cx="6057660" cy="297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 title="output-onlinepngtools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7009" y="1674695"/>
            <a:ext cx="6505391" cy="651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16" name="Google Shape;116;p14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17" name="Google Shape;117;p14"/>
          <p:cNvSpPr txBox="1"/>
          <p:nvPr>
            <p:ph idx="3" type="body"/>
          </p:nvPr>
        </p:nvSpPr>
        <p:spPr>
          <a:xfrm>
            <a:off x="761999" y="1581811"/>
            <a:ext cx="114678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Technical &amp; Risk Features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 extract from weekly OHLCV 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RSI (14): overbought / oversold conditions.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ATR (14) / Price: relative volatility.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Bollinger Band Width (20): range-based volatility.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MACD Histogram: trend momentum shifts.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Price / MA(20, 50): deviation from moving averages.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Rolling Volatility (4w, 12w): short- and medium-term risk.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All features are </a:t>
            </a:r>
            <a:r>
              <a:rPr lang="en-US" sz="3000">
                <a:solidFill>
                  <a:srgbClr val="FF0000"/>
                </a:solidFill>
              </a:rPr>
              <a:t>cross-sectionally z-scored per week</a:t>
            </a:r>
            <a:r>
              <a:rPr lang="en-US" sz="3000">
                <a:solidFill>
                  <a:srgbClr val="5A5F5E"/>
                </a:solidFill>
              </a:rPr>
              <a:t>, focusing on </a:t>
            </a:r>
            <a:r>
              <a:rPr lang="en-US" sz="3000">
                <a:solidFill>
                  <a:srgbClr val="FF0000"/>
                </a:solidFill>
              </a:rPr>
              <a:t>relative levels</a:t>
            </a:r>
            <a:r>
              <a:rPr lang="en-US" sz="3000">
                <a:solidFill>
                  <a:srgbClr val="5A5F5E"/>
                </a:solidFill>
              </a:rPr>
              <a:t> within each week and enabling cross-sectional ranking.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18" name="Google Shape;118;p1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25" name="Google Shape;125;p1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26" name="Google Shape;126;p15"/>
          <p:cNvSpPr txBox="1"/>
          <p:nvPr>
            <p:ph idx="3" type="body"/>
          </p:nvPr>
        </p:nvSpPr>
        <p:spPr>
          <a:xfrm>
            <a:off x="761999" y="1581811"/>
            <a:ext cx="11467800" cy="7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Top-20</a:t>
            </a:r>
            <a:r>
              <a:rPr lang="en-US" sz="3000">
                <a:solidFill>
                  <a:srgbClr val="5A5F5E"/>
                </a:solidFill>
              </a:rPr>
              <a:t> LightGBM Gain features are dominated by: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Short-/medium-term returns</a:t>
            </a:r>
            <a:r>
              <a:rPr lang="en-US" sz="3000">
                <a:solidFill>
                  <a:srgbClr val="5A5F5E"/>
                </a:solidFill>
              </a:rPr>
              <a:t>: r1_z, r2_z, r3_z, r4_z, mom3_z.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Technical indicators</a:t>
            </a:r>
            <a:r>
              <a:rPr lang="en-US" sz="3000">
                <a:solidFill>
                  <a:srgbClr val="5A5F5E"/>
                </a:solidFill>
              </a:rPr>
              <a:t>: Close_div_MA20_z, RSI_14_z, Close_div_MA50_z, MACD_z.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Volatility &amp; ranges</a:t>
            </a:r>
            <a:r>
              <a:rPr lang="en-US" sz="3000">
                <a:solidFill>
                  <a:srgbClr val="5A5F5E"/>
                </a:solidFill>
              </a:rPr>
              <a:t>: Vol_12w_z, Vol_4w_z, ATR_14_norm_z, BB_Width_20_z.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Liquidity/volume: prcvol_mean_week_z, prcvol_std_week_z.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Conclusion: the model heavily relies on “</a:t>
            </a:r>
            <a:r>
              <a:rPr lang="en-US" sz="3000">
                <a:solidFill>
                  <a:srgbClr val="FF0000"/>
                </a:solidFill>
              </a:rPr>
              <a:t>short-term momentum + technical + volatility/volume</a:t>
            </a:r>
            <a:r>
              <a:rPr lang="en-US" sz="3000">
                <a:solidFill>
                  <a:srgbClr val="5A5F5E"/>
                </a:solidFill>
              </a:rPr>
              <a:t>” signals, while size/price play a supporting backbone role.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27" name="Google Shape;127;p1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34" name="Google Shape;134;p16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35" name="Google Shape;135;p16"/>
          <p:cNvSpPr txBox="1"/>
          <p:nvPr>
            <p:ph idx="3" type="body"/>
          </p:nvPr>
        </p:nvSpPr>
        <p:spPr>
          <a:xfrm>
            <a:off x="761999" y="15818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36" name="Google Shape;136;p16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37" name="Google Shape;13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525" y="2420800"/>
            <a:ext cx="8989607" cy="671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44" name="Google Shape;144;p17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45" name="Google Shape;145;p17"/>
          <p:cNvSpPr txBox="1"/>
          <p:nvPr>
            <p:ph idx="3" type="body"/>
          </p:nvPr>
        </p:nvSpPr>
        <p:spPr>
          <a:xfrm>
            <a:off x="762000" y="1371900"/>
            <a:ext cx="11036400" cy="6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1275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500"/>
              <a:buFont typeface="Helvetica Neue"/>
              <a:buChar char="⊡"/>
            </a:pPr>
            <a:r>
              <a:rPr b="1" lang="en-US" sz="25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Rank IC Evidence</a:t>
            </a:r>
            <a:endParaRPr b="1" sz="25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Factors with </a:t>
            </a:r>
            <a:r>
              <a:rPr lang="en-US" sz="2500">
                <a:solidFill>
                  <a:srgbClr val="FF0000"/>
                </a:solidFill>
              </a:rPr>
              <a:t>positive</a:t>
            </a:r>
            <a:r>
              <a:rPr lang="en-US" sz="2500">
                <a:solidFill>
                  <a:srgbClr val="5A5F5E"/>
                </a:solidFill>
              </a:rPr>
              <a:t> Mean Rank IC: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log_mcap_year_z, log_price_z, max_price_week_z, prcvol_mean_week_z, prcvol_std_week_z.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Large-cap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higher-priced</a:t>
            </a:r>
            <a:r>
              <a:rPr lang="en-US" sz="2500">
                <a:solidFill>
                  <a:srgbClr val="5A5F5E"/>
                </a:solidFill>
              </a:rPr>
              <a:t> and </a:t>
            </a:r>
            <a:r>
              <a:rPr lang="en-US" sz="2500">
                <a:solidFill>
                  <a:srgbClr val="FF0000"/>
                </a:solidFill>
              </a:rPr>
              <a:t>more liquid/active assets</a:t>
            </a:r>
            <a:r>
              <a:rPr lang="en-US" sz="2500">
                <a:solidFill>
                  <a:srgbClr val="5A5F5E"/>
                </a:solidFill>
              </a:rPr>
              <a:t> tend to have better </a:t>
            </a:r>
            <a:r>
              <a:rPr lang="en-US" sz="2500">
                <a:solidFill>
                  <a:srgbClr val="FF0000"/>
                </a:solidFill>
              </a:rPr>
              <a:t>risk-adjusted returns</a:t>
            </a:r>
            <a:r>
              <a:rPr lang="en-US" sz="2500">
                <a:solidFill>
                  <a:srgbClr val="5A5F5E"/>
                </a:solidFill>
              </a:rPr>
              <a:t> (quality / liquidity tilt).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Factors with </a:t>
            </a:r>
            <a:r>
              <a:rPr lang="en-US" sz="2500">
                <a:solidFill>
                  <a:srgbClr val="FF0000"/>
                </a:solidFill>
              </a:rPr>
              <a:t>negative</a:t>
            </a:r>
            <a:r>
              <a:rPr lang="en-US" sz="2500">
                <a:solidFill>
                  <a:srgbClr val="5A5F5E"/>
                </a:solidFill>
              </a:rPr>
              <a:t> Mean Rank IC: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Vol_4w_z, Vol_12w_z, ATR_14_norm_z, BB_Width_20_z.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High-volatility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high-ATR assets</a:t>
            </a:r>
            <a:r>
              <a:rPr lang="en-US" sz="2500">
                <a:solidFill>
                  <a:srgbClr val="5A5F5E"/>
                </a:solidFill>
              </a:rPr>
              <a:t> typically </a:t>
            </a:r>
            <a:r>
              <a:rPr lang="en-US" sz="2500">
                <a:solidFill>
                  <a:srgbClr val="FF0000"/>
                </a:solidFill>
              </a:rPr>
              <a:t>underperform</a:t>
            </a:r>
            <a:r>
              <a:rPr lang="en-US" sz="2500">
                <a:solidFill>
                  <a:srgbClr val="5A5F5E"/>
                </a:solidFill>
              </a:rPr>
              <a:t>, making them good </a:t>
            </a:r>
            <a:r>
              <a:rPr lang="en-US" sz="2500">
                <a:solidFill>
                  <a:srgbClr val="FF0000"/>
                </a:solidFill>
              </a:rPr>
              <a:t>short</a:t>
            </a:r>
            <a:r>
              <a:rPr lang="en-US" sz="2500">
                <a:solidFill>
                  <a:srgbClr val="5A5F5E"/>
                </a:solidFill>
              </a:rPr>
              <a:t> or </a:t>
            </a:r>
            <a:r>
              <a:rPr lang="en-US" sz="2500">
                <a:solidFill>
                  <a:srgbClr val="FF0000"/>
                </a:solidFill>
              </a:rPr>
              <a:t>de-weighting</a:t>
            </a:r>
            <a:r>
              <a:rPr lang="en-US" sz="2500">
                <a:solidFill>
                  <a:srgbClr val="5A5F5E"/>
                </a:solidFill>
              </a:rPr>
              <a:t> candidates.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Cumulative Rank IC shows that </a:t>
            </a:r>
            <a:r>
              <a:rPr lang="en-US" sz="2500">
                <a:solidFill>
                  <a:srgbClr val="FF0000"/>
                </a:solidFill>
              </a:rPr>
              <a:t>size/liquidity factors</a:t>
            </a:r>
            <a:r>
              <a:rPr lang="en-US" sz="2500">
                <a:solidFill>
                  <a:srgbClr val="5A5F5E"/>
                </a:solidFill>
              </a:rPr>
              <a:t> accumulate IC over time, indicating persistent structural alpha rather than one-off episodes</a:t>
            </a:r>
            <a:endParaRPr sz="2500">
              <a:solidFill>
                <a:srgbClr val="5A5F5E"/>
              </a:solidFill>
            </a:endParaRPr>
          </a:p>
        </p:txBody>
      </p:sp>
      <p:sp>
        <p:nvSpPr>
          <p:cNvPr id="146" name="Google Shape;146;p17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53" name="Google Shape;153;p18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Helvetica Neue"/>
              <a:buNone/>
            </a:pPr>
            <a:r>
              <a:rPr b="1" lang="en-US">
                <a:solidFill>
                  <a:schemeClr val="lt1"/>
                </a:solidFill>
              </a:rPr>
              <a:t>Feature Engineering &amp; EDA</a:t>
            </a:r>
            <a:endParaRPr b="1"/>
          </a:p>
        </p:txBody>
      </p:sp>
      <p:sp>
        <p:nvSpPr>
          <p:cNvPr id="154" name="Google Shape;154;p18"/>
          <p:cNvSpPr txBox="1"/>
          <p:nvPr>
            <p:ph idx="3" type="body"/>
          </p:nvPr>
        </p:nvSpPr>
        <p:spPr>
          <a:xfrm>
            <a:off x="762000" y="1371900"/>
            <a:ext cx="110364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1275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500"/>
              <a:buFont typeface="Helvetica Neue"/>
              <a:buChar char="⊡"/>
            </a:pPr>
            <a:r>
              <a:rPr b="1" lang="en-US" sz="25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Rank IC Evidence</a:t>
            </a:r>
            <a:endParaRPr sz="2500">
              <a:solidFill>
                <a:srgbClr val="5A5F5E"/>
              </a:solidFill>
            </a:endParaRPr>
          </a:p>
        </p:txBody>
      </p:sp>
      <p:sp>
        <p:nvSpPr>
          <p:cNvPr id="155" name="Google Shape;155;p18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56" name="Google Shape;15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1935600"/>
            <a:ext cx="8847808" cy="707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63" name="Google Shape;163;p19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164" name="Google Shape;164;p19"/>
          <p:cNvSpPr txBox="1"/>
          <p:nvPr>
            <p:ph idx="3" type="body"/>
          </p:nvPr>
        </p:nvSpPr>
        <p:spPr>
          <a:xfrm>
            <a:off x="761999" y="1581811"/>
            <a:ext cx="11467800" cy="5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Volatility-Scaled Target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Prediction target:</a:t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Prevent the model from simply chasing high-volatility, high-return small tokens.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Force the model to learn </a:t>
            </a:r>
            <a:r>
              <a:rPr lang="en-US" sz="3000">
                <a:solidFill>
                  <a:srgbClr val="FF0000"/>
                </a:solidFill>
              </a:rPr>
              <a:t>risk-adjusted excess returns</a:t>
            </a:r>
            <a:r>
              <a:rPr lang="en-US" sz="3000">
                <a:solidFill>
                  <a:srgbClr val="5A5F5E"/>
                </a:solidFill>
              </a:rPr>
              <a:t>, improving robustness.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65" name="Google Shape;165;p19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pic>
        <p:nvPicPr>
          <p:cNvPr id="166" name="Google Shape;166;p19" title="QianJianTec176513618846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4900" y="2816400"/>
            <a:ext cx="5845975" cy="138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73" name="Google Shape;173;p20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174" name="Google Shape;174;p20"/>
          <p:cNvSpPr txBox="1"/>
          <p:nvPr>
            <p:ph idx="3" type="body"/>
          </p:nvPr>
        </p:nvSpPr>
        <p:spPr>
          <a:xfrm>
            <a:off x="761999" y="1581811"/>
            <a:ext cx="11467800" cy="6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DART Boosting / Model Architecture &amp; DART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Main model: LightGBM LambdaRank (cross-sectional ranking)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DART = Dropouts meet Additive Regression Trees.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Randomly drops</a:t>
            </a:r>
            <a:r>
              <a:rPr lang="en-US" sz="3000">
                <a:solidFill>
                  <a:srgbClr val="5A5F5E"/>
                </a:solidFill>
              </a:rPr>
              <a:t> part of the existing trees before fitting a new one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Benefits: reduces </a:t>
            </a:r>
            <a:r>
              <a:rPr lang="en-US" sz="3000">
                <a:solidFill>
                  <a:srgbClr val="FF0000"/>
                </a:solidFill>
              </a:rPr>
              <a:t>overfitting</a:t>
            </a:r>
            <a:r>
              <a:rPr lang="en-US" sz="3000">
                <a:solidFill>
                  <a:srgbClr val="5A5F5E"/>
                </a:solidFill>
              </a:rPr>
              <a:t> and improves </a:t>
            </a:r>
            <a:r>
              <a:rPr lang="en-US" sz="3000">
                <a:solidFill>
                  <a:srgbClr val="FF0000"/>
                </a:solidFill>
              </a:rPr>
              <a:t>generalization</a:t>
            </a:r>
            <a:r>
              <a:rPr lang="en-US" sz="3000">
                <a:solidFill>
                  <a:srgbClr val="5A5F5E"/>
                </a:solidFill>
              </a:rPr>
              <a:t>, especially on noisy financial data.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Auxiliary model: </a:t>
            </a:r>
            <a:r>
              <a:rPr lang="en-US" sz="3000">
                <a:solidFill>
                  <a:srgbClr val="FF0000"/>
                </a:solidFill>
              </a:rPr>
              <a:t>Ridge Regression</a:t>
            </a:r>
            <a:endParaRPr sz="3000">
              <a:solidFill>
                <a:srgbClr val="FF0000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Provides a linear, smooth baseline and mitigates extreme </a:t>
            </a:r>
            <a:r>
              <a:rPr lang="en-US" sz="3000">
                <a:solidFill>
                  <a:srgbClr val="5A5F5E"/>
                </a:solidFill>
              </a:rPr>
              <a:t>nonlinear</a:t>
            </a:r>
            <a:r>
              <a:rPr lang="en-US" sz="3000">
                <a:solidFill>
                  <a:srgbClr val="5A5F5E"/>
                </a:solidFill>
              </a:rPr>
              <a:t> biases.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Ensemble: </a:t>
            </a:r>
            <a:r>
              <a:rPr lang="en-US" sz="3000">
                <a:solidFill>
                  <a:srgbClr val="FF0000"/>
                </a:solidFill>
              </a:rPr>
              <a:t>0.6 LGB + 0.4 Ridge</a:t>
            </a:r>
            <a:endParaRPr sz="3000">
              <a:solidFill>
                <a:srgbClr val="FF0000"/>
              </a:solidFill>
            </a:endParaRPr>
          </a:p>
        </p:txBody>
      </p:sp>
      <p:sp>
        <p:nvSpPr>
          <p:cNvPr id="175" name="Google Shape;175;p2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82" name="Google Shape;182;p2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Cross-Sectional ML Prediction</a:t>
            </a:r>
            <a:endParaRPr b="1"/>
          </a:p>
        </p:txBody>
      </p:sp>
      <p:sp>
        <p:nvSpPr>
          <p:cNvPr id="183" name="Google Shape;183;p21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Rolling Walk-Forward Setup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Use at least </a:t>
            </a:r>
            <a:r>
              <a:rPr lang="en-US" sz="3000">
                <a:solidFill>
                  <a:srgbClr val="FF0000"/>
                </a:solidFill>
              </a:rPr>
              <a:t>52 weeks</a:t>
            </a:r>
            <a:r>
              <a:rPr lang="en-US" sz="3000">
                <a:solidFill>
                  <a:srgbClr val="5A5F5E"/>
                </a:solidFill>
              </a:rPr>
              <a:t> of history as the initial </a:t>
            </a:r>
            <a:r>
              <a:rPr lang="en-US" sz="3000">
                <a:solidFill>
                  <a:srgbClr val="FF0000"/>
                </a:solidFill>
              </a:rPr>
              <a:t>training set</a:t>
            </a:r>
            <a:r>
              <a:rPr lang="en-US" sz="3000">
                <a:solidFill>
                  <a:srgbClr val="5A5F5E"/>
                </a:solidFill>
              </a:rPr>
              <a:t>; the most recent </a:t>
            </a:r>
            <a:r>
              <a:rPr lang="en-US" sz="3000">
                <a:solidFill>
                  <a:srgbClr val="FF0000"/>
                </a:solidFill>
              </a:rPr>
              <a:t>8 weeks</a:t>
            </a:r>
            <a:r>
              <a:rPr lang="en-US" sz="3000">
                <a:solidFill>
                  <a:srgbClr val="5A5F5E"/>
                </a:solidFill>
              </a:rPr>
              <a:t> are used for </a:t>
            </a:r>
            <a:r>
              <a:rPr lang="en-US" sz="3000">
                <a:solidFill>
                  <a:srgbClr val="FF0000"/>
                </a:solidFill>
              </a:rPr>
              <a:t>validation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Refit the model every 4 weeks, processing a total of 373 weeks of data.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Each week is treated as a ranking group; the model learns which assets should rank higher or lower within the same week.</a:t>
            </a:r>
            <a:endParaRPr sz="3000">
              <a:solidFill>
                <a:srgbClr val="5A5F5E"/>
              </a:solidFill>
            </a:endParaRPr>
          </a:p>
        </p:txBody>
      </p:sp>
      <p:sp>
        <p:nvSpPr>
          <p:cNvPr id="184" name="Google Shape;184;p2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191" name="Google Shape;191;p22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192" name="Google Shape;192;p22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193" name="Google Shape;193;p22"/>
          <p:cNvSpPr txBox="1"/>
          <p:nvPr>
            <p:ph idx="3" type="body"/>
          </p:nvPr>
        </p:nvSpPr>
        <p:spPr>
          <a:xfrm>
            <a:off x="761999" y="1581811"/>
            <a:ext cx="11467800" cy="6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Bucketing &amp; Signal Inversion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Each week, ensemble scores are bucketed into 5 quantiles (Q=5).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raw scores are </a:t>
            </a:r>
            <a:r>
              <a:rPr lang="en-US" sz="3000">
                <a:solidFill>
                  <a:srgbClr val="FF0000"/>
                </a:solidFill>
              </a:rPr>
              <a:t>negatively</a:t>
            </a:r>
            <a:r>
              <a:rPr lang="en-US" sz="3000">
                <a:solidFill>
                  <a:srgbClr val="5A5F5E"/>
                </a:solidFill>
              </a:rPr>
              <a:t> correlated with </a:t>
            </a:r>
            <a:r>
              <a:rPr lang="en-US" sz="3000">
                <a:solidFill>
                  <a:srgbClr val="FF0000"/>
                </a:solidFill>
              </a:rPr>
              <a:t>future returns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Long</a:t>
            </a:r>
            <a:r>
              <a:rPr lang="en-US" sz="3000">
                <a:solidFill>
                  <a:srgbClr val="5A5F5E"/>
                </a:solidFill>
              </a:rPr>
              <a:t>: </a:t>
            </a:r>
            <a:r>
              <a:rPr lang="en-US" sz="3000">
                <a:solidFill>
                  <a:srgbClr val="FF0000"/>
                </a:solidFill>
              </a:rPr>
              <a:t>bottom</a:t>
            </a:r>
            <a:r>
              <a:rPr lang="en-US" sz="3000">
                <a:solidFill>
                  <a:srgbClr val="5A5F5E"/>
                </a:solidFill>
              </a:rPr>
              <a:t> 20% (lowest-score quantile).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Short</a:t>
            </a:r>
            <a:r>
              <a:rPr lang="en-US" sz="3000">
                <a:solidFill>
                  <a:srgbClr val="5A5F5E"/>
                </a:solidFill>
              </a:rPr>
              <a:t>: </a:t>
            </a:r>
            <a:r>
              <a:rPr lang="en-US" sz="3000">
                <a:solidFill>
                  <a:srgbClr val="FF0000"/>
                </a:solidFill>
              </a:rPr>
              <a:t>top</a:t>
            </a:r>
            <a:r>
              <a:rPr lang="en-US" sz="3000">
                <a:solidFill>
                  <a:srgbClr val="5A5F5E"/>
                </a:solidFill>
              </a:rPr>
              <a:t> 20% (highest-score quantile).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Interpretation: the model effectively detects </a:t>
            </a:r>
            <a:r>
              <a:rPr lang="en-US" sz="3000">
                <a:solidFill>
                  <a:srgbClr val="FF0000"/>
                </a:solidFill>
              </a:rPr>
              <a:t>over-extended</a:t>
            </a:r>
            <a:r>
              <a:rPr lang="en-US" sz="3000">
                <a:solidFill>
                  <a:srgbClr val="5A5F5E"/>
                </a:solidFill>
              </a:rPr>
              <a:t> assets; </a:t>
            </a:r>
            <a:r>
              <a:rPr lang="en-US" sz="3000">
                <a:solidFill>
                  <a:srgbClr val="FF0000"/>
                </a:solidFill>
              </a:rPr>
              <a:t>high scores indicate short-term overheating</a:t>
            </a:r>
            <a:r>
              <a:rPr lang="en-US" sz="3000">
                <a:solidFill>
                  <a:srgbClr val="5A5F5E"/>
                </a:solidFill>
              </a:rPr>
              <a:t> and likely </a:t>
            </a:r>
            <a:r>
              <a:rPr lang="en-US" sz="3000">
                <a:solidFill>
                  <a:srgbClr val="FF0000"/>
                </a:solidFill>
              </a:rPr>
              <a:t>mean reversion,</a:t>
            </a:r>
            <a:r>
              <a:rPr lang="en-US" sz="3000">
                <a:solidFill>
                  <a:srgbClr val="5A5F5E"/>
                </a:solidFill>
              </a:rPr>
              <a:t> while low scores correspond to overlooked but higher-quality names.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00" name="Google Shape;200;p23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201" name="Google Shape;201;p23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02" name="Google Shape;202;p23"/>
          <p:cNvSpPr txBox="1"/>
          <p:nvPr>
            <p:ph idx="3" type="body"/>
          </p:nvPr>
        </p:nvSpPr>
        <p:spPr>
          <a:xfrm>
            <a:off x="761999" y="1581811"/>
            <a:ext cx="11467800" cy="47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Risk Constraints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Total gross leverage: GROSS_LEV = 1.0 (|long| + |short| = 100%).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Per-asset weight cap: |w_i| ≤ 10%.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Weekly per-asset turnover cap: |Δw_i| ≤ 30%.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One-way transaction cost: 10 bps.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Goal: control concentration and trading frictions, making the strategy implementable in practice.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09" name="Google Shape;209;p24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Portfolio Construction</a:t>
            </a:r>
            <a:endParaRPr b="1"/>
          </a:p>
        </p:txBody>
      </p:sp>
      <p:sp>
        <p:nvSpPr>
          <p:cNvPr id="210" name="Google Shape;210;p24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11" name="Google Shape;211;p24"/>
          <p:cNvSpPr txBox="1"/>
          <p:nvPr>
            <p:ph idx="3" type="body"/>
          </p:nvPr>
        </p:nvSpPr>
        <p:spPr>
          <a:xfrm>
            <a:off x="761999" y="1581811"/>
            <a:ext cx="11467800" cy="6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Beta Neutrality &amp; Vol Targeting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Estimate each asset’s beta via a 52-week rolling regression on CMKT.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Adjust portfolio weights by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to achieve near </a:t>
            </a:r>
            <a:r>
              <a:rPr lang="en-US" sz="3000">
                <a:solidFill>
                  <a:srgbClr val="FF0000"/>
                </a:solidFill>
              </a:rPr>
              <a:t>beta neutrality</a:t>
            </a:r>
            <a:r>
              <a:rPr lang="en-US" sz="3000">
                <a:solidFill>
                  <a:srgbClr val="5A5F5E"/>
                </a:solidFill>
              </a:rPr>
              <a:t>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Using 26-week historical volatility, scale exposure to keep annualized volatility around </a:t>
            </a:r>
            <a:r>
              <a:rPr lang="en-US" sz="3000">
                <a:solidFill>
                  <a:srgbClr val="FF0000"/>
                </a:solidFill>
              </a:rPr>
              <a:t>30%</a:t>
            </a:r>
            <a:r>
              <a:rPr lang="en-US" sz="3000">
                <a:solidFill>
                  <a:srgbClr val="5A5F5E"/>
                </a:solidFill>
              </a:rPr>
              <a:t>: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FF0000"/>
                </a:solidFill>
              </a:rPr>
              <a:t>De-leverage</a:t>
            </a:r>
            <a:r>
              <a:rPr lang="en-US" sz="3000">
                <a:solidFill>
                  <a:srgbClr val="5A5F5E"/>
                </a:solidFill>
              </a:rPr>
              <a:t> in </a:t>
            </a:r>
            <a:r>
              <a:rPr lang="en-US" sz="3000">
                <a:solidFill>
                  <a:srgbClr val="FF0000"/>
                </a:solidFill>
              </a:rPr>
              <a:t>high-vol</a:t>
            </a:r>
            <a:r>
              <a:rPr lang="en-US" sz="3000">
                <a:solidFill>
                  <a:srgbClr val="5A5F5E"/>
                </a:solidFill>
              </a:rPr>
              <a:t> regimes, </a:t>
            </a:r>
            <a:r>
              <a:rPr lang="en-US" sz="3000">
                <a:solidFill>
                  <a:srgbClr val="FF0000"/>
                </a:solidFill>
              </a:rPr>
              <a:t>scale up</a:t>
            </a:r>
            <a:r>
              <a:rPr lang="en-US" sz="3000">
                <a:solidFill>
                  <a:srgbClr val="5A5F5E"/>
                </a:solidFill>
              </a:rPr>
              <a:t> in </a:t>
            </a:r>
            <a:r>
              <a:rPr lang="en-US" sz="3000">
                <a:solidFill>
                  <a:srgbClr val="FF0000"/>
                </a:solidFill>
              </a:rPr>
              <a:t>low-vol</a:t>
            </a:r>
            <a:r>
              <a:rPr lang="en-US" sz="3000">
                <a:solidFill>
                  <a:srgbClr val="5A5F5E"/>
                </a:solidFill>
              </a:rPr>
              <a:t> regimes.</a:t>
            </a:r>
            <a:endParaRPr sz="3000">
              <a:solidFill>
                <a:srgbClr val="5A5F5E"/>
              </a:solidFill>
            </a:endParaRPr>
          </a:p>
          <a:p>
            <a:pPr indent="3810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3000"/>
              <a:buChar char="►"/>
            </a:pPr>
            <a:r>
              <a:rPr lang="en-US" sz="3000">
                <a:solidFill>
                  <a:srgbClr val="5A5F5E"/>
                </a:solidFill>
              </a:rPr>
              <a:t>Result: a stable and more investable risk profile.</a:t>
            </a:r>
            <a:endParaRPr sz="30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18" name="Google Shape;218;p25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19" name="Google Shape;219;p25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20" name="Google Shape;220;p25"/>
          <p:cNvSpPr txBox="1"/>
          <p:nvPr>
            <p:ph idx="3" type="body"/>
          </p:nvPr>
        </p:nvSpPr>
        <p:spPr>
          <a:xfrm>
            <a:off x="761999" y="1581811"/>
            <a:ext cx="114678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returns (log scale)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beta-neutral strategy (blue) shows a </a:t>
            </a:r>
            <a:r>
              <a:rPr lang="en-US" sz="2500">
                <a:solidFill>
                  <a:srgbClr val="FF0000"/>
                </a:solidFill>
              </a:rPr>
              <a:t>smooth</a:t>
            </a:r>
            <a:r>
              <a:rPr lang="en-US" sz="2500">
                <a:solidFill>
                  <a:srgbClr val="5A5F5E"/>
                </a:solidFill>
              </a:rPr>
              <a:t>, steadily rising curve, clearly outperforming BTC (gray) over the full sample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Log scale allows fair comparison across different compounding phases.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000" y="4049236"/>
            <a:ext cx="10172700" cy="50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28" name="Google Shape;228;p26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29" name="Google Shape;229;p26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30" name="Google Shape;230;p26"/>
          <p:cNvSpPr txBox="1"/>
          <p:nvPr>
            <p:ph idx="3" type="body"/>
          </p:nvPr>
        </p:nvSpPr>
        <p:spPr>
          <a:xfrm>
            <a:off x="761999" y="15818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 Strategy VS BTC Benchmark</a:t>
            </a:r>
            <a:endParaRPr sz="2500">
              <a:solidFill>
                <a:srgbClr val="5A5F5E"/>
              </a:solidFill>
            </a:endParaRPr>
          </a:p>
        </p:txBody>
      </p:sp>
      <p:graphicFrame>
        <p:nvGraphicFramePr>
          <p:cNvPr id="231" name="Google Shape;231;p26"/>
          <p:cNvGraphicFramePr/>
          <p:nvPr/>
        </p:nvGraphicFramePr>
        <p:xfrm>
          <a:off x="1414263" y="257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{79246958-4DC6-4DF0-8B7F-D96BE8379324}</a:tableStyleId>
              </a:tblPr>
              <a:tblGrid>
                <a:gridCol w="2974150"/>
                <a:gridCol w="2974150"/>
                <a:gridCol w="2974150"/>
              </a:tblGrid>
              <a:tr h="71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Benchmark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Strategy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Annual Return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3831%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75%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Annual </a:t>
                      </a: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Volatility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9577%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37%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Sharpe Ratio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0.4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2.03</a:t>
                      </a:r>
                      <a:endParaRPr sz="3000">
                        <a:solidFill>
                          <a:srgbClr val="FF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Max Drawdown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-70.1%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-46.1%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Avg Turnover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0.72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0.72</a:t>
                      </a:r>
                      <a:endParaRPr sz="3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37" name="Google Shape;237;p27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38" name="Google Shape;238;p27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39" name="Google Shape;239;p27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40" name="Google Shape;240;p27"/>
          <p:cNvSpPr txBox="1"/>
          <p:nvPr>
            <p:ph idx="3" type="body"/>
          </p:nvPr>
        </p:nvSpPr>
        <p:spPr>
          <a:xfrm>
            <a:off x="761999" y="1581811"/>
            <a:ext cx="11467800" cy="23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Drawdown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Strategy max drawdown is around </a:t>
            </a:r>
            <a:r>
              <a:rPr lang="en-US" sz="2500">
                <a:solidFill>
                  <a:srgbClr val="FF0000"/>
                </a:solidFill>
              </a:rPr>
              <a:t>-20% to -25%</a:t>
            </a:r>
            <a:r>
              <a:rPr lang="en-US" sz="2500">
                <a:solidFill>
                  <a:srgbClr val="5A5F5E"/>
                </a:solidFill>
              </a:rPr>
              <a:t>, with most periods within </a:t>
            </a:r>
            <a:r>
              <a:rPr lang="en-US" sz="2500">
                <a:solidFill>
                  <a:srgbClr val="FF0000"/>
                </a:solidFill>
              </a:rPr>
              <a:t>-10%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BTC experiences multiple drawdowns beyond </a:t>
            </a:r>
            <a:r>
              <a:rPr lang="en-US" sz="2500">
                <a:solidFill>
                  <a:srgbClr val="FF0000"/>
                </a:solidFill>
              </a:rPr>
              <a:t>-50%</a:t>
            </a:r>
            <a:r>
              <a:rPr lang="en-US" sz="2500">
                <a:solidFill>
                  <a:srgbClr val="5A5F5E"/>
                </a:solidFill>
              </a:rPr>
              <a:t>, approaching </a:t>
            </a:r>
            <a:r>
              <a:rPr lang="en-US" sz="2500">
                <a:solidFill>
                  <a:srgbClr val="FF0000"/>
                </a:solidFill>
              </a:rPr>
              <a:t>-70%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400" y="4208497"/>
            <a:ext cx="11026476" cy="3643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47" name="Google Shape;247;p28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48" name="Google Shape;248;p28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49" name="Google Shape;249;p28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50" name="Google Shape;250;p28"/>
          <p:cNvSpPr txBox="1"/>
          <p:nvPr>
            <p:ph idx="3" type="body"/>
          </p:nvPr>
        </p:nvSpPr>
        <p:spPr>
          <a:xfrm>
            <a:off x="761999" y="1581811"/>
            <a:ext cx="11467800" cy="52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Importance &amp; Signal Inversion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LightGBM</a:t>
            </a:r>
            <a:r>
              <a:rPr lang="en-US" sz="2500">
                <a:solidFill>
                  <a:srgbClr val="5A5F5E"/>
                </a:solidFill>
              </a:rPr>
              <a:t> primarily relies on momentum + technical + volatility features: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High-scoring</a:t>
            </a:r>
            <a:r>
              <a:rPr lang="en-US" sz="2500">
                <a:solidFill>
                  <a:srgbClr val="5A5F5E"/>
                </a:solidFill>
              </a:rPr>
              <a:t> assets are typically “</a:t>
            </a:r>
            <a:r>
              <a:rPr lang="en-US" sz="2500">
                <a:solidFill>
                  <a:srgbClr val="FF0000"/>
                </a:solidFill>
              </a:rPr>
              <a:t>recent high flyers with elevated volatility and overheated technicals.</a:t>
            </a:r>
            <a:r>
              <a:rPr lang="en-US" sz="2500">
                <a:solidFill>
                  <a:srgbClr val="5A5F5E"/>
                </a:solidFill>
              </a:rPr>
              <a:t>”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FF0000"/>
                </a:solidFill>
              </a:rPr>
              <a:t>Mean Rank IC</a:t>
            </a:r>
            <a:r>
              <a:rPr lang="en-US" sz="2500">
                <a:solidFill>
                  <a:srgbClr val="5A5F5E"/>
                </a:solidFill>
              </a:rPr>
              <a:t> shows volatility and ATR-type features carry </a:t>
            </a:r>
            <a:r>
              <a:rPr lang="en-US" sz="2500">
                <a:solidFill>
                  <a:srgbClr val="FF0000"/>
                </a:solidFill>
              </a:rPr>
              <a:t>negative</a:t>
            </a:r>
            <a:r>
              <a:rPr lang="en-US" sz="2500">
                <a:solidFill>
                  <a:srgbClr val="5A5F5E"/>
                </a:solidFill>
              </a:rPr>
              <a:t> signals: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more volatile the asset, the worse it tends to perform next week.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⇒ </a:t>
            </a:r>
            <a:r>
              <a:rPr lang="en-US" sz="2500">
                <a:solidFill>
                  <a:srgbClr val="FF0000"/>
                </a:solidFill>
              </a:rPr>
              <a:t>Over-extended assets likely to underperform</a:t>
            </a:r>
            <a:r>
              <a:rPr lang="en-US" sz="2500">
                <a:solidFill>
                  <a:srgbClr val="5A5F5E"/>
                </a:solidFill>
              </a:rPr>
              <a:t>,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Inverting the signal (long low scores, short high scores) with a </a:t>
            </a:r>
            <a:r>
              <a:rPr lang="en-US" sz="2500">
                <a:solidFill>
                  <a:srgbClr val="FF0000"/>
                </a:solidFill>
              </a:rPr>
              <a:t>mean-reversion</a:t>
            </a:r>
            <a:r>
              <a:rPr lang="en-US" sz="2500">
                <a:solidFill>
                  <a:srgbClr val="5A5F5E"/>
                </a:solidFill>
              </a:rPr>
              <a:t> strategy.</a:t>
            </a:r>
            <a:endParaRPr sz="25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56" name="Google Shape;256;p29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57" name="Google Shape;257;p29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58" name="Google Shape;258;p29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59" name="Google Shape;259;p29"/>
          <p:cNvSpPr txBox="1"/>
          <p:nvPr>
            <p:ph idx="3" type="body"/>
          </p:nvPr>
        </p:nvSpPr>
        <p:spPr>
          <a:xfrm>
            <a:off x="761999" y="1594511"/>
            <a:ext cx="114678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rgbClr val="5A5F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Rank IC </a:t>
            </a:r>
            <a:endParaRPr sz="2500">
              <a:solidFill>
                <a:srgbClr val="5A5F5E"/>
              </a:solidFill>
            </a:endParaRPr>
          </a:p>
        </p:txBody>
      </p:sp>
      <p:pic>
        <p:nvPicPr>
          <p:cNvPr id="260" name="Google Shape;2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900" y="2381411"/>
            <a:ext cx="9677400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66" name="Google Shape;266;p30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67" name="Google Shape;267;p30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68" name="Google Shape;268;p30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69" name="Google Shape;269;p30"/>
          <p:cNvSpPr txBox="1"/>
          <p:nvPr>
            <p:ph idx="3" type="body"/>
          </p:nvPr>
        </p:nvSpPr>
        <p:spPr>
          <a:xfrm>
            <a:off x="761999" y="1581811"/>
            <a:ext cx="11467800" cy="4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445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3000"/>
              <a:buFont typeface="Helvetica Neue"/>
              <a:buChar char="⊡"/>
            </a:pPr>
            <a:r>
              <a:rPr b="1" lang="en-US" sz="3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Cumulative Rank IC </a:t>
            </a:r>
            <a:endParaRPr b="1" sz="30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Large-cap, liquid, high-attention assets consistently outperform on a risk-adjusted basis, creating a </a:t>
            </a:r>
            <a:r>
              <a:rPr lang="en-US" sz="2500">
                <a:solidFill>
                  <a:srgbClr val="FF0000"/>
                </a:solidFill>
              </a:rPr>
              <a:t>structural quality/liquidity alpha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The strategy effectively combines two core components: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A </a:t>
            </a:r>
            <a:r>
              <a:rPr lang="en-US" sz="2500">
                <a:solidFill>
                  <a:srgbClr val="FF0000"/>
                </a:solidFill>
              </a:rPr>
              <a:t>quality/liquidity tilt</a:t>
            </a:r>
            <a:r>
              <a:rPr lang="en-US" sz="2500">
                <a:solidFill>
                  <a:srgbClr val="5A5F5E"/>
                </a:solidFill>
              </a:rPr>
              <a:t> toward </a:t>
            </a:r>
            <a:r>
              <a:rPr lang="en-US" sz="2500">
                <a:solidFill>
                  <a:srgbClr val="FF0000"/>
                </a:solidFill>
              </a:rPr>
              <a:t>large, liquid names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5A5F5E"/>
              </a:solidFill>
            </a:endParaRPr>
          </a:p>
          <a:p>
            <a:pPr indent="698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500"/>
              <a:buChar char="►"/>
            </a:pPr>
            <a:r>
              <a:rPr lang="en-US" sz="2500">
                <a:solidFill>
                  <a:srgbClr val="5A5F5E"/>
                </a:solidFill>
              </a:rPr>
              <a:t>A </a:t>
            </a:r>
            <a:r>
              <a:rPr lang="en-US" sz="2500">
                <a:solidFill>
                  <a:srgbClr val="FF0000"/>
                </a:solidFill>
              </a:rPr>
              <a:t>mean-reversion</a:t>
            </a:r>
            <a:r>
              <a:rPr lang="en-US" sz="2500">
                <a:solidFill>
                  <a:srgbClr val="5A5F5E"/>
                </a:solidFill>
              </a:rPr>
              <a:t> short/underweight leg against </a:t>
            </a:r>
            <a:r>
              <a:rPr lang="en-US" sz="2500">
                <a:solidFill>
                  <a:srgbClr val="FF0000"/>
                </a:solidFill>
              </a:rPr>
              <a:t>short-term over-extended</a:t>
            </a:r>
            <a:r>
              <a:rPr lang="en-US" sz="2500">
                <a:solidFill>
                  <a:srgbClr val="5A5F5E"/>
                </a:solidFill>
              </a:rPr>
              <a:t>, </a:t>
            </a:r>
            <a:r>
              <a:rPr lang="en-US" sz="2500">
                <a:solidFill>
                  <a:srgbClr val="FF0000"/>
                </a:solidFill>
              </a:rPr>
              <a:t>high-volatility names</a:t>
            </a:r>
            <a:r>
              <a:rPr lang="en-US" sz="2500">
                <a:solidFill>
                  <a:srgbClr val="5A5F5E"/>
                </a:solidFill>
              </a:rPr>
              <a:t>.</a:t>
            </a:r>
            <a:endParaRPr sz="2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/>
          <p:nvPr>
            <p:ph idx="12" type="sldNum"/>
          </p:nvPr>
        </p:nvSpPr>
        <p:spPr>
          <a:xfrm>
            <a:off x="11741879" y="213147"/>
            <a:ext cx="4944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fld id="{00000000-1234-1234-1234-123412341234}" type="slidenum"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/>
          </a:p>
        </p:txBody>
      </p:sp>
      <p:sp>
        <p:nvSpPr>
          <p:cNvPr id="275" name="Google Shape;275;p31"/>
          <p:cNvSpPr txBox="1"/>
          <p:nvPr>
            <p:ph idx="1" type="body"/>
          </p:nvPr>
        </p:nvSpPr>
        <p:spPr>
          <a:xfrm>
            <a:off x="755809" y="213147"/>
            <a:ext cx="95028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000"/>
              <a:buFont typeface="Helvetica Neue Light"/>
              <a:buNone/>
            </a:pPr>
            <a:r>
              <a:rPr lang="en-US" sz="2000">
                <a:solidFill>
                  <a:srgbClr val="5A5F5E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Title</a:t>
            </a:r>
            <a:endParaRPr/>
          </a:p>
        </p:txBody>
      </p:sp>
      <p:sp>
        <p:nvSpPr>
          <p:cNvPr id="276" name="Google Shape;276;p31"/>
          <p:cNvSpPr txBox="1"/>
          <p:nvPr>
            <p:ph idx="2" type="body"/>
          </p:nvPr>
        </p:nvSpPr>
        <p:spPr>
          <a:xfrm>
            <a:off x="762000" y="762000"/>
            <a:ext cx="11467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3500"/>
              <a:buFont typeface="Helvetica Neue"/>
              <a:buNone/>
            </a:pPr>
            <a:r>
              <a:rPr b="1" lang="en-US"/>
              <a:t>Results &amp; Interpretation</a:t>
            </a:r>
            <a:endParaRPr b="1"/>
          </a:p>
        </p:txBody>
      </p:sp>
      <p:sp>
        <p:nvSpPr>
          <p:cNvPr id="277" name="Google Shape;277;p31"/>
          <p:cNvSpPr txBox="1"/>
          <p:nvPr>
            <p:ph idx="4" type="body"/>
          </p:nvPr>
        </p:nvSpPr>
        <p:spPr>
          <a:xfrm>
            <a:off x="715409" y="9235479"/>
            <a:ext cx="5479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elvetica Neue Light"/>
              <a:buNone/>
            </a:pPr>
            <a:r>
              <a:rPr lang="en-US">
                <a:solidFill>
                  <a:schemeClr val="dk2"/>
                </a:solidFill>
              </a:rPr>
              <a:t>Machine Learning &amp; FinTech 2025</a:t>
            </a:r>
            <a:endParaRPr/>
          </a:p>
        </p:txBody>
      </p:sp>
      <p:sp>
        <p:nvSpPr>
          <p:cNvPr id="278" name="Google Shape;278;p31"/>
          <p:cNvSpPr txBox="1"/>
          <p:nvPr>
            <p:ph idx="3" type="body"/>
          </p:nvPr>
        </p:nvSpPr>
        <p:spPr>
          <a:xfrm>
            <a:off x="761999" y="1581811"/>
            <a:ext cx="11467800" cy="69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31800" lvl="0" marL="4445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99E"/>
              </a:buClr>
              <a:buSzPts val="2800"/>
              <a:buFont typeface="Helvetica Neue"/>
              <a:buChar char="⊡"/>
            </a:pPr>
            <a:r>
              <a:rPr b="1" lang="en-US" sz="2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</a:t>
            </a:r>
            <a:endParaRPr b="1" sz="2800">
              <a:solidFill>
                <a:srgbClr val="5A5F5E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Starting from the motivation: in a noisy, highly volatile crypto market, we aim for a risk-controlled, beta-neutral alpha strategy.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Through data filtering and feature engineering, we focus on the annual top-30 large-cap universe and build momentum, technical, volatility, liquidity, and size factors.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Using a volatility-scaled target with DART-LightGBM and Ridge ensemble, we learn which assets will outperform on a risk-adjusted basis in the next week.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Empirically, model scores detect “over-extended vs stable high-quality” assets, which naturally leads to signal inversion plus long–short, beta neutrality, and volatility targeting.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5A5F5E"/>
                </a:solidFill>
              </a:rPr>
              <a:t>Final outcome: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Cumulative returns </a:t>
            </a:r>
            <a:r>
              <a:rPr lang="en-US" sz="2300">
                <a:solidFill>
                  <a:srgbClr val="5A5F5E"/>
                </a:solidFill>
              </a:rPr>
              <a:t>consistently</a:t>
            </a:r>
            <a:r>
              <a:rPr lang="en-US" sz="2300">
                <a:solidFill>
                  <a:srgbClr val="FF0000"/>
                </a:solidFill>
              </a:rPr>
              <a:t> outperform BTC</a:t>
            </a:r>
            <a:r>
              <a:rPr lang="en-US" sz="2300">
                <a:solidFill>
                  <a:srgbClr val="5A5F5E"/>
                </a:solidFill>
              </a:rPr>
              <a:t>;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Annual volatility </a:t>
            </a:r>
            <a:r>
              <a:rPr lang="en-US" sz="2300">
                <a:solidFill>
                  <a:srgbClr val="5A5F5E"/>
                </a:solidFill>
              </a:rPr>
              <a:t>and </a:t>
            </a:r>
            <a:r>
              <a:rPr lang="en-US" sz="2300">
                <a:solidFill>
                  <a:srgbClr val="FF0000"/>
                </a:solidFill>
              </a:rPr>
              <a:t>max drawdown </a:t>
            </a:r>
            <a:r>
              <a:rPr lang="en-US" sz="2300">
                <a:solidFill>
                  <a:srgbClr val="5A5F5E"/>
                </a:solidFill>
              </a:rPr>
              <a:t>are greatly</a:t>
            </a:r>
            <a:r>
              <a:rPr lang="en-US" sz="2300">
                <a:solidFill>
                  <a:srgbClr val="FF0000"/>
                </a:solidFill>
              </a:rPr>
              <a:t> reduced</a:t>
            </a:r>
            <a:r>
              <a:rPr lang="en-US" sz="2300">
                <a:solidFill>
                  <a:srgbClr val="5A5F5E"/>
                </a:solidFill>
              </a:rPr>
              <a:t>;</a:t>
            </a:r>
            <a:endParaRPr sz="2300">
              <a:solidFill>
                <a:srgbClr val="5A5F5E"/>
              </a:solidFill>
            </a:endParaRPr>
          </a:p>
          <a:p>
            <a:pPr indent="82550" lvl="1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F5E"/>
              </a:buClr>
              <a:buSzPts val="2300"/>
              <a:buChar char="►"/>
            </a:pPr>
            <a:r>
              <a:rPr lang="en-US" sz="2300">
                <a:solidFill>
                  <a:srgbClr val="FF0000"/>
                </a:solidFill>
              </a:rPr>
              <a:t>Sharpe ≈ 2</a:t>
            </a:r>
            <a:r>
              <a:rPr lang="en-US" sz="2300">
                <a:solidFill>
                  <a:srgbClr val="5A5F5E"/>
                </a:solidFill>
              </a:rPr>
              <a:t> with a clear, interpretable strategy (</a:t>
            </a:r>
            <a:r>
              <a:rPr lang="en-US" sz="2300">
                <a:solidFill>
                  <a:srgbClr val="FF0000"/>
                </a:solidFill>
              </a:rPr>
              <a:t>mean reversion + quality/liquidity</a:t>
            </a:r>
            <a:r>
              <a:rPr lang="en-US" sz="2300">
                <a:solidFill>
                  <a:srgbClr val="5A5F5E"/>
                </a:solidFill>
              </a:rPr>
              <a:t>).</a:t>
            </a:r>
            <a:endParaRPr sz="2300">
              <a:solidFill>
                <a:srgbClr val="5A5F5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/>
          <p:nvPr>
            <p:ph idx="1" type="body"/>
          </p:nvPr>
        </p:nvSpPr>
        <p:spPr>
          <a:xfrm>
            <a:off x="773350" y="2649953"/>
            <a:ext cx="11458200" cy="1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 Light"/>
              <a:buNone/>
            </a:pPr>
            <a:r>
              <a:rPr lang="en-US">
                <a:solidFill>
                  <a:schemeClr val="lt1"/>
                </a:solidFill>
              </a:rPr>
              <a:t>A Beta-Neutral Crypto ML Strategy: From Signal Inversion to Robust Alpha</a:t>
            </a:r>
            <a:endParaRPr/>
          </a:p>
        </p:txBody>
      </p:sp>
      <p:sp>
        <p:nvSpPr>
          <p:cNvPr id="284" name="Google Shape;284;p32"/>
          <p:cNvSpPr txBox="1"/>
          <p:nvPr/>
        </p:nvSpPr>
        <p:spPr>
          <a:xfrm>
            <a:off x="9519751" y="9237870"/>
            <a:ext cx="3163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 Light"/>
              <a:buNone/>
            </a:pPr>
            <a:r>
              <a:rPr lang="en-US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20251110 IDA Template Keynote.key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0F11"/>
              </a:buClr>
              <a:buSzPts val="1500"/>
              <a:buFont typeface="Helvetica Neue Light"/>
              <a:buNone/>
            </a:pPr>
            <a:r>
              <a:t/>
            </a:r>
            <a:endParaRPr sz="15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5" name="Google Shape;285;p32"/>
          <p:cNvSpPr txBox="1"/>
          <p:nvPr/>
        </p:nvSpPr>
        <p:spPr>
          <a:xfrm>
            <a:off x="773350" y="4410650"/>
            <a:ext cx="5495400" cy="66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Sam, Bill, Jannis (and HWTeng)</a:t>
            </a:r>
            <a:endParaRPr sz="3100">
              <a:solidFill>
                <a:schemeClr val="dk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6" name="Google Shape;286;p32"/>
          <p:cNvSpPr txBox="1"/>
          <p:nvPr/>
        </p:nvSpPr>
        <p:spPr>
          <a:xfrm>
            <a:off x="729950" y="7036125"/>
            <a:ext cx="9156900" cy="158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National Yang-Ming Chiao-Tung University</a:t>
            </a:r>
            <a:endParaRPr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D30F1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Machine Learning and FinTech</a:t>
            </a:r>
            <a:endParaRPr i="1" sz="2800">
              <a:solidFill>
                <a:srgbClr val="D30F1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3535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https://github.com/HWTeng-Teaching/202509-ML-FinTech</a:t>
            </a:r>
            <a:endParaRPr sz="2800">
              <a:solidFill>
                <a:srgbClr val="535353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87" name="Google Shape;287;p3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912" y="7036125"/>
            <a:ext cx="1585177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C4D3D3"/>
      </a:dk1>
      <a:lt1>
        <a:srgbClr val="D30F11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