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9753600" cx="13004800"/>
  <p:notesSz cx="6858000" cy="9144000"/>
  <p:embeddedFontLst>
    <p:embeddedFont>
      <p:font typeface="Helvetica Neue"/>
      <p:regular r:id="rId35"/>
      <p:bold r:id="rId36"/>
      <p:italic r:id="rId37"/>
      <p:boldItalic r:id="rId38"/>
    </p:embeddedFont>
    <p:embeddedFont>
      <p:font typeface="Helvetica Neue Ligh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2004D5-32C2-4DC6-971E-CA1F62A65C61}">
  <a:tblStyle styleId="{052004D5-32C2-4DC6-971E-CA1F62A65C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Light-bold.fntdata"/><Relationship Id="rId20" Type="http://schemas.openxmlformats.org/officeDocument/2006/relationships/slide" Target="slides/slide14.xml"/><Relationship Id="rId42" Type="http://schemas.openxmlformats.org/officeDocument/2006/relationships/font" Target="fonts/HelveticaNeueLight-boldItalic.fntdata"/><Relationship Id="rId41" Type="http://schemas.openxmlformats.org/officeDocument/2006/relationships/font" Target="fonts/HelveticaNeueLight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HelveticaNeue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HelveticaNeue-italic.fntdata"/><Relationship Id="rId14" Type="http://schemas.openxmlformats.org/officeDocument/2006/relationships/slide" Target="slides/slide8.xml"/><Relationship Id="rId36" Type="http://schemas.openxmlformats.org/officeDocument/2006/relationships/font" Target="fonts/HelveticaNeue-bold.fntdata"/><Relationship Id="rId17" Type="http://schemas.openxmlformats.org/officeDocument/2006/relationships/slide" Target="slides/slide11.xml"/><Relationship Id="rId39" Type="http://schemas.openxmlformats.org/officeDocument/2006/relationships/font" Target="fonts/HelveticaNeueLight-regular.fntdata"/><Relationship Id="rId16" Type="http://schemas.openxmlformats.org/officeDocument/2006/relationships/slide" Target="slides/slide10.xml"/><Relationship Id="rId38" Type="http://schemas.openxmlformats.org/officeDocument/2006/relationships/font" Target="fonts/HelveticaNeue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6pPr>
            <a:lvl7pPr indent="-228600" lvl="6" marL="3200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7pPr>
            <a:lvl8pPr indent="-228600" lvl="7" marL="3657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8pPr>
            <a:lvl9pPr indent="-228600" lvl="8" marL="4114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e60029621_1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g3ae60029621_1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venir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e49735378_1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e49735378_1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e49735378_2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ae49735378_2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1baab6856_0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a1baab6856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e49735378_2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ae49735378_2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1baab6856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a1baab6856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baab6856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1baab6856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e49735378_2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e49735378_2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49735378_2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e49735378_2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e49735378_2_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ae49735378_2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e49735378_2_1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ae49735378_2_1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1baab6856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1baab6856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e49735378_2_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e49735378_2_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e49735378_2_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ae49735378_2_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1baab6856_0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a1baab6856_0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e49735378_2_1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e49735378_2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e49735378_2_1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e49735378_2_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e49735378_2_1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ae49735378_2_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e49735378_2_2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ae49735378_2_2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e49735378_2_1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ae49735378_2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e49735378_2_1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ae49735378_2_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e49735378_2_1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ae49735378_2_1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e49735378_2_1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ae49735378_2_1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e49735378_2_1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ae49735378_2_1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e49735378_1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g3ae49735378_1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venir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copy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" type="body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500"/>
              <a:buFont typeface="Helvetica Neue Light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 副本" showMasterSp="0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5353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761999" y="624879"/>
            <a:ext cx="114742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  <a:defRPr sz="3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body"/>
          </p:nvPr>
        </p:nvSpPr>
        <p:spPr>
          <a:xfrm>
            <a:off x="761999" y="1581811"/>
            <a:ext cx="11467783" cy="292595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body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  <a:defRPr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24" name="Google Shape;24;p3"/>
          <p:cNvPicPr preferRelativeResize="0"/>
          <p:nvPr/>
        </p:nvPicPr>
        <p:blipFill rotWithShape="1">
          <a:blip r:embed="rId2">
            <a:alphaModFix/>
          </a:blip>
          <a:srcRect b="13992" l="7684" r="6266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ine" showMasterSp="0">
  <p:cSld name="Outlin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68509" y="9159279"/>
            <a:ext cx="5733892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/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0" i="0" lang="en-US" sz="35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/>
          </a:p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761999" y="1581811"/>
            <a:ext cx="11467783" cy="63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30" name="Google Shape;30;p4"/>
          <p:cNvPicPr preferRelativeResize="0"/>
          <p:nvPr/>
        </p:nvPicPr>
        <p:blipFill rotWithShape="1">
          <a:blip r:embed="rId2">
            <a:alphaModFix/>
          </a:blip>
          <a:srcRect b="13992" l="7684" r="6266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5353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copy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" type="body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500"/>
              <a:buFont typeface="Helvetica Neue Light"/>
              <a:buNone/>
              <a:defRPr b="0" i="0" sz="55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ine" showMasterSp="0">
  <p:cSld name="Outline">
    <p:bg>
      <p:bgPr>
        <a:noFill/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" type="body"/>
          </p:nvPr>
        </p:nvSpPr>
        <p:spPr>
          <a:xfrm>
            <a:off x="768509" y="9159279"/>
            <a:ext cx="5733892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761999" y="1581811"/>
            <a:ext cx="11467783" cy="63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Helvetica Neue Light"/>
              <a:buNone/>
              <a:defRPr b="0" i="0" sz="30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cxnSp>
        <p:nvCxnSpPr>
          <p:cNvPr id="42" name="Google Shape;42;p7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294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43" name="Google Shape;43;p7"/>
          <p:cNvPicPr preferRelativeResize="0"/>
          <p:nvPr/>
        </p:nvPicPr>
        <p:blipFill rotWithShape="1">
          <a:blip r:embed="rId2">
            <a:alphaModFix/>
          </a:blip>
          <a:srcRect b="13992" l="7684" r="6265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" showMasterSp="0">
  <p:cSld name="Conten">
    <p:bg>
      <p:bgPr>
        <a:noFill/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8"/>
          <p:cNvCxnSpPr/>
          <p:nvPr/>
        </p:nvCxnSpPr>
        <p:spPr>
          <a:xfrm>
            <a:off x="761999" y="624879"/>
            <a:ext cx="114742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294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b="0" i="0" sz="3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3" type="body"/>
          </p:nvPr>
        </p:nvSpPr>
        <p:spPr>
          <a:xfrm>
            <a:off x="761999" y="1581811"/>
            <a:ext cx="11467783" cy="688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Helvetica Neue Light"/>
              <a:buNone/>
              <a:defRPr b="0" i="0" sz="30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4" type="body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  <a:defRPr b="0" i="0" sz="2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cxnSp>
        <p:nvCxnSpPr>
          <p:cNvPr id="52" name="Google Shape;52;p8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294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53" name="Google Shape;53;p8"/>
          <p:cNvPicPr preferRelativeResize="0"/>
          <p:nvPr/>
        </p:nvPicPr>
        <p:blipFill rotWithShape="1">
          <a:blip r:embed="rId2">
            <a:alphaModFix/>
          </a:blip>
          <a:srcRect b="13992" l="7684" r="6265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about:bl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72824">
              <a:srgbClr val="ECECEC"/>
            </a:gs>
            <a:gs pos="100000">
              <a:srgbClr val="DADAD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sted-image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7950" y="230380"/>
            <a:ext cx="2370215" cy="22989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/>
        </p:nvSpPr>
        <p:spPr>
          <a:xfrm>
            <a:off x="773350" y="6475983"/>
            <a:ext cx="7488751" cy="205807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None/>
            </a:pPr>
            <a:r>
              <a:t/>
            </a:r>
            <a:endParaRPr b="0" i="0" sz="3000" u="none" cap="none" strike="noStrike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774700" y="4432300"/>
            <a:ext cx="11458002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Name (HWTeng)</a:t>
            </a:r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74700" y="6985000"/>
            <a:ext cx="11455400" cy="264522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affiliation</a:t>
            </a:r>
            <a:endParaRPr b="0" i="0" sz="5500" u="none" cap="none" strike="noStrike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694"/>
              </a:buClr>
              <a:buSzPts val="3000"/>
              <a:buFont typeface="Helvetica Neue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2"/>
              </a:rPr>
              <a:t>Your Webpage</a:t>
            </a:r>
            <a:endParaRPr/>
          </a:p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773350" y="1733550"/>
            <a:ext cx="11458100" cy="199662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55599" y="5270500"/>
            <a:ext cx="12293601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sted-image.png" id="33" name="Google Shape;33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7950" y="230380"/>
            <a:ext cx="2370215" cy="229898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A5F5E">
            <a:alpha val="15690"/>
          </a:srgbClr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idx="1" type="body"/>
          </p:nvPr>
        </p:nvSpPr>
        <p:spPr>
          <a:xfrm>
            <a:off x="773350" y="3116013"/>
            <a:ext cx="11458100" cy="2117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ct val="100000"/>
              <a:buFont typeface="Helvetica Neue Light"/>
              <a:buNone/>
            </a:pPr>
            <a:r>
              <a:rPr lang="en-US">
                <a:solidFill>
                  <a:srgbClr val="D30F11"/>
                </a:solidFill>
              </a:rPr>
              <a:t>A Beta-Neutral Crypto ML Strategy: From Signal Inversion to Robust Alpha</a:t>
            </a:r>
            <a:endParaRPr>
              <a:solidFill>
                <a:srgbClr val="D30F1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Helvetica Neue Light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59" name="Google Shape;59;p9"/>
          <p:cNvSpPr txBox="1"/>
          <p:nvPr/>
        </p:nvSpPr>
        <p:spPr>
          <a:xfrm>
            <a:off x="9519751" y="9237870"/>
            <a:ext cx="3163634" cy="32467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500"/>
              <a:buFont typeface="Helvetica Neue Light"/>
              <a:buNone/>
            </a:pP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2025 Machine Learning &amp; Fintech</a:t>
            </a:r>
            <a:endParaRPr b="0" i="0" sz="1500" u="none" cap="none" strike="noStrike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9"/>
          <p:cNvSpPr txBox="1"/>
          <p:nvPr/>
        </p:nvSpPr>
        <p:spPr>
          <a:xfrm>
            <a:off x="773448" y="5361937"/>
            <a:ext cx="11457900" cy="3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Student Name: </a:t>
            </a:r>
            <a:r>
              <a:rPr lang="en-US" sz="31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Sam, Bill, Jannis</a:t>
            </a:r>
            <a:endParaRPr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Advisor Name: Hui Wen Teng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8199" y="7570850"/>
            <a:ext cx="1585177" cy="15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768509" y="9159279"/>
            <a:ext cx="57339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/>
              <a:t>Machine Learning &amp; FinTech 2025</a:t>
            </a:r>
            <a:endParaRPr/>
          </a:p>
        </p:txBody>
      </p:sp>
      <p:sp>
        <p:nvSpPr>
          <p:cNvPr id="68" name="Google Shape;68;p10"/>
          <p:cNvSpPr txBox="1"/>
          <p:nvPr/>
        </p:nvSpPr>
        <p:spPr>
          <a:xfrm>
            <a:off x="1154150" y="829050"/>
            <a:ext cx="99000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 Preprocessing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Factor Engineering &amp; EDA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Cross-Sectional ML Prediction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Portfolio Construction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Results &amp; Interpretation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768509" y="9159279"/>
            <a:ext cx="5733900" cy="410400"/>
          </a:xfrm>
          <a:prstGeom prst="rect">
            <a:avLst/>
          </a:prstGeom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74" name="Google Shape;74;p11" title="flowchart_s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2275"/>
            <a:ext cx="12699998" cy="714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/>
          </a:p>
        </p:txBody>
      </p:sp>
      <p:sp>
        <p:nvSpPr>
          <p:cNvPr id="81" name="Google Shape;81;p12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 sz="3500"/>
              <a:t>Motivation</a:t>
            </a:r>
            <a:endParaRPr b="1"/>
          </a:p>
        </p:txBody>
      </p:sp>
      <p:sp>
        <p:nvSpPr>
          <p:cNvPr id="82" name="Google Shape;82;p12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83" name="Google Shape;83;p12"/>
          <p:cNvSpPr txBox="1"/>
          <p:nvPr>
            <p:ph idx="3" type="body"/>
          </p:nvPr>
        </p:nvSpPr>
        <p:spPr>
          <a:xfrm>
            <a:off x="768500" y="1521675"/>
            <a:ext cx="115887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 Problem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Crypto markets exhibit extreme volatility; single assets like BTC frequently suffer </a:t>
            </a:r>
            <a:r>
              <a:rPr lang="en-US" sz="3000">
                <a:solidFill>
                  <a:srgbClr val="FF0000"/>
                </a:solidFill>
              </a:rPr>
              <a:t>-50% to -70%</a:t>
            </a:r>
            <a:r>
              <a:rPr lang="en-US" sz="3000">
                <a:solidFill>
                  <a:srgbClr val="5A5F5E"/>
                </a:solidFill>
              </a:rPr>
              <a:t> drawdowns.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Traditional long-only BTC or index exposure delivers </a:t>
            </a:r>
            <a:r>
              <a:rPr lang="en-US" sz="3000">
                <a:solidFill>
                  <a:schemeClr val="lt1"/>
                </a:solidFill>
              </a:rPr>
              <a:t>high returns</a:t>
            </a:r>
            <a:r>
              <a:rPr lang="en-US" sz="3000">
                <a:solidFill>
                  <a:srgbClr val="5A5F5E"/>
                </a:solidFill>
              </a:rPr>
              <a:t> in bull markets but </a:t>
            </a:r>
            <a:r>
              <a:rPr lang="en-US" sz="3000">
                <a:solidFill>
                  <a:schemeClr val="lt1"/>
                </a:solidFill>
              </a:rPr>
              <a:t>catastrophic losses</a:t>
            </a:r>
            <a:r>
              <a:rPr lang="en-US" sz="3000">
                <a:solidFill>
                  <a:srgbClr val="5A5F5E"/>
                </a:solidFill>
              </a:rPr>
              <a:t> in bear markets.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Institutional and professional investors need </a:t>
            </a:r>
            <a:r>
              <a:rPr lang="en-US" sz="3000">
                <a:solidFill>
                  <a:srgbClr val="FF0000"/>
                </a:solidFill>
              </a:rPr>
              <a:t>stable</a:t>
            </a:r>
            <a:r>
              <a:rPr lang="en-US" sz="3000">
                <a:solidFill>
                  <a:srgbClr val="5A5F5E"/>
                </a:solidFill>
              </a:rPr>
              <a:t>, </a:t>
            </a:r>
            <a:r>
              <a:rPr lang="en-US" sz="3000">
                <a:solidFill>
                  <a:schemeClr val="lt1"/>
                </a:solidFill>
              </a:rPr>
              <a:t>risk-controlled</a:t>
            </a:r>
            <a:r>
              <a:rPr lang="en-US" sz="3000">
                <a:solidFill>
                  <a:srgbClr val="5A5F5E"/>
                </a:solidFill>
              </a:rPr>
              <a:t> strategies with superior risk-adjusted returns to BTC.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/>
          </a:p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 sz="3500"/>
              <a:t>Motivation</a:t>
            </a:r>
            <a:endParaRPr b="1"/>
          </a:p>
        </p:txBody>
      </p:sp>
      <p:sp>
        <p:nvSpPr>
          <p:cNvPr id="91" name="Google Shape;91;p13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92" name="Google Shape;92;p13"/>
          <p:cNvSpPr txBox="1"/>
          <p:nvPr>
            <p:ph idx="3" type="body"/>
          </p:nvPr>
        </p:nvSpPr>
        <p:spPr>
          <a:xfrm>
            <a:off x="768500" y="1521675"/>
            <a:ext cx="115887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 Objectives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Build a </a:t>
            </a:r>
            <a:r>
              <a:rPr lang="en-US" sz="3000">
                <a:solidFill>
                  <a:srgbClr val="FF0000"/>
                </a:solidFill>
              </a:rPr>
              <a:t>beta-neutral</a:t>
            </a:r>
            <a:r>
              <a:rPr lang="en-US" sz="3000">
                <a:solidFill>
                  <a:srgbClr val="5A5F5E"/>
                </a:solidFill>
              </a:rPr>
              <a:t>, </a:t>
            </a:r>
            <a:r>
              <a:rPr lang="en-US" sz="3000">
                <a:solidFill>
                  <a:srgbClr val="FF0000"/>
                </a:solidFill>
              </a:rPr>
              <a:t>long–short</a:t>
            </a:r>
            <a:r>
              <a:rPr lang="en-US" sz="3000">
                <a:solidFill>
                  <a:srgbClr val="5A5F5E"/>
                </a:solidFill>
              </a:rPr>
              <a:t>, </a:t>
            </a:r>
            <a:r>
              <a:rPr lang="en-US" sz="3000">
                <a:solidFill>
                  <a:srgbClr val="FF0000"/>
                </a:solidFill>
              </a:rPr>
              <a:t>cross-sectional ML strategy</a:t>
            </a:r>
            <a:r>
              <a:rPr lang="en-US" sz="3000">
                <a:solidFill>
                  <a:srgbClr val="5A5F5E"/>
                </a:solidFill>
              </a:rPr>
              <a:t> that captures relative performance (alpha) while </a:t>
            </a:r>
            <a:r>
              <a:rPr lang="en-US" sz="3000">
                <a:solidFill>
                  <a:srgbClr val="FF0000"/>
                </a:solidFill>
              </a:rPr>
              <a:t>minimizing market-direction exposure (beta)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Control risk: reduce annual volatility and max drawdown to institutionally acceptable levels.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Improve Sharpe: target a long-run Sharpe ratio above </a:t>
            </a:r>
            <a:r>
              <a:rPr lang="en-US" sz="3000">
                <a:solidFill>
                  <a:srgbClr val="FF0000"/>
                </a:solidFill>
              </a:rPr>
              <a:t>2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Explain alpha sources: use feature importance and Rank IC to identify which factors drive excess returns (mean reversion, quality, liquidity, etc.).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99" name="Google Shape;99;p14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Data Preprocessing</a:t>
            </a:r>
            <a:endParaRPr b="1"/>
          </a:p>
        </p:txBody>
      </p:sp>
      <p:sp>
        <p:nvSpPr>
          <p:cNvPr id="100" name="Google Shape;100;p14"/>
          <p:cNvSpPr txBox="1"/>
          <p:nvPr>
            <p:ph idx="3" type="body"/>
          </p:nvPr>
        </p:nvSpPr>
        <p:spPr>
          <a:xfrm>
            <a:off x="715400" y="1594500"/>
            <a:ext cx="121665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Sources &amp; Universe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Weekly OHLCV prices and base factors</a:t>
            </a:r>
            <a:r>
              <a:rPr lang="en-US" sz="3000">
                <a:solidFill>
                  <a:srgbClr val="5A5F5E"/>
                </a:solidFill>
              </a:rPr>
              <a:t> (Binance Spot Market)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Market factor: crypto market index CMKT </a:t>
            </a:r>
            <a:r>
              <a:rPr lang="en-US" sz="3000">
                <a:solidFill>
                  <a:schemeClr val="dk2"/>
                </a:solidFill>
              </a:rPr>
              <a:t>(Binance Spot Market)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Annual universe: selecting the </a:t>
            </a:r>
            <a:r>
              <a:rPr lang="en-US" sz="3000">
                <a:solidFill>
                  <a:srgbClr val="FF0000"/>
                </a:solidFill>
              </a:rPr>
              <a:t>top 30</a:t>
            </a:r>
            <a:r>
              <a:rPr lang="en-US" sz="3000">
                <a:solidFill>
                  <a:srgbClr val="5A5F5E"/>
                </a:solidFill>
              </a:rPr>
              <a:t> large-cap / liquid assets per year.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4-week Treasury Bill rate (DTB4WK)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Build dataset with </a:t>
            </a:r>
            <a:r>
              <a:rPr lang="en-US" sz="3000">
                <a:solidFill>
                  <a:srgbClr val="FF0000"/>
                </a:solidFill>
              </a:rPr>
              <a:t>weekly frequency</a:t>
            </a:r>
            <a:endParaRPr sz="3000">
              <a:solidFill>
                <a:srgbClr val="FF0000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Keep only the intersection of annual </a:t>
            </a:r>
            <a:r>
              <a:rPr lang="en-US" sz="3000">
                <a:solidFill>
                  <a:srgbClr val="FF0000"/>
                </a:solidFill>
              </a:rPr>
              <a:t>top 30</a:t>
            </a:r>
            <a:r>
              <a:rPr lang="en-US" sz="3000">
                <a:solidFill>
                  <a:schemeClr val="dk2"/>
                </a:solidFill>
              </a:rPr>
              <a:t> and complete </a:t>
            </a:r>
            <a:r>
              <a:rPr lang="en-US" sz="3000">
                <a:solidFill>
                  <a:srgbClr val="FF0000"/>
                </a:solidFill>
              </a:rPr>
              <a:t>weekly</a:t>
            </a:r>
            <a:r>
              <a:rPr lang="en-US" sz="3000">
                <a:solidFill>
                  <a:schemeClr val="dk2"/>
                </a:solidFill>
              </a:rPr>
              <a:t> data to ensure tradability and data quality.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01" name="Google Shape;101;p14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08" name="Google Shape;108;p15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Data Preprocessing</a:t>
            </a:r>
            <a:endParaRPr b="1"/>
          </a:p>
        </p:txBody>
      </p:sp>
      <p:sp>
        <p:nvSpPr>
          <p:cNvPr id="109" name="Google Shape;109;p15"/>
          <p:cNvSpPr txBox="1"/>
          <p:nvPr>
            <p:ph idx="3" type="body"/>
          </p:nvPr>
        </p:nvSpPr>
        <p:spPr>
          <a:xfrm>
            <a:off x="761999" y="1581811"/>
            <a:ext cx="114678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Exploratory Data Analysis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Missing value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Descriptive statistics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Cross-sectional correlation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Factor Distribution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Time Series Stability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Principal Component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Information Coefficient Analysis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10" name="Google Shape;110;p15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17" name="Google Shape;117;p16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Data Preprocessing</a:t>
            </a:r>
            <a:endParaRPr b="1"/>
          </a:p>
        </p:txBody>
      </p:sp>
      <p:sp>
        <p:nvSpPr>
          <p:cNvPr id="118" name="Google Shape;118;p16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 &amp; Volatility Definitions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Weekly excess return: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Next-week excess return (base prediction target):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Risk factors: 4-week and 12-week historical volatility (rolling std of weekly returns).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19" name="Google Shape;119;p16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20" name="Google Shape;120;p16" title="QianJianTec176513508039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8900" y="2834901"/>
            <a:ext cx="6280300" cy="7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title="QianJianTec17651353043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8900" y="4220675"/>
            <a:ext cx="7423299" cy="82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28" name="Google Shape;128;p17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Data Analysis</a:t>
            </a:r>
            <a:endParaRPr b="1"/>
          </a:p>
        </p:txBody>
      </p:sp>
      <p:sp>
        <p:nvSpPr>
          <p:cNvPr id="129" name="Google Shape;129;p17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30" name="Google Shape;130;p17" title="output-onlinepngtool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50" y="3590725"/>
            <a:ext cx="6057660" cy="29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title="output-onlinepngtools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7009" y="1674695"/>
            <a:ext cx="6505391" cy="651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38" name="Google Shape;138;p18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39" name="Google Shape;139;p18"/>
          <p:cNvSpPr txBox="1"/>
          <p:nvPr>
            <p:ph idx="3" type="body"/>
          </p:nvPr>
        </p:nvSpPr>
        <p:spPr>
          <a:xfrm>
            <a:off x="761999" y="1581811"/>
            <a:ext cx="114678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&amp; Risk Features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 extract from weekly OHLCV :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RSI (14): overbought / oversold conditions.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ATR (14) / Price: relative volatility.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Bollinger Band Width (20): range-based volatility.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MACD Histogram: trend momentum shifts.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Price / MA(20, 50): deviation from moving averages.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Rolling Volatility (4w, 12w): short- and medium-term risk.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All features are </a:t>
            </a:r>
            <a:r>
              <a:rPr lang="en-US" sz="3000">
                <a:solidFill>
                  <a:srgbClr val="FF0000"/>
                </a:solidFill>
              </a:rPr>
              <a:t>cross-sectionally z-scored per week</a:t>
            </a:r>
            <a:r>
              <a:rPr lang="en-US" sz="3000">
                <a:solidFill>
                  <a:srgbClr val="5A5F5E"/>
                </a:solidFill>
              </a:rPr>
              <a:t>, focusing on </a:t>
            </a:r>
            <a:r>
              <a:rPr lang="en-US" sz="3000">
                <a:solidFill>
                  <a:srgbClr val="FF0000"/>
                </a:solidFill>
              </a:rPr>
              <a:t>relative levels</a:t>
            </a:r>
            <a:r>
              <a:rPr lang="en-US" sz="3000">
                <a:solidFill>
                  <a:srgbClr val="5A5F5E"/>
                </a:solidFill>
              </a:rPr>
              <a:t> within each week and enabling cross-sectional ranking.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40" name="Google Shape;140;p18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47" name="Google Shape;147;p19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48" name="Google Shape;148;p19"/>
          <p:cNvSpPr txBox="1"/>
          <p:nvPr>
            <p:ph idx="3" type="body"/>
          </p:nvPr>
        </p:nvSpPr>
        <p:spPr>
          <a:xfrm>
            <a:off x="761999" y="1581811"/>
            <a:ext cx="11467800" cy="7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Importance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Top-20</a:t>
            </a:r>
            <a:r>
              <a:rPr lang="en-US" sz="3000">
                <a:solidFill>
                  <a:srgbClr val="5A5F5E"/>
                </a:solidFill>
              </a:rPr>
              <a:t> LightGBM Gain features are dominated by: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Short-/medium-term returns</a:t>
            </a:r>
            <a:r>
              <a:rPr lang="en-US" sz="3000">
                <a:solidFill>
                  <a:srgbClr val="5A5F5E"/>
                </a:solidFill>
              </a:rPr>
              <a:t>: r1_z, r2_z, r3_z, r4_z, mom3_z.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Technical indicators</a:t>
            </a:r>
            <a:r>
              <a:rPr lang="en-US" sz="3000">
                <a:solidFill>
                  <a:srgbClr val="5A5F5E"/>
                </a:solidFill>
              </a:rPr>
              <a:t>: Close_div_MA20_z, RSI_14_z, Close_div_MA50_z, MACD_z.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Volatility &amp; ranges</a:t>
            </a:r>
            <a:r>
              <a:rPr lang="en-US" sz="3000">
                <a:solidFill>
                  <a:srgbClr val="5A5F5E"/>
                </a:solidFill>
              </a:rPr>
              <a:t>: Vol_12w_z, Vol_4w_z, ATR_14_norm_z, BB_Width_20_z.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Liquidity/volume: prcvol_mean_week_z, prcvol_std_week_z.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Conclusion: the model heavily relies on “</a:t>
            </a:r>
            <a:r>
              <a:rPr lang="en-US" sz="3000">
                <a:solidFill>
                  <a:srgbClr val="FF0000"/>
                </a:solidFill>
              </a:rPr>
              <a:t>short-term momentum + technical + volatility/volume</a:t>
            </a:r>
            <a:r>
              <a:rPr lang="en-US" sz="3000">
                <a:solidFill>
                  <a:srgbClr val="5A5F5E"/>
                </a:solidFill>
              </a:rPr>
              <a:t>” signals, while size/price play a supporting backbone role.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49" name="Google Shape;149;p19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56" name="Google Shape;156;p20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57" name="Google Shape;157;p20"/>
          <p:cNvSpPr txBox="1"/>
          <p:nvPr>
            <p:ph idx="3" type="body"/>
          </p:nvPr>
        </p:nvSpPr>
        <p:spPr>
          <a:xfrm>
            <a:off x="761999" y="1581811"/>
            <a:ext cx="1146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Importance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525" y="2420800"/>
            <a:ext cx="8989607" cy="671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66" name="Google Shape;166;p21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67" name="Google Shape;167;p21"/>
          <p:cNvSpPr txBox="1"/>
          <p:nvPr>
            <p:ph idx="3" type="body"/>
          </p:nvPr>
        </p:nvSpPr>
        <p:spPr>
          <a:xfrm>
            <a:off x="762000" y="1371900"/>
            <a:ext cx="11036400" cy="6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1275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2500"/>
              <a:buFont typeface="Helvetica Neue"/>
              <a:buChar char="⊡"/>
            </a:pPr>
            <a:r>
              <a:rPr b="1" lang="en-US" sz="25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Rank IC Evidence</a:t>
            </a:r>
            <a:endParaRPr b="1" sz="25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Factors with </a:t>
            </a:r>
            <a:r>
              <a:rPr lang="en-US" sz="2500">
                <a:solidFill>
                  <a:srgbClr val="FF0000"/>
                </a:solidFill>
              </a:rPr>
              <a:t>positive</a:t>
            </a:r>
            <a:r>
              <a:rPr lang="en-US" sz="2500">
                <a:solidFill>
                  <a:srgbClr val="5A5F5E"/>
                </a:solidFill>
              </a:rPr>
              <a:t> Mean Rank IC: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log_mcap_year_z, log_price_z, max_price_week_z, prcvol_mean_week_z, prcvol_std_week_z.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⇒ </a:t>
            </a:r>
            <a:r>
              <a:rPr lang="en-US" sz="2500">
                <a:solidFill>
                  <a:srgbClr val="FF0000"/>
                </a:solidFill>
              </a:rPr>
              <a:t>Large-cap</a:t>
            </a:r>
            <a:r>
              <a:rPr lang="en-US" sz="2500">
                <a:solidFill>
                  <a:srgbClr val="5A5F5E"/>
                </a:solidFill>
              </a:rPr>
              <a:t>, </a:t>
            </a:r>
            <a:r>
              <a:rPr lang="en-US" sz="2500">
                <a:solidFill>
                  <a:srgbClr val="FF0000"/>
                </a:solidFill>
              </a:rPr>
              <a:t>higher-priced</a:t>
            </a:r>
            <a:r>
              <a:rPr lang="en-US" sz="2500">
                <a:solidFill>
                  <a:srgbClr val="5A5F5E"/>
                </a:solidFill>
              </a:rPr>
              <a:t> and </a:t>
            </a:r>
            <a:r>
              <a:rPr lang="en-US" sz="2500">
                <a:solidFill>
                  <a:srgbClr val="FF0000"/>
                </a:solidFill>
              </a:rPr>
              <a:t>more liquid/active assets</a:t>
            </a:r>
            <a:r>
              <a:rPr lang="en-US" sz="2500">
                <a:solidFill>
                  <a:srgbClr val="5A5F5E"/>
                </a:solidFill>
              </a:rPr>
              <a:t> tend to have better </a:t>
            </a:r>
            <a:r>
              <a:rPr lang="en-US" sz="2500">
                <a:solidFill>
                  <a:srgbClr val="FF0000"/>
                </a:solidFill>
              </a:rPr>
              <a:t>risk-adjusted returns</a:t>
            </a:r>
            <a:r>
              <a:rPr lang="en-US" sz="2500">
                <a:solidFill>
                  <a:srgbClr val="5A5F5E"/>
                </a:solidFill>
              </a:rPr>
              <a:t> (quality / liquidity tilt).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Factors with </a:t>
            </a:r>
            <a:r>
              <a:rPr lang="en-US" sz="2500">
                <a:solidFill>
                  <a:srgbClr val="FF0000"/>
                </a:solidFill>
              </a:rPr>
              <a:t>negative</a:t>
            </a:r>
            <a:r>
              <a:rPr lang="en-US" sz="2500">
                <a:solidFill>
                  <a:srgbClr val="5A5F5E"/>
                </a:solidFill>
              </a:rPr>
              <a:t> Mean Rank IC: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Vol_4w_z, Vol_12w_z, ATR_14_norm_z, BB_Width_20_z.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⇒ </a:t>
            </a:r>
            <a:r>
              <a:rPr lang="en-US" sz="2500">
                <a:solidFill>
                  <a:srgbClr val="FF0000"/>
                </a:solidFill>
              </a:rPr>
              <a:t>High-volatility</a:t>
            </a:r>
            <a:r>
              <a:rPr lang="en-US" sz="2500">
                <a:solidFill>
                  <a:srgbClr val="5A5F5E"/>
                </a:solidFill>
              </a:rPr>
              <a:t>, </a:t>
            </a:r>
            <a:r>
              <a:rPr lang="en-US" sz="2500">
                <a:solidFill>
                  <a:srgbClr val="FF0000"/>
                </a:solidFill>
              </a:rPr>
              <a:t>high-ATR assets</a:t>
            </a:r>
            <a:r>
              <a:rPr lang="en-US" sz="2500">
                <a:solidFill>
                  <a:srgbClr val="5A5F5E"/>
                </a:solidFill>
              </a:rPr>
              <a:t> typically </a:t>
            </a:r>
            <a:r>
              <a:rPr lang="en-US" sz="2500">
                <a:solidFill>
                  <a:srgbClr val="FF0000"/>
                </a:solidFill>
              </a:rPr>
              <a:t>underperform</a:t>
            </a:r>
            <a:r>
              <a:rPr lang="en-US" sz="2500">
                <a:solidFill>
                  <a:srgbClr val="5A5F5E"/>
                </a:solidFill>
              </a:rPr>
              <a:t>, making them good </a:t>
            </a:r>
            <a:r>
              <a:rPr lang="en-US" sz="2500">
                <a:solidFill>
                  <a:srgbClr val="FF0000"/>
                </a:solidFill>
              </a:rPr>
              <a:t>short</a:t>
            </a:r>
            <a:r>
              <a:rPr lang="en-US" sz="2500">
                <a:solidFill>
                  <a:srgbClr val="5A5F5E"/>
                </a:solidFill>
              </a:rPr>
              <a:t> or </a:t>
            </a:r>
            <a:r>
              <a:rPr lang="en-US" sz="2500">
                <a:solidFill>
                  <a:srgbClr val="FF0000"/>
                </a:solidFill>
              </a:rPr>
              <a:t>de-weighting</a:t>
            </a:r>
            <a:r>
              <a:rPr lang="en-US" sz="2500">
                <a:solidFill>
                  <a:srgbClr val="5A5F5E"/>
                </a:solidFill>
              </a:rPr>
              <a:t> candidates.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Cumulative Rank IC shows that </a:t>
            </a:r>
            <a:r>
              <a:rPr lang="en-US" sz="2500">
                <a:solidFill>
                  <a:srgbClr val="FF0000"/>
                </a:solidFill>
              </a:rPr>
              <a:t>size/liquidity factors</a:t>
            </a:r>
            <a:r>
              <a:rPr lang="en-US" sz="2500">
                <a:solidFill>
                  <a:srgbClr val="5A5F5E"/>
                </a:solidFill>
              </a:rPr>
              <a:t> accumulate IC over time, indicating persistent structural alpha rather than one-off episodes</a:t>
            </a:r>
            <a:endParaRPr sz="2500">
              <a:solidFill>
                <a:srgbClr val="5A5F5E"/>
              </a:solidFill>
            </a:endParaRPr>
          </a:p>
        </p:txBody>
      </p:sp>
      <p:sp>
        <p:nvSpPr>
          <p:cNvPr id="168" name="Google Shape;168;p21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75" name="Google Shape;175;p22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76" name="Google Shape;176;p22"/>
          <p:cNvSpPr txBox="1"/>
          <p:nvPr>
            <p:ph idx="3" type="body"/>
          </p:nvPr>
        </p:nvSpPr>
        <p:spPr>
          <a:xfrm>
            <a:off x="762000" y="1371900"/>
            <a:ext cx="11036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1275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2500"/>
              <a:buFont typeface="Helvetica Neue"/>
              <a:buChar char="⊡"/>
            </a:pPr>
            <a:r>
              <a:rPr b="1" lang="en-US" sz="25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Rank IC Evidence</a:t>
            </a:r>
            <a:endParaRPr sz="2500">
              <a:solidFill>
                <a:srgbClr val="5A5F5E"/>
              </a:solidFill>
            </a:endParaRPr>
          </a:p>
        </p:txBody>
      </p:sp>
      <p:sp>
        <p:nvSpPr>
          <p:cNvPr id="177" name="Google Shape;177;p22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78" name="Google Shape;1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1935600"/>
            <a:ext cx="8847808" cy="707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84" name="Google Shape;184;p23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85" name="Google Shape;185;p23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Cross-Sectional ML Prediction</a:t>
            </a:r>
            <a:endParaRPr b="1"/>
          </a:p>
        </p:txBody>
      </p:sp>
      <p:sp>
        <p:nvSpPr>
          <p:cNvPr id="186" name="Google Shape;186;p23"/>
          <p:cNvSpPr txBox="1"/>
          <p:nvPr>
            <p:ph idx="3" type="body"/>
          </p:nvPr>
        </p:nvSpPr>
        <p:spPr>
          <a:xfrm>
            <a:off x="761999" y="1581811"/>
            <a:ext cx="114678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Volatility-Scaled Target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Prediction target: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Prevent the model from simply chasing high-volatility, high-return small tokens.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Force the model to learn </a:t>
            </a:r>
            <a:r>
              <a:rPr lang="en-US" sz="3000">
                <a:solidFill>
                  <a:srgbClr val="FF0000"/>
                </a:solidFill>
              </a:rPr>
              <a:t>risk-adjusted excess returns</a:t>
            </a:r>
            <a:r>
              <a:rPr lang="en-US" sz="3000">
                <a:solidFill>
                  <a:srgbClr val="5A5F5E"/>
                </a:solidFill>
              </a:rPr>
              <a:t>, improving robustness.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87" name="Google Shape;187;p23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88" name="Google Shape;188;p23" title="QianJianTec17651361884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900" y="2816400"/>
            <a:ext cx="5845975" cy="138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95" name="Google Shape;195;p24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Cross-Sectional ML Prediction</a:t>
            </a:r>
            <a:endParaRPr b="1"/>
          </a:p>
        </p:txBody>
      </p:sp>
      <p:sp>
        <p:nvSpPr>
          <p:cNvPr id="196" name="Google Shape;196;p24"/>
          <p:cNvSpPr txBox="1"/>
          <p:nvPr>
            <p:ph idx="3" type="body"/>
          </p:nvPr>
        </p:nvSpPr>
        <p:spPr>
          <a:xfrm>
            <a:off x="761999" y="1581811"/>
            <a:ext cx="114678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DART Boosting / Model Architecture &amp; DART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Main model: LightGBM LambdaRank (cross-sectional ranking)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DART = Dropouts meet Additive Regression Trees.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Randomly drops</a:t>
            </a:r>
            <a:r>
              <a:rPr lang="en-US" sz="3000">
                <a:solidFill>
                  <a:srgbClr val="5A5F5E"/>
                </a:solidFill>
              </a:rPr>
              <a:t> part of the existing trees before fitting a new one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Benefits: reduces </a:t>
            </a:r>
            <a:r>
              <a:rPr lang="en-US" sz="3000">
                <a:solidFill>
                  <a:srgbClr val="FF0000"/>
                </a:solidFill>
              </a:rPr>
              <a:t>overfitting</a:t>
            </a:r>
            <a:r>
              <a:rPr lang="en-US" sz="3000">
                <a:solidFill>
                  <a:srgbClr val="5A5F5E"/>
                </a:solidFill>
              </a:rPr>
              <a:t> and improves </a:t>
            </a:r>
            <a:r>
              <a:rPr lang="en-US" sz="3000">
                <a:solidFill>
                  <a:srgbClr val="FF0000"/>
                </a:solidFill>
              </a:rPr>
              <a:t>generalization</a:t>
            </a:r>
            <a:r>
              <a:rPr lang="en-US" sz="3000">
                <a:solidFill>
                  <a:srgbClr val="5A5F5E"/>
                </a:solidFill>
              </a:rPr>
              <a:t>, especially on noisy financial data.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Auxiliary model: </a:t>
            </a:r>
            <a:r>
              <a:rPr lang="en-US" sz="3000">
                <a:solidFill>
                  <a:srgbClr val="FF0000"/>
                </a:solidFill>
              </a:rPr>
              <a:t>Ridge Regression</a:t>
            </a:r>
            <a:endParaRPr sz="3000">
              <a:solidFill>
                <a:srgbClr val="FF0000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Provides a linear, smooth baseline and mitigates extreme </a:t>
            </a:r>
            <a:r>
              <a:rPr lang="en-US" sz="3000">
                <a:solidFill>
                  <a:srgbClr val="5A5F5E"/>
                </a:solidFill>
              </a:rPr>
              <a:t>nonlinear</a:t>
            </a:r>
            <a:r>
              <a:rPr lang="en-US" sz="3000">
                <a:solidFill>
                  <a:srgbClr val="5A5F5E"/>
                </a:solidFill>
              </a:rPr>
              <a:t> biases.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Ensemble: </a:t>
            </a:r>
            <a:r>
              <a:rPr lang="en-US" sz="3000">
                <a:solidFill>
                  <a:srgbClr val="FF0000"/>
                </a:solidFill>
              </a:rPr>
              <a:t>0.6 LGB + 0.4 Ridge</a:t>
            </a:r>
            <a:endParaRPr sz="3000">
              <a:solidFill>
                <a:srgbClr val="FF0000"/>
              </a:solidFill>
            </a:endParaRPr>
          </a:p>
        </p:txBody>
      </p:sp>
      <p:sp>
        <p:nvSpPr>
          <p:cNvPr id="197" name="Google Shape;197;p24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04" name="Google Shape;204;p25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Cross-Sectional ML Prediction</a:t>
            </a:r>
            <a:endParaRPr b="1"/>
          </a:p>
        </p:txBody>
      </p:sp>
      <p:sp>
        <p:nvSpPr>
          <p:cNvPr id="205" name="Google Shape;205;p25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Rolling Walk-Forward Setup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Use at least </a:t>
            </a:r>
            <a:r>
              <a:rPr lang="en-US" sz="3000">
                <a:solidFill>
                  <a:srgbClr val="FF0000"/>
                </a:solidFill>
              </a:rPr>
              <a:t>52 weeks</a:t>
            </a:r>
            <a:r>
              <a:rPr lang="en-US" sz="3000">
                <a:solidFill>
                  <a:srgbClr val="5A5F5E"/>
                </a:solidFill>
              </a:rPr>
              <a:t> of history as the initial </a:t>
            </a:r>
            <a:r>
              <a:rPr lang="en-US" sz="3000">
                <a:solidFill>
                  <a:srgbClr val="FF0000"/>
                </a:solidFill>
              </a:rPr>
              <a:t>training set</a:t>
            </a:r>
            <a:r>
              <a:rPr lang="en-US" sz="3000">
                <a:solidFill>
                  <a:srgbClr val="5A5F5E"/>
                </a:solidFill>
              </a:rPr>
              <a:t>; the most recent </a:t>
            </a:r>
            <a:r>
              <a:rPr lang="en-US" sz="3000">
                <a:solidFill>
                  <a:srgbClr val="FF0000"/>
                </a:solidFill>
              </a:rPr>
              <a:t>8 weeks</a:t>
            </a:r>
            <a:r>
              <a:rPr lang="en-US" sz="3000">
                <a:solidFill>
                  <a:srgbClr val="5A5F5E"/>
                </a:solidFill>
              </a:rPr>
              <a:t> are used for </a:t>
            </a:r>
            <a:r>
              <a:rPr lang="en-US" sz="3000">
                <a:solidFill>
                  <a:srgbClr val="FF0000"/>
                </a:solidFill>
              </a:rPr>
              <a:t>validation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Refit the model every 4 weeks, processing a total of 373 weeks of data.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Each week is treated as a ranking group; the model learns which assets should rank higher or lower within the same week.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206" name="Google Shape;206;p25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13" name="Google Shape;213;p26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Portfolio Construction</a:t>
            </a:r>
            <a:endParaRPr b="1"/>
          </a:p>
        </p:txBody>
      </p:sp>
      <p:sp>
        <p:nvSpPr>
          <p:cNvPr id="214" name="Google Shape;214;p26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15" name="Google Shape;215;p26"/>
          <p:cNvSpPr txBox="1"/>
          <p:nvPr>
            <p:ph idx="3" type="body"/>
          </p:nvPr>
        </p:nvSpPr>
        <p:spPr>
          <a:xfrm>
            <a:off x="761999" y="1581811"/>
            <a:ext cx="11467800" cy="6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Bucketing &amp; Signal Inversion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Each week, ensemble scores are bucketed into 5 quantiles (Q=5).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raw scores are </a:t>
            </a:r>
            <a:r>
              <a:rPr lang="en-US" sz="3000">
                <a:solidFill>
                  <a:srgbClr val="FF0000"/>
                </a:solidFill>
              </a:rPr>
              <a:t>negatively</a:t>
            </a:r>
            <a:r>
              <a:rPr lang="en-US" sz="3000">
                <a:solidFill>
                  <a:srgbClr val="5A5F5E"/>
                </a:solidFill>
              </a:rPr>
              <a:t> correlated with </a:t>
            </a:r>
            <a:r>
              <a:rPr lang="en-US" sz="3000">
                <a:solidFill>
                  <a:srgbClr val="FF0000"/>
                </a:solidFill>
              </a:rPr>
              <a:t>future returns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Long</a:t>
            </a:r>
            <a:r>
              <a:rPr lang="en-US" sz="3000">
                <a:solidFill>
                  <a:srgbClr val="5A5F5E"/>
                </a:solidFill>
              </a:rPr>
              <a:t>: </a:t>
            </a:r>
            <a:r>
              <a:rPr lang="en-US" sz="3000">
                <a:solidFill>
                  <a:srgbClr val="FF0000"/>
                </a:solidFill>
              </a:rPr>
              <a:t>bottom</a:t>
            </a:r>
            <a:r>
              <a:rPr lang="en-US" sz="3000">
                <a:solidFill>
                  <a:srgbClr val="5A5F5E"/>
                </a:solidFill>
              </a:rPr>
              <a:t> 20% (lowest-score quantile).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Short</a:t>
            </a:r>
            <a:r>
              <a:rPr lang="en-US" sz="3000">
                <a:solidFill>
                  <a:srgbClr val="5A5F5E"/>
                </a:solidFill>
              </a:rPr>
              <a:t>: </a:t>
            </a:r>
            <a:r>
              <a:rPr lang="en-US" sz="3000">
                <a:solidFill>
                  <a:srgbClr val="FF0000"/>
                </a:solidFill>
              </a:rPr>
              <a:t>top</a:t>
            </a:r>
            <a:r>
              <a:rPr lang="en-US" sz="3000">
                <a:solidFill>
                  <a:srgbClr val="5A5F5E"/>
                </a:solidFill>
              </a:rPr>
              <a:t> 20% (highest-score quantile).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Interpretation: the model effectively detects </a:t>
            </a:r>
            <a:r>
              <a:rPr lang="en-US" sz="3000">
                <a:solidFill>
                  <a:srgbClr val="FF0000"/>
                </a:solidFill>
              </a:rPr>
              <a:t>over-extended</a:t>
            </a:r>
            <a:r>
              <a:rPr lang="en-US" sz="3000">
                <a:solidFill>
                  <a:srgbClr val="5A5F5E"/>
                </a:solidFill>
              </a:rPr>
              <a:t> assets; </a:t>
            </a:r>
            <a:r>
              <a:rPr lang="en-US" sz="3000">
                <a:solidFill>
                  <a:srgbClr val="FF0000"/>
                </a:solidFill>
              </a:rPr>
              <a:t>high scores indicate short-term overheating</a:t>
            </a:r>
            <a:r>
              <a:rPr lang="en-US" sz="3000">
                <a:solidFill>
                  <a:srgbClr val="5A5F5E"/>
                </a:solidFill>
              </a:rPr>
              <a:t> and likely </a:t>
            </a:r>
            <a:r>
              <a:rPr lang="en-US" sz="3000">
                <a:solidFill>
                  <a:srgbClr val="FF0000"/>
                </a:solidFill>
              </a:rPr>
              <a:t>mean reversion,</a:t>
            </a:r>
            <a:r>
              <a:rPr lang="en-US" sz="3000">
                <a:solidFill>
                  <a:srgbClr val="5A5F5E"/>
                </a:solidFill>
              </a:rPr>
              <a:t> while low scores correspond to overlooked but higher-quality names.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22" name="Google Shape;222;p27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Portfolio Construction</a:t>
            </a:r>
            <a:endParaRPr b="1"/>
          </a:p>
        </p:txBody>
      </p:sp>
      <p:sp>
        <p:nvSpPr>
          <p:cNvPr id="223" name="Google Shape;223;p27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24" name="Google Shape;224;p27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 Constraints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Total gross leverage: GROSS_LEV = 1.0 (|long| + |short| = 100%).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Per-asset weight cap: |w_i| ≤ 10%.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Weekly per-asset turnover cap: |Δw_i| ≤ 30%.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One-way transaction cost: 10 bps.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Goal: control concentration and trading frictions, making the strategy implementable in practice.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30" name="Google Shape;230;p28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31" name="Google Shape;231;p28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Portfolio Construction</a:t>
            </a:r>
            <a:endParaRPr b="1"/>
          </a:p>
        </p:txBody>
      </p:sp>
      <p:sp>
        <p:nvSpPr>
          <p:cNvPr id="232" name="Google Shape;232;p28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33" name="Google Shape;233;p28"/>
          <p:cNvSpPr txBox="1"/>
          <p:nvPr>
            <p:ph idx="3" type="body"/>
          </p:nvPr>
        </p:nvSpPr>
        <p:spPr>
          <a:xfrm>
            <a:off x="761999" y="1581811"/>
            <a:ext cx="11467800" cy="6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Beta Neutrality &amp; Vol Targeting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Estimate each asset’s beta via a 52-week rolling regression on CMKT.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Adjust portfolio weights by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to achieve near </a:t>
            </a:r>
            <a:r>
              <a:rPr lang="en-US" sz="3000">
                <a:solidFill>
                  <a:srgbClr val="FF0000"/>
                </a:solidFill>
              </a:rPr>
              <a:t>beta neutrality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Using 26-week historical volatility, scale exposure to keep annualized volatility around </a:t>
            </a:r>
            <a:r>
              <a:rPr lang="en-US" sz="3000">
                <a:solidFill>
                  <a:srgbClr val="FF0000"/>
                </a:solidFill>
              </a:rPr>
              <a:t>30%</a:t>
            </a:r>
            <a:r>
              <a:rPr lang="en-US" sz="3000">
                <a:solidFill>
                  <a:srgbClr val="5A5F5E"/>
                </a:solidFill>
              </a:rPr>
              <a:t>: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De-leverage</a:t>
            </a:r>
            <a:r>
              <a:rPr lang="en-US" sz="3000">
                <a:solidFill>
                  <a:srgbClr val="5A5F5E"/>
                </a:solidFill>
              </a:rPr>
              <a:t> in </a:t>
            </a:r>
            <a:r>
              <a:rPr lang="en-US" sz="3000">
                <a:solidFill>
                  <a:srgbClr val="FF0000"/>
                </a:solidFill>
              </a:rPr>
              <a:t>high-vol</a:t>
            </a:r>
            <a:r>
              <a:rPr lang="en-US" sz="3000">
                <a:solidFill>
                  <a:srgbClr val="5A5F5E"/>
                </a:solidFill>
              </a:rPr>
              <a:t> regimes, </a:t>
            </a:r>
            <a:r>
              <a:rPr lang="en-US" sz="3000">
                <a:solidFill>
                  <a:srgbClr val="FF0000"/>
                </a:solidFill>
              </a:rPr>
              <a:t>scale up</a:t>
            </a:r>
            <a:r>
              <a:rPr lang="en-US" sz="3000">
                <a:solidFill>
                  <a:srgbClr val="5A5F5E"/>
                </a:solidFill>
              </a:rPr>
              <a:t> in </a:t>
            </a:r>
            <a:r>
              <a:rPr lang="en-US" sz="3000">
                <a:solidFill>
                  <a:srgbClr val="FF0000"/>
                </a:solidFill>
              </a:rPr>
              <a:t>low-vol</a:t>
            </a:r>
            <a:r>
              <a:rPr lang="en-US" sz="3000">
                <a:solidFill>
                  <a:srgbClr val="5A5F5E"/>
                </a:solidFill>
              </a:rPr>
              <a:t> regimes.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Result: a stable and more investable risk profile.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39" name="Google Shape;239;p29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40" name="Google Shape;240;p29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41" name="Google Shape;241;p29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42" name="Google Shape;242;p29"/>
          <p:cNvSpPr txBox="1"/>
          <p:nvPr>
            <p:ph idx="3" type="body"/>
          </p:nvPr>
        </p:nvSpPr>
        <p:spPr>
          <a:xfrm>
            <a:off x="761999" y="1581811"/>
            <a:ext cx="114678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Cumulative returns (log scale)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The beta-neutral strategy (blue) shows a </a:t>
            </a:r>
            <a:r>
              <a:rPr lang="en-US" sz="2500">
                <a:solidFill>
                  <a:srgbClr val="FF0000"/>
                </a:solidFill>
              </a:rPr>
              <a:t>smooth</a:t>
            </a:r>
            <a:r>
              <a:rPr lang="en-US" sz="2500">
                <a:solidFill>
                  <a:srgbClr val="5A5F5E"/>
                </a:solidFill>
              </a:rPr>
              <a:t>, steadily rising curve, clearly outperforming BTC (gray) over the full sample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Log scale allows fair comparison across different compounding phases.</a:t>
            </a:r>
            <a:endParaRPr sz="2500">
              <a:solidFill>
                <a:srgbClr val="5A5F5E"/>
              </a:solidFill>
            </a:endParaRPr>
          </a:p>
        </p:txBody>
      </p:sp>
      <p:pic>
        <p:nvPicPr>
          <p:cNvPr id="243" name="Google Shape;24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000" y="4049236"/>
            <a:ext cx="10172700" cy="50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49" name="Google Shape;249;p30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50" name="Google Shape;250;p30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51" name="Google Shape;251;p30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52" name="Google Shape;252;p30"/>
          <p:cNvSpPr txBox="1"/>
          <p:nvPr>
            <p:ph idx="3" type="body"/>
          </p:nvPr>
        </p:nvSpPr>
        <p:spPr>
          <a:xfrm>
            <a:off x="761999" y="1581811"/>
            <a:ext cx="1146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 Strategy VS BTC Benchmark</a:t>
            </a:r>
            <a:endParaRPr sz="2500">
              <a:solidFill>
                <a:srgbClr val="5A5F5E"/>
              </a:solidFill>
            </a:endParaRPr>
          </a:p>
        </p:txBody>
      </p:sp>
      <p:graphicFrame>
        <p:nvGraphicFramePr>
          <p:cNvPr id="253" name="Google Shape;253;p30"/>
          <p:cNvGraphicFramePr/>
          <p:nvPr/>
        </p:nvGraphicFramePr>
        <p:xfrm>
          <a:off x="1414263" y="257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{052004D5-32C2-4DC6-971E-CA1F62A65C61}</a:tableStyleId>
              </a:tblPr>
              <a:tblGrid>
                <a:gridCol w="2974150"/>
                <a:gridCol w="2974150"/>
                <a:gridCol w="2974150"/>
              </a:tblGrid>
              <a:tr h="71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Benchmark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Strategy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Annual Return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3831%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75%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Annual </a:t>
                      </a: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Volatility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9577%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37%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Sharpe Ratio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0.4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2.03</a:t>
                      </a:r>
                      <a:endParaRPr sz="3000">
                        <a:solidFill>
                          <a:srgbClr val="FF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Max Drawdown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-70.1%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-46.1%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Avg Turnover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0.72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0.72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59" name="Google Shape;259;p31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60" name="Google Shape;260;p31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61" name="Google Shape;261;p31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62" name="Google Shape;262;p31"/>
          <p:cNvSpPr txBox="1"/>
          <p:nvPr>
            <p:ph idx="3" type="body"/>
          </p:nvPr>
        </p:nvSpPr>
        <p:spPr>
          <a:xfrm>
            <a:off x="761999" y="1581811"/>
            <a:ext cx="114678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Drawdown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Strategy max drawdown is around </a:t>
            </a:r>
            <a:r>
              <a:rPr lang="en-US" sz="2500">
                <a:solidFill>
                  <a:srgbClr val="FF0000"/>
                </a:solidFill>
              </a:rPr>
              <a:t>-20% to -25%</a:t>
            </a:r>
            <a:r>
              <a:rPr lang="en-US" sz="2500">
                <a:solidFill>
                  <a:srgbClr val="5A5F5E"/>
                </a:solidFill>
              </a:rPr>
              <a:t>, with most periods within </a:t>
            </a:r>
            <a:r>
              <a:rPr lang="en-US" sz="2500">
                <a:solidFill>
                  <a:srgbClr val="FF0000"/>
                </a:solidFill>
              </a:rPr>
              <a:t>-10%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BTC experiences multiple drawdowns beyond </a:t>
            </a:r>
            <a:r>
              <a:rPr lang="en-US" sz="2500">
                <a:solidFill>
                  <a:srgbClr val="FF0000"/>
                </a:solidFill>
              </a:rPr>
              <a:t>-50%</a:t>
            </a:r>
            <a:r>
              <a:rPr lang="en-US" sz="2500">
                <a:solidFill>
                  <a:srgbClr val="5A5F5E"/>
                </a:solidFill>
              </a:rPr>
              <a:t>, approaching </a:t>
            </a:r>
            <a:r>
              <a:rPr lang="en-US" sz="2500">
                <a:solidFill>
                  <a:srgbClr val="FF0000"/>
                </a:solidFill>
              </a:rPr>
              <a:t>-70%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</p:txBody>
      </p:sp>
      <p:pic>
        <p:nvPicPr>
          <p:cNvPr id="263" name="Google Shape;2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400" y="4208497"/>
            <a:ext cx="11026476" cy="3643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69" name="Google Shape;269;p32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70" name="Google Shape;270;p32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71" name="Google Shape;271;p32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72" name="Google Shape;272;p32"/>
          <p:cNvSpPr txBox="1"/>
          <p:nvPr>
            <p:ph idx="3" type="body"/>
          </p:nvPr>
        </p:nvSpPr>
        <p:spPr>
          <a:xfrm>
            <a:off x="761999" y="1581811"/>
            <a:ext cx="11467800" cy="52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Importance &amp; Signal Inversion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FF0000"/>
                </a:solidFill>
              </a:rPr>
              <a:t>LightGBM</a:t>
            </a:r>
            <a:r>
              <a:rPr lang="en-US" sz="2500">
                <a:solidFill>
                  <a:srgbClr val="5A5F5E"/>
                </a:solidFill>
              </a:rPr>
              <a:t> primarily relies on momentum + technical + volatility features: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FF0000"/>
                </a:solidFill>
              </a:rPr>
              <a:t>High-scoring</a:t>
            </a:r>
            <a:r>
              <a:rPr lang="en-US" sz="2500">
                <a:solidFill>
                  <a:srgbClr val="5A5F5E"/>
                </a:solidFill>
              </a:rPr>
              <a:t> assets are typically “</a:t>
            </a:r>
            <a:r>
              <a:rPr lang="en-US" sz="2500">
                <a:solidFill>
                  <a:srgbClr val="FF0000"/>
                </a:solidFill>
              </a:rPr>
              <a:t>recent high flyers with elevated volatility and overheated technicals.</a:t>
            </a:r>
            <a:r>
              <a:rPr lang="en-US" sz="2500">
                <a:solidFill>
                  <a:srgbClr val="5A5F5E"/>
                </a:solidFill>
              </a:rPr>
              <a:t>”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FF0000"/>
                </a:solidFill>
              </a:rPr>
              <a:t>Mean Rank IC</a:t>
            </a:r>
            <a:r>
              <a:rPr lang="en-US" sz="2500">
                <a:solidFill>
                  <a:srgbClr val="5A5F5E"/>
                </a:solidFill>
              </a:rPr>
              <a:t> shows volatility and ATR-type features carry </a:t>
            </a:r>
            <a:r>
              <a:rPr lang="en-US" sz="2500">
                <a:solidFill>
                  <a:srgbClr val="FF0000"/>
                </a:solidFill>
              </a:rPr>
              <a:t>negative</a:t>
            </a:r>
            <a:r>
              <a:rPr lang="en-US" sz="2500">
                <a:solidFill>
                  <a:srgbClr val="5A5F5E"/>
                </a:solidFill>
              </a:rPr>
              <a:t> signals: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The more volatile the asset, the worse it tends to perform next week.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⇒ </a:t>
            </a:r>
            <a:r>
              <a:rPr lang="en-US" sz="2500">
                <a:solidFill>
                  <a:srgbClr val="FF0000"/>
                </a:solidFill>
              </a:rPr>
              <a:t>Over-extended assets likely to underperform</a:t>
            </a:r>
            <a:r>
              <a:rPr lang="en-US" sz="2500">
                <a:solidFill>
                  <a:srgbClr val="5A5F5E"/>
                </a:solidFill>
              </a:rPr>
              <a:t>,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Inverting the signal (long low scores, short high scores) with a </a:t>
            </a:r>
            <a:r>
              <a:rPr lang="en-US" sz="2500">
                <a:solidFill>
                  <a:srgbClr val="FF0000"/>
                </a:solidFill>
              </a:rPr>
              <a:t>mean-reversion</a:t>
            </a:r>
            <a:r>
              <a:rPr lang="en-US" sz="2500">
                <a:solidFill>
                  <a:srgbClr val="5A5F5E"/>
                </a:solidFill>
              </a:rPr>
              <a:t> strategy.</a:t>
            </a:r>
            <a:endParaRPr sz="25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80" name="Google Shape;280;p33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81" name="Google Shape;281;p33"/>
          <p:cNvSpPr txBox="1"/>
          <p:nvPr>
            <p:ph idx="3" type="body"/>
          </p:nvPr>
        </p:nvSpPr>
        <p:spPr>
          <a:xfrm>
            <a:off x="761999" y="1594511"/>
            <a:ext cx="1146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Cumulative Rank IC </a:t>
            </a:r>
            <a:endParaRPr sz="2500">
              <a:solidFill>
                <a:srgbClr val="5A5F5E"/>
              </a:solidFill>
            </a:endParaRPr>
          </a:p>
        </p:txBody>
      </p:sp>
      <p:pic>
        <p:nvPicPr>
          <p:cNvPr id="282" name="Google Shape;28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900" y="2381411"/>
            <a:ext cx="9677400" cy="48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88" name="Google Shape;288;p34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89" name="Google Shape;289;p34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90" name="Google Shape;290;p34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91" name="Google Shape;291;p34"/>
          <p:cNvSpPr txBox="1"/>
          <p:nvPr>
            <p:ph idx="3" type="body"/>
          </p:nvPr>
        </p:nvSpPr>
        <p:spPr>
          <a:xfrm>
            <a:off x="761999" y="1581811"/>
            <a:ext cx="11467800" cy="4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Cumulative Rank IC 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Large-cap, liquid, high-attention assets consistently outperform on a risk-adjusted basis, creating a </a:t>
            </a:r>
            <a:r>
              <a:rPr lang="en-US" sz="2500">
                <a:solidFill>
                  <a:srgbClr val="FF0000"/>
                </a:solidFill>
              </a:rPr>
              <a:t>structural quality/liquidity alpha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The strategy effectively combines two core components: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A </a:t>
            </a:r>
            <a:r>
              <a:rPr lang="en-US" sz="2500">
                <a:solidFill>
                  <a:srgbClr val="FF0000"/>
                </a:solidFill>
              </a:rPr>
              <a:t>quality/liquidity tilt</a:t>
            </a:r>
            <a:r>
              <a:rPr lang="en-US" sz="2500">
                <a:solidFill>
                  <a:srgbClr val="5A5F5E"/>
                </a:solidFill>
              </a:rPr>
              <a:t> toward </a:t>
            </a:r>
            <a:r>
              <a:rPr lang="en-US" sz="2500">
                <a:solidFill>
                  <a:srgbClr val="FF0000"/>
                </a:solidFill>
              </a:rPr>
              <a:t>large, liquid names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A </a:t>
            </a:r>
            <a:r>
              <a:rPr lang="en-US" sz="2500">
                <a:solidFill>
                  <a:srgbClr val="FF0000"/>
                </a:solidFill>
              </a:rPr>
              <a:t>mean-reversion</a:t>
            </a:r>
            <a:r>
              <a:rPr lang="en-US" sz="2500">
                <a:solidFill>
                  <a:srgbClr val="5A5F5E"/>
                </a:solidFill>
              </a:rPr>
              <a:t> short/underweight leg against </a:t>
            </a:r>
            <a:r>
              <a:rPr lang="en-US" sz="2500">
                <a:solidFill>
                  <a:srgbClr val="FF0000"/>
                </a:solidFill>
              </a:rPr>
              <a:t>short-term over-extended</a:t>
            </a:r>
            <a:r>
              <a:rPr lang="en-US" sz="2500">
                <a:solidFill>
                  <a:srgbClr val="5A5F5E"/>
                </a:solidFill>
              </a:rPr>
              <a:t>, </a:t>
            </a:r>
            <a:r>
              <a:rPr lang="en-US" sz="2500">
                <a:solidFill>
                  <a:srgbClr val="FF0000"/>
                </a:solidFill>
              </a:rPr>
              <a:t>high-volatility names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97" name="Google Shape;297;p35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98" name="Google Shape;298;p35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99" name="Google Shape;299;p35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300" name="Google Shape;300;p35"/>
          <p:cNvSpPr txBox="1"/>
          <p:nvPr>
            <p:ph idx="3" type="body"/>
          </p:nvPr>
        </p:nvSpPr>
        <p:spPr>
          <a:xfrm>
            <a:off x="761999" y="1581811"/>
            <a:ext cx="11467800" cy="6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318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2800"/>
              <a:buFont typeface="Helvetica Neue"/>
              <a:buChar char="⊡"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Conclusion</a:t>
            </a:r>
            <a:endParaRPr b="1" sz="28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Starting from the motivation: in a noisy, highly volatile crypto market, we aim for a risk-controlled, beta-neutral alpha strategy.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Through data filtering and feature engineering, we focus on the annual top-30 large-cap universe and build momentum, technical, volatility, liquidity, and size factors.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Using a volatility-scaled target with DART-LightGBM and Ridge ensemble, we learn which assets will outperform on a risk-adjusted basis in the next week.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Empirically, model scores detect “over-extended vs stable high-quality” assets, which naturally leads to signal inversion plus long–short, beta neutrality, and volatility targeting.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Final outcome: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FF0000"/>
                </a:solidFill>
              </a:rPr>
              <a:t>Cumulative returns </a:t>
            </a:r>
            <a:r>
              <a:rPr lang="en-US" sz="2300">
                <a:solidFill>
                  <a:srgbClr val="5A5F5E"/>
                </a:solidFill>
              </a:rPr>
              <a:t>consistently</a:t>
            </a:r>
            <a:r>
              <a:rPr lang="en-US" sz="2300">
                <a:solidFill>
                  <a:srgbClr val="FF0000"/>
                </a:solidFill>
              </a:rPr>
              <a:t> outperform BTC</a:t>
            </a:r>
            <a:r>
              <a:rPr lang="en-US" sz="2300">
                <a:solidFill>
                  <a:srgbClr val="5A5F5E"/>
                </a:solidFill>
              </a:rPr>
              <a:t>;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FF0000"/>
                </a:solidFill>
              </a:rPr>
              <a:t>Annual volatility </a:t>
            </a:r>
            <a:r>
              <a:rPr lang="en-US" sz="2300">
                <a:solidFill>
                  <a:srgbClr val="5A5F5E"/>
                </a:solidFill>
              </a:rPr>
              <a:t>and </a:t>
            </a:r>
            <a:r>
              <a:rPr lang="en-US" sz="2300">
                <a:solidFill>
                  <a:srgbClr val="FF0000"/>
                </a:solidFill>
              </a:rPr>
              <a:t>max drawdown </a:t>
            </a:r>
            <a:r>
              <a:rPr lang="en-US" sz="2300">
                <a:solidFill>
                  <a:srgbClr val="5A5F5E"/>
                </a:solidFill>
              </a:rPr>
              <a:t>are greatly</a:t>
            </a:r>
            <a:r>
              <a:rPr lang="en-US" sz="2300">
                <a:solidFill>
                  <a:srgbClr val="FF0000"/>
                </a:solidFill>
              </a:rPr>
              <a:t> reduced</a:t>
            </a:r>
            <a:r>
              <a:rPr lang="en-US" sz="2300">
                <a:solidFill>
                  <a:srgbClr val="5A5F5E"/>
                </a:solidFill>
              </a:rPr>
              <a:t>;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FF0000"/>
                </a:solidFill>
              </a:rPr>
              <a:t>Sharpe ≈ 2</a:t>
            </a:r>
            <a:r>
              <a:rPr lang="en-US" sz="2300">
                <a:solidFill>
                  <a:srgbClr val="5A5F5E"/>
                </a:solidFill>
              </a:rPr>
              <a:t> with a clear, interpretable strategy (</a:t>
            </a:r>
            <a:r>
              <a:rPr lang="en-US" sz="2300">
                <a:solidFill>
                  <a:srgbClr val="FF0000"/>
                </a:solidFill>
              </a:rPr>
              <a:t>mean reversion + quality/liquidity</a:t>
            </a:r>
            <a:r>
              <a:rPr lang="en-US" sz="2300">
                <a:solidFill>
                  <a:srgbClr val="5A5F5E"/>
                </a:solidFill>
              </a:rPr>
              <a:t>).</a:t>
            </a:r>
            <a:endParaRPr sz="23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A5F5E">
            <a:alpha val="15690"/>
          </a:srgbClr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idx="1" type="body"/>
          </p:nvPr>
        </p:nvSpPr>
        <p:spPr>
          <a:xfrm>
            <a:off x="773350" y="3116013"/>
            <a:ext cx="11458200" cy="21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ct val="100000"/>
              <a:buFont typeface="Helvetica Neue Light"/>
              <a:buNone/>
            </a:pPr>
            <a:r>
              <a:rPr lang="en-US">
                <a:solidFill>
                  <a:srgbClr val="D30F11"/>
                </a:solidFill>
              </a:rPr>
              <a:t>A Beta-Neutral Crypto ML Strategy: From Signal Inversion to Robust Alpha</a:t>
            </a:r>
            <a:endParaRPr>
              <a:solidFill>
                <a:srgbClr val="D30F1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Helvetica Neue Light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9519751" y="9237870"/>
            <a:ext cx="3163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500"/>
              <a:buFont typeface="Helvetica Neue Light"/>
              <a:buNone/>
            </a:pP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2025 Machine Learning &amp; Fintech</a:t>
            </a:r>
            <a:endParaRPr b="0" i="0" sz="1500" u="none" cap="none" strike="noStrike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07" name="Google Shape;307;p36"/>
          <p:cNvSpPr txBox="1"/>
          <p:nvPr>
            <p:ph idx="12" type="sldNum"/>
          </p:nvPr>
        </p:nvSpPr>
        <p:spPr>
          <a:xfrm>
            <a:off x="6325920" y="9271000"/>
            <a:ext cx="3402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36"/>
          <p:cNvSpPr txBox="1"/>
          <p:nvPr/>
        </p:nvSpPr>
        <p:spPr>
          <a:xfrm>
            <a:off x="773448" y="5361937"/>
            <a:ext cx="11457900" cy="3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Student Name: </a:t>
            </a:r>
            <a:r>
              <a:rPr lang="en-US" sz="31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Sam, Bill, Jannis</a:t>
            </a:r>
            <a:endParaRPr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Advisor Name: Hui Wen Teng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3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8199" y="7570850"/>
            <a:ext cx="1585177" cy="15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C4D3D3"/>
      </a:dk1>
      <a:lt1>
        <a:srgbClr val="D30F11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C4D3D3"/>
      </a:dk1>
      <a:lt1>
        <a:srgbClr val="D37A7B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