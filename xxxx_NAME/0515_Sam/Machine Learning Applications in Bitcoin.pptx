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9753600" cx="13004800"/>
  <p:notesSz cx="6858000" cy="9144000"/>
  <p:embeddedFontLst>
    <p:embeddedFont>
      <p:font typeface="Helvetica Neue"/>
      <p:regular r:id="rId19"/>
      <p:bold r:id="rId20"/>
      <p:italic r:id="rId21"/>
      <p:boldItalic r:id="rId22"/>
    </p:embeddedFont>
    <p:embeddedFont>
      <p:font typeface="Helvetica Neue Ligh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.fntdata"/><Relationship Id="rId22" Type="http://schemas.openxmlformats.org/officeDocument/2006/relationships/font" Target="fonts/HelveticaNeue-boldItalic.fntdata"/><Relationship Id="rId21" Type="http://schemas.openxmlformats.org/officeDocument/2006/relationships/font" Target="fonts/HelveticaNeue-italic.fntdata"/><Relationship Id="rId24" Type="http://schemas.openxmlformats.org/officeDocument/2006/relationships/font" Target="fonts/HelveticaNeueLight-bold.fntdata"/><Relationship Id="rId23" Type="http://schemas.openxmlformats.org/officeDocument/2006/relationships/font" Target="fonts/HelveticaNeueLigh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HelveticaNeueLight-boldItalic.fntdata"/><Relationship Id="rId25" Type="http://schemas.openxmlformats.org/officeDocument/2006/relationships/font" Target="fonts/HelveticaNeueL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HelveticaNeue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5pPr>
            <a:lvl6pPr indent="-228600" lvl="5" marL="2743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6pPr>
            <a:lvl7pPr indent="-228600" lvl="6" marL="3200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7pPr>
            <a:lvl8pPr indent="-228600" lvl="7" marL="3657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8pPr>
            <a:lvl9pPr indent="-228600" lvl="8" marL="4114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1baab6856_0_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a1baab6856_0_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1baab6856_0_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a1baab6856_0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1baab6856_0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a1baab6856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1baab6856_0_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a1baab6856_0_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1baab6856_0_1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a1baab6856_0_1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1baab6856_0_1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a1baab6856_0_1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1baab6856_0_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a1baab6856_0_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1baab6856_0_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a1baab6856_0_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1baab6856_0_1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a1baab6856_0_1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1baab6856_0_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a1baab6856_0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copy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idx="1" type="body"/>
          </p:nvPr>
        </p:nvSpPr>
        <p:spPr>
          <a:xfrm>
            <a:off x="773350" y="2345153"/>
            <a:ext cx="11458100" cy="1760787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500"/>
              <a:buFont typeface="Helvetica Neue Light"/>
              <a:buNone/>
              <a:defRPr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6325920" y="9271000"/>
            <a:ext cx="340260" cy="32451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 副本" showMasterSp="0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rgbClr val="5353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" name="Google Shape;18;p3"/>
          <p:cNvCxnSpPr/>
          <p:nvPr/>
        </p:nvCxnSpPr>
        <p:spPr>
          <a:xfrm>
            <a:off x="761999" y="624879"/>
            <a:ext cx="11474292" cy="1"/>
          </a:xfrm>
          <a:prstGeom prst="straightConnector1">
            <a:avLst/>
          </a:prstGeom>
          <a:noFill/>
          <a:ln cap="flat" cmpd="sng" w="25400">
            <a:solidFill>
              <a:srgbClr val="5A5F5E">
                <a:alpha val="15686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755809" y="213147"/>
            <a:ext cx="9502858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body"/>
          </p:nvPr>
        </p:nvSpPr>
        <p:spPr>
          <a:xfrm>
            <a:off x="762000" y="762000"/>
            <a:ext cx="11467783" cy="60985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  <a:defRPr sz="3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body"/>
          </p:nvPr>
        </p:nvSpPr>
        <p:spPr>
          <a:xfrm>
            <a:off x="761999" y="1581811"/>
            <a:ext cx="11467783" cy="292595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body"/>
          </p:nvPr>
        </p:nvSpPr>
        <p:spPr>
          <a:xfrm>
            <a:off x="715409" y="9235479"/>
            <a:ext cx="5479247" cy="399033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  <a:defRPr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cxnSp>
        <p:nvCxnSpPr>
          <p:cNvPr id="23" name="Google Shape;23;p3"/>
          <p:cNvCxnSpPr/>
          <p:nvPr/>
        </p:nvCxnSpPr>
        <p:spPr>
          <a:xfrm>
            <a:off x="700892" y="9159279"/>
            <a:ext cx="10543492" cy="1"/>
          </a:xfrm>
          <a:prstGeom prst="straightConnector1">
            <a:avLst/>
          </a:prstGeom>
          <a:noFill/>
          <a:ln cap="flat" cmpd="sng" w="25400">
            <a:solidFill>
              <a:srgbClr val="5A5F5E">
                <a:alpha val="15686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descr="norm_quant.jpg" id="24" name="Google Shape;24;p3"/>
          <p:cNvPicPr preferRelativeResize="0"/>
          <p:nvPr/>
        </p:nvPicPr>
        <p:blipFill rotWithShape="1">
          <a:blip r:embed="rId2">
            <a:alphaModFix/>
          </a:blip>
          <a:srcRect b="13992" l="7684" r="6266" t="12299"/>
          <a:stretch/>
        </p:blipFill>
        <p:spPr>
          <a:xfrm>
            <a:off x="11456784" y="8603504"/>
            <a:ext cx="1259216" cy="763127"/>
          </a:xfrm>
          <a:custGeom>
            <a:rect b="b" l="l" r="r" t="t"/>
            <a:pathLst>
              <a:path extrusionOk="0" h="21575" w="21588">
                <a:moveTo>
                  <a:pt x="10967" y="0"/>
                </a:moveTo>
                <a:cubicBezTo>
                  <a:pt x="10620" y="33"/>
                  <a:pt x="10344" y="274"/>
                  <a:pt x="10014" y="819"/>
                </a:cubicBezTo>
                <a:cubicBezTo>
                  <a:pt x="9987" y="865"/>
                  <a:pt x="9960" y="917"/>
                  <a:pt x="9933" y="965"/>
                </a:cubicBezTo>
                <a:cubicBezTo>
                  <a:pt x="9318" y="2043"/>
                  <a:pt x="8762" y="3752"/>
                  <a:pt x="7544" y="8281"/>
                </a:cubicBezTo>
                <a:cubicBezTo>
                  <a:pt x="7443" y="8658"/>
                  <a:pt x="7392" y="8837"/>
                  <a:pt x="7306" y="9156"/>
                </a:cubicBezTo>
                <a:cubicBezTo>
                  <a:pt x="7307" y="9189"/>
                  <a:pt x="7299" y="9214"/>
                  <a:pt x="7286" y="9223"/>
                </a:cubicBezTo>
                <a:cubicBezTo>
                  <a:pt x="7153" y="9714"/>
                  <a:pt x="7023" y="10202"/>
                  <a:pt x="6918" y="10581"/>
                </a:cubicBezTo>
                <a:cubicBezTo>
                  <a:pt x="6916" y="10589"/>
                  <a:pt x="6915" y="10608"/>
                  <a:pt x="6912" y="10614"/>
                </a:cubicBezTo>
                <a:cubicBezTo>
                  <a:pt x="6699" y="11385"/>
                  <a:pt x="6514" y="12030"/>
                  <a:pt x="6354" y="12567"/>
                </a:cubicBezTo>
                <a:cubicBezTo>
                  <a:pt x="6353" y="12580"/>
                  <a:pt x="6344" y="12593"/>
                  <a:pt x="6340" y="12600"/>
                </a:cubicBezTo>
                <a:cubicBezTo>
                  <a:pt x="6308" y="12707"/>
                  <a:pt x="6270" y="12843"/>
                  <a:pt x="6238" y="12948"/>
                </a:cubicBezTo>
                <a:cubicBezTo>
                  <a:pt x="6194" y="13093"/>
                  <a:pt x="6152" y="13213"/>
                  <a:pt x="6109" y="13352"/>
                </a:cubicBezTo>
                <a:cubicBezTo>
                  <a:pt x="6109" y="13372"/>
                  <a:pt x="6110" y="13379"/>
                  <a:pt x="6102" y="13386"/>
                </a:cubicBezTo>
                <a:cubicBezTo>
                  <a:pt x="6074" y="13476"/>
                  <a:pt x="6041" y="13567"/>
                  <a:pt x="6013" y="13655"/>
                </a:cubicBezTo>
                <a:cubicBezTo>
                  <a:pt x="6009" y="13667"/>
                  <a:pt x="6011" y="13664"/>
                  <a:pt x="6007" y="13678"/>
                </a:cubicBezTo>
                <a:cubicBezTo>
                  <a:pt x="6005" y="13683"/>
                  <a:pt x="6002" y="13684"/>
                  <a:pt x="6000" y="13689"/>
                </a:cubicBezTo>
                <a:cubicBezTo>
                  <a:pt x="5386" y="15618"/>
                  <a:pt x="4805" y="17096"/>
                  <a:pt x="4197" y="18177"/>
                </a:cubicBezTo>
                <a:cubicBezTo>
                  <a:pt x="4193" y="18190"/>
                  <a:pt x="4197" y="18196"/>
                  <a:pt x="4190" y="18211"/>
                </a:cubicBezTo>
                <a:cubicBezTo>
                  <a:pt x="4177" y="18236"/>
                  <a:pt x="4160" y="18264"/>
                  <a:pt x="4142" y="18278"/>
                </a:cubicBezTo>
                <a:cubicBezTo>
                  <a:pt x="4111" y="18331"/>
                  <a:pt x="4078" y="18383"/>
                  <a:pt x="4047" y="18435"/>
                </a:cubicBezTo>
                <a:cubicBezTo>
                  <a:pt x="4033" y="18470"/>
                  <a:pt x="4019" y="18495"/>
                  <a:pt x="3999" y="18525"/>
                </a:cubicBezTo>
                <a:cubicBezTo>
                  <a:pt x="3988" y="18543"/>
                  <a:pt x="3981" y="18547"/>
                  <a:pt x="3972" y="18558"/>
                </a:cubicBezTo>
                <a:cubicBezTo>
                  <a:pt x="3371" y="19526"/>
                  <a:pt x="2740" y="20155"/>
                  <a:pt x="2013" y="20556"/>
                </a:cubicBezTo>
                <a:cubicBezTo>
                  <a:pt x="1944" y="20594"/>
                  <a:pt x="1865" y="20631"/>
                  <a:pt x="1788" y="20668"/>
                </a:cubicBezTo>
                <a:cubicBezTo>
                  <a:pt x="1784" y="20671"/>
                  <a:pt x="1777" y="20679"/>
                  <a:pt x="1775" y="20679"/>
                </a:cubicBezTo>
                <a:cubicBezTo>
                  <a:pt x="1442" y="20836"/>
                  <a:pt x="1063" y="20965"/>
                  <a:pt x="795" y="21016"/>
                </a:cubicBezTo>
                <a:cubicBezTo>
                  <a:pt x="633" y="21046"/>
                  <a:pt x="600" y="21072"/>
                  <a:pt x="577" y="21173"/>
                </a:cubicBezTo>
                <a:cubicBezTo>
                  <a:pt x="551" y="21285"/>
                  <a:pt x="537" y="21296"/>
                  <a:pt x="284" y="21296"/>
                </a:cubicBezTo>
                <a:cubicBezTo>
                  <a:pt x="56" y="21296"/>
                  <a:pt x="17" y="21301"/>
                  <a:pt x="5" y="21375"/>
                </a:cubicBezTo>
                <a:cubicBezTo>
                  <a:pt x="-2" y="21422"/>
                  <a:pt x="-1" y="21487"/>
                  <a:pt x="5" y="21521"/>
                </a:cubicBezTo>
                <a:cubicBezTo>
                  <a:pt x="22" y="21600"/>
                  <a:pt x="21568" y="21589"/>
                  <a:pt x="21561" y="21509"/>
                </a:cubicBezTo>
                <a:cubicBezTo>
                  <a:pt x="21558" y="21482"/>
                  <a:pt x="21567" y="21428"/>
                  <a:pt x="21581" y="21386"/>
                </a:cubicBezTo>
                <a:cubicBezTo>
                  <a:pt x="21598" y="21334"/>
                  <a:pt x="21584" y="21269"/>
                  <a:pt x="21540" y="21184"/>
                </a:cubicBezTo>
                <a:cubicBezTo>
                  <a:pt x="21484" y="21076"/>
                  <a:pt x="21424" y="21043"/>
                  <a:pt x="21146" y="20971"/>
                </a:cubicBezTo>
                <a:cubicBezTo>
                  <a:pt x="21141" y="20972"/>
                  <a:pt x="21142" y="20972"/>
                  <a:pt x="21139" y="20971"/>
                </a:cubicBezTo>
                <a:cubicBezTo>
                  <a:pt x="21006" y="20936"/>
                  <a:pt x="20876" y="20891"/>
                  <a:pt x="20751" y="20847"/>
                </a:cubicBezTo>
                <a:cubicBezTo>
                  <a:pt x="20709" y="20840"/>
                  <a:pt x="20670" y="20832"/>
                  <a:pt x="20656" y="20814"/>
                </a:cubicBezTo>
                <a:cubicBezTo>
                  <a:pt x="20474" y="20746"/>
                  <a:pt x="20298" y="20667"/>
                  <a:pt x="20132" y="20578"/>
                </a:cubicBezTo>
                <a:cubicBezTo>
                  <a:pt x="20125" y="20578"/>
                  <a:pt x="20118" y="20574"/>
                  <a:pt x="20111" y="20567"/>
                </a:cubicBezTo>
                <a:cubicBezTo>
                  <a:pt x="19679" y="20332"/>
                  <a:pt x="19291" y="20019"/>
                  <a:pt x="18928" y="19613"/>
                </a:cubicBezTo>
                <a:cubicBezTo>
                  <a:pt x="18919" y="19605"/>
                  <a:pt x="18916" y="19600"/>
                  <a:pt x="18907" y="19591"/>
                </a:cubicBezTo>
                <a:cubicBezTo>
                  <a:pt x="18900" y="19583"/>
                  <a:pt x="18893" y="19576"/>
                  <a:pt x="18887" y="19568"/>
                </a:cubicBezTo>
                <a:cubicBezTo>
                  <a:pt x="18830" y="19503"/>
                  <a:pt x="18779" y="19436"/>
                  <a:pt x="18723" y="19366"/>
                </a:cubicBezTo>
                <a:cubicBezTo>
                  <a:pt x="18720" y="19367"/>
                  <a:pt x="18714" y="19365"/>
                  <a:pt x="18710" y="19366"/>
                </a:cubicBezTo>
                <a:cubicBezTo>
                  <a:pt x="18686" y="19371"/>
                  <a:pt x="18627" y="19281"/>
                  <a:pt x="18587" y="19198"/>
                </a:cubicBezTo>
                <a:cubicBezTo>
                  <a:pt x="18510" y="19095"/>
                  <a:pt x="18432" y="18985"/>
                  <a:pt x="18356" y="18873"/>
                </a:cubicBezTo>
                <a:cubicBezTo>
                  <a:pt x="18353" y="18871"/>
                  <a:pt x="18351" y="18864"/>
                  <a:pt x="18349" y="18861"/>
                </a:cubicBezTo>
                <a:cubicBezTo>
                  <a:pt x="18294" y="18780"/>
                  <a:pt x="18240" y="18702"/>
                  <a:pt x="18186" y="18614"/>
                </a:cubicBezTo>
                <a:cubicBezTo>
                  <a:pt x="17775" y="17959"/>
                  <a:pt x="17463" y="17349"/>
                  <a:pt x="17104" y="16483"/>
                </a:cubicBezTo>
                <a:cubicBezTo>
                  <a:pt x="17087" y="16455"/>
                  <a:pt x="17076" y="16412"/>
                  <a:pt x="17063" y="16370"/>
                </a:cubicBezTo>
                <a:cubicBezTo>
                  <a:pt x="17061" y="16363"/>
                  <a:pt x="17058" y="16366"/>
                  <a:pt x="17056" y="16359"/>
                </a:cubicBezTo>
                <a:cubicBezTo>
                  <a:pt x="17037" y="16312"/>
                  <a:pt x="17022" y="16274"/>
                  <a:pt x="17002" y="16225"/>
                </a:cubicBezTo>
                <a:cubicBezTo>
                  <a:pt x="16863" y="15881"/>
                  <a:pt x="16729" y="15535"/>
                  <a:pt x="16601" y="15181"/>
                </a:cubicBezTo>
                <a:cubicBezTo>
                  <a:pt x="16592" y="15163"/>
                  <a:pt x="16592" y="15152"/>
                  <a:pt x="16587" y="15136"/>
                </a:cubicBezTo>
                <a:cubicBezTo>
                  <a:pt x="16315" y="14383"/>
                  <a:pt x="16029" y="13464"/>
                  <a:pt x="15696" y="12320"/>
                </a:cubicBezTo>
                <a:cubicBezTo>
                  <a:pt x="15679" y="12291"/>
                  <a:pt x="15664" y="12242"/>
                  <a:pt x="15648" y="12163"/>
                </a:cubicBezTo>
                <a:cubicBezTo>
                  <a:pt x="15514" y="11699"/>
                  <a:pt x="15366" y="11192"/>
                  <a:pt x="15206" y="10614"/>
                </a:cubicBezTo>
                <a:cubicBezTo>
                  <a:pt x="15192" y="10579"/>
                  <a:pt x="15181" y="10530"/>
                  <a:pt x="15172" y="10480"/>
                </a:cubicBezTo>
                <a:cubicBezTo>
                  <a:pt x="15085" y="10167"/>
                  <a:pt x="14989" y="9822"/>
                  <a:pt x="14893" y="9470"/>
                </a:cubicBezTo>
                <a:cubicBezTo>
                  <a:pt x="14885" y="9463"/>
                  <a:pt x="14879" y="9447"/>
                  <a:pt x="14879" y="9425"/>
                </a:cubicBezTo>
                <a:cubicBezTo>
                  <a:pt x="14786" y="9084"/>
                  <a:pt x="14717" y="8830"/>
                  <a:pt x="14614" y="8449"/>
                </a:cubicBezTo>
                <a:cubicBezTo>
                  <a:pt x="14560" y="8250"/>
                  <a:pt x="14541" y="8183"/>
                  <a:pt x="14491" y="8000"/>
                </a:cubicBezTo>
                <a:cubicBezTo>
                  <a:pt x="13853" y="5643"/>
                  <a:pt x="13510" y="4430"/>
                  <a:pt x="13233" y="3579"/>
                </a:cubicBezTo>
                <a:cubicBezTo>
                  <a:pt x="12600" y="1643"/>
                  <a:pt x="12102" y="617"/>
                  <a:pt x="11593" y="202"/>
                </a:cubicBezTo>
                <a:cubicBezTo>
                  <a:pt x="11414" y="56"/>
                  <a:pt x="11335" y="16"/>
                  <a:pt x="11157" y="0"/>
                </a:cubicBezTo>
                <a:lnTo>
                  <a:pt x="11008" y="0"/>
                </a:lnTo>
                <a:lnTo>
                  <a:pt x="10967" y="0"/>
                </a:lnTo>
                <a:close/>
                <a:moveTo>
                  <a:pt x="16988" y="17190"/>
                </a:moveTo>
                <a:cubicBezTo>
                  <a:pt x="17071" y="17171"/>
                  <a:pt x="17192" y="17226"/>
                  <a:pt x="17192" y="17313"/>
                </a:cubicBezTo>
                <a:cubicBezTo>
                  <a:pt x="17192" y="17341"/>
                  <a:pt x="17221" y="17424"/>
                  <a:pt x="17254" y="17492"/>
                </a:cubicBezTo>
                <a:cubicBezTo>
                  <a:pt x="17286" y="17561"/>
                  <a:pt x="17304" y="17636"/>
                  <a:pt x="17295" y="17661"/>
                </a:cubicBezTo>
                <a:cubicBezTo>
                  <a:pt x="17285" y="17685"/>
                  <a:pt x="17273" y="17771"/>
                  <a:pt x="17267" y="17852"/>
                </a:cubicBezTo>
                <a:cubicBezTo>
                  <a:pt x="17255" y="18013"/>
                  <a:pt x="17313" y="18045"/>
                  <a:pt x="17376" y="17919"/>
                </a:cubicBezTo>
                <a:cubicBezTo>
                  <a:pt x="17419" y="17833"/>
                  <a:pt x="17474" y="17875"/>
                  <a:pt x="17451" y="17975"/>
                </a:cubicBezTo>
                <a:cubicBezTo>
                  <a:pt x="17441" y="18018"/>
                  <a:pt x="17458" y="18042"/>
                  <a:pt x="17492" y="18042"/>
                </a:cubicBezTo>
                <a:cubicBezTo>
                  <a:pt x="17571" y="18042"/>
                  <a:pt x="17588" y="18100"/>
                  <a:pt x="17539" y="18188"/>
                </a:cubicBezTo>
                <a:cubicBezTo>
                  <a:pt x="17501" y="18258"/>
                  <a:pt x="17509" y="18267"/>
                  <a:pt x="17594" y="18267"/>
                </a:cubicBezTo>
                <a:cubicBezTo>
                  <a:pt x="17687" y="18266"/>
                  <a:pt x="17689" y="18275"/>
                  <a:pt x="17689" y="18491"/>
                </a:cubicBezTo>
                <a:cubicBezTo>
                  <a:pt x="17689" y="18679"/>
                  <a:pt x="17701" y="18747"/>
                  <a:pt x="17737" y="18727"/>
                </a:cubicBezTo>
                <a:cubicBezTo>
                  <a:pt x="17858" y="18660"/>
                  <a:pt x="17941" y="18760"/>
                  <a:pt x="17921" y="18951"/>
                </a:cubicBezTo>
                <a:cubicBezTo>
                  <a:pt x="17904" y="19108"/>
                  <a:pt x="17935" y="19195"/>
                  <a:pt x="17982" y="19131"/>
                </a:cubicBezTo>
                <a:cubicBezTo>
                  <a:pt x="18004" y="19101"/>
                  <a:pt x="18026" y="19091"/>
                  <a:pt x="18036" y="19108"/>
                </a:cubicBezTo>
                <a:cubicBezTo>
                  <a:pt x="18047" y="19125"/>
                  <a:pt x="18074" y="19118"/>
                  <a:pt x="18097" y="19086"/>
                </a:cubicBezTo>
                <a:cubicBezTo>
                  <a:pt x="18143" y="19023"/>
                  <a:pt x="18196" y="19093"/>
                  <a:pt x="18165" y="19176"/>
                </a:cubicBezTo>
                <a:cubicBezTo>
                  <a:pt x="18156" y="19200"/>
                  <a:pt x="18172" y="19226"/>
                  <a:pt x="18199" y="19243"/>
                </a:cubicBezTo>
                <a:cubicBezTo>
                  <a:pt x="18237" y="19267"/>
                  <a:pt x="18240" y="19289"/>
                  <a:pt x="18213" y="19333"/>
                </a:cubicBezTo>
                <a:cubicBezTo>
                  <a:pt x="18165" y="19412"/>
                  <a:pt x="18168" y="19477"/>
                  <a:pt x="18220" y="19445"/>
                </a:cubicBezTo>
                <a:cubicBezTo>
                  <a:pt x="18283" y="19405"/>
                  <a:pt x="18455" y="19617"/>
                  <a:pt x="18417" y="19692"/>
                </a:cubicBezTo>
                <a:cubicBezTo>
                  <a:pt x="18388" y="19750"/>
                  <a:pt x="18407" y="19910"/>
                  <a:pt x="18444" y="19916"/>
                </a:cubicBezTo>
                <a:cubicBezTo>
                  <a:pt x="18455" y="19918"/>
                  <a:pt x="18504" y="19927"/>
                  <a:pt x="18560" y="19938"/>
                </a:cubicBezTo>
                <a:cubicBezTo>
                  <a:pt x="18616" y="19950"/>
                  <a:pt x="18683" y="19944"/>
                  <a:pt x="18703" y="19916"/>
                </a:cubicBezTo>
                <a:cubicBezTo>
                  <a:pt x="18786" y="19803"/>
                  <a:pt x="18895" y="19993"/>
                  <a:pt x="18880" y="20219"/>
                </a:cubicBezTo>
                <a:cubicBezTo>
                  <a:pt x="18872" y="20332"/>
                  <a:pt x="18886" y="20343"/>
                  <a:pt x="18975" y="20331"/>
                </a:cubicBezTo>
                <a:cubicBezTo>
                  <a:pt x="19073" y="20318"/>
                  <a:pt x="19157" y="20413"/>
                  <a:pt x="19125" y="20499"/>
                </a:cubicBezTo>
                <a:cubicBezTo>
                  <a:pt x="19116" y="20524"/>
                  <a:pt x="19132" y="20584"/>
                  <a:pt x="19166" y="20634"/>
                </a:cubicBezTo>
                <a:cubicBezTo>
                  <a:pt x="19214" y="20707"/>
                  <a:pt x="19282" y="20726"/>
                  <a:pt x="19485" y="20735"/>
                </a:cubicBezTo>
                <a:cubicBezTo>
                  <a:pt x="19821" y="20750"/>
                  <a:pt x="19863" y="20769"/>
                  <a:pt x="19866" y="20881"/>
                </a:cubicBezTo>
                <a:cubicBezTo>
                  <a:pt x="19875" y="21141"/>
                  <a:pt x="20018" y="21220"/>
                  <a:pt x="20173" y="21061"/>
                </a:cubicBezTo>
                <a:cubicBezTo>
                  <a:pt x="20222" y="21009"/>
                  <a:pt x="20252" y="21011"/>
                  <a:pt x="20295" y="21049"/>
                </a:cubicBezTo>
                <a:cubicBezTo>
                  <a:pt x="20327" y="21078"/>
                  <a:pt x="20364" y="21088"/>
                  <a:pt x="20377" y="21083"/>
                </a:cubicBezTo>
                <a:cubicBezTo>
                  <a:pt x="20426" y="21065"/>
                  <a:pt x="20564" y="21193"/>
                  <a:pt x="20547" y="21240"/>
                </a:cubicBezTo>
                <a:cubicBezTo>
                  <a:pt x="20525" y="21298"/>
                  <a:pt x="16894" y="21309"/>
                  <a:pt x="16893" y="21251"/>
                </a:cubicBezTo>
                <a:cubicBezTo>
                  <a:pt x="16879" y="20452"/>
                  <a:pt x="16907" y="17275"/>
                  <a:pt x="16927" y="17234"/>
                </a:cubicBezTo>
                <a:cubicBezTo>
                  <a:pt x="16940" y="17209"/>
                  <a:pt x="16961" y="17196"/>
                  <a:pt x="16988" y="1719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tline" showMasterSp="0">
  <p:cSld name="Outlin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idx="1" type="body"/>
          </p:nvPr>
        </p:nvSpPr>
        <p:spPr>
          <a:xfrm>
            <a:off x="768509" y="9159279"/>
            <a:ext cx="5733892" cy="399033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/>
        </p:nvSpPr>
        <p:spPr>
          <a:xfrm>
            <a:off x="762000" y="762000"/>
            <a:ext cx="11467783" cy="60985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0" i="0" lang="en-US" sz="35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Outline</a:t>
            </a:r>
            <a:endParaRPr/>
          </a:p>
        </p:txBody>
      </p:sp>
      <p:sp>
        <p:nvSpPr>
          <p:cNvPr id="28" name="Google Shape;28;p4"/>
          <p:cNvSpPr txBox="1"/>
          <p:nvPr>
            <p:ph idx="2" type="body"/>
          </p:nvPr>
        </p:nvSpPr>
        <p:spPr>
          <a:xfrm>
            <a:off x="761999" y="1581811"/>
            <a:ext cx="11467783" cy="6350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cxnSp>
        <p:nvCxnSpPr>
          <p:cNvPr id="29" name="Google Shape;29;p4"/>
          <p:cNvCxnSpPr/>
          <p:nvPr/>
        </p:nvCxnSpPr>
        <p:spPr>
          <a:xfrm>
            <a:off x="700892" y="9159279"/>
            <a:ext cx="10543492" cy="1"/>
          </a:xfrm>
          <a:prstGeom prst="straightConnector1">
            <a:avLst/>
          </a:prstGeom>
          <a:noFill/>
          <a:ln cap="flat" cmpd="sng" w="25400">
            <a:solidFill>
              <a:srgbClr val="5A5F5E">
                <a:alpha val="15686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descr="norm_quant.jpg" id="30" name="Google Shape;30;p4"/>
          <p:cNvPicPr preferRelativeResize="0"/>
          <p:nvPr/>
        </p:nvPicPr>
        <p:blipFill rotWithShape="1">
          <a:blip r:embed="rId2">
            <a:alphaModFix/>
          </a:blip>
          <a:srcRect b="13992" l="7684" r="6266" t="12299"/>
          <a:stretch/>
        </p:blipFill>
        <p:spPr>
          <a:xfrm>
            <a:off x="11456784" y="8603504"/>
            <a:ext cx="1259216" cy="763127"/>
          </a:xfrm>
          <a:custGeom>
            <a:rect b="b" l="l" r="r" t="t"/>
            <a:pathLst>
              <a:path extrusionOk="0" h="21575" w="21588">
                <a:moveTo>
                  <a:pt x="10967" y="0"/>
                </a:moveTo>
                <a:cubicBezTo>
                  <a:pt x="10620" y="33"/>
                  <a:pt x="10344" y="274"/>
                  <a:pt x="10014" y="819"/>
                </a:cubicBezTo>
                <a:cubicBezTo>
                  <a:pt x="9987" y="865"/>
                  <a:pt x="9960" y="917"/>
                  <a:pt x="9933" y="965"/>
                </a:cubicBezTo>
                <a:cubicBezTo>
                  <a:pt x="9318" y="2043"/>
                  <a:pt x="8762" y="3752"/>
                  <a:pt x="7544" y="8281"/>
                </a:cubicBezTo>
                <a:cubicBezTo>
                  <a:pt x="7443" y="8658"/>
                  <a:pt x="7392" y="8837"/>
                  <a:pt x="7306" y="9156"/>
                </a:cubicBezTo>
                <a:cubicBezTo>
                  <a:pt x="7307" y="9189"/>
                  <a:pt x="7299" y="9214"/>
                  <a:pt x="7286" y="9223"/>
                </a:cubicBezTo>
                <a:cubicBezTo>
                  <a:pt x="7153" y="9714"/>
                  <a:pt x="7023" y="10202"/>
                  <a:pt x="6918" y="10581"/>
                </a:cubicBezTo>
                <a:cubicBezTo>
                  <a:pt x="6916" y="10589"/>
                  <a:pt x="6915" y="10608"/>
                  <a:pt x="6912" y="10614"/>
                </a:cubicBezTo>
                <a:cubicBezTo>
                  <a:pt x="6699" y="11385"/>
                  <a:pt x="6514" y="12030"/>
                  <a:pt x="6354" y="12567"/>
                </a:cubicBezTo>
                <a:cubicBezTo>
                  <a:pt x="6353" y="12580"/>
                  <a:pt x="6344" y="12593"/>
                  <a:pt x="6340" y="12600"/>
                </a:cubicBezTo>
                <a:cubicBezTo>
                  <a:pt x="6308" y="12707"/>
                  <a:pt x="6270" y="12843"/>
                  <a:pt x="6238" y="12948"/>
                </a:cubicBezTo>
                <a:cubicBezTo>
                  <a:pt x="6194" y="13093"/>
                  <a:pt x="6152" y="13213"/>
                  <a:pt x="6109" y="13352"/>
                </a:cubicBezTo>
                <a:cubicBezTo>
                  <a:pt x="6109" y="13372"/>
                  <a:pt x="6110" y="13379"/>
                  <a:pt x="6102" y="13386"/>
                </a:cubicBezTo>
                <a:cubicBezTo>
                  <a:pt x="6074" y="13476"/>
                  <a:pt x="6041" y="13567"/>
                  <a:pt x="6013" y="13655"/>
                </a:cubicBezTo>
                <a:cubicBezTo>
                  <a:pt x="6009" y="13667"/>
                  <a:pt x="6011" y="13664"/>
                  <a:pt x="6007" y="13678"/>
                </a:cubicBezTo>
                <a:cubicBezTo>
                  <a:pt x="6005" y="13683"/>
                  <a:pt x="6002" y="13684"/>
                  <a:pt x="6000" y="13689"/>
                </a:cubicBezTo>
                <a:cubicBezTo>
                  <a:pt x="5386" y="15618"/>
                  <a:pt x="4805" y="17096"/>
                  <a:pt x="4197" y="18177"/>
                </a:cubicBezTo>
                <a:cubicBezTo>
                  <a:pt x="4193" y="18190"/>
                  <a:pt x="4197" y="18196"/>
                  <a:pt x="4190" y="18211"/>
                </a:cubicBezTo>
                <a:cubicBezTo>
                  <a:pt x="4177" y="18236"/>
                  <a:pt x="4160" y="18264"/>
                  <a:pt x="4142" y="18278"/>
                </a:cubicBezTo>
                <a:cubicBezTo>
                  <a:pt x="4111" y="18331"/>
                  <a:pt x="4078" y="18383"/>
                  <a:pt x="4047" y="18435"/>
                </a:cubicBezTo>
                <a:cubicBezTo>
                  <a:pt x="4033" y="18470"/>
                  <a:pt x="4019" y="18495"/>
                  <a:pt x="3999" y="18525"/>
                </a:cubicBezTo>
                <a:cubicBezTo>
                  <a:pt x="3988" y="18543"/>
                  <a:pt x="3981" y="18547"/>
                  <a:pt x="3972" y="18558"/>
                </a:cubicBezTo>
                <a:cubicBezTo>
                  <a:pt x="3371" y="19526"/>
                  <a:pt x="2740" y="20155"/>
                  <a:pt x="2013" y="20556"/>
                </a:cubicBezTo>
                <a:cubicBezTo>
                  <a:pt x="1944" y="20594"/>
                  <a:pt x="1865" y="20631"/>
                  <a:pt x="1788" y="20668"/>
                </a:cubicBezTo>
                <a:cubicBezTo>
                  <a:pt x="1784" y="20671"/>
                  <a:pt x="1777" y="20679"/>
                  <a:pt x="1775" y="20679"/>
                </a:cubicBezTo>
                <a:cubicBezTo>
                  <a:pt x="1442" y="20836"/>
                  <a:pt x="1063" y="20965"/>
                  <a:pt x="795" y="21016"/>
                </a:cubicBezTo>
                <a:cubicBezTo>
                  <a:pt x="633" y="21046"/>
                  <a:pt x="600" y="21072"/>
                  <a:pt x="577" y="21173"/>
                </a:cubicBezTo>
                <a:cubicBezTo>
                  <a:pt x="551" y="21285"/>
                  <a:pt x="537" y="21296"/>
                  <a:pt x="284" y="21296"/>
                </a:cubicBezTo>
                <a:cubicBezTo>
                  <a:pt x="56" y="21296"/>
                  <a:pt x="17" y="21301"/>
                  <a:pt x="5" y="21375"/>
                </a:cubicBezTo>
                <a:cubicBezTo>
                  <a:pt x="-2" y="21422"/>
                  <a:pt x="-1" y="21487"/>
                  <a:pt x="5" y="21521"/>
                </a:cubicBezTo>
                <a:cubicBezTo>
                  <a:pt x="22" y="21600"/>
                  <a:pt x="21568" y="21589"/>
                  <a:pt x="21561" y="21509"/>
                </a:cubicBezTo>
                <a:cubicBezTo>
                  <a:pt x="21558" y="21482"/>
                  <a:pt x="21567" y="21428"/>
                  <a:pt x="21581" y="21386"/>
                </a:cubicBezTo>
                <a:cubicBezTo>
                  <a:pt x="21598" y="21334"/>
                  <a:pt x="21584" y="21269"/>
                  <a:pt x="21540" y="21184"/>
                </a:cubicBezTo>
                <a:cubicBezTo>
                  <a:pt x="21484" y="21076"/>
                  <a:pt x="21424" y="21043"/>
                  <a:pt x="21146" y="20971"/>
                </a:cubicBezTo>
                <a:cubicBezTo>
                  <a:pt x="21141" y="20972"/>
                  <a:pt x="21142" y="20972"/>
                  <a:pt x="21139" y="20971"/>
                </a:cubicBezTo>
                <a:cubicBezTo>
                  <a:pt x="21006" y="20936"/>
                  <a:pt x="20876" y="20891"/>
                  <a:pt x="20751" y="20847"/>
                </a:cubicBezTo>
                <a:cubicBezTo>
                  <a:pt x="20709" y="20840"/>
                  <a:pt x="20670" y="20832"/>
                  <a:pt x="20656" y="20814"/>
                </a:cubicBezTo>
                <a:cubicBezTo>
                  <a:pt x="20474" y="20746"/>
                  <a:pt x="20298" y="20667"/>
                  <a:pt x="20132" y="20578"/>
                </a:cubicBezTo>
                <a:cubicBezTo>
                  <a:pt x="20125" y="20578"/>
                  <a:pt x="20118" y="20574"/>
                  <a:pt x="20111" y="20567"/>
                </a:cubicBezTo>
                <a:cubicBezTo>
                  <a:pt x="19679" y="20332"/>
                  <a:pt x="19291" y="20019"/>
                  <a:pt x="18928" y="19613"/>
                </a:cubicBezTo>
                <a:cubicBezTo>
                  <a:pt x="18919" y="19605"/>
                  <a:pt x="18916" y="19600"/>
                  <a:pt x="18907" y="19591"/>
                </a:cubicBezTo>
                <a:cubicBezTo>
                  <a:pt x="18900" y="19583"/>
                  <a:pt x="18893" y="19576"/>
                  <a:pt x="18887" y="19568"/>
                </a:cubicBezTo>
                <a:cubicBezTo>
                  <a:pt x="18830" y="19503"/>
                  <a:pt x="18779" y="19436"/>
                  <a:pt x="18723" y="19366"/>
                </a:cubicBezTo>
                <a:cubicBezTo>
                  <a:pt x="18720" y="19367"/>
                  <a:pt x="18714" y="19365"/>
                  <a:pt x="18710" y="19366"/>
                </a:cubicBezTo>
                <a:cubicBezTo>
                  <a:pt x="18686" y="19371"/>
                  <a:pt x="18627" y="19281"/>
                  <a:pt x="18587" y="19198"/>
                </a:cubicBezTo>
                <a:cubicBezTo>
                  <a:pt x="18510" y="19095"/>
                  <a:pt x="18432" y="18985"/>
                  <a:pt x="18356" y="18873"/>
                </a:cubicBezTo>
                <a:cubicBezTo>
                  <a:pt x="18353" y="18871"/>
                  <a:pt x="18351" y="18864"/>
                  <a:pt x="18349" y="18861"/>
                </a:cubicBezTo>
                <a:cubicBezTo>
                  <a:pt x="18294" y="18780"/>
                  <a:pt x="18240" y="18702"/>
                  <a:pt x="18186" y="18614"/>
                </a:cubicBezTo>
                <a:cubicBezTo>
                  <a:pt x="17775" y="17959"/>
                  <a:pt x="17463" y="17349"/>
                  <a:pt x="17104" y="16483"/>
                </a:cubicBezTo>
                <a:cubicBezTo>
                  <a:pt x="17087" y="16455"/>
                  <a:pt x="17076" y="16412"/>
                  <a:pt x="17063" y="16370"/>
                </a:cubicBezTo>
                <a:cubicBezTo>
                  <a:pt x="17061" y="16363"/>
                  <a:pt x="17058" y="16366"/>
                  <a:pt x="17056" y="16359"/>
                </a:cubicBezTo>
                <a:cubicBezTo>
                  <a:pt x="17037" y="16312"/>
                  <a:pt x="17022" y="16274"/>
                  <a:pt x="17002" y="16225"/>
                </a:cubicBezTo>
                <a:cubicBezTo>
                  <a:pt x="16863" y="15881"/>
                  <a:pt x="16729" y="15535"/>
                  <a:pt x="16601" y="15181"/>
                </a:cubicBezTo>
                <a:cubicBezTo>
                  <a:pt x="16592" y="15163"/>
                  <a:pt x="16592" y="15152"/>
                  <a:pt x="16587" y="15136"/>
                </a:cubicBezTo>
                <a:cubicBezTo>
                  <a:pt x="16315" y="14383"/>
                  <a:pt x="16029" y="13464"/>
                  <a:pt x="15696" y="12320"/>
                </a:cubicBezTo>
                <a:cubicBezTo>
                  <a:pt x="15679" y="12291"/>
                  <a:pt x="15664" y="12242"/>
                  <a:pt x="15648" y="12163"/>
                </a:cubicBezTo>
                <a:cubicBezTo>
                  <a:pt x="15514" y="11699"/>
                  <a:pt x="15366" y="11192"/>
                  <a:pt x="15206" y="10614"/>
                </a:cubicBezTo>
                <a:cubicBezTo>
                  <a:pt x="15192" y="10579"/>
                  <a:pt x="15181" y="10530"/>
                  <a:pt x="15172" y="10480"/>
                </a:cubicBezTo>
                <a:cubicBezTo>
                  <a:pt x="15085" y="10167"/>
                  <a:pt x="14989" y="9822"/>
                  <a:pt x="14893" y="9470"/>
                </a:cubicBezTo>
                <a:cubicBezTo>
                  <a:pt x="14885" y="9463"/>
                  <a:pt x="14879" y="9447"/>
                  <a:pt x="14879" y="9425"/>
                </a:cubicBezTo>
                <a:cubicBezTo>
                  <a:pt x="14786" y="9084"/>
                  <a:pt x="14717" y="8830"/>
                  <a:pt x="14614" y="8449"/>
                </a:cubicBezTo>
                <a:cubicBezTo>
                  <a:pt x="14560" y="8250"/>
                  <a:pt x="14541" y="8183"/>
                  <a:pt x="14491" y="8000"/>
                </a:cubicBezTo>
                <a:cubicBezTo>
                  <a:pt x="13853" y="5643"/>
                  <a:pt x="13510" y="4430"/>
                  <a:pt x="13233" y="3579"/>
                </a:cubicBezTo>
                <a:cubicBezTo>
                  <a:pt x="12600" y="1643"/>
                  <a:pt x="12102" y="617"/>
                  <a:pt x="11593" y="202"/>
                </a:cubicBezTo>
                <a:cubicBezTo>
                  <a:pt x="11414" y="56"/>
                  <a:pt x="11335" y="16"/>
                  <a:pt x="11157" y="0"/>
                </a:cubicBezTo>
                <a:lnTo>
                  <a:pt x="11008" y="0"/>
                </a:lnTo>
                <a:lnTo>
                  <a:pt x="10967" y="0"/>
                </a:lnTo>
                <a:close/>
                <a:moveTo>
                  <a:pt x="16988" y="17190"/>
                </a:moveTo>
                <a:cubicBezTo>
                  <a:pt x="17071" y="17171"/>
                  <a:pt x="17192" y="17226"/>
                  <a:pt x="17192" y="17313"/>
                </a:cubicBezTo>
                <a:cubicBezTo>
                  <a:pt x="17192" y="17341"/>
                  <a:pt x="17221" y="17424"/>
                  <a:pt x="17254" y="17492"/>
                </a:cubicBezTo>
                <a:cubicBezTo>
                  <a:pt x="17286" y="17561"/>
                  <a:pt x="17304" y="17636"/>
                  <a:pt x="17295" y="17661"/>
                </a:cubicBezTo>
                <a:cubicBezTo>
                  <a:pt x="17285" y="17685"/>
                  <a:pt x="17273" y="17771"/>
                  <a:pt x="17267" y="17852"/>
                </a:cubicBezTo>
                <a:cubicBezTo>
                  <a:pt x="17255" y="18013"/>
                  <a:pt x="17313" y="18045"/>
                  <a:pt x="17376" y="17919"/>
                </a:cubicBezTo>
                <a:cubicBezTo>
                  <a:pt x="17419" y="17833"/>
                  <a:pt x="17474" y="17875"/>
                  <a:pt x="17451" y="17975"/>
                </a:cubicBezTo>
                <a:cubicBezTo>
                  <a:pt x="17441" y="18018"/>
                  <a:pt x="17458" y="18042"/>
                  <a:pt x="17492" y="18042"/>
                </a:cubicBezTo>
                <a:cubicBezTo>
                  <a:pt x="17571" y="18042"/>
                  <a:pt x="17588" y="18100"/>
                  <a:pt x="17539" y="18188"/>
                </a:cubicBezTo>
                <a:cubicBezTo>
                  <a:pt x="17501" y="18258"/>
                  <a:pt x="17509" y="18267"/>
                  <a:pt x="17594" y="18267"/>
                </a:cubicBezTo>
                <a:cubicBezTo>
                  <a:pt x="17687" y="18266"/>
                  <a:pt x="17689" y="18275"/>
                  <a:pt x="17689" y="18491"/>
                </a:cubicBezTo>
                <a:cubicBezTo>
                  <a:pt x="17689" y="18679"/>
                  <a:pt x="17701" y="18747"/>
                  <a:pt x="17737" y="18727"/>
                </a:cubicBezTo>
                <a:cubicBezTo>
                  <a:pt x="17858" y="18660"/>
                  <a:pt x="17941" y="18760"/>
                  <a:pt x="17921" y="18951"/>
                </a:cubicBezTo>
                <a:cubicBezTo>
                  <a:pt x="17904" y="19108"/>
                  <a:pt x="17935" y="19195"/>
                  <a:pt x="17982" y="19131"/>
                </a:cubicBezTo>
                <a:cubicBezTo>
                  <a:pt x="18004" y="19101"/>
                  <a:pt x="18026" y="19091"/>
                  <a:pt x="18036" y="19108"/>
                </a:cubicBezTo>
                <a:cubicBezTo>
                  <a:pt x="18047" y="19125"/>
                  <a:pt x="18074" y="19118"/>
                  <a:pt x="18097" y="19086"/>
                </a:cubicBezTo>
                <a:cubicBezTo>
                  <a:pt x="18143" y="19023"/>
                  <a:pt x="18196" y="19093"/>
                  <a:pt x="18165" y="19176"/>
                </a:cubicBezTo>
                <a:cubicBezTo>
                  <a:pt x="18156" y="19200"/>
                  <a:pt x="18172" y="19226"/>
                  <a:pt x="18199" y="19243"/>
                </a:cubicBezTo>
                <a:cubicBezTo>
                  <a:pt x="18237" y="19267"/>
                  <a:pt x="18240" y="19289"/>
                  <a:pt x="18213" y="19333"/>
                </a:cubicBezTo>
                <a:cubicBezTo>
                  <a:pt x="18165" y="19412"/>
                  <a:pt x="18168" y="19477"/>
                  <a:pt x="18220" y="19445"/>
                </a:cubicBezTo>
                <a:cubicBezTo>
                  <a:pt x="18283" y="19405"/>
                  <a:pt x="18455" y="19617"/>
                  <a:pt x="18417" y="19692"/>
                </a:cubicBezTo>
                <a:cubicBezTo>
                  <a:pt x="18388" y="19750"/>
                  <a:pt x="18407" y="19910"/>
                  <a:pt x="18444" y="19916"/>
                </a:cubicBezTo>
                <a:cubicBezTo>
                  <a:pt x="18455" y="19918"/>
                  <a:pt x="18504" y="19927"/>
                  <a:pt x="18560" y="19938"/>
                </a:cubicBezTo>
                <a:cubicBezTo>
                  <a:pt x="18616" y="19950"/>
                  <a:pt x="18683" y="19944"/>
                  <a:pt x="18703" y="19916"/>
                </a:cubicBezTo>
                <a:cubicBezTo>
                  <a:pt x="18786" y="19803"/>
                  <a:pt x="18895" y="19993"/>
                  <a:pt x="18880" y="20219"/>
                </a:cubicBezTo>
                <a:cubicBezTo>
                  <a:pt x="18872" y="20332"/>
                  <a:pt x="18886" y="20343"/>
                  <a:pt x="18975" y="20331"/>
                </a:cubicBezTo>
                <a:cubicBezTo>
                  <a:pt x="19073" y="20318"/>
                  <a:pt x="19157" y="20413"/>
                  <a:pt x="19125" y="20499"/>
                </a:cubicBezTo>
                <a:cubicBezTo>
                  <a:pt x="19116" y="20524"/>
                  <a:pt x="19132" y="20584"/>
                  <a:pt x="19166" y="20634"/>
                </a:cubicBezTo>
                <a:cubicBezTo>
                  <a:pt x="19214" y="20707"/>
                  <a:pt x="19282" y="20726"/>
                  <a:pt x="19485" y="20735"/>
                </a:cubicBezTo>
                <a:cubicBezTo>
                  <a:pt x="19821" y="20750"/>
                  <a:pt x="19863" y="20769"/>
                  <a:pt x="19866" y="20881"/>
                </a:cubicBezTo>
                <a:cubicBezTo>
                  <a:pt x="19875" y="21141"/>
                  <a:pt x="20018" y="21220"/>
                  <a:pt x="20173" y="21061"/>
                </a:cubicBezTo>
                <a:cubicBezTo>
                  <a:pt x="20222" y="21009"/>
                  <a:pt x="20252" y="21011"/>
                  <a:pt x="20295" y="21049"/>
                </a:cubicBezTo>
                <a:cubicBezTo>
                  <a:pt x="20327" y="21078"/>
                  <a:pt x="20364" y="21088"/>
                  <a:pt x="20377" y="21083"/>
                </a:cubicBezTo>
                <a:cubicBezTo>
                  <a:pt x="20426" y="21065"/>
                  <a:pt x="20564" y="21193"/>
                  <a:pt x="20547" y="21240"/>
                </a:cubicBezTo>
                <a:cubicBezTo>
                  <a:pt x="20525" y="21298"/>
                  <a:pt x="16894" y="21309"/>
                  <a:pt x="16893" y="21251"/>
                </a:cubicBezTo>
                <a:cubicBezTo>
                  <a:pt x="16879" y="20452"/>
                  <a:pt x="16907" y="17275"/>
                  <a:pt x="16927" y="17234"/>
                </a:cubicBezTo>
                <a:cubicBezTo>
                  <a:pt x="16940" y="17209"/>
                  <a:pt x="16961" y="17196"/>
                  <a:pt x="16988" y="1719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rgbClr val="5353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about:blank" TargetMode="External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72824">
              <a:srgbClr val="ECECEC"/>
            </a:gs>
            <a:gs pos="100000">
              <a:srgbClr val="DADAD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sted-image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7950" y="230380"/>
            <a:ext cx="2370215" cy="22989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/>
        </p:nvSpPr>
        <p:spPr>
          <a:xfrm>
            <a:off x="773350" y="6475983"/>
            <a:ext cx="7488751" cy="205807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None/>
            </a:pPr>
            <a:r>
              <a:t/>
            </a:r>
            <a:endParaRPr b="0" i="0" sz="3000" u="none" cap="none" strike="noStrike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" name="Google Shape;8;p1"/>
          <p:cNvSpPr txBox="1"/>
          <p:nvPr/>
        </p:nvSpPr>
        <p:spPr>
          <a:xfrm>
            <a:off x="774700" y="4432300"/>
            <a:ext cx="11458002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"/>
              <a:buNone/>
            </a:pPr>
            <a:r>
              <a:rPr b="0" i="0" lang="en-US" sz="3000" u="none" cap="none" strike="noStrike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Name (HWTeng)</a:t>
            </a:r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774700" y="6985000"/>
            <a:ext cx="11455400" cy="264522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"/>
              <a:buNone/>
            </a:pPr>
            <a:r>
              <a:rPr b="0" i="0" lang="en-US" sz="3000" u="none" cap="none" strike="noStrike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affiliation</a:t>
            </a:r>
            <a:endParaRPr b="0" i="0" sz="5500" u="none" cap="none" strike="noStrike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5694"/>
              </a:buClr>
              <a:buSzPts val="3000"/>
              <a:buFont typeface="Helvetica Neue"/>
              <a:buNone/>
            </a:pPr>
            <a:r>
              <a:rPr b="0" i="0" lang="en-US" sz="30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2"/>
              </a:rPr>
              <a:t>Your Webpage</a:t>
            </a:r>
            <a:endParaRPr/>
          </a:p>
        </p:txBody>
      </p:sp>
      <p:sp>
        <p:nvSpPr>
          <p:cNvPr id="10" name="Google Shape;10;p1"/>
          <p:cNvSpPr txBox="1"/>
          <p:nvPr>
            <p:ph type="title"/>
          </p:nvPr>
        </p:nvSpPr>
        <p:spPr>
          <a:xfrm>
            <a:off x="773350" y="1733550"/>
            <a:ext cx="11458100" cy="199662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55599" y="5270500"/>
            <a:ext cx="12293601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6325920" y="9271000"/>
            <a:ext cx="340260" cy="32451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idx="1" type="body"/>
          </p:nvPr>
        </p:nvSpPr>
        <p:spPr>
          <a:xfrm>
            <a:off x="773350" y="2649953"/>
            <a:ext cx="11458200" cy="17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fontScale="85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ct val="100000"/>
              <a:buFont typeface="Helvetica Neue Light"/>
              <a:buNone/>
            </a:pPr>
            <a:r>
              <a:rPr lang="en-US"/>
              <a:t>Machine Learning Applications in Bitcoin: Forecasting, Trading, and Risk Management</a:t>
            </a:r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9519751" y="9237870"/>
            <a:ext cx="3163634" cy="32467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500"/>
              <a:buFont typeface="Helvetica Neue Light"/>
              <a:buNone/>
            </a:pPr>
            <a:r>
              <a:rPr b="0" i="0" lang="en-US" sz="15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202</a:t>
            </a:r>
            <a:r>
              <a:rPr lang="en-US" sz="1500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51</a:t>
            </a:r>
            <a:r>
              <a:rPr b="0" i="0" lang="en-US" sz="15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1</a:t>
            </a:r>
            <a:r>
              <a:rPr lang="en-US" sz="1500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10</a:t>
            </a:r>
            <a:r>
              <a:rPr b="0" i="0" lang="en-US" sz="15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IDA Template Keynote.key</a:t>
            </a:r>
            <a:endParaRPr/>
          </a:p>
        </p:txBody>
      </p:sp>
      <p:sp>
        <p:nvSpPr>
          <p:cNvPr id="38" name="Google Shape;38;p5"/>
          <p:cNvSpPr txBox="1"/>
          <p:nvPr/>
        </p:nvSpPr>
        <p:spPr>
          <a:xfrm>
            <a:off x="773350" y="4410650"/>
            <a:ext cx="5495400" cy="661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Sam, Bill, Jannis (and HWTeng)</a:t>
            </a:r>
            <a:endParaRPr sz="3100">
              <a:solidFill>
                <a:schemeClr val="dk2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729950" y="7036125"/>
            <a:ext cx="9156900" cy="158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National Yang-Ming Chiao-Tung University</a:t>
            </a:r>
            <a:endParaRPr sz="2800">
              <a:solidFill>
                <a:srgbClr val="D30F1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Machine Learning and FinTech</a:t>
            </a:r>
            <a:endParaRPr i="1" sz="2800">
              <a:solidFill>
                <a:srgbClr val="D30F1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https://github.com/HWTeng-Teaching/202509-ML-FinTech</a:t>
            </a:r>
            <a:endParaRPr sz="2800">
              <a:solidFill>
                <a:srgbClr val="535353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40" name="Google Shape;40;p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8974" y="7036125"/>
            <a:ext cx="1585177" cy="158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idx="1" type="body"/>
          </p:nvPr>
        </p:nvSpPr>
        <p:spPr>
          <a:xfrm>
            <a:off x="768509" y="9159279"/>
            <a:ext cx="5733892" cy="399033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IDA Template</a:t>
            </a:r>
            <a:endParaRPr/>
          </a:p>
        </p:txBody>
      </p:sp>
      <p:sp>
        <p:nvSpPr>
          <p:cNvPr id="46" name="Google Shape;46;p6"/>
          <p:cNvSpPr txBox="1"/>
          <p:nvPr/>
        </p:nvSpPr>
        <p:spPr>
          <a:xfrm>
            <a:off x="1154150" y="829050"/>
            <a:ext cx="99000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Motivation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Data Preprocessing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Factor Engineering &amp; EDA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Cross-Sectional ML Prediction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Portfolio strategy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Future Work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755809" y="213147"/>
            <a:ext cx="9502858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Motivation</a:t>
            </a:r>
            <a:endParaRPr/>
          </a:p>
        </p:txBody>
      </p:sp>
      <p:sp>
        <p:nvSpPr>
          <p:cNvPr id="53" name="Google Shape;53;p7"/>
          <p:cNvSpPr txBox="1"/>
          <p:nvPr>
            <p:ph idx="2" type="body"/>
          </p:nvPr>
        </p:nvSpPr>
        <p:spPr>
          <a:xfrm>
            <a:off x="762000" y="762000"/>
            <a:ext cx="11467783" cy="60985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lang="en-US" sz="3500">
                <a:latin typeface="Helvetica Neue"/>
                <a:ea typeface="Helvetica Neue"/>
                <a:cs typeface="Helvetica Neue"/>
                <a:sym typeface="Helvetica Neue"/>
              </a:rPr>
              <a:t>Motivation</a:t>
            </a:r>
            <a:endParaRPr/>
          </a:p>
        </p:txBody>
      </p:sp>
      <p:sp>
        <p:nvSpPr>
          <p:cNvPr id="54" name="Google Shape;54;p7"/>
          <p:cNvSpPr txBox="1"/>
          <p:nvPr>
            <p:ph idx="3" type="body"/>
          </p:nvPr>
        </p:nvSpPr>
        <p:spPr>
          <a:xfrm>
            <a:off x="761999" y="1581811"/>
            <a:ext cx="11467800" cy="19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</a:rPr>
              <a:t>Cryptomarket is highly volatile, non-linear and noisy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</a:rPr>
              <a:t>Predicting concrete values highly complex task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Instead try to rank assets relatively to each other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55" name="Google Shape;55;p7"/>
          <p:cNvSpPr txBox="1"/>
          <p:nvPr>
            <p:ph idx="4" type="body"/>
          </p:nvPr>
        </p:nvSpPr>
        <p:spPr>
          <a:xfrm>
            <a:off x="715409" y="9235479"/>
            <a:ext cx="5479247" cy="399033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IDA Template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61" name="Google Shape;61;p8"/>
          <p:cNvSpPr txBox="1"/>
          <p:nvPr>
            <p:ph idx="1" type="body"/>
          </p:nvPr>
        </p:nvSpPr>
        <p:spPr>
          <a:xfrm>
            <a:off x="755809" y="213147"/>
            <a:ext cx="9502858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62" name="Google Shape;62;p8"/>
          <p:cNvSpPr txBox="1"/>
          <p:nvPr>
            <p:ph idx="2" type="body"/>
          </p:nvPr>
        </p:nvSpPr>
        <p:spPr>
          <a:xfrm>
            <a:off x="762000" y="762000"/>
            <a:ext cx="11467783" cy="60985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lang="en-US"/>
              <a:t>Data Preprocessing</a:t>
            </a:r>
            <a:endParaRPr/>
          </a:p>
        </p:txBody>
      </p:sp>
      <p:sp>
        <p:nvSpPr>
          <p:cNvPr id="63" name="Google Shape;63;p8"/>
          <p:cNvSpPr txBox="1"/>
          <p:nvPr>
            <p:ph idx="3" type="body"/>
          </p:nvPr>
        </p:nvSpPr>
        <p:spPr>
          <a:xfrm>
            <a:off x="761999" y="1581811"/>
            <a:ext cx="11467800" cy="47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</a:rPr>
              <a:t>Data sources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Open, High, Low, Close, Volume (Binance Spot Market)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daily OHLC, market capitalization, and volume data (CoinGecko)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4-week Treasury Bill rate (DTB4WK)</a:t>
            </a:r>
            <a:endParaRPr sz="3000">
              <a:solidFill>
                <a:srgbClr val="5A5F5E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Char char="⊡"/>
            </a:pPr>
            <a:r>
              <a:rPr lang="en-US" sz="3000">
                <a:solidFill>
                  <a:schemeClr val="dk2"/>
                </a:solidFill>
              </a:rPr>
              <a:t>Build dataset with weekly frequency</a:t>
            </a:r>
            <a:endParaRPr sz="3000">
              <a:solidFill>
                <a:schemeClr val="dk2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⊡"/>
            </a:pPr>
            <a:r>
              <a:rPr lang="en-US" sz="3000">
                <a:solidFill>
                  <a:schemeClr val="dk2"/>
                </a:solidFill>
              </a:rPr>
              <a:t>Universe: Top 30 assets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4" name="Google Shape;64;p8"/>
          <p:cNvSpPr txBox="1"/>
          <p:nvPr>
            <p:ph idx="4" type="body"/>
          </p:nvPr>
        </p:nvSpPr>
        <p:spPr>
          <a:xfrm>
            <a:off x="715409" y="9235479"/>
            <a:ext cx="5479247" cy="399033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Title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71" name="Google Shape;71;p9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lang="en-US">
                <a:solidFill>
                  <a:schemeClr val="lt1"/>
                </a:solidFill>
              </a:rPr>
              <a:t>Data Preprocessing</a:t>
            </a:r>
            <a:endParaRPr/>
          </a:p>
        </p:txBody>
      </p:sp>
      <p:sp>
        <p:nvSpPr>
          <p:cNvPr id="72" name="Google Shape;72;p9"/>
          <p:cNvSpPr txBox="1"/>
          <p:nvPr>
            <p:ph idx="3" type="body"/>
          </p:nvPr>
        </p:nvSpPr>
        <p:spPr>
          <a:xfrm>
            <a:off x="761999" y="1581811"/>
            <a:ext cx="11467800" cy="5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Exploratory Data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Missing value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Descriptive statistics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Cross-sectional correlation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Factor Distribution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Time Series Stability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Principal Component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Information Coefficient Analysis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73" name="Google Shape;73;p9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Title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79" name="Google Shape;79;p10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80" name="Google Shape;80;p10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lang="en-US"/>
              <a:t>Data Analysis</a:t>
            </a:r>
            <a:endParaRPr/>
          </a:p>
        </p:txBody>
      </p:sp>
      <p:sp>
        <p:nvSpPr>
          <p:cNvPr id="81" name="Google Shape;81;p10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Title</a:t>
            </a:r>
            <a:endParaRPr/>
          </a:p>
        </p:txBody>
      </p:sp>
      <p:pic>
        <p:nvPicPr>
          <p:cNvPr id="82" name="Google Shape;8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2459" y="1621374"/>
            <a:ext cx="6505391" cy="651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634" y="3460548"/>
            <a:ext cx="5910711" cy="2937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90" name="Google Shape;90;p11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lang="en-US">
                <a:solidFill>
                  <a:schemeClr val="lt1"/>
                </a:solidFill>
              </a:rPr>
              <a:t>Factor Engineering &amp; EDA</a:t>
            </a:r>
            <a:endParaRPr/>
          </a:p>
        </p:txBody>
      </p:sp>
      <p:sp>
        <p:nvSpPr>
          <p:cNvPr id="91" name="Google Shape;91;p11"/>
          <p:cNvSpPr txBox="1"/>
          <p:nvPr>
            <p:ph idx="3" type="body"/>
          </p:nvPr>
        </p:nvSpPr>
        <p:spPr>
          <a:xfrm>
            <a:off x="761999" y="1581811"/>
            <a:ext cx="11467800" cy="5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</a:rPr>
              <a:t>Engineer features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Momentum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Value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Size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chemeClr val="dk2"/>
                </a:solidFill>
              </a:rPr>
              <a:t>Fama-MacBeth Regression: </a:t>
            </a:r>
            <a:r>
              <a:rPr lang="en-US" sz="3000">
                <a:solidFill>
                  <a:srgbClr val="5A5F5E"/>
                </a:solidFill>
              </a:rPr>
              <a:t>Assess feature predictive power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Factor-Mimicking portfolios: risk exposure and contribution to return dynamics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Preprocessing: Weekly cross-sectional standardization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92" name="Google Shape;92;p11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Title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98" name="Google Shape;98;p12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99" name="Google Shape;99;p12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lang="en-US"/>
              <a:t>Cross-Sectional ML Prediction</a:t>
            </a:r>
            <a:endParaRPr/>
          </a:p>
        </p:txBody>
      </p:sp>
      <p:sp>
        <p:nvSpPr>
          <p:cNvPr id="100" name="Google Shape;100;p12"/>
          <p:cNvSpPr txBox="1"/>
          <p:nvPr>
            <p:ph idx="3" type="body"/>
          </p:nvPr>
        </p:nvSpPr>
        <p:spPr>
          <a:xfrm>
            <a:off x="761999" y="1581811"/>
            <a:ext cx="11467800" cy="47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Goal: Rank assets each week to predict next-week performance for portfolio formation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Predict next-week excess return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Baseline: Ridge Regression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Primary model: LightGBM Ranker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Ensemble: 0.7 x Ranker + 0.3 x Ridge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Rolling training: 52-week lookback window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101" name="Google Shape;101;p12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Title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07" name="Google Shape;107;p13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08" name="Google Shape;108;p13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lang="en-US"/>
              <a:t>Portfolio strategy</a:t>
            </a:r>
            <a:endParaRPr/>
          </a:p>
        </p:txBody>
      </p:sp>
      <p:sp>
        <p:nvSpPr>
          <p:cNvPr id="109" name="Google Shape;109;p13"/>
          <p:cNvSpPr txBox="1"/>
          <p:nvPr>
            <p:ph idx="3" type="body"/>
          </p:nvPr>
        </p:nvSpPr>
        <p:spPr>
          <a:xfrm>
            <a:off x="761999" y="1581811"/>
            <a:ext cx="11467800" cy="26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Sort each week by model prediction (excess return)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Strategy: long top 5, short bottom 5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Trading cost: 10 bps/side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Advantage: market (beta) neutral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110" name="Google Shape;110;p13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Title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16" name="Google Shape;116;p14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17" name="Google Shape;117;p14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lang="en-US"/>
              <a:t>Future Work</a:t>
            </a:r>
            <a:endParaRPr/>
          </a:p>
        </p:txBody>
      </p:sp>
      <p:sp>
        <p:nvSpPr>
          <p:cNvPr id="118" name="Google Shape;118;p14"/>
          <p:cNvSpPr txBox="1"/>
          <p:nvPr>
            <p:ph idx="3" type="body"/>
          </p:nvPr>
        </p:nvSpPr>
        <p:spPr>
          <a:xfrm>
            <a:off x="761999" y="1581811"/>
            <a:ext cx="11467800" cy="12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Better machine model / ensemble</a:t>
            </a:r>
            <a:endParaRPr sz="3000">
              <a:solidFill>
                <a:srgbClr val="5A5F5E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⊡"/>
            </a:pPr>
            <a:r>
              <a:rPr lang="en-US" sz="3000">
                <a:solidFill>
                  <a:srgbClr val="5A5F5E"/>
                </a:solidFill>
              </a:rPr>
              <a:t>Optimize hyperparameters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119" name="Google Shape;119;p14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Title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25" name="Google Shape;125;p15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26" name="Google Shape;126;p15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lang="en-US"/>
              <a:t>Strategy Performance</a:t>
            </a:r>
            <a:endParaRPr/>
          </a:p>
        </p:txBody>
      </p:sp>
      <p:sp>
        <p:nvSpPr>
          <p:cNvPr id="127" name="Google Shape;127;p15"/>
          <p:cNvSpPr txBox="1"/>
          <p:nvPr>
            <p:ph idx="3" type="body"/>
          </p:nvPr>
        </p:nvSpPr>
        <p:spPr>
          <a:xfrm>
            <a:off x="761999" y="1581811"/>
            <a:ext cx="11467800" cy="6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</a:rPr>
              <a:t>Benchmark</a:t>
            </a:r>
            <a:r>
              <a:rPr lang="en-US" sz="3000">
                <a:solidFill>
                  <a:srgbClr val="5A5F5E"/>
                </a:solidFill>
              </a:rPr>
              <a:t>: BTC buy &amp; hold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Sharpe: 0.4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Return: 411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MDD: -0.66</a:t>
            </a:r>
            <a:endParaRPr sz="3000">
              <a:solidFill>
                <a:srgbClr val="5A5F5E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Char char="⊡"/>
            </a:pPr>
            <a:r>
              <a:rPr lang="en-US" sz="3000">
                <a:solidFill>
                  <a:schemeClr val="dk2"/>
                </a:solidFill>
              </a:rPr>
              <a:t>Ensemble model: LightGBM + Ridge Regression</a:t>
            </a:r>
            <a:endParaRPr sz="3000">
              <a:solidFill>
                <a:schemeClr val="dk2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►"/>
            </a:pPr>
            <a:r>
              <a:rPr lang="en-US" sz="3000">
                <a:solidFill>
                  <a:schemeClr val="dk2"/>
                </a:solidFill>
              </a:rPr>
              <a:t>Sharpe: 0.4</a:t>
            </a:r>
            <a:endParaRPr sz="3000">
              <a:solidFill>
                <a:schemeClr val="dk2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►"/>
            </a:pPr>
            <a:r>
              <a:rPr lang="en-US" sz="3000">
                <a:solidFill>
                  <a:schemeClr val="dk2"/>
                </a:solidFill>
              </a:rPr>
              <a:t>Return: 5239.58</a:t>
            </a:r>
            <a:endParaRPr sz="3000">
              <a:solidFill>
                <a:schemeClr val="dk2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►"/>
            </a:pPr>
            <a:r>
              <a:rPr lang="en-US" sz="3000">
                <a:solidFill>
                  <a:schemeClr val="dk2"/>
                </a:solidFill>
              </a:rPr>
              <a:t>MDD: -0.83</a:t>
            </a:r>
            <a:endParaRPr sz="3000">
              <a:solidFill>
                <a:schemeClr val="dk2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►"/>
            </a:pPr>
            <a:r>
              <a:rPr lang="en-US" sz="3000">
                <a:solidFill>
                  <a:schemeClr val="dk2"/>
                </a:solidFill>
              </a:rPr>
              <a:t>Turnover: 0.8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28" name="Google Shape;128;p15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Title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34" name="Google Shape;134;p16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35" name="Google Shape;135;p16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lang="en-US"/>
              <a:t>Strategy Performance</a:t>
            </a:r>
            <a:endParaRPr/>
          </a:p>
        </p:txBody>
      </p:sp>
      <p:sp>
        <p:nvSpPr>
          <p:cNvPr id="136" name="Google Shape;136;p16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Title</a:t>
            </a:r>
            <a:endParaRPr/>
          </a:p>
        </p:txBody>
      </p:sp>
      <p:pic>
        <p:nvPicPr>
          <p:cNvPr id="137" name="Google Shape;137;p16" title="messageImage_176269726184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450" y="2331262"/>
            <a:ext cx="12453896" cy="4911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44" name="Google Shape;144;p17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45" name="Google Shape;145;p17"/>
          <p:cNvSpPr txBox="1"/>
          <p:nvPr>
            <p:ph idx="3" type="body"/>
          </p:nvPr>
        </p:nvSpPr>
        <p:spPr>
          <a:xfrm>
            <a:off x="761999" y="1581811"/>
            <a:ext cx="114678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 Light"/>
              <a:buChar char="⊡"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46" name="Google Shape;146;p17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Title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/>
          <p:nvPr>
            <p:ph idx="1" type="body"/>
          </p:nvPr>
        </p:nvSpPr>
        <p:spPr>
          <a:xfrm>
            <a:off x="773350" y="2649953"/>
            <a:ext cx="11458200" cy="17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fontScale="85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ct val="100000"/>
              <a:buFont typeface="Helvetica Neue Light"/>
              <a:buNone/>
            </a:pPr>
            <a:r>
              <a:rPr lang="en-US"/>
              <a:t>Machine Learning Applications in Bitcoin: Forecasting, Trading, and Risk Management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9519751" y="9237870"/>
            <a:ext cx="31635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 Light"/>
              <a:buNone/>
            </a:pPr>
            <a:r>
              <a:rPr lang="en-US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20251110 IDA Template Keynote.key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500"/>
              <a:buFont typeface="Helvetica Neue Light"/>
              <a:buNone/>
            </a:pPr>
            <a:r>
              <a:t/>
            </a:r>
            <a:endParaRPr sz="1500">
              <a:solidFill>
                <a:srgbClr val="D30F1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773350" y="4410650"/>
            <a:ext cx="5495400" cy="661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Sam, Bill, Jannis (and HWTeng)</a:t>
            </a:r>
            <a:endParaRPr sz="3100">
              <a:solidFill>
                <a:schemeClr val="dk2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729950" y="7036125"/>
            <a:ext cx="9156900" cy="158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National Yang-Ming Chiao-Tung University</a:t>
            </a:r>
            <a:endParaRPr sz="2800">
              <a:solidFill>
                <a:srgbClr val="D30F1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Machine Learning and FinTech</a:t>
            </a:r>
            <a:endParaRPr i="1" sz="2800">
              <a:solidFill>
                <a:srgbClr val="D30F1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https://github.com/HWTeng-Teaching/202509-ML-FinTech</a:t>
            </a:r>
            <a:endParaRPr sz="2800">
              <a:solidFill>
                <a:srgbClr val="535353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55" name="Google Shape;155;p1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8912" y="7036125"/>
            <a:ext cx="1585177" cy="158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C4D3D3"/>
      </a:dk1>
      <a:lt1>
        <a:srgbClr val="D30F11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000000"/>
      </a:dk1>
      <a:lt1>
        <a:srgbClr val="FFFFFF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