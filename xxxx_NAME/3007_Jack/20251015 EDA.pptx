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381" r:id="rId3"/>
    <p:sldId id="262" r:id="rId4"/>
    <p:sldId id="383" r:id="rId5"/>
    <p:sldId id="385" r:id="rId6"/>
    <p:sldId id="387" r:id="rId7"/>
    <p:sldId id="388" r:id="rId8"/>
    <p:sldId id="390" r:id="rId9"/>
    <p:sldId id="391" r:id="rId10"/>
    <p:sldId id="392" r:id="rId11"/>
    <p:sldId id="393" r:id="rId12"/>
    <p:sldId id="395" r:id="rId13"/>
    <p:sldId id="396" r:id="rId14"/>
    <p:sldId id="397" r:id="rId15"/>
    <p:sldId id="398" r:id="rId16"/>
    <p:sldId id="399" r:id="rId17"/>
    <p:sldId id="400" r:id="rId18"/>
    <p:sldId id="261" r:id="rId19"/>
    <p:sldId id="384" r:id="rId20"/>
    <p:sldId id="382" r:id="rId21"/>
    <p:sldId id="386" r:id="rId22"/>
    <p:sldId id="401" r:id="rId2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1pPr>
    <a:lvl2pPr marL="0" marR="0" indent="228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2pPr>
    <a:lvl3pPr marL="0" marR="0" indent="457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3pPr>
    <a:lvl4pPr marL="0" marR="0" indent="685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4pPr>
    <a:lvl5pPr marL="0" marR="0" indent="9144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5pPr>
    <a:lvl6pPr marL="0" marR="0" indent="11430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6pPr>
    <a:lvl7pPr marL="0" marR="0" indent="1371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7pPr>
    <a:lvl8pPr marL="0" marR="0" indent="1600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8pPr>
    <a:lvl9pPr marL="0" marR="0" indent="1828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satOff val="1848"/>
              <a:lumOff val="-15262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50800" cap="flat">
              <a:noFill/>
              <a:miter lim="400000"/>
            </a:ln>
          </a:left>
          <a:right>
            <a:ln w="50800" cap="flat">
              <a:noFill/>
              <a:miter lim="400000"/>
            </a:ln>
          </a:right>
          <a:top>
            <a:ln w="50800" cap="flat">
              <a:noFill/>
              <a:miter lim="400000"/>
            </a:ln>
          </a:top>
          <a:bottom>
            <a:ln w="50800" cap="flat">
              <a:noFill/>
              <a:miter lim="400000"/>
            </a:ln>
          </a:bottom>
          <a:insideH>
            <a:ln w="50800" cap="flat">
              <a:noFill/>
              <a:miter lim="400000"/>
            </a:ln>
          </a:insideH>
          <a:insideV>
            <a:ln w="508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5E6E5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A5F5E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E5E6E5"/>
          </a:solidFill>
        </a:fill>
      </a:tcStyle>
    </a:firstCol>
    <a:lastRow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lastRow>
    <a:firstRow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A5F5E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A5F5E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3447" autoAdjust="0"/>
  </p:normalViewPr>
  <p:slideViewPr>
    <p:cSldViewPr snapToGrid="0">
      <p:cViewPr varScale="1">
        <p:scale>
          <a:sx n="73" d="100"/>
          <a:sy n="73" d="100"/>
        </p:scale>
        <p:origin x="184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01CDFA3-62E6-2EB3-89B2-26EEBE22DC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701934B-49E7-7B2F-748F-7585029D0E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E9D86-095F-49E3-82AC-7AC723D938EC}" type="datetimeFigureOut">
              <a:rPr lang="zh-TW" altLang="en-US" smtClean="0"/>
              <a:t>2025/10/15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FEAACED-C3AC-BA30-4AF2-0B2CDADF48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71FDDCC-B195-EDF1-4BE4-B1BC084EEE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53F7F-3314-4E21-83D9-2C6FE286D1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66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3115932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dirty="0">
                <a:effectLst/>
                <a:latin typeface="Avenir Roman"/>
                <a:ea typeface="Avenir Roman"/>
                <a:cs typeface="Avenir Roman"/>
                <a:sym typeface="Avenir Roman"/>
              </a:rPr>
              <a:t>TEJ</a:t>
            </a:r>
            <a:r>
              <a:rPr lang="zh-TW" altLang="en-US" sz="2400" b="0" i="0" dirty="0">
                <a:effectLst/>
                <a:latin typeface="Avenir Roman"/>
                <a:ea typeface="Avenir Roman"/>
                <a:cs typeface="Avenir Roman"/>
                <a:sym typeface="Avenir Roman"/>
              </a:rPr>
              <a:t>產業研究團隊於</a:t>
            </a:r>
            <a:r>
              <a:rPr lang="en-US" altLang="zh-TW" sz="2400" b="0" i="0" dirty="0">
                <a:effectLst/>
                <a:latin typeface="Avenir Roman"/>
                <a:ea typeface="Avenir Roman"/>
                <a:cs typeface="Avenir Roman"/>
                <a:sym typeface="Avenir Roman"/>
              </a:rPr>
              <a:t>1991</a:t>
            </a:r>
            <a:r>
              <a:rPr lang="zh-TW" altLang="en-US" sz="2400" b="0" i="0" dirty="0">
                <a:effectLst/>
                <a:latin typeface="Avenir Roman"/>
                <a:ea typeface="Avenir Roman"/>
                <a:cs typeface="Avenir Roman"/>
                <a:sym typeface="Avenir Roman"/>
              </a:rPr>
              <a:t>年推出，台灣企業信用風險指標 </a:t>
            </a:r>
            <a:r>
              <a:rPr lang="en-US" altLang="zh-TW" sz="2400" b="0" i="0" dirty="0">
                <a:effectLst/>
                <a:latin typeface="Avenir Roman"/>
                <a:ea typeface="Avenir Roman"/>
                <a:cs typeface="Avenir Roman"/>
                <a:sym typeface="Avenir Roman"/>
              </a:rPr>
              <a:t>Taiwan Corporate Credit Risk Index</a:t>
            </a:r>
            <a:r>
              <a:rPr lang="zh-TW" altLang="en-US" sz="2400" b="0" i="0" dirty="0">
                <a:effectLst/>
                <a:latin typeface="Avenir Roman"/>
                <a:ea typeface="Avenir Roman"/>
                <a:cs typeface="Avenir Roman"/>
                <a:sym typeface="Avenir Roman"/>
              </a:rPr>
              <a:t>，採半專家模式，以數量模式為底，輔以人工判斷，並拆分成三個步驟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0911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8564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mplate Present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773350" y="2345153"/>
            <a:ext cx="11458100" cy="1760787"/>
          </a:xfrm>
          <a:prstGeom prst="rect">
            <a:avLst/>
          </a:prstGeom>
        </p:spPr>
        <p:txBody>
          <a:bodyPr/>
          <a:lstStyle>
            <a:lvl1pPr>
              <a:defRPr sz="5500">
                <a:latin typeface="Aptos" panose="020B0004020202020204" pitchFamily="34" charset="0"/>
              </a:defRPr>
            </a:lvl1pPr>
          </a:lstStyle>
          <a:p>
            <a:r>
              <a:rPr dirty="0"/>
              <a:t>Title</a:t>
            </a:r>
          </a:p>
        </p:txBody>
      </p:sp>
      <p:sp>
        <p:nvSpPr>
          <p:cNvPr id="16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 副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</p:spPr>
        <p:txBody>
          <a:bodyPr wrap="square"/>
          <a:lstStyle>
            <a:lvl1pPr algn="r"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50" name="線條"/>
          <p:cNvSpPr/>
          <p:nvPr/>
        </p:nvSpPr>
        <p:spPr>
          <a:xfrm>
            <a:off x="761999" y="624879"/>
            <a:ext cx="11474292" cy="1"/>
          </a:xfrm>
          <a:prstGeom prst="line">
            <a:avLst/>
          </a:prstGeom>
          <a:ln w="25400">
            <a:solidFill>
              <a:srgbClr val="5A5F5E">
                <a:alpha val="15947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endParaRPr>
              <a:latin typeface="Aptos" panose="020B0004020202020204" pitchFamily="34" charset="0"/>
            </a:endParaRPr>
          </a:p>
        </p:txBody>
      </p:sp>
      <p:sp>
        <p:nvSpPr>
          <p:cNvPr id="51" name="Section 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755809" y="213147"/>
            <a:ext cx="9502858" cy="399033"/>
          </a:xfrm>
          <a:prstGeom prst="rect">
            <a:avLst/>
          </a:prstGeom>
        </p:spPr>
        <p:txBody>
          <a:bodyPr>
            <a:spAutoFit/>
          </a:bodyPr>
          <a:lstStyle>
            <a:lvl1pPr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Section Title</a:t>
            </a:r>
          </a:p>
        </p:txBody>
      </p:sp>
      <p:sp>
        <p:nvSpPr>
          <p:cNvPr id="52" name="Slide 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Aptos" panose="020B0004020202020204" pitchFamily="34" charset="0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Slide Title</a:t>
            </a:r>
          </a:p>
        </p:txBody>
      </p:sp>
      <p:sp>
        <p:nvSpPr>
          <p:cNvPr id="53" name="Use…"/>
          <p:cNvSpPr txBox="1">
            <a:spLocks noGrp="1"/>
          </p:cNvSpPr>
          <p:nvPr>
            <p:ph type="body" sz="half" idx="23"/>
          </p:nvPr>
        </p:nvSpPr>
        <p:spPr>
          <a:xfrm>
            <a:off x="761999" y="1581811"/>
            <a:ext cx="11467783" cy="234320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</a:lstStyle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dirty="0"/>
              <a:t>Use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dirty="0"/>
              <a:t>All</a:t>
            </a:r>
          </a:p>
          <a:p>
            <a:pPr marL="889000" lvl="1" indent="-444500">
              <a:lnSpc>
                <a:spcPts val="4500"/>
              </a:lnSpc>
              <a:buClr>
                <a:srgbClr val="00599E"/>
              </a:buClr>
              <a:buSzPct val="80000"/>
              <a:buChar char="►"/>
              <a:defRPr sz="3000">
                <a:solidFill>
                  <a:srgbClr val="5A5F5E"/>
                </a:solidFill>
              </a:defRPr>
            </a:pPr>
            <a:r>
              <a:rPr dirty="0"/>
              <a:t>w2</a:t>
            </a:r>
          </a:p>
          <a:p>
            <a:pPr marL="889000" lvl="1" indent="-444500">
              <a:lnSpc>
                <a:spcPts val="4500"/>
              </a:lnSpc>
              <a:buClr>
                <a:srgbClr val="00599E"/>
              </a:buClr>
              <a:buSzPct val="80000"/>
              <a:buChar char="►"/>
              <a:defRPr sz="3000">
                <a:solidFill>
                  <a:srgbClr val="5A5F5E"/>
                </a:solidFill>
              </a:defRPr>
            </a:pPr>
            <a:r>
              <a:rPr dirty="0"/>
              <a:t>w3</a:t>
            </a:r>
          </a:p>
        </p:txBody>
      </p:sp>
      <p:sp>
        <p:nvSpPr>
          <p:cNvPr id="54" name="Titl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715409" y="9234402"/>
            <a:ext cx="8135983" cy="40011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defTabSz="457200">
              <a:spcBef>
                <a:spcPts val="1200"/>
              </a:spcBef>
              <a:defRPr sz="20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rPr lang="en-US" dirty="0"/>
              <a:t>Machine Learning Approaches to Scoring and Rating Prediction</a:t>
            </a:r>
          </a:p>
        </p:txBody>
      </p:sp>
      <p:sp>
        <p:nvSpPr>
          <p:cNvPr id="55" name="線條"/>
          <p:cNvSpPr/>
          <p:nvPr/>
        </p:nvSpPr>
        <p:spPr>
          <a:xfrm>
            <a:off x="700892" y="9159279"/>
            <a:ext cx="10543492" cy="1"/>
          </a:xfrm>
          <a:prstGeom prst="line">
            <a:avLst/>
          </a:prstGeom>
          <a:ln w="25400">
            <a:solidFill>
              <a:srgbClr val="5A5F5E">
                <a:alpha val="15947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endParaRPr>
              <a:latin typeface="Aptos" panose="020B0004020202020204" pitchFamily="34" charset="0"/>
            </a:endParaRPr>
          </a:p>
        </p:txBody>
      </p:sp>
      <p:pic>
        <p:nvPicPr>
          <p:cNvPr id="56" name="norm_quant.jpg" descr="norm_quant.jpg"/>
          <p:cNvPicPr>
            <a:picLocks noChangeAspect="1"/>
          </p:cNvPicPr>
          <p:nvPr/>
        </p:nvPicPr>
        <p:blipFill>
          <a:blip r:embed="rId2"/>
          <a:srcRect l="7685" t="12299" r="6266" b="13992"/>
          <a:stretch>
            <a:fillRect/>
          </a:stretch>
        </p:blipFill>
        <p:spPr>
          <a:xfrm>
            <a:off x="11456784" y="8603504"/>
            <a:ext cx="1259216" cy="7631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575" extrusionOk="0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2824">
              <a:srgbClr val="ECECEC"/>
            </a:gs>
            <a:gs pos="100000">
              <a:srgbClr val="DADADA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sted-image.png" descr="paste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50" y="230380"/>
            <a:ext cx="2370215" cy="229898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矩形"/>
          <p:cNvSpPr txBox="1"/>
          <p:nvPr/>
        </p:nvSpPr>
        <p:spPr>
          <a:xfrm>
            <a:off x="773350" y="6475983"/>
            <a:ext cx="7488751" cy="2058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defTabSz="457200">
              <a:defRPr sz="3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</p:txBody>
      </p:sp>
      <p:sp>
        <p:nvSpPr>
          <p:cNvPr id="5" name="Your affiliation…"/>
          <p:cNvSpPr txBox="1"/>
          <p:nvPr/>
        </p:nvSpPr>
        <p:spPr>
          <a:xfrm>
            <a:off x="774700" y="6985000"/>
            <a:ext cx="11455400" cy="264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defTabSz="457200">
              <a:defRPr sz="3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5A5F5E"/>
                </a:solidFill>
                <a:effectLst/>
                <a:uFillTx/>
                <a:latin typeface="Aptos" panose="020B0004020202020204" pitchFamily="34" charset="0"/>
                <a:ea typeface="+mn-ea"/>
                <a:cs typeface="+mn-cs"/>
                <a:sym typeface="Helvetica Neue Light"/>
              </a:rPr>
              <a:t>Department of Applied Mathematics, NYCU</a:t>
            </a:r>
          </a:p>
        </p:txBody>
      </p:sp>
      <p:sp>
        <p:nvSpPr>
          <p:cNvPr id="6" name="大標題文字"/>
          <p:cNvSpPr txBox="1">
            <a:spLocks noGrp="1"/>
          </p:cNvSpPr>
          <p:nvPr>
            <p:ph type="title"/>
          </p:nvPr>
        </p:nvSpPr>
        <p:spPr>
          <a:xfrm>
            <a:off x="773350" y="1733550"/>
            <a:ext cx="11458100" cy="1996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 err="1"/>
              <a:t>大標題文字</a:t>
            </a:r>
            <a:endParaRPr dirty="0"/>
          </a:p>
        </p:txBody>
      </p:sp>
      <p:sp>
        <p:nvSpPr>
          <p:cNvPr id="8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/>
          </a:bodyPr>
          <a:lstStyle>
            <a:lvl1pPr algn="ctr">
              <a:defRPr sz="1600">
                <a:solidFill>
                  <a:srgbClr val="535353"/>
                </a:solidFill>
                <a:latin typeface="Aptos" panose="020B0004020202020204" pitchFamily="34" charset="0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transition spd="med"/>
  <p:hf hdr="0" ftr="0" dt="0"/>
  <p:txStyles>
    <p:titleStyle>
      <a:lvl1pPr marL="0" marR="0" indent="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Aptos" panose="020B0004020202020204" pitchFamily="34" charset="0"/>
          <a:ea typeface="+mn-ea"/>
          <a:cs typeface="+mn-cs"/>
          <a:sym typeface="Helvetica Neue"/>
        </a:defRPr>
      </a:lvl1pPr>
      <a:lvl2pPr marL="0" marR="0" indent="228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chemeClr val="bg2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0" marR="0" indent="228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0" marR="0" indent="457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0" marR="0" indent="685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0" marR="0" indent="9144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0" marR="0" indent="11430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0" marR="0" indent="1371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0" marR="0" indent="1600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0" marR="0" indent="1828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N Template"/>
          <p:cNvSpPr txBox="1">
            <a:spLocks noGrp="1"/>
          </p:cNvSpPr>
          <p:nvPr>
            <p:ph type="body" idx="21"/>
          </p:nvPr>
        </p:nvSpPr>
        <p:spPr>
          <a:xfrm>
            <a:off x="773350" y="3069053"/>
            <a:ext cx="11458100" cy="253482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C00000"/>
                </a:solidFill>
              </a:rPr>
              <a:t>Data-Driven Corporate Credit Assessment: Machine Learning Approaches to Scoring and Rating Prediction</a:t>
            </a:r>
          </a:p>
        </p:txBody>
      </p:sp>
      <p:sp>
        <p:nvSpPr>
          <p:cNvPr id="66" name="20240125 IDA Template Keynote.key"/>
          <p:cNvSpPr txBox="1"/>
          <p:nvPr/>
        </p:nvSpPr>
        <p:spPr>
          <a:xfrm>
            <a:off x="9519751" y="9237870"/>
            <a:ext cx="3163634" cy="324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normAutofit lnSpcReduction="10000"/>
          </a:bodyPr>
          <a:lstStyle>
            <a:lvl1pPr>
              <a:defRPr sz="1500"/>
            </a:lvl1pPr>
          </a:lstStyle>
          <a:p>
            <a:pPr algn="r"/>
            <a:r>
              <a:rPr lang="en-US" dirty="0">
                <a:latin typeface="Aptos" panose="020B0004020202020204" pitchFamily="34" charset="0"/>
              </a:rPr>
              <a:t>20251008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D39FB4F-8015-B0ED-D4C3-3EA01B97854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altLang="zh-TW" smtClean="0"/>
              <a:t>1</a:t>
            </a:fld>
            <a:endParaRPr lang="zh-TW" altLang="en-US"/>
          </a:p>
        </p:txBody>
      </p:sp>
      <p:sp>
        <p:nvSpPr>
          <p:cNvPr id="4" name="Your Name (HWTeng)"/>
          <p:cNvSpPr txBox="1"/>
          <p:nvPr/>
        </p:nvSpPr>
        <p:spPr>
          <a:xfrm>
            <a:off x="773448" y="5429250"/>
            <a:ext cx="11458002" cy="11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defTabSz="457200">
              <a:defRPr sz="3000">
                <a:solidFill>
                  <a:srgbClr val="5A5F5E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>
              <a:lnSpc>
                <a:spcPct val="130000"/>
              </a:lnSpc>
              <a:defRPr>
                <a:solidFill>
                  <a:srgbClr val="000000"/>
                </a:solidFill>
              </a:defRPr>
            </a:pPr>
            <a:r>
              <a:rPr lang="en-US" altLang="zh-TW" b="0" dirty="0">
                <a:solidFill>
                  <a:srgbClr val="5A5F5E"/>
                </a:solidFill>
                <a:latin typeface="Aptos" panose="020B0004020202020204" pitchFamily="34" charset="0"/>
              </a:rPr>
              <a:t>Wu Lung Chieh</a:t>
            </a:r>
          </a:p>
          <a:p>
            <a:pPr>
              <a:lnSpc>
                <a:spcPct val="130000"/>
              </a:lnSpc>
              <a:defRPr>
                <a:solidFill>
                  <a:srgbClr val="000000"/>
                </a:solidFill>
              </a:defRPr>
            </a:pPr>
            <a:r>
              <a:rPr lang="nl-NL" altLang="zh-TW" b="0" dirty="0">
                <a:solidFill>
                  <a:srgbClr val="5A5F5E"/>
                </a:solidFill>
                <a:latin typeface="Aptos" panose="020B0004020202020204" pitchFamily="34" charset="0"/>
              </a:rPr>
              <a:t>Huei Wen Teng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71" name="Section Title"/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872034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Introduction</a:t>
            </a:r>
          </a:p>
          <a:p>
            <a:endParaRPr lang="zh-TW" altLang="en-US" dirty="0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6B8CC393-CA36-D617-3BF8-9FF16408794E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15" name="圖片 14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A992284C-50C4-700B-321E-4B07148F83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08" y="1744600"/>
            <a:ext cx="5880100" cy="4343400"/>
          </a:xfrm>
          <a:prstGeom prst="rect">
            <a:avLst/>
          </a:prstGeom>
        </p:spPr>
      </p:pic>
      <p:sp>
        <p:nvSpPr>
          <p:cNvPr id="2" name="Slide Title">
            <a:extLst>
              <a:ext uri="{FF2B5EF4-FFF2-40B4-BE49-F238E27FC236}">
                <a16:creationId xmlns:a16="http://schemas.microsoft.com/office/drawing/2014/main" id="{925ACA5F-5F7F-C977-9EB7-D13F9FAE8A03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Taiwan Corporate Credit Risk Index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E7462D6-8164-1570-ED1A-C0A83CDFE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127247"/>
              </p:ext>
            </p:extLst>
          </p:nvPr>
        </p:nvGraphicFramePr>
        <p:xfrm>
          <a:off x="6914546" y="5095798"/>
          <a:ext cx="3436991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105">
                  <a:extLst>
                    <a:ext uri="{9D8B030D-6E8A-4147-A177-3AD203B41FA5}">
                      <a16:colId xmlns:a16="http://schemas.microsoft.com/office/drawing/2014/main" val="1816866316"/>
                    </a:ext>
                  </a:extLst>
                </a:gridCol>
                <a:gridCol w="1361943">
                  <a:extLst>
                    <a:ext uri="{9D8B030D-6E8A-4147-A177-3AD203B41FA5}">
                      <a16:colId xmlns:a16="http://schemas.microsoft.com/office/drawing/2014/main" val="873035803"/>
                    </a:ext>
                  </a:extLst>
                </a:gridCol>
                <a:gridCol w="1361943">
                  <a:extLst>
                    <a:ext uri="{9D8B030D-6E8A-4147-A177-3AD203B41FA5}">
                      <a16:colId xmlns:a16="http://schemas.microsoft.com/office/drawing/2014/main" val="2116247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TCRI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Count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Percentage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730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2054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31.0%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4120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2161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32.6%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5824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1389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20.9%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0700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667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10.1%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3749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292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4.4%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9019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292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0.8%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1362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0.03%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682264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60A16697-C78A-52BC-CA50-EA90253FE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546" y="1744600"/>
            <a:ext cx="5801091" cy="297845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F102D-E6B2-F48C-BE13-F738DA5B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049E2A8E-B240-8D1B-B8D5-6CC7F05E883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1FE03E6B-5E88-F99E-6A26-CCA673D150FA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D73ECC6C-EDC9-5B6C-562D-EB4886FC8516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Data Types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B02FF650-1201-45D6-7D90-833F3B154836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22" name="圖片 21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9A303C68-D6C9-8B28-E6C1-259D13FE88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1545" y="1646175"/>
            <a:ext cx="14347890" cy="688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3196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DC143-D984-FE17-8AFF-624E97589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A69673F5-6D62-EAA2-8CAC-573A707A0A2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0F2A0329-52AC-6E15-77CB-5350C6C7BE2B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861774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3296951E-34C6-9D26-C7FB-57819C8784D9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Data Describe 1/2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7FE33DE2-3B0A-915B-1D02-DFC30A5BE722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8" name="圖片 7" descr="一張含有 文字, 螢幕擷取畫面, 數字, 設計 的圖片&#10;&#10;AI 產生的內容可能不正確。">
            <a:extLst>
              <a:ext uri="{FF2B5EF4-FFF2-40B4-BE49-F238E27FC236}">
                <a16:creationId xmlns:a16="http://schemas.microsoft.com/office/drawing/2014/main" id="{0489679C-6EB7-5044-5977-3F2FEE2A78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1449"/>
            <a:ext cx="13004800" cy="703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18744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93C66-EA06-AB2A-1A4C-CD17E01B7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91767FC7-A8C9-01E8-2DE7-3A38D4BF554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79E680B5-668A-459B-41EA-4C34726502D7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13B2232E-8B93-5518-68B7-55CC7DB22CA5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Data Describe 2/2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82EF8496-340E-5809-2660-2A2E69B5B29B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6" name="圖片 5" descr="一張含有 文字, 螢幕擷取畫面, 行, 平行 的圖片&#10;&#10;AI 產生的內容可能不正確。">
            <a:extLst>
              <a:ext uri="{FF2B5EF4-FFF2-40B4-BE49-F238E27FC236}">
                <a16:creationId xmlns:a16="http://schemas.microsoft.com/office/drawing/2014/main" id="{8167C9F8-631B-A71C-475F-12A0391741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51" y="1264912"/>
            <a:ext cx="12768098" cy="722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4824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18A0B-3C25-9C5D-CF7B-85EF299C4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B831B473-154B-D99D-835D-43A3BFCE446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E02132C4-918C-2C70-7107-DB1D4B34F482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C86F9D08-BBE5-8549-D165-0CBF30480F77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Histogram 1/3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E8916169-12C0-9488-E7B6-80B1C3D9B858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11" name="圖片 10" descr="一張含有 螢幕擷取畫面, 平行, 行, 正方形 的圖片&#10;&#10;AI 產生的內容可能不正確。">
            <a:extLst>
              <a:ext uri="{FF2B5EF4-FFF2-40B4-BE49-F238E27FC236}">
                <a16:creationId xmlns:a16="http://schemas.microsoft.com/office/drawing/2014/main" id="{DD1D9D1D-CC85-D2F4-E74D-DBCFB665EC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642" y="1202420"/>
            <a:ext cx="9873516" cy="794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0673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F5D4-39E0-CE34-D906-1CDC9EBA6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4D46950D-C180-F2EC-8A3E-6D204C002A8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B8F35BB1-2A3E-4017-0420-FC85B0C6AC7B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57E06D7A-4025-9A10-B919-CA2EE6AB5BFE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Histogram 2/3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F7413CEA-9813-678D-6159-D498BB6F1625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4" name="圖片 3" descr="一張含有 螢幕擷取畫面, 正方形, 行, 藝術 的圖片&#10;&#10;AI 產生的內容可能不正確。">
            <a:extLst>
              <a:ext uri="{FF2B5EF4-FFF2-40B4-BE49-F238E27FC236}">
                <a16:creationId xmlns:a16="http://schemas.microsoft.com/office/drawing/2014/main" id="{B56727C3-9C6B-F754-0CB0-466FCC0892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000" y="1280903"/>
            <a:ext cx="9874800" cy="786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33861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B24DB-DC97-006F-3BE6-04C6C24FB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81CA2CFD-0CA4-856E-3592-5F3B598F6A8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3E10B42F-44C0-D17A-6E5D-1076202D1FE7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E04FDEDC-1489-F5DA-A201-832BE078C203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Histogram 3/3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347794E5-D953-42C1-C2F5-E28CB017BCFC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5" name="圖片 4" descr="一張含有 圖表, 行, 螢幕擷取畫面 的圖片&#10;&#10;AI 產生的內容可能不正確。">
            <a:extLst>
              <a:ext uri="{FF2B5EF4-FFF2-40B4-BE49-F238E27FC236}">
                <a16:creationId xmlns:a16="http://schemas.microsoft.com/office/drawing/2014/main" id="{FE132946-FA0F-484A-C363-9A6239FA88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000" y="1371855"/>
            <a:ext cx="9874800" cy="588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6472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B6F6E-AC7E-43E3-791A-EFB07EED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780BF350-5F5A-15A9-71E8-5AA8241D1FA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216B9FBE-3589-AF4E-D795-47769BEBFAF3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D5B83E66-8CE8-2A77-CBD1-3F8FFE04A277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Histogram (ln) 1/3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6997F4DA-94FE-30A3-E62E-AF3019DA3CFC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4" name="圖片 3" descr="一張含有 對稱, 螢幕擷取畫面, 樣式, 藝術 的圖片&#10;&#10;AI 產生的內容可能不正確。">
            <a:extLst>
              <a:ext uri="{FF2B5EF4-FFF2-40B4-BE49-F238E27FC236}">
                <a16:creationId xmlns:a16="http://schemas.microsoft.com/office/drawing/2014/main" id="{20BAF44B-A6B6-9667-C8FE-8CB3D289C8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491" y="1246123"/>
            <a:ext cx="9874800" cy="790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8360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F383A-C19D-09DC-204C-79FC7A6B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4A639ABC-803A-10BD-787A-B324E6F632A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B6790432-F943-9387-C104-A00CA7BE1F91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89B0C3D2-7274-3B91-9E39-5C62EBD0B8CC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Histogram (ln) 2/3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57A86836-531D-255C-D24F-31EC5C850429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5" name="圖片 4" descr="一張含有 螢幕擷取畫面, 樣式, 對稱, 設計 的圖片&#10;&#10;AI 產生的內容可能不正確。">
            <a:extLst>
              <a:ext uri="{FF2B5EF4-FFF2-40B4-BE49-F238E27FC236}">
                <a16:creationId xmlns:a16="http://schemas.microsoft.com/office/drawing/2014/main" id="{62876021-A3A2-B60A-5512-944DCA3A0F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491" y="1279116"/>
            <a:ext cx="9874800" cy="786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4560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55685-CA5E-5E76-6D87-BA2000CB0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113CE969-7CF3-BC20-DB84-CF0738F8F56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066F98E9-B834-3A7C-95F0-9D95FA9AFFFC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35EDAD7B-047F-ECF7-F56C-81D0AE00AB51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Histogram (ln) 3/3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36ECE6D9-8B0E-5A2D-C43E-C68F3EFB8093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5" name="圖片 4" descr="一張含有 螢幕擷取畫面, 設計, 藝術 的圖片&#10;&#10;AI 產生的內容可能不正確。">
            <a:extLst>
              <a:ext uri="{FF2B5EF4-FFF2-40B4-BE49-F238E27FC236}">
                <a16:creationId xmlns:a16="http://schemas.microsoft.com/office/drawing/2014/main" id="{EE26CD4A-E1EA-36CE-B70E-3C67E49205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491" y="1371855"/>
            <a:ext cx="9874800" cy="594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42063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A2BE0-C7BD-4987-6052-E84819ADC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A94B2796-8766-8650-B6AF-A64C05691C9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9EEB9F05-C827-0FB7-BA4A-0084B98303FF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5BD2E005-24DF-C018-E712-B9920045C858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Scatter Plot 1/3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11C611F8-5AC4-11B7-BCD5-22F382205DD0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4" name="圖片 3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1C4CBA90-A7AA-72C5-2517-3AC4C879AE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491" y="1247108"/>
            <a:ext cx="9874800" cy="790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11794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919DC-B998-E090-5237-797B8B43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FC4EBFB0-85D6-B2E3-86CC-C89EA818D91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C4B4B8C8-8085-8AA3-6DF6-722A1B3E30AF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FE37164D-D775-FE1E-F5DC-EF6F62684627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Scatter Plot 2/3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B51AF7DA-A888-0664-BCBB-C0DB2FA67DFB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5" name="圖片 4" descr="一張含有 螢幕擷取畫面, 正方形 的圖片&#10;&#10;AI 產生的內容可能不正確。">
            <a:extLst>
              <a:ext uri="{FF2B5EF4-FFF2-40B4-BE49-F238E27FC236}">
                <a16:creationId xmlns:a16="http://schemas.microsoft.com/office/drawing/2014/main" id="{27E31653-494B-BCE0-9BC8-55D089E742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13" y="1371855"/>
            <a:ext cx="11880000" cy="720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7774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F6051-B2BF-48C7-9BDE-2195CA6E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9DBB3DD0-ED1B-B2EA-378E-5E5B75A893E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F4ECC0B4-105B-5674-D76C-B92F4FAB053D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18E0D33D-F104-FC76-90CD-CAE329BE0CC5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Scatter Plot 3/3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3CB5DA86-7532-3047-E1B8-68D04A18AFBB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5" name="圖片 4" descr="一張含有 螢幕擷取畫面, 行 的圖片&#10;&#10;AI 產生的內容可能不正確。">
            <a:extLst>
              <a:ext uri="{FF2B5EF4-FFF2-40B4-BE49-F238E27FC236}">
                <a16:creationId xmlns:a16="http://schemas.microsoft.com/office/drawing/2014/main" id="{5D9707A3-367A-783E-B17F-6C15569DC5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00" y="1371855"/>
            <a:ext cx="11880000" cy="715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2020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EFB60-378E-816C-9254-746E6268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5C395B16-19A1-4B71-FF77-4BA165587BD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BA53EE3F-D063-6DE6-8181-8F378C86EC27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A1DB043B-1620-5C56-926E-A402ACC68996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Scatter Plot (ln) 1/3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40F7F4DB-3353-00A6-FF10-3ACF58200C4B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4" name="圖片 3" descr="一張含有 螢幕擷取畫面, 行, 鮮豔, 設計 的圖片&#10;&#10;AI 產生的內容可能不正確。">
            <a:extLst>
              <a:ext uri="{FF2B5EF4-FFF2-40B4-BE49-F238E27FC236}">
                <a16:creationId xmlns:a16="http://schemas.microsoft.com/office/drawing/2014/main" id="{D2927AF6-5205-3121-A552-506BAC4C70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000" y="1210352"/>
            <a:ext cx="9874800" cy="793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1562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0247E-46BF-63A5-FB30-30995C27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C3C143EE-DA50-2E2F-B8C3-6103C97F316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8BF75B44-B6D0-E498-70DE-DC57843DF36A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F49DE692-B438-E4BF-BEA3-58992E754856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Scatter Plot (ln) 2/3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CE4974DC-1F17-D993-7464-A9DB2D2550E4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5" name="圖片 4" descr="一張含有 螢幕擷取畫面, 正方形, 樣式, 設計 的圖片&#10;&#10;AI 產生的內容可能不正確。">
            <a:extLst>
              <a:ext uri="{FF2B5EF4-FFF2-40B4-BE49-F238E27FC236}">
                <a16:creationId xmlns:a16="http://schemas.microsoft.com/office/drawing/2014/main" id="{CDFC430D-9660-EC0D-6009-E2436EBA9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00" y="1371855"/>
            <a:ext cx="11880000" cy="712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1094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46E97-321F-27C5-A50D-70AC02164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7FA936D7-D502-B6F3-6F28-B901A573E02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514CD41D-4021-466F-9782-C3609AC83E03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742B68AD-7714-5BCE-2049-4B010A9904B2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Scatter Plot (ln) 3/3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633459E5-35A1-E38F-CFF3-6E77C24774B4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5" name="圖片 4" descr="一張含有 螢幕擷取畫面, 行 的圖片&#10;&#10;AI 產生的內容可能不正確。">
            <a:extLst>
              <a:ext uri="{FF2B5EF4-FFF2-40B4-BE49-F238E27FC236}">
                <a16:creationId xmlns:a16="http://schemas.microsoft.com/office/drawing/2014/main" id="{7D458E54-C167-2595-652D-45A07AC473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91" y="1371855"/>
            <a:ext cx="11880000" cy="719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0812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9254D-29D2-0AEB-6F21-04C8C316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8D872949-4BAC-9308-043E-37F43906375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3E41B2FC-98D4-1AB7-17CF-70769B41D6DB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31AC56E2-B937-6650-EC7D-322C057381BB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Missing Value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4BCF2626-86B7-5A25-5039-72EB620BA31F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15" name="圖片 14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38871E82-926D-B6FB-BBC0-8D2C23B59A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7181" y="1510339"/>
            <a:ext cx="14479162" cy="634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1880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B125-5B9F-8CF4-20F1-C5095B154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7386A237-ED19-C595-C953-B4331EDB305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408D698E-F7ED-B3F8-838E-1147FC4078DC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0F37755A-5EE0-4734-C87F-A14ABF685E92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E9CA2253-ADD1-EF6A-C73A-ECCED62709E2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Missing Value Heatmap</a:t>
            </a:r>
            <a:endParaRPr lang="zh-TW" altLang="en-US" dirty="0">
              <a:solidFill>
                <a:srgbClr val="5A5F5E"/>
              </a:solidFill>
            </a:endParaRPr>
          </a:p>
        </p:txBody>
      </p:sp>
      <p:pic>
        <p:nvPicPr>
          <p:cNvPr id="6" name="圖片 5" descr="一張含有 文字, 螢幕擷取畫面, 鮮豔, 紫色 的圖片&#10;&#10;AI 產生的內容可能不正確。">
            <a:extLst>
              <a:ext uri="{FF2B5EF4-FFF2-40B4-BE49-F238E27FC236}">
                <a16:creationId xmlns:a16="http://schemas.microsoft.com/office/drawing/2014/main" id="{B72CD559-A060-262B-47AF-27899FEB94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88" y="1195587"/>
            <a:ext cx="11005223" cy="812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65960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0A6F4-1874-45EE-25D2-FD05F972F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50947A86-8FAB-5F13-0696-D3B019F7E31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91DDFB60-B518-9A97-4ED6-CF236C144930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81E7EA64-3EF7-71FF-7EAE-C6D549CB3902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15" name="圖片 14" descr="一張含有 螢幕擷取畫面, 行, 鮮豔, 正方形 的圖片&#10;&#10;AI 產生的內容可能不正確。">
            <a:extLst>
              <a:ext uri="{FF2B5EF4-FFF2-40B4-BE49-F238E27FC236}">
                <a16:creationId xmlns:a16="http://schemas.microsoft.com/office/drawing/2014/main" id="{9BCA7FEA-C7FD-CD8D-E121-103B75E0B8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447" y="572322"/>
            <a:ext cx="9378970" cy="878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4700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49CBD-4FAA-E722-70FD-2BBABA317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026CA993-E228-67AF-AAC0-08E959526A2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59E3584D-1C53-C48E-5D2D-811BACAD36BB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00110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 (EDA)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06CD647F-CF09-F070-3C82-0073359D59AB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Exploratory Data Analysis (EDA)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2726A4C7-D2F0-C27C-AFF0-D54E441DC56F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6" name="圖片 5" descr="一張含有 螢幕擷取畫面, 黑暗, 黑色, space 的圖片&#10;&#10;AI 產生的內容可能不正確。">
            <a:extLst>
              <a:ext uri="{FF2B5EF4-FFF2-40B4-BE49-F238E27FC236}">
                <a16:creationId xmlns:a16="http://schemas.microsoft.com/office/drawing/2014/main" id="{989D3B6A-952E-B876-67FE-1125CA5004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000" y="1191864"/>
            <a:ext cx="9874800" cy="795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600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387C-0A92-2C49-2CA9-2102D972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A47F5CE3-DAC7-C1DB-5E7A-B90244C5B2B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7F311FBB-1BF7-751D-8663-C0D2561DC652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Data</a:t>
            </a:r>
            <a:endParaRPr lang="zh-TW" altLang="en-US"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6B6B28BA-B768-B43A-E993-27742334FA9A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5A5F5E"/>
                </a:solidFill>
              </a:rPr>
              <a:t>Exploratory Data Analysis (EDA)</a:t>
            </a:r>
            <a:endParaRPr lang="zh-TW" altLang="en-US" dirty="0">
              <a:solidFill>
                <a:srgbClr val="5A5F5E"/>
              </a:solidFill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0A53F1A9-324A-BF72-E0A7-99C83A31D1B4}"/>
              </a:ext>
            </a:extLst>
          </p:cNvPr>
          <p:cNvSpPr txBox="1">
            <a:spLocks/>
          </p:cNvSpPr>
          <p:nvPr/>
        </p:nvSpPr>
        <p:spPr>
          <a:xfrm>
            <a:off x="768508" y="9147943"/>
            <a:ext cx="887079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dirty="0"/>
              <a:t>Machine Learning Approaches to Scoring and Rating Prediction</a:t>
            </a:r>
          </a:p>
        </p:txBody>
      </p:sp>
      <p:pic>
        <p:nvPicPr>
          <p:cNvPr id="4" name="圖片 3" descr="一張含有 螢幕擷取畫面, 黑色, space 的圖片&#10;&#10;AI 產生的內容可能不正確。">
            <a:extLst>
              <a:ext uri="{FF2B5EF4-FFF2-40B4-BE49-F238E27FC236}">
                <a16:creationId xmlns:a16="http://schemas.microsoft.com/office/drawing/2014/main" id="{CC9828D5-3BB8-DE00-901C-32A27749CD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491" y="1371855"/>
            <a:ext cx="9874800" cy="791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0936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howroom">
  <a:themeElements>
    <a:clrScheme name="Showroom">
      <a:dk1>
        <a:srgbClr val="C4D3D3"/>
      </a:dk1>
      <a:lt1>
        <a:srgbClr val="D30F11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norm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norm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7007</TotalTime>
  <Words>439</Words>
  <Application>Microsoft Office PowerPoint</Application>
  <PresentationFormat>自訂</PresentationFormat>
  <Paragraphs>113</Paragraphs>
  <Slides>22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7" baseType="lpstr">
      <vt:lpstr>Avenir Roman</vt:lpstr>
      <vt:lpstr>Helvetica Neue Light</vt:lpstr>
      <vt:lpstr>Helvetica Neue Thin</vt:lpstr>
      <vt:lpstr>Aptos</vt:lpstr>
      <vt:lpstr>Showroom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吳隆傑</cp:lastModifiedBy>
  <cp:revision>29</cp:revision>
  <dcterms:modified xsi:type="dcterms:W3CDTF">2025-10-15T14:33:15Z</dcterms:modified>
</cp:coreProperties>
</file>