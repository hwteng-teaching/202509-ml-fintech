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7" r:id="rId2"/>
    <p:sldId id="258" r:id="rId3"/>
    <p:sldId id="273" r:id="rId4"/>
    <p:sldId id="259" r:id="rId5"/>
    <p:sldId id="274" r:id="rId6"/>
    <p:sldId id="289" r:id="rId7"/>
    <p:sldId id="293" r:id="rId8"/>
    <p:sldId id="294" r:id="rId9"/>
    <p:sldId id="295" r:id="rId10"/>
    <p:sldId id="301" r:id="rId11"/>
    <p:sldId id="298" r:id="rId12"/>
    <p:sldId id="299" r:id="rId13"/>
    <p:sldId id="300" r:id="rId14"/>
    <p:sldId id="275" r:id="rId15"/>
    <p:sldId id="305" r:id="rId16"/>
    <p:sldId id="306" r:id="rId17"/>
    <p:sldId id="307" r:id="rId18"/>
    <p:sldId id="308" r:id="rId19"/>
    <p:sldId id="309" r:id="rId20"/>
    <p:sldId id="292" r:id="rId21"/>
    <p:sldId id="276" r:id="rId22"/>
    <p:sldId id="285" r:id="rId23"/>
    <p:sldId id="286" r:id="rId24"/>
    <p:sldId id="287" r:id="rId25"/>
    <p:sldId id="288" r:id="rId26"/>
    <p:sldId id="277" r:id="rId27"/>
    <p:sldId id="284" r:id="rId28"/>
    <p:sldId id="269" r:id="rId29"/>
    <p:sldId id="280" r:id="rId30"/>
    <p:sldId id="266" r:id="rId31"/>
    <p:sldId id="278" r:id="rId32"/>
    <p:sldId id="303" r:id="rId33"/>
    <p:sldId id="304" r:id="rId34"/>
    <p:sldId id="291" r:id="rId35"/>
    <p:sldId id="290" r:id="rId36"/>
    <p:sldId id="279" r:id="rId37"/>
    <p:sldId id="302" r:id="rId38"/>
    <p:sldId id="310" r:id="rId3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492C"/>
    <a:srgbClr val="208AAE"/>
    <a:srgbClr val="463F1A"/>
    <a:srgbClr val="F9EBE0"/>
    <a:srgbClr val="0D2149"/>
    <a:srgbClr val="7DB3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6E2F3D-7073-4080-A2E1-E70CB0DA8603}" v="1" dt="2025-09-24T07:49:30.172"/>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74" autoAdjust="0"/>
  </p:normalViewPr>
  <p:slideViewPr>
    <p:cSldViewPr snapToGrid="0">
      <p:cViewPr varScale="1">
        <p:scale>
          <a:sx n="69" d="100"/>
          <a:sy n="69" d="100"/>
        </p:scale>
        <p:origin x="112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1"/>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pieChart>
        <c:varyColors val="1"/>
        <c:ser>
          <c:idx val="0"/>
          <c:order val="0"/>
          <c:tx>
            <c:strRef>
              <c:f>Sheet1!$B$1</c:f>
              <c:strCache>
                <c:ptCount val="1"/>
                <c:pt idx="0">
                  <c:v>Class Distribution</c:v>
                </c:pt>
              </c:strCache>
            </c:strRef>
          </c:tx>
          <c:dLbls>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Bad (1–3)</c:v>
                </c:pt>
                <c:pt idx="1">
                  <c:v>Average (4–5)</c:v>
                </c:pt>
                <c:pt idx="2">
                  <c:v>Good (6–7)</c:v>
                </c:pt>
              </c:strCache>
            </c:strRef>
          </c:cat>
          <c:val>
            <c:numRef>
              <c:f>Sheet1!$B$2:$B$4</c:f>
              <c:numCache>
                <c:formatCode>General</c:formatCode>
                <c:ptCount val="3"/>
                <c:pt idx="0">
                  <c:v>10</c:v>
                </c:pt>
                <c:pt idx="1">
                  <c:v>49</c:v>
                </c:pt>
                <c:pt idx="2">
                  <c:v>41</c:v>
                </c:pt>
              </c:numCache>
            </c:numRef>
          </c:val>
          <c:extLst>
            <c:ext xmlns:c16="http://schemas.microsoft.com/office/drawing/2014/chart" uri="{C3380CC4-5D6E-409C-BE32-E72D297353CC}">
              <c16:uniqueId val="{00000000-2F98-407A-A8C0-EA1F7517BD33}"/>
            </c:ext>
          </c:extLst>
        </c:ser>
        <c:dLbls>
          <c:showLegendKey val="0"/>
          <c:showVal val="1"/>
          <c:showCatName val="0"/>
          <c:showSerName val="0"/>
          <c:showPercent val="0"/>
          <c:showBubbleSize val="0"/>
          <c:showLeaderLines val="1"/>
        </c:dLbls>
        <c:firstSliceAng val="0"/>
      </c:pieChart>
    </c:plotArea>
    <c:legend>
      <c:legendPos val="r"/>
      <c:overlay val="0"/>
    </c:legend>
    <c:plotVisOnly val="1"/>
    <c:dispBlanksAs val="gap"/>
    <c:showDLblsOverMax val="1"/>
  </c:chart>
  <c:txPr>
    <a:bodyPr/>
    <a:lstStyle/>
    <a:p>
      <a:pPr>
        <a:defRPr sz="1800"/>
      </a:pPr>
      <a:endParaRPr lang="zh-TW"/>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7C1C47-37C6-44F4-A0B7-47EC037B36A5}" type="datetimeFigureOut">
              <a:rPr lang="zh-TW" altLang="en-US" smtClean="0"/>
              <a:t>2025/9/30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B7B327-A690-4AB3-B31F-3B1B9C5AC338}" type="slidenum">
              <a:rPr lang="zh-TW" altLang="en-US" smtClean="0"/>
              <a:t>‹#›</a:t>
            </a:fld>
            <a:endParaRPr lang="zh-TW" altLang="en-US"/>
          </a:p>
        </p:txBody>
      </p:sp>
    </p:spTree>
    <p:extLst>
      <p:ext uri="{BB962C8B-B14F-4D97-AF65-F5344CB8AC3E}">
        <p14:creationId xmlns:p14="http://schemas.microsoft.com/office/powerpoint/2010/main" val="3065118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20</a:t>
            </a:r>
            <a:r>
              <a:rPr lang="zh-TW" altLang="en-US" dirty="0"/>
              <a:t>分鐘簡報</a:t>
            </a:r>
            <a:r>
              <a:rPr lang="en-US" altLang="zh-TW" dirty="0"/>
              <a:t>+5</a:t>
            </a:r>
            <a:r>
              <a:rPr lang="zh-TW" altLang="en-US" dirty="0"/>
              <a:t>分種</a:t>
            </a:r>
            <a:r>
              <a:rPr lang="en-US" altLang="zh-TW" dirty="0"/>
              <a:t>QA</a:t>
            </a:r>
            <a:endParaRPr lang="zh-TW" altLang="en-US" dirty="0"/>
          </a:p>
        </p:txBody>
      </p:sp>
      <p:sp>
        <p:nvSpPr>
          <p:cNvPr id="4" name="投影片編號版面配置區 3"/>
          <p:cNvSpPr>
            <a:spLocks noGrp="1"/>
          </p:cNvSpPr>
          <p:nvPr>
            <p:ph type="sldNum" sz="quarter" idx="5"/>
          </p:nvPr>
        </p:nvSpPr>
        <p:spPr/>
        <p:txBody>
          <a:bodyPr/>
          <a:lstStyle/>
          <a:p>
            <a:fld id="{06B7B327-A690-4AB3-B31F-3B1B9C5AC338}" type="slidenum">
              <a:rPr lang="zh-TW" altLang="en-US" smtClean="0"/>
              <a:t>1</a:t>
            </a:fld>
            <a:endParaRPr lang="zh-TW" altLang="en-US"/>
          </a:p>
        </p:txBody>
      </p:sp>
    </p:spTree>
    <p:extLst>
      <p:ext uri="{BB962C8B-B14F-4D97-AF65-F5344CB8AC3E}">
        <p14:creationId xmlns:p14="http://schemas.microsoft.com/office/powerpoint/2010/main" val="2727196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6B7B327-A690-4AB3-B31F-3B1B9C5AC338}" type="slidenum">
              <a:rPr lang="zh-TW" altLang="en-US" smtClean="0"/>
              <a:t>15</a:t>
            </a:fld>
            <a:endParaRPr lang="zh-TW" altLang="en-US"/>
          </a:p>
        </p:txBody>
      </p:sp>
    </p:spTree>
    <p:extLst>
      <p:ext uri="{BB962C8B-B14F-4D97-AF65-F5344CB8AC3E}">
        <p14:creationId xmlns:p14="http://schemas.microsoft.com/office/powerpoint/2010/main" val="453343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330F0-735F-5CD7-2991-78635C3405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5829CF0-9F42-515B-3CDA-7349C57C9A8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245962F-AC42-16A3-B87A-CA445055FCF5}"/>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A5D4E2D5-1984-F173-D473-9DFF54ED946A}"/>
              </a:ext>
            </a:extLst>
          </p:cNvPr>
          <p:cNvSpPr>
            <a:spLocks noGrp="1"/>
          </p:cNvSpPr>
          <p:nvPr>
            <p:ph type="sldNum" sz="quarter" idx="5"/>
          </p:nvPr>
        </p:nvSpPr>
        <p:spPr/>
        <p:txBody>
          <a:bodyPr/>
          <a:lstStyle/>
          <a:p>
            <a:fld id="{06B7B327-A690-4AB3-B31F-3B1B9C5AC338}" type="slidenum">
              <a:rPr lang="zh-TW" altLang="en-US" smtClean="0"/>
              <a:t>16</a:t>
            </a:fld>
            <a:endParaRPr lang="zh-TW" altLang="en-US"/>
          </a:p>
        </p:txBody>
      </p:sp>
    </p:spTree>
    <p:extLst>
      <p:ext uri="{BB962C8B-B14F-4D97-AF65-F5344CB8AC3E}">
        <p14:creationId xmlns:p14="http://schemas.microsoft.com/office/powerpoint/2010/main" val="279082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22DBB-22E5-2682-DA47-13171BE4673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44C6BB4-9E43-E52F-633E-65E5F81EAD0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CD0C902-4B43-4EF4-13E3-D13D93E7C5BA}"/>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FAE5B8D3-281F-8C78-F6C9-7ABEC27649DD}"/>
              </a:ext>
            </a:extLst>
          </p:cNvPr>
          <p:cNvSpPr>
            <a:spLocks noGrp="1"/>
          </p:cNvSpPr>
          <p:nvPr>
            <p:ph type="sldNum" sz="quarter" idx="5"/>
          </p:nvPr>
        </p:nvSpPr>
        <p:spPr/>
        <p:txBody>
          <a:bodyPr/>
          <a:lstStyle/>
          <a:p>
            <a:fld id="{06B7B327-A690-4AB3-B31F-3B1B9C5AC338}" type="slidenum">
              <a:rPr lang="zh-TW" altLang="en-US" smtClean="0"/>
              <a:t>17</a:t>
            </a:fld>
            <a:endParaRPr lang="zh-TW" altLang="en-US"/>
          </a:p>
        </p:txBody>
      </p:sp>
    </p:spTree>
    <p:extLst>
      <p:ext uri="{BB962C8B-B14F-4D97-AF65-F5344CB8AC3E}">
        <p14:creationId xmlns:p14="http://schemas.microsoft.com/office/powerpoint/2010/main" val="606348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FF69B-6B00-30E0-B969-8C1615A3541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D38036C-D7CC-B832-DBE0-5DD23C38BC9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6B4FEA5-D297-AD46-BA59-D09A5A5A81C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20030D6B-D0B6-FEC9-C046-C293BEC9F531}"/>
              </a:ext>
            </a:extLst>
          </p:cNvPr>
          <p:cNvSpPr>
            <a:spLocks noGrp="1"/>
          </p:cNvSpPr>
          <p:nvPr>
            <p:ph type="sldNum" sz="quarter" idx="5"/>
          </p:nvPr>
        </p:nvSpPr>
        <p:spPr/>
        <p:txBody>
          <a:bodyPr/>
          <a:lstStyle/>
          <a:p>
            <a:fld id="{06B7B327-A690-4AB3-B31F-3B1B9C5AC338}" type="slidenum">
              <a:rPr lang="zh-TW" altLang="en-US" smtClean="0"/>
              <a:t>18</a:t>
            </a:fld>
            <a:endParaRPr lang="zh-TW" altLang="en-US"/>
          </a:p>
        </p:txBody>
      </p:sp>
    </p:spTree>
    <p:extLst>
      <p:ext uri="{BB962C8B-B14F-4D97-AF65-F5344CB8AC3E}">
        <p14:creationId xmlns:p14="http://schemas.microsoft.com/office/powerpoint/2010/main" val="3680281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D81C7-40A0-968F-61DD-14D5E97EE9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9AA5A4D-736A-5D3E-8055-6971F628E83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150B875-46C9-B544-4F4A-B528F326A50B}"/>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927A7C01-B245-7233-E185-ED62905E6431}"/>
              </a:ext>
            </a:extLst>
          </p:cNvPr>
          <p:cNvSpPr>
            <a:spLocks noGrp="1"/>
          </p:cNvSpPr>
          <p:nvPr>
            <p:ph type="sldNum" sz="quarter" idx="5"/>
          </p:nvPr>
        </p:nvSpPr>
        <p:spPr/>
        <p:txBody>
          <a:bodyPr/>
          <a:lstStyle/>
          <a:p>
            <a:fld id="{06B7B327-A690-4AB3-B31F-3B1B9C5AC338}" type="slidenum">
              <a:rPr lang="zh-TW" altLang="en-US" smtClean="0"/>
              <a:t>19</a:t>
            </a:fld>
            <a:endParaRPr lang="zh-TW" altLang="en-US"/>
          </a:p>
        </p:txBody>
      </p:sp>
    </p:spTree>
    <p:extLst>
      <p:ext uri="{BB962C8B-B14F-4D97-AF65-F5344CB8AC3E}">
        <p14:creationId xmlns:p14="http://schemas.microsoft.com/office/powerpoint/2010/main" val="2657068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61A91-D95E-2D75-47DC-E2ABB10BFDE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F9D4CFC-8D39-C79C-DC72-87A1A0718B4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DEFEDA4-615C-6CF9-0ECB-08EA3C953A89}"/>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64125BDE-CB58-DC5D-4727-7A3599692DBF}"/>
              </a:ext>
            </a:extLst>
          </p:cNvPr>
          <p:cNvSpPr>
            <a:spLocks noGrp="1"/>
          </p:cNvSpPr>
          <p:nvPr>
            <p:ph type="sldNum" sz="quarter" idx="5"/>
          </p:nvPr>
        </p:nvSpPr>
        <p:spPr/>
        <p:txBody>
          <a:bodyPr/>
          <a:lstStyle/>
          <a:p>
            <a:fld id="{06B7B327-A690-4AB3-B31F-3B1B9C5AC338}" type="slidenum">
              <a:rPr lang="zh-TW" altLang="en-US" smtClean="0"/>
              <a:t>20</a:t>
            </a:fld>
            <a:endParaRPr lang="zh-TW" altLang="en-US"/>
          </a:p>
        </p:txBody>
      </p:sp>
    </p:spTree>
    <p:extLst>
      <p:ext uri="{BB962C8B-B14F-4D97-AF65-F5344CB8AC3E}">
        <p14:creationId xmlns:p14="http://schemas.microsoft.com/office/powerpoint/2010/main" val="443718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First, find the order of variable importance through Mean decrease accuracy and Mean decrease Gini.</a:t>
            </a:r>
            <a:endParaRPr lang="zh-TW" altLang="en-US" dirty="0"/>
          </a:p>
        </p:txBody>
      </p:sp>
      <p:sp>
        <p:nvSpPr>
          <p:cNvPr id="4" name="投影片編號版面配置區 3"/>
          <p:cNvSpPr>
            <a:spLocks noGrp="1"/>
          </p:cNvSpPr>
          <p:nvPr>
            <p:ph type="sldNum" sz="quarter" idx="5"/>
          </p:nvPr>
        </p:nvSpPr>
        <p:spPr/>
        <p:txBody>
          <a:bodyPr/>
          <a:lstStyle/>
          <a:p>
            <a:fld id="{06B7B327-A690-4AB3-B31F-3B1B9C5AC338}" type="slidenum">
              <a:rPr lang="zh-TW" altLang="en-US" smtClean="0"/>
              <a:t>27</a:t>
            </a:fld>
            <a:endParaRPr lang="zh-TW" altLang="en-US"/>
          </a:p>
        </p:txBody>
      </p:sp>
    </p:spTree>
    <p:extLst>
      <p:ext uri="{BB962C8B-B14F-4D97-AF65-F5344CB8AC3E}">
        <p14:creationId xmlns:p14="http://schemas.microsoft.com/office/powerpoint/2010/main" val="3728495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等待時間十分鐘後又往上</a:t>
            </a:r>
            <a:r>
              <a:rPr lang="en-US" altLang="zh-TW" dirty="0"/>
              <a:t>?(</a:t>
            </a:r>
            <a:r>
              <a:rPr lang="zh-TW" altLang="en-US" dirty="0"/>
              <a:t>狀況可能比乘客預期的好所以往上</a:t>
            </a:r>
            <a:r>
              <a:rPr lang="en-US" altLang="zh-TW" dirty="0"/>
              <a:t>)</a:t>
            </a:r>
            <a:br>
              <a:rPr lang="en-US" altLang="zh-TW" dirty="0"/>
            </a:br>
            <a:r>
              <a:rPr lang="zh-TW" altLang="en-US" sz="1200" b="0" i="0" kern="1200" dirty="0">
                <a:solidFill>
                  <a:schemeClr val="tx1"/>
                </a:solidFill>
                <a:effectLst/>
                <a:latin typeface="+mn-lt"/>
                <a:ea typeface="+mn-ea"/>
                <a:cs typeface="+mn-cs"/>
              </a:rPr>
              <a:t>圖</a:t>
            </a:r>
            <a:r>
              <a:rPr lang="en-US" altLang="zh-TW" sz="1200" b="0" i="0" kern="1200" dirty="0">
                <a:solidFill>
                  <a:schemeClr val="tx1"/>
                </a:solidFill>
                <a:effectLst/>
                <a:latin typeface="+mn-lt"/>
                <a:ea typeface="+mn-ea"/>
                <a:cs typeface="+mn-cs"/>
              </a:rPr>
              <a:t>8</a:t>
            </a:r>
            <a:r>
              <a:rPr lang="zh-TW" altLang="en-US" sz="1200" b="0" i="0" kern="1200" dirty="0">
                <a:solidFill>
                  <a:schemeClr val="tx1"/>
                </a:solidFill>
                <a:effectLst/>
                <a:latin typeface="+mn-lt"/>
                <a:ea typeface="+mn-ea"/>
                <a:cs typeface="+mn-cs"/>
              </a:rPr>
              <a:t>的</a:t>
            </a:r>
            <a:r>
              <a:rPr lang="en-US" altLang="zh-TW" sz="1200" b="0" i="0" kern="1200" dirty="0">
                <a:solidFill>
                  <a:schemeClr val="tx1"/>
                </a:solidFill>
                <a:effectLst/>
                <a:latin typeface="+mn-lt"/>
                <a:ea typeface="+mn-ea"/>
                <a:cs typeface="+mn-cs"/>
              </a:rPr>
              <a:t>good</a:t>
            </a:r>
            <a:r>
              <a:rPr lang="zh-TW" altLang="en-US" sz="1200" b="0" i="0" kern="1200" dirty="0">
                <a:solidFill>
                  <a:schemeClr val="tx1"/>
                </a:solidFill>
                <a:effectLst/>
                <a:latin typeface="+mn-lt"/>
                <a:ea typeface="+mn-ea"/>
                <a:cs typeface="+mn-cs"/>
              </a:rPr>
              <a:t>超過</a:t>
            </a:r>
            <a:r>
              <a:rPr lang="en-US" altLang="zh-TW" sz="1200" b="0" i="0" kern="1200" dirty="0">
                <a:solidFill>
                  <a:schemeClr val="tx1"/>
                </a:solidFill>
                <a:effectLst/>
                <a:latin typeface="+mn-lt"/>
                <a:ea typeface="+mn-ea"/>
                <a:cs typeface="+mn-cs"/>
              </a:rPr>
              <a:t>15 </a:t>
            </a:r>
            <a:r>
              <a:rPr lang="zh-TW" altLang="en-US" sz="1200" b="0" i="0" kern="1200" dirty="0">
                <a:solidFill>
                  <a:schemeClr val="tx1"/>
                </a:solidFill>
                <a:effectLst/>
                <a:latin typeface="+mn-lt"/>
                <a:ea typeface="+mn-ea"/>
                <a:cs typeface="+mn-cs"/>
              </a:rPr>
              <a:t>公里</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小時之後比</a:t>
            </a:r>
            <a:r>
              <a:rPr lang="en-US" altLang="zh-TW" sz="1200" b="0" i="0" kern="1200" dirty="0">
                <a:solidFill>
                  <a:schemeClr val="tx1"/>
                </a:solidFill>
                <a:effectLst/>
                <a:latin typeface="+mn-lt"/>
                <a:ea typeface="+mn-ea"/>
                <a:cs typeface="+mn-cs"/>
              </a:rPr>
              <a:t>bad</a:t>
            </a:r>
            <a:r>
              <a:rPr lang="zh-TW" altLang="en-US" sz="1200" b="0" i="0" kern="1200" dirty="0">
                <a:solidFill>
                  <a:schemeClr val="tx1"/>
                </a:solidFill>
                <a:effectLst/>
                <a:latin typeface="+mn-lt"/>
                <a:ea typeface="+mn-ea"/>
                <a:cs typeface="+mn-cs"/>
              </a:rPr>
              <a:t>多</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既希望公車行快速抵達，又不希望犧牲安全感</a:t>
            </a:r>
            <a:r>
              <a:rPr lang="en-US" altLang="zh-TW" sz="1200" b="0" i="0" kern="1200" dirty="0">
                <a:solidFill>
                  <a:schemeClr val="tx1"/>
                </a:solidFill>
                <a:effectLst/>
                <a:latin typeface="+mn-lt"/>
                <a:ea typeface="+mn-ea"/>
                <a:cs typeface="+mn-cs"/>
              </a:rPr>
              <a:t>)</a:t>
            </a:r>
            <a:endParaRPr lang="zh-TW" altLang="en-US" dirty="0"/>
          </a:p>
        </p:txBody>
      </p:sp>
      <p:sp>
        <p:nvSpPr>
          <p:cNvPr id="4" name="投影片編號版面配置區 3"/>
          <p:cNvSpPr>
            <a:spLocks noGrp="1"/>
          </p:cNvSpPr>
          <p:nvPr>
            <p:ph type="sldNum" sz="quarter" idx="5"/>
          </p:nvPr>
        </p:nvSpPr>
        <p:spPr/>
        <p:txBody>
          <a:bodyPr/>
          <a:lstStyle/>
          <a:p>
            <a:fld id="{06B7B327-A690-4AB3-B31F-3B1B9C5AC338}" type="slidenum">
              <a:rPr lang="zh-TW" altLang="en-US" smtClean="0"/>
              <a:t>28</a:t>
            </a:fld>
            <a:endParaRPr lang="zh-TW" altLang="en-US"/>
          </a:p>
        </p:txBody>
      </p:sp>
    </p:spTree>
    <p:extLst>
      <p:ext uri="{BB962C8B-B14F-4D97-AF65-F5344CB8AC3E}">
        <p14:creationId xmlns:p14="http://schemas.microsoft.com/office/powerpoint/2010/main" val="1705615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6B7B327-A690-4AB3-B31F-3B1B9C5AC338}" type="slidenum">
              <a:rPr lang="zh-TW" altLang="en-US" smtClean="0"/>
              <a:t>30</a:t>
            </a:fld>
            <a:endParaRPr lang="zh-TW" altLang="en-US"/>
          </a:p>
        </p:txBody>
      </p:sp>
    </p:spTree>
    <p:extLst>
      <p:ext uri="{BB962C8B-B14F-4D97-AF65-F5344CB8AC3E}">
        <p14:creationId xmlns:p14="http://schemas.microsoft.com/office/powerpoint/2010/main" val="1215422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6B7B327-A690-4AB3-B31F-3B1B9C5AC338}" type="slidenum">
              <a:rPr lang="zh-TW" altLang="en-US" smtClean="0"/>
              <a:t>37</a:t>
            </a:fld>
            <a:endParaRPr lang="zh-TW" altLang="en-US"/>
          </a:p>
        </p:txBody>
      </p:sp>
    </p:spTree>
    <p:extLst>
      <p:ext uri="{BB962C8B-B14F-4D97-AF65-F5344CB8AC3E}">
        <p14:creationId xmlns:p14="http://schemas.microsoft.com/office/powerpoint/2010/main" val="11802841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FA115-F88D-6FD6-C8E3-27BB9CDA65D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C56D04F-0768-AE37-C67E-775C8140EF0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45FBBEE-F593-EFDC-38B3-B60E5B67A7F4}"/>
              </a:ext>
            </a:extLst>
          </p:cNvPr>
          <p:cNvSpPr>
            <a:spLocks noGrp="1"/>
          </p:cNvSpPr>
          <p:nvPr>
            <p:ph type="body" idx="1"/>
          </p:nvPr>
        </p:nvSpPr>
        <p:spPr/>
        <p:txBody>
          <a:bodyPr/>
          <a:lstStyle/>
          <a:p>
            <a:r>
              <a:rPr lang="en-US" altLang="zh-TW" dirty="0"/>
              <a:t>20</a:t>
            </a:r>
            <a:r>
              <a:rPr lang="zh-TW" altLang="en-US" dirty="0"/>
              <a:t>分鐘簡報</a:t>
            </a:r>
            <a:r>
              <a:rPr lang="en-US" altLang="zh-TW" dirty="0"/>
              <a:t>+5</a:t>
            </a:r>
            <a:r>
              <a:rPr lang="zh-TW" altLang="en-US" dirty="0"/>
              <a:t>分種</a:t>
            </a:r>
            <a:r>
              <a:rPr lang="en-US" altLang="zh-TW" dirty="0"/>
              <a:t>QA</a:t>
            </a:r>
            <a:endParaRPr lang="zh-TW" altLang="en-US" dirty="0"/>
          </a:p>
        </p:txBody>
      </p:sp>
      <p:sp>
        <p:nvSpPr>
          <p:cNvPr id="4" name="投影片編號版面配置區 3">
            <a:extLst>
              <a:ext uri="{FF2B5EF4-FFF2-40B4-BE49-F238E27FC236}">
                <a16:creationId xmlns:a16="http://schemas.microsoft.com/office/drawing/2014/main" id="{4E7F6AAC-E333-63BD-B470-9A499A60ED31}"/>
              </a:ext>
            </a:extLst>
          </p:cNvPr>
          <p:cNvSpPr>
            <a:spLocks noGrp="1"/>
          </p:cNvSpPr>
          <p:nvPr>
            <p:ph type="sldNum" sz="quarter" idx="5"/>
          </p:nvPr>
        </p:nvSpPr>
        <p:spPr/>
        <p:txBody>
          <a:bodyPr/>
          <a:lstStyle/>
          <a:p>
            <a:fld id="{06B7B327-A690-4AB3-B31F-3B1B9C5AC338}" type="slidenum">
              <a:rPr lang="zh-TW" altLang="en-US" smtClean="0"/>
              <a:t>38</a:t>
            </a:fld>
            <a:endParaRPr lang="zh-TW" altLang="en-US"/>
          </a:p>
        </p:txBody>
      </p:sp>
    </p:spTree>
    <p:extLst>
      <p:ext uri="{BB962C8B-B14F-4D97-AF65-F5344CB8AC3E}">
        <p14:creationId xmlns:p14="http://schemas.microsoft.com/office/powerpoint/2010/main" val="4243490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5E5C6F06-0917-4516-8E03-FD00DE7B15C2}" type="datetime1">
              <a:rPr lang="zh-TW" altLang="en-US" smtClean="0"/>
              <a:t>2025/9/30</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57999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AF2CB900-7C7D-4EE8-AF09-3E03A4411211}" type="datetime1">
              <a:rPr lang="zh-TW" altLang="en-US" smtClean="0"/>
              <a:t>2025/9/30</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876857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B52CD323-60F3-428F-AA4D-D55B04844E6F}" type="datetime1">
              <a:rPr lang="zh-TW" altLang="en-US" smtClean="0"/>
              <a:t>2025/9/30</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495208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A293E2CA-0DB1-466D-87AF-DDA2E17FD6A2}" type="datetime1">
              <a:rPr lang="zh-TW" altLang="en-US" smtClean="0"/>
              <a:t>2025/9/30</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402479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2A597F79-C0E6-49EF-80D7-71419E357C24}" type="datetime1">
              <a:rPr lang="zh-TW" altLang="en-US" smtClean="0"/>
              <a:t>2025/9/30</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423032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A78FEDCD-81DD-4585-BE5C-1650E06FEB65}" type="datetime1">
              <a:rPr lang="zh-TW" altLang="en-US" smtClean="0"/>
              <a:t>2025/9/30</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634433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3095B47D-69C0-493B-AACE-17A467DAEA3A}" type="datetime1">
              <a:rPr lang="zh-TW" altLang="en-US" smtClean="0"/>
              <a:t>2025/9/30</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380195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C17C4566-AD37-4E2A-ACFF-582BB8BA6C1A}" type="datetime1">
              <a:rPr lang="zh-TW" altLang="en-US" smtClean="0"/>
              <a:t>2025/9/30</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4278273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7602F79-C7C7-4C4F-B113-9921C65CFF99}" type="datetime1">
              <a:rPr lang="zh-TW" altLang="en-US" smtClean="0"/>
              <a:t>2025/9/30</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100928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B4ED7DA4-1796-4B22-8F39-C54EED298D88}" type="datetime1">
              <a:rPr lang="zh-TW" altLang="en-US" smtClean="0"/>
              <a:t>2025/9/30</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332606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E3BF4843-1A6B-4842-8D16-2CC5618F1B9F}" type="datetime1">
              <a:rPr lang="zh-TW" altLang="en-US" smtClean="0"/>
              <a:t>2025/9/30</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037139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0AE462-90AC-4912-A446-1652CB5CC661}" type="datetime1">
              <a:rPr lang="zh-TW" altLang="en-US" smtClean="0"/>
              <a:t>2025/9/30</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a:p>
        </p:txBody>
      </p:sp>
    </p:spTree>
    <p:extLst>
      <p:ext uri="{BB962C8B-B14F-4D97-AF65-F5344CB8AC3E}">
        <p14:creationId xmlns:p14="http://schemas.microsoft.com/office/powerpoint/2010/main" val="14297745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svg"/></Relationships>
</file>

<file path=ppt/slides/_rels/slide2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5" name="直線接點 4">
            <a:extLst>
              <a:ext uri="{FF2B5EF4-FFF2-40B4-BE49-F238E27FC236}">
                <a16:creationId xmlns:a16="http://schemas.microsoft.com/office/drawing/2014/main" id="{674B0718-0CD8-E563-6807-E301DCB96A3B}"/>
              </a:ext>
            </a:extLst>
          </p:cNvPr>
          <p:cNvCxnSpPr/>
          <p:nvPr/>
        </p:nvCxnSpPr>
        <p:spPr>
          <a:xfrm>
            <a:off x="0" y="945572"/>
            <a:ext cx="12192000" cy="0"/>
          </a:xfrm>
          <a:prstGeom prst="line">
            <a:avLst/>
          </a:prstGeom>
          <a:ln w="38100">
            <a:solidFill>
              <a:srgbClr val="60492C"/>
            </a:solidFill>
            <a:prstDash val="lgDashDot"/>
          </a:ln>
        </p:spPr>
        <p:style>
          <a:lnRef idx="2">
            <a:schemeClr val="accent1"/>
          </a:lnRef>
          <a:fillRef idx="0">
            <a:schemeClr val="accent1"/>
          </a:fillRef>
          <a:effectRef idx="1">
            <a:schemeClr val="accent1"/>
          </a:effectRef>
          <a:fontRef idx="minor">
            <a:schemeClr val="tx1"/>
          </a:fontRef>
        </p:style>
      </p:cxnSp>
      <p:grpSp>
        <p:nvGrpSpPr>
          <p:cNvPr id="3" name="群組 2">
            <a:extLst>
              <a:ext uri="{FF2B5EF4-FFF2-40B4-BE49-F238E27FC236}">
                <a16:creationId xmlns:a16="http://schemas.microsoft.com/office/drawing/2014/main" id="{F5C12A64-87C0-426B-BB73-FCC737A46D95}"/>
              </a:ext>
            </a:extLst>
          </p:cNvPr>
          <p:cNvGrpSpPr/>
          <p:nvPr/>
        </p:nvGrpSpPr>
        <p:grpSpPr>
          <a:xfrm>
            <a:off x="1267689" y="1338070"/>
            <a:ext cx="9656619" cy="3365857"/>
            <a:chOff x="1194953" y="1338070"/>
            <a:chExt cx="9656619" cy="3365857"/>
          </a:xfrm>
        </p:grpSpPr>
        <p:grpSp>
          <p:nvGrpSpPr>
            <p:cNvPr id="13" name="群組 12">
              <a:extLst>
                <a:ext uri="{FF2B5EF4-FFF2-40B4-BE49-F238E27FC236}">
                  <a16:creationId xmlns:a16="http://schemas.microsoft.com/office/drawing/2014/main" id="{AD798540-5546-D8ED-56F4-BB6CD666B741}"/>
                </a:ext>
              </a:extLst>
            </p:cNvPr>
            <p:cNvGrpSpPr/>
            <p:nvPr/>
          </p:nvGrpSpPr>
          <p:grpSpPr>
            <a:xfrm>
              <a:off x="1194953" y="1338070"/>
              <a:ext cx="9656619" cy="3365857"/>
              <a:chOff x="1172440" y="1673730"/>
              <a:chExt cx="9656619" cy="3365857"/>
            </a:xfrm>
          </p:grpSpPr>
          <p:sp>
            <p:nvSpPr>
              <p:cNvPr id="11" name="矩形: 圓角 10">
                <a:extLst>
                  <a:ext uri="{FF2B5EF4-FFF2-40B4-BE49-F238E27FC236}">
                    <a16:creationId xmlns:a16="http://schemas.microsoft.com/office/drawing/2014/main" id="{987C7EBC-36CA-7E19-DDB5-3E85ADBD61E3}"/>
                  </a:ext>
                </a:extLst>
              </p:cNvPr>
              <p:cNvSpPr/>
              <p:nvPr/>
            </p:nvSpPr>
            <p:spPr>
              <a:xfrm>
                <a:off x="1362941" y="1818413"/>
                <a:ext cx="9466118" cy="3221174"/>
              </a:xfrm>
              <a:prstGeom prst="roundRect">
                <a:avLst/>
              </a:prstGeom>
              <a:solidFill>
                <a:srgbClr val="60492C"/>
              </a:solidFill>
              <a:ln w="28575">
                <a:solidFill>
                  <a:srgbClr val="6049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圓角 11">
                <a:extLst>
                  <a:ext uri="{FF2B5EF4-FFF2-40B4-BE49-F238E27FC236}">
                    <a16:creationId xmlns:a16="http://schemas.microsoft.com/office/drawing/2014/main" id="{A48F611C-07C9-49F3-85CB-79586B599D18}"/>
                  </a:ext>
                </a:extLst>
              </p:cNvPr>
              <p:cNvSpPr/>
              <p:nvPr/>
            </p:nvSpPr>
            <p:spPr>
              <a:xfrm>
                <a:off x="1172440" y="1673730"/>
                <a:ext cx="9466118" cy="3221174"/>
              </a:xfrm>
              <a:prstGeom prst="roundRect">
                <a:avLst/>
              </a:prstGeom>
              <a:solidFill>
                <a:schemeClr val="bg1"/>
              </a:solidFill>
              <a:ln w="28575">
                <a:solidFill>
                  <a:srgbClr val="6049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a:extLst>
                <a:ext uri="{FF2B5EF4-FFF2-40B4-BE49-F238E27FC236}">
                  <a16:creationId xmlns:a16="http://schemas.microsoft.com/office/drawing/2014/main" id="{96A53EF0-86C5-260E-F614-A504AE8BB5D1}"/>
                </a:ext>
              </a:extLst>
            </p:cNvPr>
            <p:cNvSpPr txBox="1"/>
            <p:nvPr/>
          </p:nvSpPr>
          <p:spPr>
            <a:xfrm>
              <a:off x="1801855" y="1459588"/>
              <a:ext cx="8588288" cy="2308324"/>
            </a:xfrm>
            <a:prstGeom prst="rect">
              <a:avLst/>
            </a:prstGeom>
            <a:noFill/>
          </p:spPr>
          <p:txBody>
            <a:bodyPr wrap="square" lIns="91440" tIns="45720" rIns="91440" bIns="45720" anchor="t">
              <a:spAutoFit/>
            </a:bodyPr>
            <a:lstStyle/>
            <a:p>
              <a:pPr algn="ctr"/>
              <a:r>
                <a:rPr lang="en-US" altLang="zh-TW" sz="4800" b="1" dirty="0"/>
                <a:t>Predicting passenger satisfaction in public transportation using machine learning models</a:t>
              </a:r>
              <a:endParaRPr lang="zh-TW" altLang="en-US" sz="4800" b="1" dirty="0"/>
            </a:p>
          </p:txBody>
        </p:sp>
      </p:grpSp>
      <p:grpSp>
        <p:nvGrpSpPr>
          <p:cNvPr id="4" name="群組 3">
            <a:extLst>
              <a:ext uri="{FF2B5EF4-FFF2-40B4-BE49-F238E27FC236}">
                <a16:creationId xmlns:a16="http://schemas.microsoft.com/office/drawing/2014/main" id="{130130B2-ACB9-C6D2-EDD2-0C21247AAD2B}"/>
              </a:ext>
            </a:extLst>
          </p:cNvPr>
          <p:cNvGrpSpPr/>
          <p:nvPr/>
        </p:nvGrpSpPr>
        <p:grpSpPr>
          <a:xfrm>
            <a:off x="1558268" y="4817426"/>
            <a:ext cx="9075463" cy="1642941"/>
            <a:chOff x="1801855" y="4817426"/>
            <a:chExt cx="9075463" cy="1642941"/>
          </a:xfrm>
        </p:grpSpPr>
        <p:sp>
          <p:nvSpPr>
            <p:cNvPr id="17" name="平行四邊形 16">
              <a:extLst>
                <a:ext uri="{FF2B5EF4-FFF2-40B4-BE49-F238E27FC236}">
                  <a16:creationId xmlns:a16="http://schemas.microsoft.com/office/drawing/2014/main" id="{31083F9A-54C1-9297-070F-587E92A5AD02}"/>
                </a:ext>
              </a:extLst>
            </p:cNvPr>
            <p:cNvSpPr/>
            <p:nvPr/>
          </p:nvSpPr>
          <p:spPr>
            <a:xfrm>
              <a:off x="1867332" y="6410251"/>
              <a:ext cx="8856000" cy="50116"/>
            </a:xfrm>
            <a:prstGeom prst="parallelogram">
              <a:avLst/>
            </a:prstGeom>
            <a:solidFill>
              <a:srgbClr val="6049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 name="群組 1">
              <a:extLst>
                <a:ext uri="{FF2B5EF4-FFF2-40B4-BE49-F238E27FC236}">
                  <a16:creationId xmlns:a16="http://schemas.microsoft.com/office/drawing/2014/main" id="{A1BD8599-4CBE-D253-18D3-BA342E24FF7A}"/>
                </a:ext>
              </a:extLst>
            </p:cNvPr>
            <p:cNvGrpSpPr/>
            <p:nvPr/>
          </p:nvGrpSpPr>
          <p:grpSpPr>
            <a:xfrm>
              <a:off x="1801855" y="4817426"/>
              <a:ext cx="9075463" cy="1569660"/>
              <a:chOff x="1801855" y="4817426"/>
              <a:chExt cx="9075463" cy="1569660"/>
            </a:xfrm>
          </p:grpSpPr>
          <p:sp>
            <p:nvSpPr>
              <p:cNvPr id="16" name="文字方塊 15">
                <a:extLst>
                  <a:ext uri="{FF2B5EF4-FFF2-40B4-BE49-F238E27FC236}">
                    <a16:creationId xmlns:a16="http://schemas.microsoft.com/office/drawing/2014/main" id="{AD596DFA-63D5-F4BC-6A68-51414A0C8DCF}"/>
                  </a:ext>
                </a:extLst>
              </p:cNvPr>
              <p:cNvSpPr txBox="1"/>
              <p:nvPr/>
            </p:nvSpPr>
            <p:spPr>
              <a:xfrm>
                <a:off x="1801855" y="4817426"/>
                <a:ext cx="8931952" cy="1569660"/>
              </a:xfrm>
              <a:prstGeom prst="rect">
                <a:avLst/>
              </a:prstGeom>
              <a:noFill/>
            </p:spPr>
            <p:txBody>
              <a:bodyPr wrap="square" lIns="91440" tIns="45720" rIns="91440" bIns="45720" anchor="t">
                <a:spAutoFit/>
              </a:bodyPr>
              <a:lstStyle/>
              <a:p>
                <a:pPr algn="ctr"/>
                <a:r>
                  <a:rPr lang="zh-TW" altLang="en-US" sz="2400" dirty="0"/>
                  <a:t>第</a:t>
                </a:r>
                <a:r>
                  <a:rPr lang="en-US" altLang="zh-TW" sz="2400" dirty="0"/>
                  <a:t>3</a:t>
                </a:r>
                <a:r>
                  <a:rPr lang="zh-TW" altLang="en-US" sz="2400" dirty="0"/>
                  <a:t>組</a:t>
                </a:r>
                <a:endParaRPr lang="en-US" altLang="zh-TW" sz="2400" dirty="0"/>
              </a:p>
              <a:p>
                <a:r>
                  <a:rPr lang="en-US" altLang="zh-TW" sz="2400" dirty="0"/>
                  <a:t>111701069</a:t>
                </a:r>
                <a:r>
                  <a:rPr lang="zh-TW" altLang="en-US" sz="2400" dirty="0"/>
                  <a:t>張貽堯</a:t>
                </a:r>
                <a:r>
                  <a:rPr lang="en-US" altLang="zh-TW" sz="2400" baseline="30000" dirty="0"/>
                  <a:t>+ </a:t>
                </a:r>
                <a:r>
                  <a:rPr lang="en-US" altLang="zh-TW" sz="2400" dirty="0"/>
                  <a:t>(</a:t>
                </a:r>
                <a:r>
                  <a:rPr lang="zh-TW" altLang="en-US" sz="2400" dirty="0"/>
                  <a:t>第</a:t>
                </a:r>
                <a:r>
                  <a:rPr lang="en-US" altLang="zh-TW" sz="2400" dirty="0"/>
                  <a:t>3</a:t>
                </a:r>
                <a:r>
                  <a:rPr lang="zh-TW" altLang="en-US" sz="2400" dirty="0"/>
                  <a:t>章</a:t>
                </a:r>
                <a:r>
                  <a:rPr lang="en-US" altLang="zh-TW" sz="2400" dirty="0"/>
                  <a:t>)</a:t>
                </a:r>
              </a:p>
              <a:p>
                <a:r>
                  <a:rPr lang="en-US" altLang="zh-TW" sz="2400" dirty="0"/>
                  <a:t>111701071</a:t>
                </a:r>
                <a:r>
                  <a:rPr lang="zh-TW" altLang="en-US" sz="2400" dirty="0"/>
                  <a:t>馮偉宸</a:t>
                </a:r>
                <a:r>
                  <a:rPr lang="en-US" altLang="zh-TW" sz="2400" baseline="30000" dirty="0"/>
                  <a:t>+ </a:t>
                </a:r>
                <a:r>
                  <a:rPr lang="en-US" altLang="zh-TW" sz="2400" dirty="0"/>
                  <a:t>(</a:t>
                </a:r>
                <a:r>
                  <a:rPr lang="zh-TW" altLang="en-US" sz="2400" dirty="0"/>
                  <a:t>第</a:t>
                </a:r>
                <a:r>
                  <a:rPr lang="en-US" altLang="zh-TW" sz="2400" dirty="0"/>
                  <a:t>2</a:t>
                </a:r>
                <a:r>
                  <a:rPr lang="zh-TW" altLang="en-US" sz="2400" dirty="0"/>
                  <a:t>、</a:t>
                </a:r>
                <a:r>
                  <a:rPr lang="en-US" altLang="zh-TW" sz="2400" dirty="0"/>
                  <a:t>7</a:t>
                </a:r>
                <a:r>
                  <a:rPr lang="zh-TW" altLang="en-US" sz="2400" dirty="0"/>
                  <a:t>章</a:t>
                </a:r>
                <a:r>
                  <a:rPr lang="en-US" altLang="zh-TW" sz="2400" dirty="0"/>
                  <a:t>)</a:t>
                </a:r>
                <a:endParaRPr lang="zh-TW" altLang="en-US" sz="2400" dirty="0"/>
              </a:p>
              <a:p>
                <a:r>
                  <a:rPr lang="en-US" altLang="zh-TW" sz="2400" dirty="0"/>
                  <a:t>314703019</a:t>
                </a:r>
                <a:r>
                  <a:rPr lang="zh-TW" altLang="en-US" sz="2400" dirty="0"/>
                  <a:t>劉宇軒</a:t>
                </a:r>
                <a:r>
                  <a:rPr lang="en-US" altLang="zh-TW" sz="2400" baseline="30000" dirty="0"/>
                  <a:t>+ </a:t>
                </a:r>
                <a:r>
                  <a:rPr lang="en-US" altLang="zh-TW" sz="2400" dirty="0"/>
                  <a:t>(</a:t>
                </a:r>
                <a:r>
                  <a:rPr lang="zh-TW" altLang="en-US" sz="2400" dirty="0"/>
                  <a:t>第</a:t>
                </a:r>
                <a:r>
                  <a:rPr lang="en-US" altLang="zh-TW" sz="2400" dirty="0"/>
                  <a:t>1</a:t>
                </a:r>
                <a:r>
                  <a:rPr lang="zh-TW" altLang="en-US" sz="2400" dirty="0"/>
                  <a:t>章</a:t>
                </a:r>
                <a:r>
                  <a:rPr lang="en-US" altLang="zh-TW" sz="2400" dirty="0"/>
                  <a:t>)</a:t>
                </a:r>
              </a:p>
            </p:txBody>
          </p:sp>
          <p:sp>
            <p:nvSpPr>
              <p:cNvPr id="18" name="文字方塊 17">
                <a:extLst>
                  <a:ext uri="{FF2B5EF4-FFF2-40B4-BE49-F238E27FC236}">
                    <a16:creationId xmlns:a16="http://schemas.microsoft.com/office/drawing/2014/main" id="{8A4A480A-1F5A-0AED-5DE3-F3EF467DDA12}"/>
                  </a:ext>
                </a:extLst>
              </p:cNvPr>
              <p:cNvSpPr txBox="1"/>
              <p:nvPr/>
            </p:nvSpPr>
            <p:spPr>
              <a:xfrm>
                <a:off x="6000748" y="5556089"/>
                <a:ext cx="4876570" cy="830997"/>
              </a:xfrm>
              <a:prstGeom prst="rect">
                <a:avLst/>
              </a:prstGeom>
              <a:noFill/>
            </p:spPr>
            <p:txBody>
              <a:bodyPr wrap="square">
                <a:spAutoFit/>
              </a:bodyPr>
              <a:lstStyle/>
              <a:p>
                <a:r>
                  <a:rPr lang="zh-TW" altLang="zh-TW" sz="2400" dirty="0">
                    <a:ea typeface="+mn-lt"/>
                    <a:cs typeface="+mn-lt"/>
                  </a:rPr>
                  <a:t>410701004</a:t>
                </a:r>
                <a:r>
                  <a:rPr lang="zh-TW" altLang="en-US" sz="2400" dirty="0"/>
                  <a:t>陳信元</a:t>
                </a:r>
                <a:r>
                  <a:rPr lang="en-US" altLang="zh-TW" sz="2400" baseline="30000" dirty="0"/>
                  <a:t>+</a:t>
                </a:r>
                <a:r>
                  <a:rPr lang="en-US" altLang="zh-TW" sz="2400" dirty="0"/>
                  <a:t>(</a:t>
                </a:r>
                <a:r>
                  <a:rPr lang="zh-TW" altLang="en-US" sz="2400" dirty="0"/>
                  <a:t>第</a:t>
                </a:r>
                <a:r>
                  <a:rPr lang="en-US" altLang="zh-TW" sz="2400" dirty="0"/>
                  <a:t>4</a:t>
                </a:r>
                <a:r>
                  <a:rPr lang="zh-TW" altLang="en-US" sz="2400" dirty="0"/>
                  <a:t> 、</a:t>
                </a:r>
                <a:r>
                  <a:rPr lang="en-US" altLang="zh-TW" sz="2400" dirty="0"/>
                  <a:t>8</a:t>
                </a:r>
                <a:r>
                  <a:rPr lang="zh-TW" altLang="en-US" sz="2400" dirty="0"/>
                  <a:t>章</a:t>
                </a:r>
                <a:r>
                  <a:rPr lang="en-US" altLang="zh-TW" sz="2400" dirty="0"/>
                  <a:t>)</a:t>
                </a:r>
              </a:p>
              <a:p>
                <a:r>
                  <a:rPr lang="en-US" altLang="zh-TW" sz="2400" dirty="0"/>
                  <a:t>414701003</a:t>
                </a:r>
                <a:r>
                  <a:rPr lang="zh-TW" altLang="en-US" sz="2400" dirty="0"/>
                  <a:t>陳怡慧</a:t>
                </a:r>
                <a:r>
                  <a:rPr lang="en-US" altLang="zh-TW" sz="2400" baseline="30000" dirty="0"/>
                  <a:t>+ </a:t>
                </a:r>
                <a:r>
                  <a:rPr lang="en-US" altLang="zh-TW" sz="2400" dirty="0"/>
                  <a:t>(</a:t>
                </a:r>
                <a:r>
                  <a:rPr lang="zh-TW" altLang="en-US" sz="2400" dirty="0"/>
                  <a:t>第</a:t>
                </a:r>
                <a:r>
                  <a:rPr lang="en-US" altLang="zh-TW" sz="2400" dirty="0"/>
                  <a:t>5</a:t>
                </a:r>
                <a:r>
                  <a:rPr lang="zh-TW" altLang="en-US" sz="2400" dirty="0"/>
                  <a:t>、</a:t>
                </a:r>
                <a:r>
                  <a:rPr lang="en-US" altLang="zh-TW" sz="2400" dirty="0"/>
                  <a:t>6</a:t>
                </a:r>
                <a:r>
                  <a:rPr lang="zh-TW" altLang="en-US" sz="2400" dirty="0"/>
                  <a:t>、</a:t>
                </a:r>
                <a:r>
                  <a:rPr lang="en-US" altLang="zh-TW" sz="2400" dirty="0"/>
                  <a:t>8</a:t>
                </a:r>
                <a:r>
                  <a:rPr lang="zh-TW" altLang="en-US" sz="2400" dirty="0"/>
                  <a:t>章</a:t>
                </a:r>
                <a:r>
                  <a:rPr lang="en-US" altLang="zh-TW" sz="2400" dirty="0"/>
                  <a:t>)</a:t>
                </a:r>
              </a:p>
            </p:txBody>
          </p:sp>
        </p:grpSp>
      </p:grpSp>
      <p:sp>
        <p:nvSpPr>
          <p:cNvPr id="14" name="文字方塊 13">
            <a:extLst>
              <a:ext uri="{FF2B5EF4-FFF2-40B4-BE49-F238E27FC236}">
                <a16:creationId xmlns:a16="http://schemas.microsoft.com/office/drawing/2014/main" id="{897F66B6-63BC-43E4-A5B0-36774497A627}"/>
              </a:ext>
            </a:extLst>
          </p:cNvPr>
          <p:cNvSpPr txBox="1"/>
          <p:nvPr/>
        </p:nvSpPr>
        <p:spPr>
          <a:xfrm>
            <a:off x="3431996" y="185742"/>
            <a:ext cx="5493396" cy="646331"/>
          </a:xfrm>
          <a:prstGeom prst="rect">
            <a:avLst/>
          </a:prstGeom>
          <a:noFill/>
        </p:spPr>
        <p:txBody>
          <a:bodyPr wrap="square">
            <a:spAutoFit/>
          </a:bodyPr>
          <a:lstStyle/>
          <a:p>
            <a:pPr algn="ctr"/>
            <a:r>
              <a:rPr lang="en-US" altLang="zh-TW" dirty="0"/>
              <a:t>Transportation Research Part A: Policy and Practice</a:t>
            </a:r>
          </a:p>
          <a:p>
            <a:pPr algn="ctr"/>
            <a:r>
              <a:rPr lang="en-US" altLang="zh-TW" dirty="0"/>
              <a:t>Volume 181, March 2024, 103995</a:t>
            </a:r>
            <a:endParaRPr lang="zh-TW" altLang="en-US" dirty="0"/>
          </a:p>
        </p:txBody>
      </p:sp>
    </p:spTree>
    <p:extLst>
      <p:ext uri="{BB962C8B-B14F-4D97-AF65-F5344CB8AC3E}">
        <p14:creationId xmlns:p14="http://schemas.microsoft.com/office/powerpoint/2010/main" val="1812464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圖形 10" descr="徽章 8 以實心填滿">
            <a:extLst>
              <a:ext uri="{FF2B5EF4-FFF2-40B4-BE49-F238E27FC236}">
                <a16:creationId xmlns:a16="http://schemas.microsoft.com/office/drawing/2014/main" id="{BE72D0C4-9B75-A5FC-85AF-E00BE7A6AB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68027" y="5255470"/>
            <a:ext cx="720000" cy="720000"/>
          </a:xfrm>
          <a:prstGeom prst="rect">
            <a:avLst/>
          </a:prstGeom>
        </p:spPr>
      </p:pic>
      <p:sp>
        <p:nvSpPr>
          <p:cNvPr id="2" name="矩形: 剪去單一角落 1">
            <a:extLst>
              <a:ext uri="{FF2B5EF4-FFF2-40B4-BE49-F238E27FC236}">
                <a16:creationId xmlns:a16="http://schemas.microsoft.com/office/drawing/2014/main" id="{F743EACE-25BE-40BD-99A0-E253458A5EA0}"/>
              </a:ext>
            </a:extLst>
          </p:cNvPr>
          <p:cNvSpPr/>
          <p:nvPr/>
        </p:nvSpPr>
        <p:spPr>
          <a:xfrm flipV="1">
            <a:off x="791440" y="426027"/>
            <a:ext cx="10609119" cy="1049482"/>
          </a:xfrm>
          <a:prstGeom prst="snip1Rect">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直角三角形 3">
            <a:extLst>
              <a:ext uri="{FF2B5EF4-FFF2-40B4-BE49-F238E27FC236}">
                <a16:creationId xmlns:a16="http://schemas.microsoft.com/office/drawing/2014/main" id="{4184FA42-A9C0-3BE2-0799-4BCF35E11BE7}"/>
              </a:ext>
            </a:extLst>
          </p:cNvPr>
          <p:cNvSpPr/>
          <p:nvPr/>
        </p:nvSpPr>
        <p:spPr>
          <a:xfrm rot="4924097">
            <a:off x="11236431" y="1286931"/>
            <a:ext cx="150687" cy="200273"/>
          </a:xfrm>
          <a:prstGeom prst="rtTriangle">
            <a:avLst/>
          </a:prstGeom>
          <a:solidFill>
            <a:srgbClr val="F9EB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189FD73F-367B-E891-F2C5-9DB4F0344EDC}"/>
              </a:ext>
            </a:extLst>
          </p:cNvPr>
          <p:cNvSpPr txBox="1"/>
          <p:nvPr/>
        </p:nvSpPr>
        <p:spPr>
          <a:xfrm>
            <a:off x="1702676" y="531427"/>
            <a:ext cx="8588288" cy="830997"/>
          </a:xfrm>
          <a:prstGeom prst="rect">
            <a:avLst/>
          </a:prstGeom>
          <a:noFill/>
        </p:spPr>
        <p:txBody>
          <a:bodyPr wrap="square">
            <a:spAutoFit/>
          </a:bodyPr>
          <a:lstStyle/>
          <a:p>
            <a:pPr algn="ctr"/>
            <a:r>
              <a:rPr lang="en-US" altLang="zh-TW" sz="4800" b="1">
                <a:solidFill>
                  <a:srgbClr val="F9EBE0"/>
                </a:solidFill>
              </a:rPr>
              <a:t>Contents</a:t>
            </a:r>
            <a:endParaRPr lang="zh-TW" altLang="en-US" sz="4800" b="1">
              <a:solidFill>
                <a:srgbClr val="F9EBE0"/>
              </a:solidFill>
            </a:endParaRPr>
          </a:p>
        </p:txBody>
      </p:sp>
      <p:grpSp>
        <p:nvGrpSpPr>
          <p:cNvPr id="7" name="群組 6">
            <a:extLst>
              <a:ext uri="{FF2B5EF4-FFF2-40B4-BE49-F238E27FC236}">
                <a16:creationId xmlns:a16="http://schemas.microsoft.com/office/drawing/2014/main" id="{39EEDBCC-2D10-0B0F-2AC8-175470EC65AC}"/>
              </a:ext>
            </a:extLst>
          </p:cNvPr>
          <p:cNvGrpSpPr/>
          <p:nvPr/>
        </p:nvGrpSpPr>
        <p:grpSpPr>
          <a:xfrm>
            <a:off x="1145669" y="2209912"/>
            <a:ext cx="5099267" cy="3882612"/>
            <a:chOff x="1322878" y="2209912"/>
            <a:chExt cx="5099267" cy="3882612"/>
          </a:xfrm>
        </p:grpSpPr>
        <p:sp>
          <p:nvSpPr>
            <p:cNvPr id="6" name="文字方塊 5">
              <a:extLst>
                <a:ext uri="{FF2B5EF4-FFF2-40B4-BE49-F238E27FC236}">
                  <a16:creationId xmlns:a16="http://schemas.microsoft.com/office/drawing/2014/main" id="{0DABC222-945E-D018-8369-8A36B3ED259C}"/>
                </a:ext>
              </a:extLst>
            </p:cNvPr>
            <p:cNvSpPr txBox="1"/>
            <p:nvPr/>
          </p:nvSpPr>
          <p:spPr>
            <a:xfrm>
              <a:off x="2207683" y="2285472"/>
              <a:ext cx="3888316" cy="523220"/>
            </a:xfrm>
            <a:prstGeom prst="rect">
              <a:avLst/>
            </a:prstGeom>
            <a:noFill/>
          </p:spPr>
          <p:txBody>
            <a:bodyPr wrap="square" lIns="91440" tIns="45720" rIns="91440" bIns="45720" anchor="t">
              <a:spAutoFit/>
            </a:bodyPr>
            <a:lstStyle/>
            <a:p>
              <a:r>
                <a:rPr lang="en-US" altLang="zh-TW" sz="2800" b="1"/>
                <a:t>Introduction</a:t>
              </a:r>
              <a:endParaRPr lang="zh-TW" altLang="en-US" sz="2800" b="1"/>
            </a:p>
          </p:txBody>
        </p:sp>
        <p:pic>
          <p:nvPicPr>
            <p:cNvPr id="14" name="圖形 13" descr="徽章 4 以實心填滿">
              <a:extLst>
                <a:ext uri="{FF2B5EF4-FFF2-40B4-BE49-F238E27FC236}">
                  <a16:creationId xmlns:a16="http://schemas.microsoft.com/office/drawing/2014/main" id="{B30ABF96-56A7-5B0B-16C6-86FA185F3D6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42676" y="5255470"/>
              <a:ext cx="720000" cy="720000"/>
            </a:xfrm>
            <a:prstGeom prst="rect">
              <a:avLst/>
            </a:prstGeom>
          </p:spPr>
        </p:pic>
        <p:pic>
          <p:nvPicPr>
            <p:cNvPr id="16" name="圖形 15" descr="徽章 3 以實心填滿">
              <a:extLst>
                <a:ext uri="{FF2B5EF4-FFF2-40B4-BE49-F238E27FC236}">
                  <a16:creationId xmlns:a16="http://schemas.microsoft.com/office/drawing/2014/main" id="{F9C1C6C9-FC2B-8029-B18A-CF00E3334D3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22878" y="4240284"/>
              <a:ext cx="720000" cy="720000"/>
            </a:xfrm>
            <a:prstGeom prst="rect">
              <a:avLst/>
            </a:prstGeom>
          </p:spPr>
        </p:pic>
        <p:pic>
          <p:nvPicPr>
            <p:cNvPr id="18" name="圖形 17" descr="識別證 以實心填滿">
              <a:extLst>
                <a:ext uri="{FF2B5EF4-FFF2-40B4-BE49-F238E27FC236}">
                  <a16:creationId xmlns:a16="http://schemas.microsoft.com/office/drawing/2014/main" id="{B93341C5-766F-642E-E619-85DE0BE733A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42676" y="3225098"/>
              <a:ext cx="720000" cy="720000"/>
            </a:xfrm>
            <a:prstGeom prst="rect">
              <a:avLst/>
            </a:prstGeom>
          </p:spPr>
        </p:pic>
        <p:pic>
          <p:nvPicPr>
            <p:cNvPr id="20" name="圖形 19" descr="徽章 1 以實心填滿">
              <a:extLst>
                <a:ext uri="{FF2B5EF4-FFF2-40B4-BE49-F238E27FC236}">
                  <a16:creationId xmlns:a16="http://schemas.microsoft.com/office/drawing/2014/main" id="{C16DA09C-CC80-F609-0CC8-8144C81FB4C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42676" y="2209912"/>
              <a:ext cx="720000" cy="720000"/>
            </a:xfrm>
            <a:prstGeom prst="rect">
              <a:avLst/>
            </a:prstGeom>
          </p:spPr>
        </p:pic>
        <p:sp>
          <p:nvSpPr>
            <p:cNvPr id="21" name="文字方塊 20">
              <a:extLst>
                <a:ext uri="{FF2B5EF4-FFF2-40B4-BE49-F238E27FC236}">
                  <a16:creationId xmlns:a16="http://schemas.microsoft.com/office/drawing/2014/main" id="{BD10A8C6-8BEB-128F-DE80-D5218DDCC3B0}"/>
                </a:ext>
              </a:extLst>
            </p:cNvPr>
            <p:cNvSpPr txBox="1"/>
            <p:nvPr/>
          </p:nvSpPr>
          <p:spPr>
            <a:xfrm>
              <a:off x="2207683" y="3108044"/>
              <a:ext cx="4065526" cy="954107"/>
            </a:xfrm>
            <a:prstGeom prst="rect">
              <a:avLst/>
            </a:prstGeom>
            <a:noFill/>
          </p:spPr>
          <p:txBody>
            <a:bodyPr wrap="square">
              <a:spAutoFit/>
            </a:bodyPr>
            <a:lstStyle/>
            <a:p>
              <a:r>
                <a:rPr lang="en-US" altLang="zh-TW" sz="2800" b="1"/>
                <a:t>Machine learning predictive models</a:t>
              </a:r>
              <a:endParaRPr lang="zh-TW" altLang="en-US" sz="2800" b="1"/>
            </a:p>
          </p:txBody>
        </p:sp>
        <p:sp>
          <p:nvSpPr>
            <p:cNvPr id="22" name="文字方塊 21">
              <a:extLst>
                <a:ext uri="{FF2B5EF4-FFF2-40B4-BE49-F238E27FC236}">
                  <a16:creationId xmlns:a16="http://schemas.microsoft.com/office/drawing/2014/main" id="{A6E83CE9-A7AF-CA5E-E304-09722CC26E9E}"/>
                </a:ext>
              </a:extLst>
            </p:cNvPr>
            <p:cNvSpPr txBox="1"/>
            <p:nvPr/>
          </p:nvSpPr>
          <p:spPr>
            <a:xfrm>
              <a:off x="2207683" y="4338674"/>
              <a:ext cx="4214462" cy="523220"/>
            </a:xfrm>
            <a:prstGeom prst="rect">
              <a:avLst/>
            </a:prstGeom>
            <a:noFill/>
          </p:spPr>
          <p:txBody>
            <a:bodyPr wrap="square">
              <a:spAutoFit/>
            </a:bodyPr>
            <a:lstStyle/>
            <a:p>
              <a:r>
                <a:rPr lang="en-US" altLang="zh-TW" sz="2800" b="1"/>
                <a:t>Methodology and data</a:t>
              </a:r>
              <a:endParaRPr lang="zh-TW" altLang="en-US" sz="2800" b="1"/>
            </a:p>
          </p:txBody>
        </p:sp>
        <p:sp>
          <p:nvSpPr>
            <p:cNvPr id="23" name="文字方塊 22">
              <a:extLst>
                <a:ext uri="{FF2B5EF4-FFF2-40B4-BE49-F238E27FC236}">
                  <a16:creationId xmlns:a16="http://schemas.microsoft.com/office/drawing/2014/main" id="{BE00A18E-859B-8012-7693-8071BEFE5D9E}"/>
                </a:ext>
              </a:extLst>
            </p:cNvPr>
            <p:cNvSpPr txBox="1"/>
            <p:nvPr/>
          </p:nvSpPr>
          <p:spPr>
            <a:xfrm>
              <a:off x="2207683" y="5138417"/>
              <a:ext cx="3888316" cy="954107"/>
            </a:xfrm>
            <a:prstGeom prst="rect">
              <a:avLst/>
            </a:prstGeom>
            <a:noFill/>
          </p:spPr>
          <p:txBody>
            <a:bodyPr wrap="square">
              <a:spAutoFit/>
            </a:bodyPr>
            <a:lstStyle/>
            <a:p>
              <a:r>
                <a:rPr lang="en-US" altLang="zh-TW" sz="2800" b="1"/>
                <a:t>Results and evaluation of models</a:t>
              </a:r>
              <a:endParaRPr lang="zh-TW" altLang="en-US" sz="2800" b="1"/>
            </a:p>
          </p:txBody>
        </p:sp>
      </p:grpSp>
      <p:pic>
        <p:nvPicPr>
          <p:cNvPr id="8" name="圖形 7" descr="徽章 7 以實心填滿">
            <a:extLst>
              <a:ext uri="{FF2B5EF4-FFF2-40B4-BE49-F238E27FC236}">
                <a16:creationId xmlns:a16="http://schemas.microsoft.com/office/drawing/2014/main" id="{4058CDDD-F166-862B-5B7D-8CDA3D0CBB7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668027" y="4240284"/>
            <a:ext cx="720000" cy="720000"/>
          </a:xfrm>
          <a:prstGeom prst="rect">
            <a:avLst/>
          </a:prstGeom>
        </p:spPr>
      </p:pic>
      <p:pic>
        <p:nvPicPr>
          <p:cNvPr id="10" name="圖形 9" descr="徽章 6 以實心填滿">
            <a:extLst>
              <a:ext uri="{FF2B5EF4-FFF2-40B4-BE49-F238E27FC236}">
                <a16:creationId xmlns:a16="http://schemas.microsoft.com/office/drawing/2014/main" id="{BB71A8AB-0F2F-F585-7AE5-A45229BBBB7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668027" y="3225098"/>
            <a:ext cx="720000" cy="720000"/>
          </a:xfrm>
          <a:prstGeom prst="rect">
            <a:avLst/>
          </a:prstGeom>
        </p:spPr>
      </p:pic>
      <p:pic>
        <p:nvPicPr>
          <p:cNvPr id="12" name="圖形 11" descr="徽章 5 以實心填滿">
            <a:extLst>
              <a:ext uri="{FF2B5EF4-FFF2-40B4-BE49-F238E27FC236}">
                <a16:creationId xmlns:a16="http://schemas.microsoft.com/office/drawing/2014/main" id="{7EB3E364-510C-9C7A-941E-A75BEFD2467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668027" y="2209912"/>
            <a:ext cx="720000" cy="720000"/>
          </a:xfrm>
          <a:prstGeom prst="rect">
            <a:avLst/>
          </a:prstGeom>
        </p:spPr>
      </p:pic>
      <p:sp>
        <p:nvSpPr>
          <p:cNvPr id="24" name="文字方塊 23">
            <a:extLst>
              <a:ext uri="{FF2B5EF4-FFF2-40B4-BE49-F238E27FC236}">
                <a16:creationId xmlns:a16="http://schemas.microsoft.com/office/drawing/2014/main" id="{244B8A82-1117-6129-AC06-5900F8D65F75}"/>
              </a:ext>
            </a:extLst>
          </p:cNvPr>
          <p:cNvSpPr txBox="1"/>
          <p:nvPr/>
        </p:nvSpPr>
        <p:spPr>
          <a:xfrm>
            <a:off x="7533034" y="2285472"/>
            <a:ext cx="3888316" cy="523220"/>
          </a:xfrm>
          <a:prstGeom prst="rect">
            <a:avLst/>
          </a:prstGeom>
          <a:noFill/>
        </p:spPr>
        <p:txBody>
          <a:bodyPr wrap="square">
            <a:spAutoFit/>
          </a:bodyPr>
          <a:lstStyle/>
          <a:p>
            <a:r>
              <a:rPr lang="en-US" altLang="zh-TW" sz="2800" b="1"/>
              <a:t>Analysis</a:t>
            </a:r>
            <a:endParaRPr lang="zh-TW" altLang="en-US" sz="2800" b="1"/>
          </a:p>
        </p:txBody>
      </p:sp>
      <p:sp>
        <p:nvSpPr>
          <p:cNvPr id="25" name="文字方塊 24">
            <a:extLst>
              <a:ext uri="{FF2B5EF4-FFF2-40B4-BE49-F238E27FC236}">
                <a16:creationId xmlns:a16="http://schemas.microsoft.com/office/drawing/2014/main" id="{C94C6E62-1DE8-B047-7366-409EC1089E01}"/>
              </a:ext>
            </a:extLst>
          </p:cNvPr>
          <p:cNvSpPr txBox="1"/>
          <p:nvPr/>
        </p:nvSpPr>
        <p:spPr>
          <a:xfrm>
            <a:off x="7533034" y="3323487"/>
            <a:ext cx="3888316" cy="523220"/>
          </a:xfrm>
          <a:prstGeom prst="rect">
            <a:avLst/>
          </a:prstGeom>
          <a:noFill/>
        </p:spPr>
        <p:txBody>
          <a:bodyPr wrap="square">
            <a:spAutoFit/>
          </a:bodyPr>
          <a:lstStyle/>
          <a:p>
            <a:r>
              <a:rPr lang="en-US" altLang="zh-TW" sz="2800" b="1"/>
              <a:t>Discussion</a:t>
            </a:r>
            <a:endParaRPr lang="zh-TW" altLang="en-US" sz="2800" b="1"/>
          </a:p>
        </p:txBody>
      </p:sp>
      <p:sp>
        <p:nvSpPr>
          <p:cNvPr id="26" name="文字方塊 25">
            <a:extLst>
              <a:ext uri="{FF2B5EF4-FFF2-40B4-BE49-F238E27FC236}">
                <a16:creationId xmlns:a16="http://schemas.microsoft.com/office/drawing/2014/main" id="{892CEE8A-C6E0-1136-62BA-3A8EC1B9B5E2}"/>
              </a:ext>
            </a:extLst>
          </p:cNvPr>
          <p:cNvSpPr txBox="1"/>
          <p:nvPr/>
        </p:nvSpPr>
        <p:spPr>
          <a:xfrm>
            <a:off x="7533034" y="4338674"/>
            <a:ext cx="3888316" cy="523220"/>
          </a:xfrm>
          <a:prstGeom prst="rect">
            <a:avLst/>
          </a:prstGeom>
          <a:noFill/>
        </p:spPr>
        <p:txBody>
          <a:bodyPr wrap="square">
            <a:spAutoFit/>
          </a:bodyPr>
          <a:lstStyle/>
          <a:p>
            <a:r>
              <a:rPr lang="en-US" altLang="zh-TW" sz="2800" b="1"/>
              <a:t>Conclusions</a:t>
            </a:r>
            <a:endParaRPr lang="zh-TW" altLang="en-US" sz="2800" b="1"/>
          </a:p>
        </p:txBody>
      </p:sp>
      <p:sp>
        <p:nvSpPr>
          <p:cNvPr id="13" name="文字方塊 12">
            <a:extLst>
              <a:ext uri="{FF2B5EF4-FFF2-40B4-BE49-F238E27FC236}">
                <a16:creationId xmlns:a16="http://schemas.microsoft.com/office/drawing/2014/main" id="{B0C852DD-EF9B-4A1B-DBFC-ED4F2B8A0B49}"/>
              </a:ext>
            </a:extLst>
          </p:cNvPr>
          <p:cNvSpPr txBox="1"/>
          <p:nvPr/>
        </p:nvSpPr>
        <p:spPr>
          <a:xfrm>
            <a:off x="7533034" y="5353860"/>
            <a:ext cx="3888316" cy="523220"/>
          </a:xfrm>
          <a:prstGeom prst="rect">
            <a:avLst/>
          </a:prstGeom>
          <a:noFill/>
        </p:spPr>
        <p:txBody>
          <a:bodyPr wrap="square">
            <a:spAutoFit/>
          </a:bodyPr>
          <a:lstStyle/>
          <a:p>
            <a:r>
              <a:rPr lang="en-US" altLang="zh-TW" sz="2800" b="1"/>
              <a:t>Our comments</a:t>
            </a:r>
            <a:endParaRPr lang="zh-TW" altLang="en-US" sz="2800" b="1"/>
          </a:p>
        </p:txBody>
      </p:sp>
    </p:spTree>
    <p:extLst>
      <p:ext uri="{BB962C8B-B14F-4D97-AF65-F5344CB8AC3E}">
        <p14:creationId xmlns:p14="http://schemas.microsoft.com/office/powerpoint/2010/main" val="2290735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D879F8-28A8-9E76-3DB9-B01BD873A06A}"/>
            </a:ext>
          </a:extLst>
        </p:cNvPr>
        <p:cNvGrpSpPr/>
        <p:nvPr/>
      </p:nvGrpSpPr>
      <p:grpSpPr>
        <a:xfrm>
          <a:off x="0" y="0"/>
          <a:ext cx="0" cy="0"/>
          <a:chOff x="0" y="0"/>
          <a:chExt cx="0" cy="0"/>
        </a:xfrm>
      </p:grpSpPr>
      <p:sp>
        <p:nvSpPr>
          <p:cNvPr id="2" name="流程圖: 資料 1">
            <a:extLst>
              <a:ext uri="{FF2B5EF4-FFF2-40B4-BE49-F238E27FC236}">
                <a16:creationId xmlns:a16="http://schemas.microsoft.com/office/drawing/2014/main" id="{6D71370D-D9D0-6C02-BEE5-420A5288F22A}"/>
              </a:ext>
            </a:extLst>
          </p:cNvPr>
          <p:cNvSpPr/>
          <p:nvPr/>
        </p:nvSpPr>
        <p:spPr>
          <a:xfrm flipV="1">
            <a:off x="1394979" y="1854777"/>
            <a:ext cx="9402042" cy="3148446"/>
          </a:xfrm>
          <a:prstGeom prst="flowChartInputOutput">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1ED51D76-13B7-27CE-A8A9-461FC456E6B3}"/>
              </a:ext>
            </a:extLst>
          </p:cNvPr>
          <p:cNvSpPr/>
          <p:nvPr/>
        </p:nvSpPr>
        <p:spPr>
          <a:xfrm>
            <a:off x="2344881" y="1252104"/>
            <a:ext cx="7502237" cy="4353791"/>
          </a:xfrm>
          <a:prstGeom prst="rect">
            <a:avLst/>
          </a:prstGeom>
          <a:solidFill>
            <a:schemeClr val="bg1"/>
          </a:solidFill>
          <a:ln w="28575">
            <a:solidFill>
              <a:srgbClr val="463F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A547707F-6DAB-DE98-8608-3C44AE07143E}"/>
              </a:ext>
            </a:extLst>
          </p:cNvPr>
          <p:cNvSpPr txBox="1"/>
          <p:nvPr/>
        </p:nvSpPr>
        <p:spPr>
          <a:xfrm>
            <a:off x="3884858" y="3428999"/>
            <a:ext cx="4422281" cy="923330"/>
          </a:xfrm>
          <a:prstGeom prst="rect">
            <a:avLst/>
          </a:prstGeom>
          <a:noFill/>
        </p:spPr>
        <p:txBody>
          <a:bodyPr wrap="square" lIns="91440" tIns="45720" rIns="91440" bIns="45720" anchor="t">
            <a:spAutoFit/>
          </a:bodyPr>
          <a:lstStyle/>
          <a:p>
            <a:r>
              <a:rPr lang="en-US" altLang="zh-TW" sz="5400" b="1"/>
              <a:t>Introduction</a:t>
            </a:r>
            <a:endParaRPr lang="zh-TW" altLang="en-US" sz="5400" b="1"/>
          </a:p>
        </p:txBody>
      </p:sp>
      <p:pic>
        <p:nvPicPr>
          <p:cNvPr id="15" name="圖形 14" descr="徽章 1 以實心填滿">
            <a:extLst>
              <a:ext uri="{FF2B5EF4-FFF2-40B4-BE49-F238E27FC236}">
                <a16:creationId xmlns:a16="http://schemas.microsoft.com/office/drawing/2014/main" id="{01B8F3C0-D6FD-3AF6-F2E2-BE50E4F5F8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01118" y="2178095"/>
            <a:ext cx="989760" cy="989760"/>
          </a:xfrm>
          <a:prstGeom prst="rect">
            <a:avLst/>
          </a:prstGeom>
        </p:spPr>
      </p:pic>
    </p:spTree>
    <p:extLst>
      <p:ext uri="{BB962C8B-B14F-4D97-AF65-F5344CB8AC3E}">
        <p14:creationId xmlns:p14="http://schemas.microsoft.com/office/powerpoint/2010/main" val="2201140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群組 6">
            <a:extLst>
              <a:ext uri="{FF2B5EF4-FFF2-40B4-BE49-F238E27FC236}">
                <a16:creationId xmlns:a16="http://schemas.microsoft.com/office/drawing/2014/main" id="{A9A8A283-0E09-7858-A811-8DA3F2290104}"/>
              </a:ext>
            </a:extLst>
          </p:cNvPr>
          <p:cNvGrpSpPr/>
          <p:nvPr/>
        </p:nvGrpSpPr>
        <p:grpSpPr>
          <a:xfrm>
            <a:off x="0" y="6498455"/>
            <a:ext cx="12192000" cy="400110"/>
            <a:chOff x="0" y="6498455"/>
            <a:chExt cx="12192000" cy="400110"/>
          </a:xfrm>
        </p:grpSpPr>
        <p:sp>
          <p:nvSpPr>
            <p:cNvPr id="2" name="矩形: 剪去單一角落 1">
              <a:extLst>
                <a:ext uri="{FF2B5EF4-FFF2-40B4-BE49-F238E27FC236}">
                  <a16:creationId xmlns:a16="http://schemas.microsoft.com/office/drawing/2014/main" id="{9A473400-620A-2D1A-1F23-4B04DD44772E}"/>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文字方塊 2">
              <a:extLst>
                <a:ext uri="{FF2B5EF4-FFF2-40B4-BE49-F238E27FC236}">
                  <a16:creationId xmlns:a16="http://schemas.microsoft.com/office/drawing/2014/main" id="{D933E9DB-DFD1-4210-C72E-C05982E186EF}"/>
                </a:ext>
              </a:extLst>
            </p:cNvPr>
            <p:cNvSpPr txBox="1"/>
            <p:nvPr/>
          </p:nvSpPr>
          <p:spPr>
            <a:xfrm>
              <a:off x="97160" y="6498455"/>
              <a:ext cx="3475380" cy="400110"/>
            </a:xfrm>
            <a:prstGeom prst="rect">
              <a:avLst/>
            </a:prstGeom>
            <a:noFill/>
          </p:spPr>
          <p:txBody>
            <a:bodyPr wrap="square">
              <a:spAutoFit/>
            </a:bodyPr>
            <a:lstStyle/>
            <a:p>
              <a:r>
                <a:rPr lang="en-US" altLang="zh-TW" sz="2000" b="1">
                  <a:solidFill>
                    <a:srgbClr val="F9EBE0"/>
                  </a:solidFill>
                </a:rPr>
                <a:t>Introduction</a:t>
              </a:r>
            </a:p>
          </p:txBody>
        </p:sp>
        <p:sp>
          <p:nvSpPr>
            <p:cNvPr id="4" name="文字方塊 3">
              <a:extLst>
                <a:ext uri="{FF2B5EF4-FFF2-40B4-BE49-F238E27FC236}">
                  <a16:creationId xmlns:a16="http://schemas.microsoft.com/office/drawing/2014/main" id="{EF0BB8A0-8193-5928-685A-7FD5F8DFDAD7}"/>
                </a:ext>
              </a:extLst>
            </p:cNvPr>
            <p:cNvSpPr txBox="1"/>
            <p:nvPr/>
          </p:nvSpPr>
          <p:spPr>
            <a:xfrm>
              <a:off x="8619460" y="6498455"/>
              <a:ext cx="3475380" cy="400110"/>
            </a:xfrm>
            <a:prstGeom prst="rect">
              <a:avLst/>
            </a:prstGeom>
            <a:noFill/>
          </p:spPr>
          <p:txBody>
            <a:bodyPr wrap="square">
              <a:spAutoFit/>
            </a:bodyPr>
            <a:lstStyle/>
            <a:p>
              <a:pPr algn="r"/>
              <a:r>
                <a:rPr lang="en-US" altLang="zh-TW" sz="2000" b="1">
                  <a:solidFill>
                    <a:srgbClr val="F9EBE0"/>
                  </a:solidFill>
                </a:rPr>
                <a:t>01</a:t>
              </a:r>
              <a:endParaRPr lang="zh-TW" altLang="en-US" sz="2000" b="1">
                <a:solidFill>
                  <a:srgbClr val="F9EBE0"/>
                </a:solidFill>
              </a:endParaRPr>
            </a:p>
          </p:txBody>
        </p:sp>
      </p:grpSp>
      <p:sp>
        <p:nvSpPr>
          <p:cNvPr id="5" name="Title 4">
            <a:extLst>
              <a:ext uri="{FF2B5EF4-FFF2-40B4-BE49-F238E27FC236}">
                <a16:creationId xmlns:a16="http://schemas.microsoft.com/office/drawing/2014/main" id="{1139CF34-121E-804B-BA10-68C3D5A96257}"/>
              </a:ext>
            </a:extLst>
          </p:cNvPr>
          <p:cNvSpPr>
            <a:spLocks noGrp="1"/>
          </p:cNvSpPr>
          <p:nvPr>
            <p:ph type="title"/>
          </p:nvPr>
        </p:nvSpPr>
        <p:spPr/>
        <p:txBody>
          <a:bodyPr/>
          <a:lstStyle/>
          <a:p>
            <a:r>
              <a:rPr lang="en-US"/>
              <a:t>Introduction</a:t>
            </a:r>
          </a:p>
        </p:txBody>
      </p:sp>
      <p:sp>
        <p:nvSpPr>
          <p:cNvPr id="6" name="Content Placeholder 5">
            <a:extLst>
              <a:ext uri="{FF2B5EF4-FFF2-40B4-BE49-F238E27FC236}">
                <a16:creationId xmlns:a16="http://schemas.microsoft.com/office/drawing/2014/main" id="{C8624FB3-C8A1-1092-5925-F8699674C586}"/>
              </a:ext>
            </a:extLst>
          </p:cNvPr>
          <p:cNvSpPr>
            <a:spLocks noGrp="1"/>
          </p:cNvSpPr>
          <p:nvPr>
            <p:ph idx="1"/>
          </p:nvPr>
        </p:nvSpPr>
        <p:spPr>
          <a:xfrm>
            <a:off x="812179" y="1977080"/>
            <a:ext cx="10168128" cy="3983453"/>
          </a:xfrm>
        </p:spPr>
        <p:txBody>
          <a:bodyPr vert="horz" lIns="91440" tIns="45720" rIns="91440" bIns="45720" rtlCol="0" anchor="t">
            <a:normAutofit/>
          </a:bodyPr>
          <a:lstStyle/>
          <a:p>
            <a:r>
              <a:rPr lang="en-US" dirty="0"/>
              <a:t>Public transportation must excel in availability, frequency, trip time, and schedule to outcompete private cars usage.</a:t>
            </a:r>
          </a:p>
          <a:p>
            <a:r>
              <a:rPr lang="en-US" dirty="0"/>
              <a:t>These elements influence a consumer's satisfaction regarding quality of public transportation.</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28635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E9AED-4BE1-1BD1-61B1-27412B5D7D9A}"/>
            </a:ext>
          </a:extLst>
        </p:cNvPr>
        <p:cNvGrpSpPr/>
        <p:nvPr/>
      </p:nvGrpSpPr>
      <p:grpSpPr>
        <a:xfrm>
          <a:off x="0" y="0"/>
          <a:ext cx="0" cy="0"/>
          <a:chOff x="0" y="0"/>
          <a:chExt cx="0" cy="0"/>
        </a:xfrm>
      </p:grpSpPr>
      <p:sp>
        <p:nvSpPr>
          <p:cNvPr id="2" name="流程圖: 資料 1">
            <a:extLst>
              <a:ext uri="{FF2B5EF4-FFF2-40B4-BE49-F238E27FC236}">
                <a16:creationId xmlns:a16="http://schemas.microsoft.com/office/drawing/2014/main" id="{D80CBE7C-76EF-F81C-E385-F971F83CDAD2}"/>
              </a:ext>
            </a:extLst>
          </p:cNvPr>
          <p:cNvSpPr/>
          <p:nvPr/>
        </p:nvSpPr>
        <p:spPr>
          <a:xfrm flipV="1">
            <a:off x="1394979" y="1854777"/>
            <a:ext cx="9402042" cy="3148446"/>
          </a:xfrm>
          <a:prstGeom prst="flowChartInputOutput">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6E5F421D-CEFC-B171-B95B-376A474AABB9}"/>
              </a:ext>
            </a:extLst>
          </p:cNvPr>
          <p:cNvSpPr/>
          <p:nvPr/>
        </p:nvSpPr>
        <p:spPr>
          <a:xfrm>
            <a:off x="2344881" y="1252104"/>
            <a:ext cx="7502237" cy="4353791"/>
          </a:xfrm>
          <a:prstGeom prst="rect">
            <a:avLst/>
          </a:prstGeom>
          <a:solidFill>
            <a:schemeClr val="bg1"/>
          </a:solidFill>
          <a:ln w="28575">
            <a:solidFill>
              <a:srgbClr val="463F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3473E520-3006-7F42-BE43-2E636D66662B}"/>
              </a:ext>
            </a:extLst>
          </p:cNvPr>
          <p:cNvSpPr txBox="1"/>
          <p:nvPr/>
        </p:nvSpPr>
        <p:spPr>
          <a:xfrm>
            <a:off x="2967663" y="3277655"/>
            <a:ext cx="6256669" cy="1754326"/>
          </a:xfrm>
          <a:prstGeom prst="rect">
            <a:avLst/>
          </a:prstGeom>
          <a:noFill/>
        </p:spPr>
        <p:txBody>
          <a:bodyPr wrap="square" lIns="91440" tIns="45720" rIns="91440" bIns="45720" anchor="t">
            <a:spAutoFit/>
          </a:bodyPr>
          <a:lstStyle/>
          <a:p>
            <a:pPr algn="ctr"/>
            <a:r>
              <a:rPr lang="en-US" altLang="zh-TW" sz="5400" b="1"/>
              <a:t>Machine learning predictive models</a:t>
            </a:r>
            <a:endParaRPr lang="zh-TW" altLang="en-US" sz="5400" b="1"/>
          </a:p>
        </p:txBody>
      </p:sp>
      <p:pic>
        <p:nvPicPr>
          <p:cNvPr id="15" name="圖形 14" descr="識別證 以實心填滿">
            <a:extLst>
              <a:ext uri="{FF2B5EF4-FFF2-40B4-BE49-F238E27FC236}">
                <a16:creationId xmlns:a16="http://schemas.microsoft.com/office/drawing/2014/main" id="{FECFCA2B-A0C3-8672-5094-196EB28D4C05}"/>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601118" y="2178095"/>
            <a:ext cx="989760" cy="989760"/>
          </a:xfrm>
          <a:prstGeom prst="rect">
            <a:avLst/>
          </a:prstGeom>
        </p:spPr>
      </p:pic>
    </p:spTree>
    <p:extLst>
      <p:ext uri="{BB962C8B-B14F-4D97-AF65-F5344CB8AC3E}">
        <p14:creationId xmlns:p14="http://schemas.microsoft.com/office/powerpoint/2010/main" val="195136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EDA2E85-D172-B08D-4FCA-B6F9D62129F2}"/>
              </a:ext>
            </a:extLst>
          </p:cNvPr>
          <p:cNvSpPr>
            <a:spLocks noGrp="1"/>
          </p:cNvSpPr>
          <p:nvPr>
            <p:ph type="title"/>
          </p:nvPr>
        </p:nvSpPr>
        <p:spPr/>
        <p:txBody>
          <a:bodyPr/>
          <a:lstStyle/>
          <a:p>
            <a:r>
              <a:rPr lang="en-US" dirty="0"/>
              <a:t>Machine </a:t>
            </a:r>
            <a:r>
              <a:rPr lang="en-US" altLang="zh-TW" dirty="0"/>
              <a:t>L</a:t>
            </a:r>
            <a:r>
              <a:rPr lang="en-US" dirty="0"/>
              <a:t>earning </a:t>
            </a:r>
            <a:r>
              <a:rPr lang="en-US" altLang="zh-TW" dirty="0"/>
              <a:t>P</a:t>
            </a:r>
            <a:r>
              <a:rPr lang="en-US" dirty="0"/>
              <a:t>redictive </a:t>
            </a:r>
            <a:r>
              <a:rPr lang="en-US" altLang="zh-TW" dirty="0"/>
              <a:t>M</a:t>
            </a:r>
            <a:r>
              <a:rPr lang="en-US" dirty="0"/>
              <a:t>odels</a:t>
            </a:r>
          </a:p>
        </p:txBody>
      </p:sp>
      <p:sp>
        <p:nvSpPr>
          <p:cNvPr id="6" name="Content Placeholder 5">
            <a:extLst>
              <a:ext uri="{FF2B5EF4-FFF2-40B4-BE49-F238E27FC236}">
                <a16:creationId xmlns:a16="http://schemas.microsoft.com/office/drawing/2014/main" id="{98D63914-DA7E-29B0-15E1-747B597E640B}"/>
              </a:ext>
            </a:extLst>
          </p:cNvPr>
          <p:cNvSpPr>
            <a:spLocks noGrp="1"/>
          </p:cNvSpPr>
          <p:nvPr>
            <p:ph idx="1"/>
          </p:nvPr>
        </p:nvSpPr>
        <p:spPr/>
        <p:txBody>
          <a:bodyPr/>
          <a:lstStyle/>
          <a:p>
            <a:r>
              <a:rPr lang="en-US" dirty="0"/>
              <a:t>Predictive models can be subdivided into </a:t>
            </a:r>
            <a:r>
              <a:rPr lang="en-US" b="1" dirty="0"/>
              <a:t>regression models </a:t>
            </a:r>
            <a:r>
              <a:rPr lang="en-US" dirty="0"/>
              <a:t>and </a:t>
            </a:r>
            <a:r>
              <a:rPr lang="en-US" b="1" dirty="0"/>
              <a:t>classification models.</a:t>
            </a:r>
          </a:p>
          <a:p>
            <a:r>
              <a:rPr lang="en-US" b="1" dirty="0"/>
              <a:t>Regression models: </a:t>
            </a:r>
            <a:r>
              <a:rPr lang="en-US" dirty="0"/>
              <a:t>predict continuous outputs</a:t>
            </a:r>
          </a:p>
          <a:p>
            <a:r>
              <a:rPr lang="en-US" b="1" dirty="0"/>
              <a:t>Classification models: </a:t>
            </a:r>
            <a:r>
              <a:rPr lang="en-US" dirty="0"/>
              <a:t>assign observations to particular labels (or discrete classes)</a:t>
            </a:r>
          </a:p>
        </p:txBody>
      </p:sp>
      <p:grpSp>
        <p:nvGrpSpPr>
          <p:cNvPr id="7" name="群組 6">
            <a:extLst>
              <a:ext uri="{FF2B5EF4-FFF2-40B4-BE49-F238E27FC236}">
                <a16:creationId xmlns:a16="http://schemas.microsoft.com/office/drawing/2014/main" id="{7C334587-063D-97E3-7DCC-57D3E131E79B}"/>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C182D955-97CF-B115-E455-8830CF252DAE}"/>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10D5A768-D5CB-4459-5D9D-6A8E5740564E}"/>
                </a:ext>
              </a:extLst>
            </p:cNvPr>
            <p:cNvSpPr txBox="1"/>
            <p:nvPr/>
          </p:nvSpPr>
          <p:spPr>
            <a:xfrm>
              <a:off x="97160" y="6498455"/>
              <a:ext cx="7143612" cy="400110"/>
            </a:xfrm>
            <a:prstGeom prst="rect">
              <a:avLst/>
            </a:prstGeom>
            <a:noFill/>
          </p:spPr>
          <p:txBody>
            <a:bodyPr wrap="square">
              <a:spAutoFit/>
            </a:bodyPr>
            <a:lstStyle/>
            <a:p>
              <a:r>
                <a:rPr lang="en-US" altLang="zh-TW" sz="2000" b="1" dirty="0">
                  <a:solidFill>
                    <a:srgbClr val="F9EBE0"/>
                  </a:solidFill>
                </a:rPr>
                <a:t>Machine Learning Predictive Models</a:t>
              </a:r>
            </a:p>
          </p:txBody>
        </p:sp>
        <p:sp>
          <p:nvSpPr>
            <p:cNvPr id="10" name="文字方塊 9">
              <a:extLst>
                <a:ext uri="{FF2B5EF4-FFF2-40B4-BE49-F238E27FC236}">
                  <a16:creationId xmlns:a16="http://schemas.microsoft.com/office/drawing/2014/main" id="{1B553F05-7C73-946D-D542-E80797F9C916}"/>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02</a:t>
              </a:r>
              <a:endParaRPr lang="zh-TW" altLang="en-US" sz="2000" b="1" dirty="0">
                <a:solidFill>
                  <a:srgbClr val="F9EBE0"/>
                </a:solidFill>
              </a:endParaRPr>
            </a:p>
          </p:txBody>
        </p:sp>
      </p:grpSp>
    </p:spTree>
    <p:extLst>
      <p:ext uri="{BB962C8B-B14F-4D97-AF65-F5344CB8AC3E}">
        <p14:creationId xmlns:p14="http://schemas.microsoft.com/office/powerpoint/2010/main" val="2033004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4BF49-D95D-195D-84CE-7E62B2A734A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BB79C96-11F8-538D-0E70-8784E40E0E26}"/>
              </a:ext>
            </a:extLst>
          </p:cNvPr>
          <p:cNvSpPr>
            <a:spLocks noGrp="1"/>
          </p:cNvSpPr>
          <p:nvPr>
            <p:ph type="title"/>
          </p:nvPr>
        </p:nvSpPr>
        <p:spPr/>
        <p:txBody>
          <a:bodyPr/>
          <a:lstStyle/>
          <a:p>
            <a:r>
              <a:rPr lang="en-US" dirty="0"/>
              <a:t>Machine </a:t>
            </a:r>
            <a:r>
              <a:rPr lang="en-US" altLang="zh-TW" dirty="0"/>
              <a:t>L</a:t>
            </a:r>
            <a:r>
              <a:rPr lang="en-US" dirty="0"/>
              <a:t>earning </a:t>
            </a:r>
            <a:r>
              <a:rPr lang="en-US" altLang="zh-TW" dirty="0"/>
              <a:t>P</a:t>
            </a:r>
            <a:r>
              <a:rPr lang="en-US" dirty="0"/>
              <a:t>redictive </a:t>
            </a:r>
            <a:r>
              <a:rPr lang="en-US" altLang="zh-TW" dirty="0"/>
              <a:t>M</a:t>
            </a:r>
            <a:r>
              <a:rPr lang="en-US" dirty="0"/>
              <a:t>odels</a:t>
            </a:r>
          </a:p>
        </p:txBody>
      </p:sp>
      <p:sp>
        <p:nvSpPr>
          <p:cNvPr id="6" name="Content Placeholder 5">
            <a:extLst>
              <a:ext uri="{FF2B5EF4-FFF2-40B4-BE49-F238E27FC236}">
                <a16:creationId xmlns:a16="http://schemas.microsoft.com/office/drawing/2014/main" id="{7F96A260-57A1-0C08-E971-BB075B79F7FD}"/>
              </a:ext>
            </a:extLst>
          </p:cNvPr>
          <p:cNvSpPr>
            <a:spLocks noGrp="1"/>
          </p:cNvSpPr>
          <p:nvPr>
            <p:ph idx="1"/>
          </p:nvPr>
        </p:nvSpPr>
        <p:spPr>
          <a:xfrm>
            <a:off x="1115568" y="2371693"/>
            <a:ext cx="10168128" cy="4379975"/>
          </a:xfrm>
        </p:spPr>
        <p:txBody>
          <a:bodyPr>
            <a:normAutofit fontScale="85000" lnSpcReduction="10000"/>
          </a:bodyPr>
          <a:lstStyle/>
          <a:p>
            <a:r>
              <a:rPr lang="en-US" b="1" dirty="0"/>
              <a:t>Classification models </a:t>
            </a:r>
            <a:r>
              <a:rPr lang="en-US" dirty="0"/>
              <a:t>can be further subdivided into </a:t>
            </a:r>
            <a:r>
              <a:rPr lang="en-US" b="1" dirty="0"/>
              <a:t>supervised &amp; unsupervised learning.</a:t>
            </a:r>
          </a:p>
          <a:p>
            <a:r>
              <a:rPr lang="en-US" b="1" dirty="0" err="1"/>
              <a:t>Unsupervused</a:t>
            </a:r>
            <a:r>
              <a:rPr lang="en-US" b="1" dirty="0"/>
              <a:t>(descriptive): </a:t>
            </a:r>
            <a:r>
              <a:rPr lang="en-US" dirty="0"/>
              <a:t>search for structures that are able to explain any phenomena over the data.</a:t>
            </a:r>
          </a:p>
          <a:p>
            <a:r>
              <a:rPr lang="en-US" b="1" dirty="0"/>
              <a:t>Supervised: </a:t>
            </a:r>
            <a:r>
              <a:rPr lang="en-US" altLang="zh-TW" dirty="0"/>
              <a:t>there is a single variable called label (</a:t>
            </a:r>
            <a:r>
              <a:rPr lang="zh-TW" altLang="en-US" b="1" dirty="0"/>
              <a:t>𝑌</a:t>
            </a:r>
            <a:r>
              <a:rPr lang="en-US" altLang="zh-TW" dirty="0"/>
              <a:t>) that has to be explained using the rest of the variables (</a:t>
            </a:r>
            <a:r>
              <a:rPr lang="zh-TW" altLang="en-US" b="1" dirty="0"/>
              <a:t>𝐗</a:t>
            </a:r>
            <a:r>
              <a:rPr lang="en-US" altLang="zh-TW" dirty="0"/>
              <a:t>).  To predict the outcome </a:t>
            </a:r>
            <a:r>
              <a:rPr lang="zh-TW" altLang="en-US" dirty="0"/>
              <a:t>𝑌 </a:t>
            </a:r>
            <a:r>
              <a:rPr lang="en-US" altLang="zh-TW" dirty="0"/>
              <a:t>from certain data input </a:t>
            </a:r>
            <a:r>
              <a:rPr lang="zh-TW" altLang="en-US" dirty="0"/>
              <a:t>𝐗</a:t>
            </a:r>
            <a:r>
              <a:rPr lang="en-US" altLang="zh-TW" dirty="0"/>
              <a:t>. </a:t>
            </a:r>
          </a:p>
          <a:p>
            <a:r>
              <a:rPr lang="en-US" altLang="zh-TW" dirty="0"/>
              <a:t>One of the purposes of this research is to predict different discrete values with the </a:t>
            </a:r>
            <a:r>
              <a:rPr lang="en-US" altLang="zh-TW" b="1" dirty="0"/>
              <a:t>rating score </a:t>
            </a:r>
            <a:r>
              <a:rPr lang="en-US" altLang="zh-TW" dirty="0"/>
              <a:t>of the quality of the bus transit service the problem corresponds to a supervised classification problem. </a:t>
            </a:r>
          </a:p>
        </p:txBody>
      </p:sp>
      <p:grpSp>
        <p:nvGrpSpPr>
          <p:cNvPr id="7" name="群組 6">
            <a:extLst>
              <a:ext uri="{FF2B5EF4-FFF2-40B4-BE49-F238E27FC236}">
                <a16:creationId xmlns:a16="http://schemas.microsoft.com/office/drawing/2014/main" id="{6CA6CFC1-130A-B501-72D9-6BEF30B024B2}"/>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9675D13D-34C2-D778-8AEA-2305ACA55B8F}"/>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0F6F43B3-0098-43A0-73BA-662BCEB6E19D}"/>
                </a:ext>
              </a:extLst>
            </p:cNvPr>
            <p:cNvSpPr txBox="1"/>
            <p:nvPr/>
          </p:nvSpPr>
          <p:spPr>
            <a:xfrm>
              <a:off x="97160" y="6498455"/>
              <a:ext cx="7143612" cy="400110"/>
            </a:xfrm>
            <a:prstGeom prst="rect">
              <a:avLst/>
            </a:prstGeom>
            <a:noFill/>
          </p:spPr>
          <p:txBody>
            <a:bodyPr wrap="square">
              <a:spAutoFit/>
            </a:bodyPr>
            <a:lstStyle/>
            <a:p>
              <a:r>
                <a:rPr lang="en-US" altLang="zh-TW" sz="2000" b="1" dirty="0">
                  <a:solidFill>
                    <a:srgbClr val="F9EBE0"/>
                  </a:solidFill>
                </a:rPr>
                <a:t>Machine Learning Predictive Models</a:t>
              </a:r>
            </a:p>
          </p:txBody>
        </p:sp>
        <p:sp>
          <p:nvSpPr>
            <p:cNvPr id="10" name="文字方塊 9">
              <a:extLst>
                <a:ext uri="{FF2B5EF4-FFF2-40B4-BE49-F238E27FC236}">
                  <a16:creationId xmlns:a16="http://schemas.microsoft.com/office/drawing/2014/main" id="{A09881BE-AA4B-CD68-A412-AA7718E00F3B}"/>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03</a:t>
              </a:r>
              <a:endParaRPr lang="zh-TW" altLang="en-US" sz="2000" b="1" dirty="0">
                <a:solidFill>
                  <a:srgbClr val="F9EBE0"/>
                </a:solidFill>
              </a:endParaRPr>
            </a:p>
          </p:txBody>
        </p:sp>
      </p:grpSp>
    </p:spTree>
    <p:extLst>
      <p:ext uri="{BB962C8B-B14F-4D97-AF65-F5344CB8AC3E}">
        <p14:creationId xmlns:p14="http://schemas.microsoft.com/office/powerpoint/2010/main" val="1540679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22C68-7F8C-BAB4-45A8-8E694C90E2D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B0B07C8-3008-720D-68FE-35C7AFBCA7DE}"/>
              </a:ext>
            </a:extLst>
          </p:cNvPr>
          <p:cNvSpPr>
            <a:spLocks noGrp="1"/>
          </p:cNvSpPr>
          <p:nvPr>
            <p:ph type="title"/>
          </p:nvPr>
        </p:nvSpPr>
        <p:spPr/>
        <p:txBody>
          <a:bodyPr/>
          <a:lstStyle/>
          <a:p>
            <a:r>
              <a:rPr lang="en-US" dirty="0"/>
              <a:t>Machine </a:t>
            </a:r>
            <a:r>
              <a:rPr lang="en-US" altLang="zh-TW" dirty="0"/>
              <a:t>L</a:t>
            </a:r>
            <a:r>
              <a:rPr lang="en-US" dirty="0"/>
              <a:t>earning </a:t>
            </a:r>
            <a:r>
              <a:rPr lang="en-US" altLang="zh-TW" dirty="0"/>
              <a:t>P</a:t>
            </a:r>
            <a:r>
              <a:rPr lang="en-US" dirty="0"/>
              <a:t>redictive </a:t>
            </a:r>
            <a:r>
              <a:rPr lang="en-US" altLang="zh-TW" dirty="0"/>
              <a:t>M</a:t>
            </a:r>
            <a:r>
              <a:rPr lang="en-US" dirty="0"/>
              <a:t>odels</a:t>
            </a:r>
          </a:p>
        </p:txBody>
      </p:sp>
      <p:sp>
        <p:nvSpPr>
          <p:cNvPr id="6" name="Content Placeholder 5">
            <a:extLst>
              <a:ext uri="{FF2B5EF4-FFF2-40B4-BE49-F238E27FC236}">
                <a16:creationId xmlns:a16="http://schemas.microsoft.com/office/drawing/2014/main" id="{D966FD42-5BB3-CD55-2253-62A6B6EFB32E}"/>
              </a:ext>
            </a:extLst>
          </p:cNvPr>
          <p:cNvSpPr>
            <a:spLocks noGrp="1"/>
          </p:cNvSpPr>
          <p:nvPr>
            <p:ph idx="1"/>
          </p:nvPr>
        </p:nvSpPr>
        <p:spPr>
          <a:xfrm>
            <a:off x="1115568" y="2371693"/>
            <a:ext cx="10168128" cy="4379975"/>
          </a:xfrm>
        </p:spPr>
        <p:txBody>
          <a:bodyPr>
            <a:normAutofit fontScale="70000" lnSpcReduction="20000"/>
          </a:bodyPr>
          <a:lstStyle/>
          <a:p>
            <a:r>
              <a:rPr lang="en-US" b="1" dirty="0"/>
              <a:t>Supervised classification models is a</a:t>
            </a:r>
            <a:r>
              <a:rPr lang="en-US" dirty="0"/>
              <a:t> classification model is an algorithm capable of predicting a result based on a series of inputs. The algorithm receives as input a new data point with valued variables and returns the probability of belonging to a class. In some models, instead of calculating a probability, the model assigns the data point directly to a class, this is equivalent to assigning a probability 1.0 to one of the classes.</a:t>
            </a:r>
          </a:p>
          <a:p>
            <a:endParaRPr lang="en-US" dirty="0"/>
          </a:p>
          <a:p>
            <a:r>
              <a:rPr lang="en-US" dirty="0"/>
              <a:t>Most supervised models consider two stages:</a:t>
            </a:r>
            <a:r>
              <a:rPr lang="en-US" b="1" dirty="0"/>
              <a:t> training </a:t>
            </a:r>
            <a:r>
              <a:rPr lang="en-US" dirty="0"/>
              <a:t>and </a:t>
            </a:r>
            <a:r>
              <a:rPr lang="en-US" b="1" dirty="0"/>
              <a:t>application</a:t>
            </a:r>
            <a:r>
              <a:rPr lang="en-US" dirty="0"/>
              <a:t>. </a:t>
            </a:r>
          </a:p>
          <a:p>
            <a:r>
              <a:rPr lang="en-US" dirty="0"/>
              <a:t>In the training stage, part of the data set, called the training set, is used to develop the structure and parameters of the model, which are later tested over the test set. </a:t>
            </a:r>
          </a:p>
          <a:p>
            <a:r>
              <a:rPr lang="en-US" dirty="0"/>
              <a:t>The second stage consists of predicting the class of an input data 𝐗. Here, the trained model is applied on 𝐗 and the output corresponds to the probability of belonging to a class. </a:t>
            </a:r>
          </a:p>
        </p:txBody>
      </p:sp>
      <p:grpSp>
        <p:nvGrpSpPr>
          <p:cNvPr id="7" name="群組 6">
            <a:extLst>
              <a:ext uri="{FF2B5EF4-FFF2-40B4-BE49-F238E27FC236}">
                <a16:creationId xmlns:a16="http://schemas.microsoft.com/office/drawing/2014/main" id="{7667E2BE-8FB2-12E5-01FB-098391DB532D}"/>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FEFCFD72-149E-165A-3E37-AAD9C0D27971}"/>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7ED7901E-391E-1CF5-AFF3-60EE84F4B2E0}"/>
                </a:ext>
              </a:extLst>
            </p:cNvPr>
            <p:cNvSpPr txBox="1"/>
            <p:nvPr/>
          </p:nvSpPr>
          <p:spPr>
            <a:xfrm>
              <a:off x="97160" y="6498455"/>
              <a:ext cx="7143612" cy="400110"/>
            </a:xfrm>
            <a:prstGeom prst="rect">
              <a:avLst/>
            </a:prstGeom>
            <a:noFill/>
          </p:spPr>
          <p:txBody>
            <a:bodyPr wrap="square">
              <a:spAutoFit/>
            </a:bodyPr>
            <a:lstStyle/>
            <a:p>
              <a:r>
                <a:rPr lang="en-US" altLang="zh-TW" sz="2000" b="1" dirty="0">
                  <a:solidFill>
                    <a:srgbClr val="F9EBE0"/>
                  </a:solidFill>
                </a:rPr>
                <a:t>Machine Learning Predictive Models</a:t>
              </a:r>
            </a:p>
          </p:txBody>
        </p:sp>
        <p:sp>
          <p:nvSpPr>
            <p:cNvPr id="10" name="文字方塊 9">
              <a:extLst>
                <a:ext uri="{FF2B5EF4-FFF2-40B4-BE49-F238E27FC236}">
                  <a16:creationId xmlns:a16="http://schemas.microsoft.com/office/drawing/2014/main" id="{1A190B0D-6159-F97E-B114-1EB06EAADF26}"/>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04</a:t>
              </a:r>
              <a:endParaRPr lang="zh-TW" altLang="en-US" sz="2000" b="1" dirty="0">
                <a:solidFill>
                  <a:srgbClr val="F9EBE0"/>
                </a:solidFill>
              </a:endParaRPr>
            </a:p>
          </p:txBody>
        </p:sp>
      </p:grpSp>
    </p:spTree>
    <p:extLst>
      <p:ext uri="{BB962C8B-B14F-4D97-AF65-F5344CB8AC3E}">
        <p14:creationId xmlns:p14="http://schemas.microsoft.com/office/powerpoint/2010/main" val="2311658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16CC1-C0DD-6CC1-842D-A59925D9A3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A041339-269E-3221-4CCA-617CC354B491}"/>
              </a:ext>
            </a:extLst>
          </p:cNvPr>
          <p:cNvSpPr>
            <a:spLocks noGrp="1"/>
          </p:cNvSpPr>
          <p:nvPr>
            <p:ph type="title"/>
          </p:nvPr>
        </p:nvSpPr>
        <p:spPr/>
        <p:txBody>
          <a:bodyPr/>
          <a:lstStyle/>
          <a:p>
            <a:r>
              <a:rPr lang="en-US" dirty="0"/>
              <a:t>Machine </a:t>
            </a:r>
            <a:r>
              <a:rPr lang="en-US" altLang="zh-TW" dirty="0"/>
              <a:t>L</a:t>
            </a:r>
            <a:r>
              <a:rPr lang="en-US" dirty="0"/>
              <a:t>earning </a:t>
            </a:r>
            <a:r>
              <a:rPr lang="en-US" altLang="zh-TW" dirty="0"/>
              <a:t>P</a:t>
            </a:r>
            <a:r>
              <a:rPr lang="en-US" dirty="0"/>
              <a:t>redictive </a:t>
            </a:r>
            <a:r>
              <a:rPr lang="en-US" altLang="zh-TW" dirty="0"/>
              <a:t>M</a:t>
            </a:r>
            <a:r>
              <a:rPr lang="en-US" dirty="0"/>
              <a:t>odels</a:t>
            </a:r>
          </a:p>
        </p:txBody>
      </p:sp>
      <p:sp>
        <p:nvSpPr>
          <p:cNvPr id="6" name="Content Placeholder 5">
            <a:extLst>
              <a:ext uri="{FF2B5EF4-FFF2-40B4-BE49-F238E27FC236}">
                <a16:creationId xmlns:a16="http://schemas.microsoft.com/office/drawing/2014/main" id="{1468E31F-528A-CC19-30CA-7BCD31B0F6A0}"/>
              </a:ext>
            </a:extLst>
          </p:cNvPr>
          <p:cNvSpPr>
            <a:spLocks noGrp="1"/>
          </p:cNvSpPr>
          <p:nvPr>
            <p:ph idx="1"/>
          </p:nvPr>
        </p:nvSpPr>
        <p:spPr>
          <a:xfrm>
            <a:off x="1115568" y="2371693"/>
            <a:ext cx="10168128" cy="4379975"/>
          </a:xfrm>
        </p:spPr>
        <p:txBody>
          <a:bodyPr>
            <a:normAutofit/>
          </a:bodyPr>
          <a:lstStyle/>
          <a:p>
            <a:r>
              <a:rPr lang="en-US" dirty="0"/>
              <a:t>There are several classification models in the literature, four of the most common: </a:t>
            </a:r>
          </a:p>
          <a:p>
            <a:pPr lvl="1"/>
            <a:r>
              <a:rPr lang="en-US" b="1" dirty="0"/>
              <a:t>decision tree</a:t>
            </a:r>
          </a:p>
          <a:p>
            <a:pPr lvl="1"/>
            <a:r>
              <a:rPr lang="en-US" b="1" dirty="0"/>
              <a:t>random forest </a:t>
            </a:r>
          </a:p>
          <a:p>
            <a:pPr lvl="1"/>
            <a:r>
              <a:rPr lang="en-US" b="1" dirty="0"/>
              <a:t>support vector machines (SVM)</a:t>
            </a:r>
          </a:p>
          <a:p>
            <a:pPr lvl="1"/>
            <a:r>
              <a:rPr lang="en-US" b="1" dirty="0"/>
              <a:t>neural networks</a:t>
            </a:r>
            <a:endParaRPr lang="en-US" altLang="zh-TW" b="1" dirty="0"/>
          </a:p>
        </p:txBody>
      </p:sp>
      <p:grpSp>
        <p:nvGrpSpPr>
          <p:cNvPr id="7" name="群組 6">
            <a:extLst>
              <a:ext uri="{FF2B5EF4-FFF2-40B4-BE49-F238E27FC236}">
                <a16:creationId xmlns:a16="http://schemas.microsoft.com/office/drawing/2014/main" id="{A8D8CFA3-2DFC-07E4-5D04-2D4CAD65724D}"/>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3569FD91-AFBE-8A5D-48ED-315AD74A9BAC}"/>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7450C1CC-CE2D-3ED7-D17C-C1ACE9F6DB05}"/>
                </a:ext>
              </a:extLst>
            </p:cNvPr>
            <p:cNvSpPr txBox="1"/>
            <p:nvPr/>
          </p:nvSpPr>
          <p:spPr>
            <a:xfrm>
              <a:off x="97160" y="6498455"/>
              <a:ext cx="7143612" cy="400110"/>
            </a:xfrm>
            <a:prstGeom prst="rect">
              <a:avLst/>
            </a:prstGeom>
            <a:noFill/>
          </p:spPr>
          <p:txBody>
            <a:bodyPr wrap="square">
              <a:spAutoFit/>
            </a:bodyPr>
            <a:lstStyle/>
            <a:p>
              <a:r>
                <a:rPr lang="en-US" altLang="zh-TW" sz="2000" b="1" dirty="0">
                  <a:solidFill>
                    <a:srgbClr val="F9EBE0"/>
                  </a:solidFill>
                </a:rPr>
                <a:t>Machine Learning Predictive Models</a:t>
              </a:r>
            </a:p>
          </p:txBody>
        </p:sp>
        <p:sp>
          <p:nvSpPr>
            <p:cNvPr id="10" name="文字方塊 9">
              <a:extLst>
                <a:ext uri="{FF2B5EF4-FFF2-40B4-BE49-F238E27FC236}">
                  <a16:creationId xmlns:a16="http://schemas.microsoft.com/office/drawing/2014/main" id="{1938082A-AF1D-4C81-F850-D488FD2BCA19}"/>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05</a:t>
              </a:r>
              <a:endParaRPr lang="zh-TW" altLang="en-US" sz="2000" b="1" dirty="0">
                <a:solidFill>
                  <a:srgbClr val="F9EBE0"/>
                </a:solidFill>
              </a:endParaRPr>
            </a:p>
          </p:txBody>
        </p:sp>
      </p:grpSp>
    </p:spTree>
    <p:extLst>
      <p:ext uri="{BB962C8B-B14F-4D97-AF65-F5344CB8AC3E}">
        <p14:creationId xmlns:p14="http://schemas.microsoft.com/office/powerpoint/2010/main" val="4266216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906B8-88A7-6004-573D-F477A077D9A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BFF2BB7-20CB-7122-E801-99122C323962}"/>
              </a:ext>
            </a:extLst>
          </p:cNvPr>
          <p:cNvSpPr>
            <a:spLocks noGrp="1"/>
          </p:cNvSpPr>
          <p:nvPr>
            <p:ph type="title"/>
          </p:nvPr>
        </p:nvSpPr>
        <p:spPr/>
        <p:txBody>
          <a:bodyPr/>
          <a:lstStyle/>
          <a:p>
            <a:r>
              <a:rPr lang="en-US" dirty="0"/>
              <a:t>Machine </a:t>
            </a:r>
            <a:r>
              <a:rPr lang="en-US" altLang="zh-TW" dirty="0"/>
              <a:t>L</a:t>
            </a:r>
            <a:r>
              <a:rPr lang="en-US" dirty="0"/>
              <a:t>earning </a:t>
            </a:r>
            <a:r>
              <a:rPr lang="en-US" altLang="zh-TW" dirty="0"/>
              <a:t>P</a:t>
            </a:r>
            <a:r>
              <a:rPr lang="en-US" dirty="0"/>
              <a:t>redictive </a:t>
            </a:r>
            <a:r>
              <a:rPr lang="en-US" altLang="zh-TW" dirty="0"/>
              <a:t>M</a:t>
            </a:r>
            <a:r>
              <a:rPr lang="en-US" dirty="0"/>
              <a:t>odels</a:t>
            </a:r>
          </a:p>
        </p:txBody>
      </p:sp>
      <p:sp>
        <p:nvSpPr>
          <p:cNvPr id="6" name="Content Placeholder 5">
            <a:extLst>
              <a:ext uri="{FF2B5EF4-FFF2-40B4-BE49-F238E27FC236}">
                <a16:creationId xmlns:a16="http://schemas.microsoft.com/office/drawing/2014/main" id="{6D09F538-7264-E814-5CFA-1480F5FD2DFC}"/>
              </a:ext>
            </a:extLst>
          </p:cNvPr>
          <p:cNvSpPr>
            <a:spLocks noGrp="1"/>
          </p:cNvSpPr>
          <p:nvPr>
            <p:ph idx="1"/>
          </p:nvPr>
        </p:nvSpPr>
        <p:spPr>
          <a:xfrm>
            <a:off x="1115568" y="2371693"/>
            <a:ext cx="8466582" cy="4379975"/>
          </a:xfrm>
        </p:spPr>
        <p:txBody>
          <a:bodyPr>
            <a:normAutofit/>
          </a:bodyPr>
          <a:lstStyle/>
          <a:p>
            <a:r>
              <a:rPr lang="en-US" b="1" dirty="0"/>
              <a:t>Decision Tree:</a:t>
            </a:r>
          </a:p>
          <a:p>
            <a:pPr lvl="1"/>
            <a:r>
              <a:rPr lang="en-US" dirty="0"/>
              <a:t>A tree of decision nodes and leaves; each node tests a feature and routes the sample down a path to a leaf.</a:t>
            </a:r>
          </a:p>
          <a:p>
            <a:pPr lvl="1"/>
            <a:r>
              <a:rPr lang="en-US" dirty="0"/>
              <a:t>Leaves output class probabilities or labels.</a:t>
            </a:r>
          </a:p>
          <a:p>
            <a:pPr lvl="1"/>
            <a:r>
              <a:rPr lang="en-US" dirty="0"/>
              <a:t>Trained by recursively choosing the split with the largest information gain (entropy reduction).</a:t>
            </a:r>
          </a:p>
          <a:p>
            <a:pPr lvl="1"/>
            <a:r>
              <a:rPr lang="en-US" dirty="0"/>
              <a:t>Pros: simple, interpretable, fast inference, supports incremental growth.</a:t>
            </a:r>
          </a:p>
          <a:p>
            <a:pPr lvl="1"/>
            <a:r>
              <a:rPr lang="en-US" dirty="0"/>
              <a:t>Cons: prone to overfitting if used alone.</a:t>
            </a:r>
          </a:p>
          <a:p>
            <a:pPr lvl="1"/>
            <a:endParaRPr lang="en-US" b="1" dirty="0"/>
          </a:p>
        </p:txBody>
      </p:sp>
      <p:grpSp>
        <p:nvGrpSpPr>
          <p:cNvPr id="7" name="群組 6">
            <a:extLst>
              <a:ext uri="{FF2B5EF4-FFF2-40B4-BE49-F238E27FC236}">
                <a16:creationId xmlns:a16="http://schemas.microsoft.com/office/drawing/2014/main" id="{620E42BF-F83F-37C8-8C0C-2057DF4576C1}"/>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AA69FC96-8FED-3D84-5F2D-0C72C59A0477}"/>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05C2ADC9-A574-01BD-B1E1-CBE41E30997D}"/>
                </a:ext>
              </a:extLst>
            </p:cNvPr>
            <p:cNvSpPr txBox="1"/>
            <p:nvPr/>
          </p:nvSpPr>
          <p:spPr>
            <a:xfrm>
              <a:off x="97160" y="6498455"/>
              <a:ext cx="7143612" cy="400110"/>
            </a:xfrm>
            <a:prstGeom prst="rect">
              <a:avLst/>
            </a:prstGeom>
            <a:noFill/>
          </p:spPr>
          <p:txBody>
            <a:bodyPr wrap="square">
              <a:spAutoFit/>
            </a:bodyPr>
            <a:lstStyle/>
            <a:p>
              <a:r>
                <a:rPr lang="en-US" altLang="zh-TW" sz="2000" b="1" dirty="0">
                  <a:solidFill>
                    <a:srgbClr val="F9EBE0"/>
                  </a:solidFill>
                </a:rPr>
                <a:t>Machine Learning Predictive Models</a:t>
              </a:r>
            </a:p>
          </p:txBody>
        </p:sp>
        <p:sp>
          <p:nvSpPr>
            <p:cNvPr id="10" name="文字方塊 9">
              <a:extLst>
                <a:ext uri="{FF2B5EF4-FFF2-40B4-BE49-F238E27FC236}">
                  <a16:creationId xmlns:a16="http://schemas.microsoft.com/office/drawing/2014/main" id="{FE7B5822-C4FF-2A48-B31A-F763EB64349D}"/>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06</a:t>
              </a:r>
              <a:endParaRPr lang="zh-TW" altLang="en-US" sz="2000" b="1" dirty="0">
                <a:solidFill>
                  <a:srgbClr val="F9EBE0"/>
                </a:solidFill>
              </a:endParaRPr>
            </a:p>
          </p:txBody>
        </p:sp>
      </p:grpSp>
      <p:pic>
        <p:nvPicPr>
          <p:cNvPr id="4" name="圖片 3">
            <a:extLst>
              <a:ext uri="{FF2B5EF4-FFF2-40B4-BE49-F238E27FC236}">
                <a16:creationId xmlns:a16="http://schemas.microsoft.com/office/drawing/2014/main" id="{E58F2141-E282-C73A-7149-5E3961493203}"/>
              </a:ext>
            </a:extLst>
          </p:cNvPr>
          <p:cNvPicPr>
            <a:picLocks noChangeAspect="1"/>
          </p:cNvPicPr>
          <p:nvPr/>
        </p:nvPicPr>
        <p:blipFill>
          <a:blip r:embed="rId2"/>
          <a:stretch>
            <a:fillRect/>
          </a:stretch>
        </p:blipFill>
        <p:spPr>
          <a:xfrm>
            <a:off x="9253361" y="3581400"/>
            <a:ext cx="2901936" cy="2595317"/>
          </a:xfrm>
          <a:prstGeom prst="rect">
            <a:avLst/>
          </a:prstGeom>
        </p:spPr>
      </p:pic>
    </p:spTree>
    <p:extLst>
      <p:ext uri="{BB962C8B-B14F-4D97-AF65-F5344CB8AC3E}">
        <p14:creationId xmlns:p14="http://schemas.microsoft.com/office/powerpoint/2010/main" val="864689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70267-541A-B0A5-439E-B0455F2E2B4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9292AE4-B07E-84DB-4272-442054511DD8}"/>
              </a:ext>
            </a:extLst>
          </p:cNvPr>
          <p:cNvSpPr>
            <a:spLocks noGrp="1"/>
          </p:cNvSpPr>
          <p:nvPr>
            <p:ph type="title"/>
          </p:nvPr>
        </p:nvSpPr>
        <p:spPr/>
        <p:txBody>
          <a:bodyPr/>
          <a:lstStyle/>
          <a:p>
            <a:r>
              <a:rPr lang="en-US" dirty="0"/>
              <a:t>Machine </a:t>
            </a:r>
            <a:r>
              <a:rPr lang="en-US" altLang="zh-TW" dirty="0"/>
              <a:t>L</a:t>
            </a:r>
            <a:r>
              <a:rPr lang="en-US" dirty="0"/>
              <a:t>earning </a:t>
            </a:r>
            <a:r>
              <a:rPr lang="en-US" altLang="zh-TW" dirty="0"/>
              <a:t>P</a:t>
            </a:r>
            <a:r>
              <a:rPr lang="en-US" dirty="0"/>
              <a:t>redictive </a:t>
            </a:r>
            <a:r>
              <a:rPr lang="en-US" altLang="zh-TW" dirty="0"/>
              <a:t>M</a:t>
            </a:r>
            <a:r>
              <a:rPr lang="en-US" dirty="0"/>
              <a:t>odels</a:t>
            </a:r>
          </a:p>
        </p:txBody>
      </p:sp>
      <p:sp>
        <p:nvSpPr>
          <p:cNvPr id="6" name="Content Placeholder 5">
            <a:extLst>
              <a:ext uri="{FF2B5EF4-FFF2-40B4-BE49-F238E27FC236}">
                <a16:creationId xmlns:a16="http://schemas.microsoft.com/office/drawing/2014/main" id="{888C71A8-B04D-2A9F-B1CA-A75D1DA97F48}"/>
              </a:ext>
            </a:extLst>
          </p:cNvPr>
          <p:cNvSpPr>
            <a:spLocks noGrp="1"/>
          </p:cNvSpPr>
          <p:nvPr>
            <p:ph idx="1"/>
          </p:nvPr>
        </p:nvSpPr>
        <p:spPr>
          <a:xfrm>
            <a:off x="1115568" y="2371693"/>
            <a:ext cx="8371332" cy="4379975"/>
          </a:xfrm>
        </p:spPr>
        <p:txBody>
          <a:bodyPr>
            <a:normAutofit/>
          </a:bodyPr>
          <a:lstStyle/>
          <a:p>
            <a:r>
              <a:rPr lang="en-US" b="1" dirty="0"/>
              <a:t>Random Forest:</a:t>
            </a:r>
          </a:p>
          <a:p>
            <a:pPr lvl="1"/>
            <a:r>
              <a:rPr lang="en-US" dirty="0"/>
              <a:t>An ensemble of many decision trees trained with bootstrap samples (bagging).</a:t>
            </a:r>
          </a:p>
          <a:p>
            <a:pPr lvl="1"/>
            <a:r>
              <a:rPr lang="en-US" dirty="0"/>
              <a:t>At each split, consider only a random subset of features; final prediction by majority vote.</a:t>
            </a:r>
          </a:p>
          <a:p>
            <a:pPr lvl="1"/>
            <a:r>
              <a:rPr lang="en-US" dirty="0"/>
              <a:t>Pros: reduces overfitting, robust to noise/outliers, typically higher accuracy than a single tree.</a:t>
            </a:r>
          </a:p>
          <a:p>
            <a:pPr lvl="1"/>
            <a:r>
              <a:rPr lang="en-US" dirty="0"/>
              <a:t>Cons: slower to train/infer than a single tree; less transparent than one tree.</a:t>
            </a:r>
          </a:p>
        </p:txBody>
      </p:sp>
      <p:grpSp>
        <p:nvGrpSpPr>
          <p:cNvPr id="7" name="群組 6">
            <a:extLst>
              <a:ext uri="{FF2B5EF4-FFF2-40B4-BE49-F238E27FC236}">
                <a16:creationId xmlns:a16="http://schemas.microsoft.com/office/drawing/2014/main" id="{CE188F86-DA79-7EC4-BE66-BF4980783C07}"/>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688F279A-F2E0-3EA3-5876-6A15DA406A69}"/>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EAA6E141-A798-4BBF-7EF1-D1EBE96A82AC}"/>
                </a:ext>
              </a:extLst>
            </p:cNvPr>
            <p:cNvSpPr txBox="1"/>
            <p:nvPr/>
          </p:nvSpPr>
          <p:spPr>
            <a:xfrm>
              <a:off x="97160" y="6498455"/>
              <a:ext cx="7143612" cy="400110"/>
            </a:xfrm>
            <a:prstGeom prst="rect">
              <a:avLst/>
            </a:prstGeom>
            <a:noFill/>
          </p:spPr>
          <p:txBody>
            <a:bodyPr wrap="square">
              <a:spAutoFit/>
            </a:bodyPr>
            <a:lstStyle/>
            <a:p>
              <a:r>
                <a:rPr lang="en-US" altLang="zh-TW" sz="2000" b="1" dirty="0">
                  <a:solidFill>
                    <a:srgbClr val="F9EBE0"/>
                  </a:solidFill>
                </a:rPr>
                <a:t>Machine Learning Predictive Models</a:t>
              </a:r>
            </a:p>
          </p:txBody>
        </p:sp>
        <p:sp>
          <p:nvSpPr>
            <p:cNvPr id="10" name="文字方塊 9">
              <a:extLst>
                <a:ext uri="{FF2B5EF4-FFF2-40B4-BE49-F238E27FC236}">
                  <a16:creationId xmlns:a16="http://schemas.microsoft.com/office/drawing/2014/main" id="{F67A2E8A-07B1-2A64-0D4A-5B893F4B8CD5}"/>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07</a:t>
              </a:r>
              <a:endParaRPr lang="zh-TW" altLang="en-US" sz="2000" b="1" dirty="0">
                <a:solidFill>
                  <a:srgbClr val="F9EBE0"/>
                </a:solidFill>
              </a:endParaRPr>
            </a:p>
          </p:txBody>
        </p:sp>
      </p:grpSp>
      <p:pic>
        <p:nvPicPr>
          <p:cNvPr id="11" name="圖片 10">
            <a:extLst>
              <a:ext uri="{FF2B5EF4-FFF2-40B4-BE49-F238E27FC236}">
                <a16:creationId xmlns:a16="http://schemas.microsoft.com/office/drawing/2014/main" id="{6FEC1B8A-3892-F462-B2C6-8AECA4B31946}"/>
              </a:ext>
            </a:extLst>
          </p:cNvPr>
          <p:cNvPicPr>
            <a:picLocks noChangeAspect="1"/>
          </p:cNvPicPr>
          <p:nvPr/>
        </p:nvPicPr>
        <p:blipFill>
          <a:blip r:embed="rId2"/>
          <a:stretch>
            <a:fillRect/>
          </a:stretch>
        </p:blipFill>
        <p:spPr>
          <a:xfrm>
            <a:off x="8985358" y="3514725"/>
            <a:ext cx="3181135" cy="2661991"/>
          </a:xfrm>
          <a:prstGeom prst="rect">
            <a:avLst/>
          </a:prstGeom>
        </p:spPr>
      </p:pic>
    </p:spTree>
    <p:extLst>
      <p:ext uri="{BB962C8B-B14F-4D97-AF65-F5344CB8AC3E}">
        <p14:creationId xmlns:p14="http://schemas.microsoft.com/office/powerpoint/2010/main" val="2613591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ABEE4-65AC-782B-A169-C63A40D4042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5948523-F136-8B57-23D7-9379237B3E16}"/>
              </a:ext>
            </a:extLst>
          </p:cNvPr>
          <p:cNvSpPr>
            <a:spLocks noGrp="1"/>
          </p:cNvSpPr>
          <p:nvPr>
            <p:ph type="title"/>
          </p:nvPr>
        </p:nvSpPr>
        <p:spPr/>
        <p:txBody>
          <a:bodyPr/>
          <a:lstStyle/>
          <a:p>
            <a:r>
              <a:rPr lang="en-US" dirty="0"/>
              <a:t>Machine </a:t>
            </a:r>
            <a:r>
              <a:rPr lang="en-US" altLang="zh-TW" dirty="0"/>
              <a:t>L</a:t>
            </a:r>
            <a:r>
              <a:rPr lang="en-US" dirty="0"/>
              <a:t>earning </a:t>
            </a:r>
            <a:r>
              <a:rPr lang="en-US" altLang="zh-TW" dirty="0"/>
              <a:t>P</a:t>
            </a:r>
            <a:r>
              <a:rPr lang="en-US" dirty="0"/>
              <a:t>redictive </a:t>
            </a:r>
            <a:r>
              <a:rPr lang="en-US" altLang="zh-TW" dirty="0"/>
              <a:t>M</a:t>
            </a:r>
            <a:r>
              <a:rPr lang="en-US" dirty="0"/>
              <a:t>odels</a:t>
            </a:r>
          </a:p>
        </p:txBody>
      </p:sp>
      <p:sp>
        <p:nvSpPr>
          <p:cNvPr id="6" name="Content Placeholder 5">
            <a:extLst>
              <a:ext uri="{FF2B5EF4-FFF2-40B4-BE49-F238E27FC236}">
                <a16:creationId xmlns:a16="http://schemas.microsoft.com/office/drawing/2014/main" id="{479A9C71-CB6D-FE1F-0D4C-DF122F8729EA}"/>
              </a:ext>
            </a:extLst>
          </p:cNvPr>
          <p:cNvSpPr>
            <a:spLocks noGrp="1"/>
          </p:cNvSpPr>
          <p:nvPr>
            <p:ph idx="1"/>
          </p:nvPr>
        </p:nvSpPr>
        <p:spPr>
          <a:xfrm>
            <a:off x="1115568" y="2371693"/>
            <a:ext cx="8466582" cy="4379975"/>
          </a:xfrm>
        </p:spPr>
        <p:txBody>
          <a:bodyPr>
            <a:normAutofit lnSpcReduction="10000"/>
          </a:bodyPr>
          <a:lstStyle/>
          <a:p>
            <a:r>
              <a:rPr lang="en-US" b="1" dirty="0"/>
              <a:t>Support Vector Machines (SVM):</a:t>
            </a:r>
          </a:p>
          <a:p>
            <a:pPr lvl="1"/>
            <a:r>
              <a:rPr lang="en-US" dirty="0"/>
              <a:t>Finds a hyperplane that maximizes the margin between classes in (possibly very) high-dimensional space.</a:t>
            </a:r>
          </a:p>
          <a:p>
            <a:pPr lvl="1"/>
            <a:r>
              <a:rPr lang="en-US" dirty="0"/>
              <a:t>Uses kernels for nonlinear separability; soft margins improve generalization.</a:t>
            </a:r>
          </a:p>
          <a:p>
            <a:pPr lvl="1"/>
            <a:r>
              <a:rPr lang="en-US" dirty="0"/>
              <a:t>Pros: strong regularization, works well with high-dimension/low-sample data.</a:t>
            </a:r>
          </a:p>
          <a:p>
            <a:pPr lvl="1"/>
            <a:r>
              <a:rPr lang="en-US" dirty="0"/>
              <a:t>Cons: computationally heavy at scale; kernel/parameter tuning can be difficult.</a:t>
            </a:r>
            <a:endParaRPr lang="en-US" b="1" dirty="0"/>
          </a:p>
        </p:txBody>
      </p:sp>
      <p:grpSp>
        <p:nvGrpSpPr>
          <p:cNvPr id="7" name="群組 6">
            <a:extLst>
              <a:ext uri="{FF2B5EF4-FFF2-40B4-BE49-F238E27FC236}">
                <a16:creationId xmlns:a16="http://schemas.microsoft.com/office/drawing/2014/main" id="{8FAE802C-F9E6-261F-1A32-741C4A30E478}"/>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F767E27D-D0E3-C3B2-FDF0-055912078305}"/>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0E8AF1BF-80FE-08D2-081C-561714B39E78}"/>
                </a:ext>
              </a:extLst>
            </p:cNvPr>
            <p:cNvSpPr txBox="1"/>
            <p:nvPr/>
          </p:nvSpPr>
          <p:spPr>
            <a:xfrm>
              <a:off x="97160" y="6498455"/>
              <a:ext cx="7143612" cy="400110"/>
            </a:xfrm>
            <a:prstGeom prst="rect">
              <a:avLst/>
            </a:prstGeom>
            <a:noFill/>
          </p:spPr>
          <p:txBody>
            <a:bodyPr wrap="square">
              <a:spAutoFit/>
            </a:bodyPr>
            <a:lstStyle/>
            <a:p>
              <a:r>
                <a:rPr lang="en-US" altLang="zh-TW" sz="2000" b="1" dirty="0">
                  <a:solidFill>
                    <a:srgbClr val="F9EBE0"/>
                  </a:solidFill>
                </a:rPr>
                <a:t>Machine Learning Predictive Models</a:t>
              </a:r>
            </a:p>
          </p:txBody>
        </p:sp>
        <p:sp>
          <p:nvSpPr>
            <p:cNvPr id="10" name="文字方塊 9">
              <a:extLst>
                <a:ext uri="{FF2B5EF4-FFF2-40B4-BE49-F238E27FC236}">
                  <a16:creationId xmlns:a16="http://schemas.microsoft.com/office/drawing/2014/main" id="{830A5B7D-3C6A-DB86-9B72-8224DCC66067}"/>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08</a:t>
              </a:r>
              <a:endParaRPr lang="zh-TW" altLang="en-US" sz="2000" b="1" dirty="0">
                <a:solidFill>
                  <a:srgbClr val="F9EBE0"/>
                </a:solidFill>
              </a:endParaRPr>
            </a:p>
          </p:txBody>
        </p:sp>
      </p:grpSp>
      <p:pic>
        <p:nvPicPr>
          <p:cNvPr id="12" name="圖片 11">
            <a:extLst>
              <a:ext uri="{FF2B5EF4-FFF2-40B4-BE49-F238E27FC236}">
                <a16:creationId xmlns:a16="http://schemas.microsoft.com/office/drawing/2014/main" id="{540A4677-A576-4DEC-5354-01BBE4F98A20}"/>
              </a:ext>
            </a:extLst>
          </p:cNvPr>
          <p:cNvPicPr>
            <a:picLocks noChangeAspect="1"/>
          </p:cNvPicPr>
          <p:nvPr/>
        </p:nvPicPr>
        <p:blipFill>
          <a:blip r:embed="rId2"/>
          <a:srcRect l="12880"/>
          <a:stretch>
            <a:fillRect/>
          </a:stretch>
        </p:blipFill>
        <p:spPr>
          <a:xfrm>
            <a:off x="9228848" y="3429000"/>
            <a:ext cx="2743502" cy="2788284"/>
          </a:xfrm>
          <a:prstGeom prst="rect">
            <a:avLst/>
          </a:prstGeom>
        </p:spPr>
      </p:pic>
    </p:spTree>
    <p:extLst>
      <p:ext uri="{BB962C8B-B14F-4D97-AF65-F5344CB8AC3E}">
        <p14:creationId xmlns:p14="http://schemas.microsoft.com/office/powerpoint/2010/main" val="3414058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98780-FD1E-E4AB-C4BF-E4818227BB9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825E261-81AF-8082-7FA1-38A7E551D834}"/>
              </a:ext>
            </a:extLst>
          </p:cNvPr>
          <p:cNvSpPr>
            <a:spLocks noGrp="1"/>
          </p:cNvSpPr>
          <p:nvPr>
            <p:ph type="title"/>
          </p:nvPr>
        </p:nvSpPr>
        <p:spPr/>
        <p:txBody>
          <a:bodyPr/>
          <a:lstStyle/>
          <a:p>
            <a:r>
              <a:rPr lang="en-US" dirty="0"/>
              <a:t>Machine </a:t>
            </a:r>
            <a:r>
              <a:rPr lang="en-US" altLang="zh-TW" dirty="0"/>
              <a:t>L</a:t>
            </a:r>
            <a:r>
              <a:rPr lang="en-US" dirty="0"/>
              <a:t>earning </a:t>
            </a:r>
            <a:r>
              <a:rPr lang="en-US" altLang="zh-TW" dirty="0"/>
              <a:t>P</a:t>
            </a:r>
            <a:r>
              <a:rPr lang="en-US" dirty="0"/>
              <a:t>redictive </a:t>
            </a:r>
            <a:r>
              <a:rPr lang="en-US" altLang="zh-TW" dirty="0"/>
              <a:t>M</a:t>
            </a:r>
            <a:r>
              <a:rPr lang="en-US" dirty="0"/>
              <a:t>odels</a:t>
            </a:r>
          </a:p>
        </p:txBody>
      </p:sp>
      <p:sp>
        <p:nvSpPr>
          <p:cNvPr id="6" name="Content Placeholder 5">
            <a:extLst>
              <a:ext uri="{FF2B5EF4-FFF2-40B4-BE49-F238E27FC236}">
                <a16:creationId xmlns:a16="http://schemas.microsoft.com/office/drawing/2014/main" id="{F5417803-7A5C-5B20-BEA0-09649B13839D}"/>
              </a:ext>
            </a:extLst>
          </p:cNvPr>
          <p:cNvSpPr>
            <a:spLocks noGrp="1"/>
          </p:cNvSpPr>
          <p:nvPr>
            <p:ph idx="1"/>
          </p:nvPr>
        </p:nvSpPr>
        <p:spPr>
          <a:xfrm>
            <a:off x="1115568" y="2371693"/>
            <a:ext cx="6790182" cy="4379975"/>
          </a:xfrm>
        </p:spPr>
        <p:txBody>
          <a:bodyPr>
            <a:normAutofit fontScale="92500"/>
          </a:bodyPr>
          <a:lstStyle/>
          <a:p>
            <a:r>
              <a:rPr lang="en-US" b="1" dirty="0"/>
              <a:t>Neural Networks:</a:t>
            </a:r>
          </a:p>
          <a:p>
            <a:pPr lvl="1"/>
            <a:r>
              <a:rPr lang="en-US" dirty="0"/>
              <a:t>Feedforward layers (input–hidden–output) with weighted connections and nonlinear activations.</a:t>
            </a:r>
          </a:p>
          <a:p>
            <a:pPr lvl="1"/>
            <a:r>
              <a:rPr lang="en-US" dirty="0"/>
              <a:t>Trained by backpropagation and gradient-based optimization to minimize loss.</a:t>
            </a:r>
          </a:p>
          <a:p>
            <a:pPr lvl="1"/>
            <a:r>
              <a:rPr lang="en-US" dirty="0"/>
              <a:t>Pros: captures highly complex, nonlinear relationships.</a:t>
            </a:r>
          </a:p>
          <a:p>
            <a:pPr lvl="1"/>
            <a:r>
              <a:rPr lang="en-US" dirty="0"/>
              <a:t>Cons: data- and compute-hungry; architecture and hyperparameter design are challenging.</a:t>
            </a:r>
          </a:p>
          <a:p>
            <a:pPr lvl="1"/>
            <a:endParaRPr lang="en-US" b="1" dirty="0"/>
          </a:p>
        </p:txBody>
      </p:sp>
      <p:grpSp>
        <p:nvGrpSpPr>
          <p:cNvPr id="7" name="群組 6">
            <a:extLst>
              <a:ext uri="{FF2B5EF4-FFF2-40B4-BE49-F238E27FC236}">
                <a16:creationId xmlns:a16="http://schemas.microsoft.com/office/drawing/2014/main" id="{2215E1AE-D35D-FBDC-B93E-93240871FEFD}"/>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A440B584-8849-2F63-77CB-F83C9AE01956}"/>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06FDC70C-4E7C-4DBD-DB84-B2E8F6E6344B}"/>
                </a:ext>
              </a:extLst>
            </p:cNvPr>
            <p:cNvSpPr txBox="1"/>
            <p:nvPr/>
          </p:nvSpPr>
          <p:spPr>
            <a:xfrm>
              <a:off x="97160" y="6498455"/>
              <a:ext cx="7143612" cy="400110"/>
            </a:xfrm>
            <a:prstGeom prst="rect">
              <a:avLst/>
            </a:prstGeom>
            <a:noFill/>
          </p:spPr>
          <p:txBody>
            <a:bodyPr wrap="square">
              <a:spAutoFit/>
            </a:bodyPr>
            <a:lstStyle/>
            <a:p>
              <a:r>
                <a:rPr lang="en-US" altLang="zh-TW" sz="2000" b="1" dirty="0">
                  <a:solidFill>
                    <a:srgbClr val="F9EBE0"/>
                  </a:solidFill>
                </a:rPr>
                <a:t>Machine Learning Predictive Models</a:t>
              </a:r>
            </a:p>
          </p:txBody>
        </p:sp>
        <p:sp>
          <p:nvSpPr>
            <p:cNvPr id="10" name="文字方塊 9">
              <a:extLst>
                <a:ext uri="{FF2B5EF4-FFF2-40B4-BE49-F238E27FC236}">
                  <a16:creationId xmlns:a16="http://schemas.microsoft.com/office/drawing/2014/main" id="{455870AF-73B8-811B-2543-5F9F51D893C7}"/>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09</a:t>
              </a:r>
              <a:endParaRPr lang="zh-TW" altLang="en-US" sz="2000" b="1" dirty="0">
                <a:solidFill>
                  <a:srgbClr val="F9EBE0"/>
                </a:solidFill>
              </a:endParaRPr>
            </a:p>
          </p:txBody>
        </p:sp>
      </p:grpSp>
      <p:pic>
        <p:nvPicPr>
          <p:cNvPr id="11" name="圖片 10">
            <a:extLst>
              <a:ext uri="{FF2B5EF4-FFF2-40B4-BE49-F238E27FC236}">
                <a16:creationId xmlns:a16="http://schemas.microsoft.com/office/drawing/2014/main" id="{12FB3F4C-BAFF-CF9A-70FE-ABD5314A0DFE}"/>
              </a:ext>
            </a:extLst>
          </p:cNvPr>
          <p:cNvPicPr>
            <a:picLocks noChangeAspect="1"/>
          </p:cNvPicPr>
          <p:nvPr/>
        </p:nvPicPr>
        <p:blipFill>
          <a:blip r:embed="rId2"/>
          <a:stretch>
            <a:fillRect/>
          </a:stretch>
        </p:blipFill>
        <p:spPr>
          <a:xfrm>
            <a:off x="8143695" y="3282430"/>
            <a:ext cx="3295830" cy="3002867"/>
          </a:xfrm>
          <a:prstGeom prst="rect">
            <a:avLst/>
          </a:prstGeom>
        </p:spPr>
      </p:pic>
    </p:spTree>
    <p:extLst>
      <p:ext uri="{BB962C8B-B14F-4D97-AF65-F5344CB8AC3E}">
        <p14:creationId xmlns:p14="http://schemas.microsoft.com/office/powerpoint/2010/main" val="1751456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3BBCE-6746-671C-3C2D-30989188C086}"/>
            </a:ext>
          </a:extLst>
        </p:cNvPr>
        <p:cNvGrpSpPr/>
        <p:nvPr/>
      </p:nvGrpSpPr>
      <p:grpSpPr>
        <a:xfrm>
          <a:off x="0" y="0"/>
          <a:ext cx="0" cy="0"/>
          <a:chOff x="0" y="0"/>
          <a:chExt cx="0" cy="0"/>
        </a:xfrm>
      </p:grpSpPr>
      <p:sp>
        <p:nvSpPr>
          <p:cNvPr id="2" name="流程圖: 資料 1">
            <a:extLst>
              <a:ext uri="{FF2B5EF4-FFF2-40B4-BE49-F238E27FC236}">
                <a16:creationId xmlns:a16="http://schemas.microsoft.com/office/drawing/2014/main" id="{8FC8D5DD-686E-8422-9118-65F99AF2ECBC}"/>
              </a:ext>
            </a:extLst>
          </p:cNvPr>
          <p:cNvSpPr/>
          <p:nvPr/>
        </p:nvSpPr>
        <p:spPr>
          <a:xfrm flipV="1">
            <a:off x="1394979" y="1854777"/>
            <a:ext cx="9402042" cy="3148446"/>
          </a:xfrm>
          <a:prstGeom prst="flowChartInputOutput">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CD840A8F-B43C-90BD-C3AB-12C62B24C6D2}"/>
              </a:ext>
            </a:extLst>
          </p:cNvPr>
          <p:cNvSpPr/>
          <p:nvPr/>
        </p:nvSpPr>
        <p:spPr>
          <a:xfrm>
            <a:off x="2344881" y="1252104"/>
            <a:ext cx="7502237" cy="4353791"/>
          </a:xfrm>
          <a:prstGeom prst="rect">
            <a:avLst/>
          </a:prstGeom>
          <a:solidFill>
            <a:schemeClr val="bg1"/>
          </a:solidFill>
          <a:ln w="28575">
            <a:solidFill>
              <a:srgbClr val="463F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073B0EB1-A2F8-3037-BDA7-C8CB2906AB08}"/>
              </a:ext>
            </a:extLst>
          </p:cNvPr>
          <p:cNvSpPr txBox="1"/>
          <p:nvPr/>
        </p:nvSpPr>
        <p:spPr>
          <a:xfrm>
            <a:off x="3710613" y="3428999"/>
            <a:ext cx="4770769" cy="1754326"/>
          </a:xfrm>
          <a:prstGeom prst="rect">
            <a:avLst/>
          </a:prstGeom>
          <a:noFill/>
        </p:spPr>
        <p:txBody>
          <a:bodyPr wrap="square" lIns="91440" tIns="45720" rIns="91440" bIns="45720" anchor="t">
            <a:spAutoFit/>
          </a:bodyPr>
          <a:lstStyle/>
          <a:p>
            <a:pPr algn="ctr"/>
            <a:r>
              <a:rPr lang="en-US" altLang="zh-TW" sz="5400" b="1"/>
              <a:t>Methodology and data</a:t>
            </a:r>
            <a:endParaRPr lang="zh-TW" altLang="en-US" sz="5400" b="1"/>
          </a:p>
        </p:txBody>
      </p:sp>
      <p:pic>
        <p:nvPicPr>
          <p:cNvPr id="15" name="圖形 14" descr="徽章 3 以實心填滿">
            <a:extLst>
              <a:ext uri="{FF2B5EF4-FFF2-40B4-BE49-F238E27FC236}">
                <a16:creationId xmlns:a16="http://schemas.microsoft.com/office/drawing/2014/main" id="{DCC437B3-0582-4698-329E-776582FB85ED}"/>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601118" y="2178095"/>
            <a:ext cx="989760" cy="989760"/>
          </a:xfrm>
          <a:prstGeom prst="rect">
            <a:avLst/>
          </a:prstGeom>
        </p:spPr>
      </p:pic>
    </p:spTree>
    <p:extLst>
      <p:ext uri="{BB962C8B-B14F-4D97-AF65-F5344CB8AC3E}">
        <p14:creationId xmlns:p14="http://schemas.microsoft.com/office/powerpoint/2010/main" val="2509633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BE2DAF8-9BE6-2F2D-0ED0-7F16B94DC7D1}"/>
              </a:ext>
            </a:extLst>
          </p:cNvPr>
          <p:cNvSpPr>
            <a:spLocks noGrp="1"/>
          </p:cNvSpPr>
          <p:nvPr>
            <p:ph type="title"/>
          </p:nvPr>
        </p:nvSpPr>
        <p:spPr/>
        <p:txBody>
          <a:bodyPr/>
          <a:lstStyle/>
          <a:p>
            <a:r>
              <a:rPr lang="en-US" altLang="zh-TW" dirty="0"/>
              <a:t>Study Area (Context)</a:t>
            </a:r>
          </a:p>
        </p:txBody>
      </p:sp>
      <p:sp>
        <p:nvSpPr>
          <p:cNvPr id="6" name="Content Placeholder 5">
            <a:extLst>
              <a:ext uri="{FF2B5EF4-FFF2-40B4-BE49-F238E27FC236}">
                <a16:creationId xmlns:a16="http://schemas.microsoft.com/office/drawing/2014/main" id="{227E807A-AE64-81BE-51F4-CF25823EAC38}"/>
              </a:ext>
            </a:extLst>
          </p:cNvPr>
          <p:cNvSpPr>
            <a:spLocks noGrp="1"/>
          </p:cNvSpPr>
          <p:nvPr>
            <p:ph idx="1"/>
          </p:nvPr>
        </p:nvSpPr>
        <p:spPr>
          <a:xfrm>
            <a:off x="428612" y="2615184"/>
            <a:ext cx="5910711" cy="3694176"/>
          </a:xfrm>
        </p:spPr>
        <p:txBody>
          <a:bodyPr>
            <a:normAutofit/>
          </a:bodyPr>
          <a:lstStyle/>
          <a:p>
            <a:pPr>
              <a:defRPr sz="2200"/>
            </a:pPr>
            <a:r>
              <a:rPr lang="en-US" altLang="zh-TW" dirty="0"/>
              <a:t>Case: </a:t>
            </a:r>
            <a:r>
              <a:rPr lang="en-US" altLang="zh-TW" dirty="0" err="1"/>
              <a:t>Transantiago</a:t>
            </a:r>
            <a:r>
              <a:rPr lang="en-US" altLang="zh-TW" dirty="0"/>
              <a:t> (Santiago, Chile)</a:t>
            </a:r>
          </a:p>
          <a:p>
            <a:pPr>
              <a:defRPr sz="2200"/>
            </a:pPr>
            <a:r>
              <a:rPr lang="en-US" altLang="zh-TW" dirty="0"/>
              <a:t>Focus: Operator U6 (NE area)</a:t>
            </a:r>
          </a:p>
          <a:p>
            <a:pPr>
              <a:defRPr sz="2200" b="1">
                <a:solidFill>
                  <a:srgbClr val="E67E22"/>
                </a:solidFill>
              </a:defRPr>
            </a:pPr>
            <a:r>
              <a:rPr lang="en-US" altLang="zh-TW" dirty="0"/>
              <a:t>102 routes | 1,478 stops | ~160k weekday trips</a:t>
            </a:r>
          </a:p>
          <a:p>
            <a:pPr>
              <a:defRPr sz="2200" b="1">
                <a:solidFill>
                  <a:srgbClr val="E67E22"/>
                </a:solidFill>
              </a:defRPr>
            </a:pPr>
            <a:r>
              <a:rPr lang="en-US" altLang="zh-TW" dirty="0"/>
              <a:t>Data: Mar–Jun 2018, 4,850 records</a:t>
            </a:r>
          </a:p>
          <a:p>
            <a:pPr>
              <a:defRPr sz="2200"/>
            </a:pPr>
            <a:r>
              <a:rPr lang="en-US" altLang="zh-TW" dirty="0"/>
              <a:t>Coverage: 90% stops | 97% routes</a:t>
            </a:r>
          </a:p>
          <a:p>
            <a:pPr marL="0" indent="0">
              <a:buNone/>
            </a:pPr>
            <a:endParaRPr lang="en-US" dirty="0"/>
          </a:p>
        </p:txBody>
      </p:sp>
      <p:grpSp>
        <p:nvGrpSpPr>
          <p:cNvPr id="7" name="群組 6">
            <a:extLst>
              <a:ext uri="{FF2B5EF4-FFF2-40B4-BE49-F238E27FC236}">
                <a16:creationId xmlns:a16="http://schemas.microsoft.com/office/drawing/2014/main" id="{63C2DAB5-7181-3A87-B63E-CB23E2ACAC05}"/>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14DDF61D-0E4F-98EC-C69F-F327B083C120}"/>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C650F73C-E935-4ED5-9210-16F8E26CD9A4}"/>
                </a:ext>
              </a:extLst>
            </p:cNvPr>
            <p:cNvSpPr txBox="1"/>
            <p:nvPr/>
          </p:nvSpPr>
          <p:spPr>
            <a:xfrm>
              <a:off x="97160" y="6498455"/>
              <a:ext cx="3475380" cy="400110"/>
            </a:xfrm>
            <a:prstGeom prst="rect">
              <a:avLst/>
            </a:prstGeom>
            <a:noFill/>
          </p:spPr>
          <p:txBody>
            <a:bodyPr wrap="square">
              <a:spAutoFit/>
            </a:bodyPr>
            <a:lstStyle/>
            <a:p>
              <a:r>
                <a:rPr lang="en-US" altLang="zh-TW" sz="2000" b="1" dirty="0">
                  <a:solidFill>
                    <a:srgbClr val="F9EBE0"/>
                  </a:solidFill>
                </a:rPr>
                <a:t>Methodology and data</a:t>
              </a:r>
            </a:p>
          </p:txBody>
        </p:sp>
        <p:sp>
          <p:nvSpPr>
            <p:cNvPr id="10" name="文字方塊 9">
              <a:extLst>
                <a:ext uri="{FF2B5EF4-FFF2-40B4-BE49-F238E27FC236}">
                  <a16:creationId xmlns:a16="http://schemas.microsoft.com/office/drawing/2014/main" id="{7E21C3FC-8306-E21B-266F-CB8DD139DA47}"/>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10</a:t>
              </a:r>
              <a:endParaRPr lang="zh-TW" altLang="en-US" sz="2000" b="1" dirty="0">
                <a:solidFill>
                  <a:srgbClr val="F9EBE0"/>
                </a:solidFill>
              </a:endParaRPr>
            </a:p>
          </p:txBody>
        </p:sp>
      </p:grpSp>
      <p:pic>
        <p:nvPicPr>
          <p:cNvPr id="3" name="圖片 2">
            <a:extLst>
              <a:ext uri="{FF2B5EF4-FFF2-40B4-BE49-F238E27FC236}">
                <a16:creationId xmlns:a16="http://schemas.microsoft.com/office/drawing/2014/main" id="{BC615693-94CD-24DA-3BE2-8696F7291A5B}"/>
              </a:ext>
            </a:extLst>
          </p:cNvPr>
          <p:cNvPicPr>
            <a:picLocks noChangeAspect="1"/>
          </p:cNvPicPr>
          <p:nvPr/>
        </p:nvPicPr>
        <p:blipFill>
          <a:blip r:embed="rId3"/>
          <a:stretch>
            <a:fillRect/>
          </a:stretch>
        </p:blipFill>
        <p:spPr>
          <a:xfrm>
            <a:off x="6199632" y="2615184"/>
            <a:ext cx="5194310" cy="2907795"/>
          </a:xfrm>
          <a:prstGeom prst="rect">
            <a:avLst/>
          </a:prstGeom>
        </p:spPr>
      </p:pic>
    </p:spTree>
    <p:extLst>
      <p:ext uri="{BB962C8B-B14F-4D97-AF65-F5344CB8AC3E}">
        <p14:creationId xmlns:p14="http://schemas.microsoft.com/office/powerpoint/2010/main" val="1536229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7FDCA-EE1B-E911-9D41-CC85E8112F0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2195499-3E9F-7DBF-0762-804E8F6D05CE}"/>
              </a:ext>
            </a:extLst>
          </p:cNvPr>
          <p:cNvSpPr>
            <a:spLocks noGrp="1"/>
          </p:cNvSpPr>
          <p:nvPr>
            <p:ph type="title"/>
          </p:nvPr>
        </p:nvSpPr>
        <p:spPr>
          <a:xfrm>
            <a:off x="781918" y="545533"/>
            <a:ext cx="10835427" cy="1179576"/>
          </a:xfrm>
        </p:spPr>
        <p:txBody>
          <a:bodyPr>
            <a:normAutofit/>
          </a:bodyPr>
          <a:lstStyle/>
          <a:p>
            <a:r>
              <a:rPr lang="en-US" altLang="zh-TW" dirty="0"/>
              <a:t>Data Pipeline</a:t>
            </a:r>
          </a:p>
        </p:txBody>
      </p:sp>
      <p:grpSp>
        <p:nvGrpSpPr>
          <p:cNvPr id="7" name="群組 6">
            <a:extLst>
              <a:ext uri="{FF2B5EF4-FFF2-40B4-BE49-F238E27FC236}">
                <a16:creationId xmlns:a16="http://schemas.microsoft.com/office/drawing/2014/main" id="{5AE0EA71-3019-AE8B-A0EC-5DFE0B72B8ED}"/>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DAD1EF47-4E7D-50D0-BA24-75BDE44BEABB}"/>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FC6F15E7-546C-4D4A-A862-4472D49DA4FE}"/>
                </a:ext>
              </a:extLst>
            </p:cNvPr>
            <p:cNvSpPr txBox="1"/>
            <p:nvPr/>
          </p:nvSpPr>
          <p:spPr>
            <a:xfrm>
              <a:off x="97160" y="6498455"/>
              <a:ext cx="3475380" cy="400110"/>
            </a:xfrm>
            <a:prstGeom prst="rect">
              <a:avLst/>
            </a:prstGeom>
            <a:noFill/>
          </p:spPr>
          <p:txBody>
            <a:bodyPr wrap="square">
              <a:spAutoFit/>
            </a:bodyPr>
            <a:lstStyle/>
            <a:p>
              <a:r>
                <a:rPr lang="en-US" altLang="zh-TW" sz="2000" b="1" dirty="0">
                  <a:solidFill>
                    <a:srgbClr val="F9EBE0"/>
                  </a:solidFill>
                </a:rPr>
                <a:t>Methodology and data</a:t>
              </a:r>
            </a:p>
          </p:txBody>
        </p:sp>
        <p:sp>
          <p:nvSpPr>
            <p:cNvPr id="10" name="文字方塊 9">
              <a:extLst>
                <a:ext uri="{FF2B5EF4-FFF2-40B4-BE49-F238E27FC236}">
                  <a16:creationId xmlns:a16="http://schemas.microsoft.com/office/drawing/2014/main" id="{72A7D573-B16F-C781-BEF3-5488153949B2}"/>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11</a:t>
              </a:r>
              <a:endParaRPr lang="zh-TW" altLang="en-US" sz="2000" b="1" dirty="0">
                <a:solidFill>
                  <a:srgbClr val="F9EBE0"/>
                </a:solidFill>
              </a:endParaRPr>
            </a:p>
          </p:txBody>
        </p:sp>
      </p:grpSp>
      <p:sp>
        <p:nvSpPr>
          <p:cNvPr id="16" name="Rectangle 6">
            <a:extLst>
              <a:ext uri="{FF2B5EF4-FFF2-40B4-BE49-F238E27FC236}">
                <a16:creationId xmlns:a16="http://schemas.microsoft.com/office/drawing/2014/main" id="{F78FC1DF-38CF-FD98-B3BF-1FE13FB18103}"/>
              </a:ext>
            </a:extLst>
          </p:cNvPr>
          <p:cNvSpPr>
            <a:spLocks noGrp="1" noChangeArrowheads="1"/>
          </p:cNvSpPr>
          <p:nvPr>
            <p:ph idx="1"/>
          </p:nvPr>
        </p:nvSpPr>
        <p:spPr bwMode="auto">
          <a:xfrm>
            <a:off x="434837" y="2183609"/>
            <a:ext cx="5661163" cy="4306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defRPr sz="2200"/>
            </a:pPr>
            <a:r>
              <a:rPr lang="en-US" altLang="zh-TW" dirty="0"/>
              <a:t>Mobile App: Score (1–7), stop/bus eval, timestamp</a:t>
            </a:r>
          </a:p>
          <a:p>
            <a:pPr>
              <a:defRPr sz="2200"/>
            </a:pPr>
            <a:r>
              <a:rPr lang="en-US" altLang="zh-TW" dirty="0"/>
              <a:t>Network + Buses: stop attributes, vehicle age/cond.</a:t>
            </a:r>
          </a:p>
          <a:p>
            <a:pPr>
              <a:defRPr sz="2200"/>
            </a:pPr>
            <a:r>
              <a:rPr lang="en-US" altLang="zh-TW" dirty="0"/>
              <a:t>Smartcard + GPS: wait/trip time, occupancy, distance</a:t>
            </a:r>
          </a:p>
          <a:p>
            <a:pPr>
              <a:defRPr sz="2200"/>
            </a:pPr>
            <a:r>
              <a:rPr lang="en-US" altLang="zh-TW" dirty="0"/>
              <a:t>Matching procedure: smartcard–GPS (</a:t>
            </a:r>
            <a:r>
              <a:rPr lang="en-US" altLang="zh-TW" dirty="0" err="1"/>
              <a:t>Munizaga</a:t>
            </a:r>
            <a:r>
              <a:rPr lang="en-US" altLang="zh-TW" dirty="0"/>
              <a:t> &amp; Palma, 2012)</a:t>
            </a:r>
          </a:p>
          <a:p>
            <a:pPr>
              <a:defRPr sz="2200" b="1">
                <a:solidFill>
                  <a:srgbClr val="E67E22"/>
                </a:solidFill>
              </a:defRPr>
            </a:pPr>
            <a:r>
              <a:rPr lang="en-US" altLang="zh-TW" dirty="0"/>
              <a:t>Final dataset: 4,090 trips × 17 variables</a:t>
            </a:r>
          </a:p>
        </p:txBody>
      </p:sp>
      <p:pic>
        <p:nvPicPr>
          <p:cNvPr id="18" name="圖片 17">
            <a:extLst>
              <a:ext uri="{FF2B5EF4-FFF2-40B4-BE49-F238E27FC236}">
                <a16:creationId xmlns:a16="http://schemas.microsoft.com/office/drawing/2014/main" id="{51C51F64-D7D8-7180-08FE-F4B77F5B63BC}"/>
              </a:ext>
            </a:extLst>
          </p:cNvPr>
          <p:cNvPicPr>
            <a:picLocks noChangeAspect="1"/>
          </p:cNvPicPr>
          <p:nvPr/>
        </p:nvPicPr>
        <p:blipFill>
          <a:blip r:embed="rId3"/>
          <a:stretch>
            <a:fillRect/>
          </a:stretch>
        </p:blipFill>
        <p:spPr>
          <a:xfrm>
            <a:off x="6135605" y="2264237"/>
            <a:ext cx="5700215" cy="3870749"/>
          </a:xfrm>
          <a:prstGeom prst="rect">
            <a:avLst/>
          </a:prstGeom>
        </p:spPr>
      </p:pic>
    </p:spTree>
    <p:extLst>
      <p:ext uri="{BB962C8B-B14F-4D97-AF65-F5344CB8AC3E}">
        <p14:creationId xmlns:p14="http://schemas.microsoft.com/office/powerpoint/2010/main" val="2046430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0EBF3-DB8A-FE77-C321-661CE005976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271042D-5E1D-DA9C-EEF1-45107D276B0E}"/>
              </a:ext>
            </a:extLst>
          </p:cNvPr>
          <p:cNvSpPr>
            <a:spLocks noGrp="1"/>
          </p:cNvSpPr>
          <p:nvPr>
            <p:ph type="title"/>
          </p:nvPr>
        </p:nvSpPr>
        <p:spPr/>
        <p:txBody>
          <a:bodyPr/>
          <a:lstStyle/>
          <a:p>
            <a:r>
              <a:rPr lang="en-US" altLang="zh-TW" dirty="0"/>
              <a:t>Variables (4 Dimensions)</a:t>
            </a:r>
          </a:p>
        </p:txBody>
      </p:sp>
      <p:grpSp>
        <p:nvGrpSpPr>
          <p:cNvPr id="7" name="群組 6">
            <a:extLst>
              <a:ext uri="{FF2B5EF4-FFF2-40B4-BE49-F238E27FC236}">
                <a16:creationId xmlns:a16="http://schemas.microsoft.com/office/drawing/2014/main" id="{98AD698D-5C43-11A3-8702-7EBF60D4EE3C}"/>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94A36973-B7F7-D5C3-30BA-DD855E3E5E14}"/>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D399408D-E364-9F3E-0157-C19539A6C28A}"/>
                </a:ext>
              </a:extLst>
            </p:cNvPr>
            <p:cNvSpPr txBox="1"/>
            <p:nvPr/>
          </p:nvSpPr>
          <p:spPr>
            <a:xfrm>
              <a:off x="97160" y="6498455"/>
              <a:ext cx="3475380" cy="400110"/>
            </a:xfrm>
            <a:prstGeom prst="rect">
              <a:avLst/>
            </a:prstGeom>
            <a:noFill/>
          </p:spPr>
          <p:txBody>
            <a:bodyPr wrap="square">
              <a:spAutoFit/>
            </a:bodyPr>
            <a:lstStyle/>
            <a:p>
              <a:r>
                <a:rPr lang="en-US" altLang="zh-TW" sz="2000" b="1" dirty="0">
                  <a:solidFill>
                    <a:srgbClr val="F9EBE0"/>
                  </a:solidFill>
                </a:rPr>
                <a:t>Methodology and data</a:t>
              </a:r>
            </a:p>
          </p:txBody>
        </p:sp>
        <p:sp>
          <p:nvSpPr>
            <p:cNvPr id="10" name="文字方塊 9">
              <a:extLst>
                <a:ext uri="{FF2B5EF4-FFF2-40B4-BE49-F238E27FC236}">
                  <a16:creationId xmlns:a16="http://schemas.microsoft.com/office/drawing/2014/main" id="{0D9ED7A6-A5B6-8358-773D-1C6486421E94}"/>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12</a:t>
              </a:r>
              <a:endParaRPr lang="zh-TW" altLang="en-US" sz="2000" b="1" dirty="0">
                <a:solidFill>
                  <a:srgbClr val="F9EBE0"/>
                </a:solidFill>
              </a:endParaRPr>
            </a:p>
          </p:txBody>
        </p:sp>
      </p:grpSp>
      <p:pic>
        <p:nvPicPr>
          <p:cNvPr id="4" name="table">
            <a:extLst>
              <a:ext uri="{FF2B5EF4-FFF2-40B4-BE49-F238E27FC236}">
                <a16:creationId xmlns:a16="http://schemas.microsoft.com/office/drawing/2014/main" id="{5FDF315E-33FA-33AE-0B00-3431B0823E1E}"/>
              </a:ext>
            </a:extLst>
          </p:cNvPr>
          <p:cNvPicPr>
            <a:picLocks noChangeAspect="1"/>
          </p:cNvPicPr>
          <p:nvPr/>
        </p:nvPicPr>
        <p:blipFill>
          <a:blip r:embed="rId3"/>
          <a:stretch>
            <a:fillRect/>
          </a:stretch>
        </p:blipFill>
        <p:spPr>
          <a:xfrm>
            <a:off x="985284" y="2476323"/>
            <a:ext cx="10221432" cy="3833037"/>
          </a:xfrm>
          <a:prstGeom prst="rect">
            <a:avLst/>
          </a:prstGeom>
        </p:spPr>
      </p:pic>
    </p:spTree>
    <p:extLst>
      <p:ext uri="{BB962C8B-B14F-4D97-AF65-F5344CB8AC3E}">
        <p14:creationId xmlns:p14="http://schemas.microsoft.com/office/powerpoint/2010/main" val="994869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6568C-450E-2A3F-FD81-95C81EF4730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0EED112-95DE-76F5-A947-42170BCADC62}"/>
              </a:ext>
            </a:extLst>
          </p:cNvPr>
          <p:cNvSpPr>
            <a:spLocks noGrp="1"/>
          </p:cNvSpPr>
          <p:nvPr>
            <p:ph type="title"/>
          </p:nvPr>
        </p:nvSpPr>
        <p:spPr/>
        <p:txBody>
          <a:bodyPr/>
          <a:lstStyle/>
          <a:p>
            <a:r>
              <a:rPr lang="en-US" altLang="zh-TW" dirty="0"/>
              <a:t>Target Classes (Score Aggregation)</a:t>
            </a:r>
          </a:p>
        </p:txBody>
      </p:sp>
      <p:grpSp>
        <p:nvGrpSpPr>
          <p:cNvPr id="7" name="群組 6">
            <a:extLst>
              <a:ext uri="{FF2B5EF4-FFF2-40B4-BE49-F238E27FC236}">
                <a16:creationId xmlns:a16="http://schemas.microsoft.com/office/drawing/2014/main" id="{EE29C354-2FFB-4E43-DFE0-091F386C80FE}"/>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98AF5459-9484-52BB-6AA8-CD1CD591BF19}"/>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A4A32331-902E-CB33-1FED-718377E9356C}"/>
                </a:ext>
              </a:extLst>
            </p:cNvPr>
            <p:cNvSpPr txBox="1"/>
            <p:nvPr/>
          </p:nvSpPr>
          <p:spPr>
            <a:xfrm>
              <a:off x="97160" y="6498455"/>
              <a:ext cx="3475380" cy="400110"/>
            </a:xfrm>
            <a:prstGeom prst="rect">
              <a:avLst/>
            </a:prstGeom>
            <a:noFill/>
          </p:spPr>
          <p:txBody>
            <a:bodyPr wrap="square">
              <a:spAutoFit/>
            </a:bodyPr>
            <a:lstStyle/>
            <a:p>
              <a:r>
                <a:rPr lang="en-US" altLang="zh-TW" sz="2000" b="1" dirty="0">
                  <a:solidFill>
                    <a:srgbClr val="F9EBE0"/>
                  </a:solidFill>
                </a:rPr>
                <a:t>Methodology and data</a:t>
              </a:r>
            </a:p>
          </p:txBody>
        </p:sp>
        <p:sp>
          <p:nvSpPr>
            <p:cNvPr id="10" name="文字方塊 9">
              <a:extLst>
                <a:ext uri="{FF2B5EF4-FFF2-40B4-BE49-F238E27FC236}">
                  <a16:creationId xmlns:a16="http://schemas.microsoft.com/office/drawing/2014/main" id="{FDAD07EE-EFB3-2F20-7054-6E74D39462F8}"/>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13</a:t>
              </a:r>
              <a:endParaRPr lang="zh-TW" altLang="en-US" sz="2000" b="1" dirty="0">
                <a:solidFill>
                  <a:srgbClr val="F9EBE0"/>
                </a:solidFill>
              </a:endParaRPr>
            </a:p>
          </p:txBody>
        </p:sp>
      </p:grpSp>
      <p:graphicFrame>
        <p:nvGraphicFramePr>
          <p:cNvPr id="13" name="Chart 2">
            <a:extLst>
              <a:ext uri="{FF2B5EF4-FFF2-40B4-BE49-F238E27FC236}">
                <a16:creationId xmlns:a16="http://schemas.microsoft.com/office/drawing/2014/main" id="{3BDE7E8E-7BE0-E666-2FF1-0C2D014B8D41}"/>
              </a:ext>
            </a:extLst>
          </p:cNvPr>
          <p:cNvGraphicFramePr>
            <a:graphicFrameLocks noGrp="1"/>
          </p:cNvGraphicFramePr>
          <p:nvPr>
            <p:extLst>
              <p:ext uri="{D42A27DB-BD31-4B8C-83A1-F6EECF244321}">
                <p14:modId xmlns:p14="http://schemas.microsoft.com/office/powerpoint/2010/main" val="122972736"/>
              </p:ext>
            </p:extLst>
          </p:nvPr>
        </p:nvGraphicFramePr>
        <p:xfrm>
          <a:off x="2999900" y="2163726"/>
          <a:ext cx="6192199" cy="414563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47342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257BA-9E51-C13A-B657-831BD5AF994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ACD177C-C4E2-2E11-F490-5499B24D0E44}"/>
              </a:ext>
            </a:extLst>
          </p:cNvPr>
          <p:cNvSpPr>
            <a:spLocks noGrp="1"/>
          </p:cNvSpPr>
          <p:nvPr>
            <p:ph type="title"/>
          </p:nvPr>
        </p:nvSpPr>
        <p:spPr/>
        <p:txBody>
          <a:bodyPr/>
          <a:lstStyle/>
          <a:p>
            <a:r>
              <a:rPr lang="en-US" altLang="zh-TW" dirty="0"/>
              <a:t>EDA: continuous vars vs Score</a:t>
            </a:r>
          </a:p>
        </p:txBody>
      </p:sp>
      <p:grpSp>
        <p:nvGrpSpPr>
          <p:cNvPr id="7" name="群組 6">
            <a:extLst>
              <a:ext uri="{FF2B5EF4-FFF2-40B4-BE49-F238E27FC236}">
                <a16:creationId xmlns:a16="http://schemas.microsoft.com/office/drawing/2014/main" id="{430F4BFE-200E-3A0D-66BD-FC70CDFC86C9}"/>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2919F7B5-09B2-3A8F-5294-E27A6997D807}"/>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7A157D69-2FBB-142E-4053-E91BFEB6BAC8}"/>
                </a:ext>
              </a:extLst>
            </p:cNvPr>
            <p:cNvSpPr txBox="1"/>
            <p:nvPr/>
          </p:nvSpPr>
          <p:spPr>
            <a:xfrm>
              <a:off x="97160" y="6498455"/>
              <a:ext cx="3475380" cy="400110"/>
            </a:xfrm>
            <a:prstGeom prst="rect">
              <a:avLst/>
            </a:prstGeom>
            <a:noFill/>
          </p:spPr>
          <p:txBody>
            <a:bodyPr wrap="square">
              <a:spAutoFit/>
            </a:bodyPr>
            <a:lstStyle/>
            <a:p>
              <a:r>
                <a:rPr lang="en-US" altLang="zh-TW" sz="2000" b="1" dirty="0">
                  <a:solidFill>
                    <a:srgbClr val="F9EBE0"/>
                  </a:solidFill>
                </a:rPr>
                <a:t>Methodology and data</a:t>
              </a:r>
            </a:p>
          </p:txBody>
        </p:sp>
        <p:sp>
          <p:nvSpPr>
            <p:cNvPr id="10" name="文字方塊 9">
              <a:extLst>
                <a:ext uri="{FF2B5EF4-FFF2-40B4-BE49-F238E27FC236}">
                  <a16:creationId xmlns:a16="http://schemas.microsoft.com/office/drawing/2014/main" id="{24B56F9E-7BE3-F531-603C-76A7FBF382B3}"/>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14</a:t>
              </a:r>
              <a:endParaRPr lang="zh-TW" altLang="en-US" sz="2000" b="1" dirty="0">
                <a:solidFill>
                  <a:srgbClr val="F9EBE0"/>
                </a:solidFill>
              </a:endParaRPr>
            </a:p>
          </p:txBody>
        </p:sp>
      </p:grpSp>
      <p:sp>
        <p:nvSpPr>
          <p:cNvPr id="11" name="Rectangle 3">
            <a:extLst>
              <a:ext uri="{FF2B5EF4-FFF2-40B4-BE49-F238E27FC236}">
                <a16:creationId xmlns:a16="http://schemas.microsoft.com/office/drawing/2014/main" id="{568327DA-ED3B-2A10-3FBD-1168AA150061}"/>
              </a:ext>
            </a:extLst>
          </p:cNvPr>
          <p:cNvSpPr>
            <a:spLocks noGrp="1" noChangeArrowheads="1"/>
          </p:cNvSpPr>
          <p:nvPr>
            <p:ph idx="1"/>
          </p:nvPr>
        </p:nvSpPr>
        <p:spPr bwMode="auto">
          <a:xfrm>
            <a:off x="1115568" y="5238618"/>
            <a:ext cx="12191999" cy="1544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tLang="zh-TW" dirty="0"/>
          </a:p>
          <a:p>
            <a:pPr>
              <a:defRPr sz="2200" b="1">
                <a:solidFill>
                  <a:srgbClr val="E67E22"/>
                </a:solidFill>
              </a:defRPr>
            </a:pPr>
            <a:r>
              <a:rPr lang="en-US" altLang="zh-TW" dirty="0"/>
              <a:t>Wait ↑ → Score ↓</a:t>
            </a:r>
            <a:r>
              <a:rPr lang="zh-TW" altLang="en-US" dirty="0"/>
              <a:t>           </a:t>
            </a:r>
            <a:r>
              <a:rPr lang="en-US" altLang="zh-TW" dirty="0"/>
              <a:t>Occupancy ↑ → Score ↓     </a:t>
            </a:r>
            <a:endParaRPr lang="en-US" altLang="zh-TW" dirty="0">
              <a:solidFill>
                <a:schemeClr val="bg2">
                  <a:lumMod val="75000"/>
                </a:schemeClr>
              </a:solidFill>
            </a:endParaRPr>
          </a:p>
          <a:p>
            <a:pPr>
              <a:defRPr sz="2200" b="1">
                <a:solidFill>
                  <a:srgbClr val="E67E22"/>
                </a:solidFill>
              </a:defRPr>
            </a:pPr>
            <a:endParaRPr lang="en-US" altLang="zh-TW" dirty="0"/>
          </a:p>
        </p:txBody>
      </p:sp>
      <p:sp>
        <p:nvSpPr>
          <p:cNvPr id="18" name="文字方塊 17">
            <a:extLst>
              <a:ext uri="{FF2B5EF4-FFF2-40B4-BE49-F238E27FC236}">
                <a16:creationId xmlns:a16="http://schemas.microsoft.com/office/drawing/2014/main" id="{E18A85B5-9EB5-8F2D-0758-2DBF221C017A}"/>
              </a:ext>
            </a:extLst>
          </p:cNvPr>
          <p:cNvSpPr txBox="1"/>
          <p:nvPr/>
        </p:nvSpPr>
        <p:spPr>
          <a:xfrm>
            <a:off x="7836666" y="5830318"/>
            <a:ext cx="5324818" cy="430887"/>
          </a:xfrm>
          <a:prstGeom prst="rect">
            <a:avLst/>
          </a:prstGeom>
          <a:noFill/>
        </p:spPr>
        <p:txBody>
          <a:bodyPr wrap="square">
            <a:spAutoFit/>
          </a:bodyPr>
          <a:lstStyle/>
          <a:p>
            <a:pPr>
              <a:defRPr sz="2200"/>
            </a:pPr>
            <a:r>
              <a:rPr lang="en-US" altLang="zh-TW" dirty="0"/>
              <a:t>Speed difference small </a:t>
            </a:r>
          </a:p>
        </p:txBody>
      </p:sp>
      <p:pic>
        <p:nvPicPr>
          <p:cNvPr id="20" name="圖片 19">
            <a:extLst>
              <a:ext uri="{FF2B5EF4-FFF2-40B4-BE49-F238E27FC236}">
                <a16:creationId xmlns:a16="http://schemas.microsoft.com/office/drawing/2014/main" id="{49334B4D-99D6-505C-9F5E-1DE4A94BC340}"/>
              </a:ext>
            </a:extLst>
          </p:cNvPr>
          <p:cNvPicPr>
            <a:picLocks noChangeAspect="1"/>
          </p:cNvPicPr>
          <p:nvPr/>
        </p:nvPicPr>
        <p:blipFill>
          <a:blip r:embed="rId3"/>
          <a:stretch>
            <a:fillRect/>
          </a:stretch>
        </p:blipFill>
        <p:spPr>
          <a:xfrm>
            <a:off x="782197" y="1853998"/>
            <a:ext cx="9990967" cy="3739070"/>
          </a:xfrm>
          <a:prstGeom prst="rect">
            <a:avLst/>
          </a:prstGeom>
        </p:spPr>
      </p:pic>
    </p:spTree>
    <p:extLst>
      <p:ext uri="{BB962C8B-B14F-4D97-AF65-F5344CB8AC3E}">
        <p14:creationId xmlns:p14="http://schemas.microsoft.com/office/powerpoint/2010/main" val="1724926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4D42F-6059-D82E-D672-3E0FED2941D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E912F9A-6ADE-1BE2-65E3-EA4375A9447D}"/>
              </a:ext>
            </a:extLst>
          </p:cNvPr>
          <p:cNvSpPr>
            <a:spLocks noGrp="1"/>
          </p:cNvSpPr>
          <p:nvPr>
            <p:ph type="title"/>
          </p:nvPr>
        </p:nvSpPr>
        <p:spPr/>
        <p:txBody>
          <a:bodyPr/>
          <a:lstStyle/>
          <a:p>
            <a:r>
              <a:rPr lang="en-US" altLang="zh-TW" dirty="0"/>
              <a:t>Spatial Distribution of Scores</a:t>
            </a:r>
          </a:p>
        </p:txBody>
      </p:sp>
      <p:grpSp>
        <p:nvGrpSpPr>
          <p:cNvPr id="7" name="群組 6">
            <a:extLst>
              <a:ext uri="{FF2B5EF4-FFF2-40B4-BE49-F238E27FC236}">
                <a16:creationId xmlns:a16="http://schemas.microsoft.com/office/drawing/2014/main" id="{CB564A1B-1B90-E3CC-E7A4-118B8E913DD3}"/>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C34468AD-974A-2878-48E5-43A5DF9B105D}"/>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A9829FC3-404D-B79E-F344-D6385955857A}"/>
                </a:ext>
              </a:extLst>
            </p:cNvPr>
            <p:cNvSpPr txBox="1"/>
            <p:nvPr/>
          </p:nvSpPr>
          <p:spPr>
            <a:xfrm>
              <a:off x="97160" y="6498455"/>
              <a:ext cx="3475380" cy="400110"/>
            </a:xfrm>
            <a:prstGeom prst="rect">
              <a:avLst/>
            </a:prstGeom>
            <a:noFill/>
          </p:spPr>
          <p:txBody>
            <a:bodyPr wrap="square">
              <a:spAutoFit/>
            </a:bodyPr>
            <a:lstStyle/>
            <a:p>
              <a:r>
                <a:rPr lang="en-US" altLang="zh-TW" sz="2000" b="1" dirty="0">
                  <a:solidFill>
                    <a:srgbClr val="F9EBE0"/>
                  </a:solidFill>
                </a:rPr>
                <a:t>Methodology and data</a:t>
              </a:r>
            </a:p>
          </p:txBody>
        </p:sp>
        <p:sp>
          <p:nvSpPr>
            <p:cNvPr id="10" name="文字方塊 9">
              <a:extLst>
                <a:ext uri="{FF2B5EF4-FFF2-40B4-BE49-F238E27FC236}">
                  <a16:creationId xmlns:a16="http://schemas.microsoft.com/office/drawing/2014/main" id="{BFE1D9D6-4D90-0E06-0A46-6B2FA0BB2651}"/>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15</a:t>
              </a:r>
              <a:endParaRPr lang="zh-TW" altLang="en-US" sz="2000" b="1" dirty="0">
                <a:solidFill>
                  <a:srgbClr val="F9EBE0"/>
                </a:solidFill>
              </a:endParaRPr>
            </a:p>
          </p:txBody>
        </p:sp>
      </p:grpSp>
      <p:sp>
        <p:nvSpPr>
          <p:cNvPr id="16" name="Rectangle 5">
            <a:extLst>
              <a:ext uri="{FF2B5EF4-FFF2-40B4-BE49-F238E27FC236}">
                <a16:creationId xmlns:a16="http://schemas.microsoft.com/office/drawing/2014/main" id="{E4B725BE-0ECE-FA97-40E1-A763A1D9A1E9}"/>
              </a:ext>
            </a:extLst>
          </p:cNvPr>
          <p:cNvSpPr>
            <a:spLocks noGrp="1" noChangeArrowheads="1"/>
          </p:cNvSpPr>
          <p:nvPr>
            <p:ph idx="1"/>
          </p:nvPr>
        </p:nvSpPr>
        <p:spPr bwMode="auto">
          <a:xfrm>
            <a:off x="902269" y="5867957"/>
            <a:ext cx="10381427" cy="441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defRPr sz="2200"/>
            </a:pPr>
            <a:r>
              <a:rPr lang="en-US" altLang="zh-TW" dirty="0"/>
              <a:t>Bad clusters: congested corridors     Good clusters: near metro / better stops</a:t>
            </a:r>
          </a:p>
        </p:txBody>
      </p:sp>
      <p:pic>
        <p:nvPicPr>
          <p:cNvPr id="18" name="圖片 17">
            <a:extLst>
              <a:ext uri="{FF2B5EF4-FFF2-40B4-BE49-F238E27FC236}">
                <a16:creationId xmlns:a16="http://schemas.microsoft.com/office/drawing/2014/main" id="{D0D86F4D-C773-587A-2459-E2CE3E5D0528}"/>
              </a:ext>
            </a:extLst>
          </p:cNvPr>
          <p:cNvPicPr>
            <a:picLocks noChangeAspect="1"/>
          </p:cNvPicPr>
          <p:nvPr/>
        </p:nvPicPr>
        <p:blipFill>
          <a:blip r:embed="rId3"/>
          <a:stretch>
            <a:fillRect/>
          </a:stretch>
        </p:blipFill>
        <p:spPr>
          <a:xfrm>
            <a:off x="2125124" y="1845278"/>
            <a:ext cx="8149015" cy="3905616"/>
          </a:xfrm>
          <a:prstGeom prst="rect">
            <a:avLst/>
          </a:prstGeom>
        </p:spPr>
      </p:pic>
    </p:spTree>
    <p:extLst>
      <p:ext uri="{BB962C8B-B14F-4D97-AF65-F5344CB8AC3E}">
        <p14:creationId xmlns:p14="http://schemas.microsoft.com/office/powerpoint/2010/main" val="3002238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4C440-E072-FBAD-ACDC-954ECC67ABE7}"/>
            </a:ext>
          </a:extLst>
        </p:cNvPr>
        <p:cNvGrpSpPr/>
        <p:nvPr/>
      </p:nvGrpSpPr>
      <p:grpSpPr>
        <a:xfrm>
          <a:off x="0" y="0"/>
          <a:ext cx="0" cy="0"/>
          <a:chOff x="0" y="0"/>
          <a:chExt cx="0" cy="0"/>
        </a:xfrm>
      </p:grpSpPr>
      <p:sp>
        <p:nvSpPr>
          <p:cNvPr id="2" name="流程圖: 資料 1">
            <a:extLst>
              <a:ext uri="{FF2B5EF4-FFF2-40B4-BE49-F238E27FC236}">
                <a16:creationId xmlns:a16="http://schemas.microsoft.com/office/drawing/2014/main" id="{82F33CF6-77C5-D730-18A1-F83B7F59DD77}"/>
              </a:ext>
            </a:extLst>
          </p:cNvPr>
          <p:cNvSpPr/>
          <p:nvPr/>
        </p:nvSpPr>
        <p:spPr>
          <a:xfrm flipV="1">
            <a:off x="1394979" y="1854777"/>
            <a:ext cx="9402042" cy="3148446"/>
          </a:xfrm>
          <a:prstGeom prst="flowChartInputOutput">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114E6A4D-029A-42B3-0EC1-08E8173C319F}"/>
              </a:ext>
            </a:extLst>
          </p:cNvPr>
          <p:cNvSpPr/>
          <p:nvPr/>
        </p:nvSpPr>
        <p:spPr>
          <a:xfrm>
            <a:off x="2344881" y="1252104"/>
            <a:ext cx="7502237" cy="4353791"/>
          </a:xfrm>
          <a:prstGeom prst="rect">
            <a:avLst/>
          </a:prstGeom>
          <a:solidFill>
            <a:schemeClr val="bg1"/>
          </a:solidFill>
          <a:ln w="28575">
            <a:solidFill>
              <a:srgbClr val="463F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B26174F9-8148-D927-885E-AAB8A745370D}"/>
              </a:ext>
            </a:extLst>
          </p:cNvPr>
          <p:cNvSpPr txBox="1"/>
          <p:nvPr/>
        </p:nvSpPr>
        <p:spPr>
          <a:xfrm>
            <a:off x="2492397" y="3428999"/>
            <a:ext cx="7207201" cy="1754326"/>
          </a:xfrm>
          <a:prstGeom prst="rect">
            <a:avLst/>
          </a:prstGeom>
          <a:noFill/>
        </p:spPr>
        <p:txBody>
          <a:bodyPr wrap="square" lIns="91440" tIns="45720" rIns="91440" bIns="45720" anchor="t">
            <a:spAutoFit/>
          </a:bodyPr>
          <a:lstStyle/>
          <a:p>
            <a:pPr algn="ctr"/>
            <a:r>
              <a:rPr lang="en-US" altLang="zh-TW" sz="5400" b="1"/>
              <a:t>Results and evaluation of models</a:t>
            </a:r>
            <a:endParaRPr lang="zh-TW" altLang="en-US" sz="5400" b="1"/>
          </a:p>
        </p:txBody>
      </p:sp>
      <p:pic>
        <p:nvPicPr>
          <p:cNvPr id="15" name="圖形 14" descr="徽章 4 以實心填滿">
            <a:extLst>
              <a:ext uri="{FF2B5EF4-FFF2-40B4-BE49-F238E27FC236}">
                <a16:creationId xmlns:a16="http://schemas.microsoft.com/office/drawing/2014/main" id="{53DC03F2-5D9F-1D2E-6CE0-89E78325F5E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601118" y="2178095"/>
            <a:ext cx="989760" cy="989760"/>
          </a:xfrm>
          <a:prstGeom prst="rect">
            <a:avLst/>
          </a:prstGeom>
        </p:spPr>
      </p:pic>
    </p:spTree>
    <p:extLst>
      <p:ext uri="{BB962C8B-B14F-4D97-AF65-F5344CB8AC3E}">
        <p14:creationId xmlns:p14="http://schemas.microsoft.com/office/powerpoint/2010/main" val="2628013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D47EE-8E5F-4D7B-2C95-D14915A500B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8CF1EAC-5E99-DF69-CC24-433198DAE3F0}"/>
              </a:ext>
            </a:extLst>
          </p:cNvPr>
          <p:cNvSpPr>
            <a:spLocks noGrp="1"/>
          </p:cNvSpPr>
          <p:nvPr>
            <p:ph type="title"/>
          </p:nvPr>
        </p:nvSpPr>
        <p:spPr/>
        <p:txBody>
          <a:bodyPr/>
          <a:lstStyle/>
          <a:p>
            <a:pPr indent="57150"/>
            <a:r>
              <a:rPr lang="en-US" dirty="0"/>
              <a:t>Evaluation of Models</a:t>
            </a:r>
            <a:endParaRPr lang="zh-TW" altLang="en-US" dirty="0"/>
          </a:p>
        </p:txBody>
      </p:sp>
      <p:sp>
        <p:nvSpPr>
          <p:cNvPr id="6" name="Content Placeholder 5">
            <a:extLst>
              <a:ext uri="{FF2B5EF4-FFF2-40B4-BE49-F238E27FC236}">
                <a16:creationId xmlns:a16="http://schemas.microsoft.com/office/drawing/2014/main" id="{6A01E6A9-0679-5B68-0140-81444A82A63A}"/>
              </a:ext>
            </a:extLst>
          </p:cNvPr>
          <p:cNvSpPr>
            <a:spLocks noGrp="1"/>
          </p:cNvSpPr>
          <p:nvPr>
            <p:ph idx="1"/>
          </p:nvPr>
        </p:nvSpPr>
        <p:spPr>
          <a:xfrm>
            <a:off x="1115568" y="2000627"/>
            <a:ext cx="10177308" cy="4171573"/>
          </a:xfrm>
        </p:spPr>
        <p:txBody>
          <a:bodyPr vert="horz" lIns="91440" tIns="45720" rIns="91440" bIns="45720" rtlCol="0" anchor="t">
            <a:normAutofit/>
          </a:bodyPr>
          <a:lstStyle/>
          <a:p>
            <a:r>
              <a:rPr lang="en-US" dirty="0"/>
              <a:t>Purpose: Compare Statistical models &amp; ML models for predicting passenger satisfaction</a:t>
            </a:r>
          </a:p>
          <a:p>
            <a:endParaRPr lang="en-US" dirty="0"/>
          </a:p>
          <a:p>
            <a:endParaRPr lang="en-US" dirty="0"/>
          </a:p>
          <a:p>
            <a:endParaRPr lang="en-US" dirty="0"/>
          </a:p>
          <a:p>
            <a:r>
              <a:rPr lang="en-US" dirty="0"/>
              <a:t>Data Split</a:t>
            </a:r>
          </a:p>
          <a:p>
            <a:endParaRPr lang="en-US" dirty="0"/>
          </a:p>
        </p:txBody>
      </p:sp>
      <p:grpSp>
        <p:nvGrpSpPr>
          <p:cNvPr id="7" name="群組 6">
            <a:extLst>
              <a:ext uri="{FF2B5EF4-FFF2-40B4-BE49-F238E27FC236}">
                <a16:creationId xmlns:a16="http://schemas.microsoft.com/office/drawing/2014/main" id="{CE1DA90B-23CD-E8C2-CDBD-27C9B007EBA1}"/>
              </a:ext>
            </a:extLst>
          </p:cNvPr>
          <p:cNvGrpSpPr/>
          <p:nvPr/>
        </p:nvGrpSpPr>
        <p:grpSpPr>
          <a:xfrm>
            <a:off x="0" y="6498455"/>
            <a:ext cx="12192000" cy="436832"/>
            <a:chOff x="0" y="6498455"/>
            <a:chExt cx="12192000" cy="436832"/>
          </a:xfrm>
        </p:grpSpPr>
        <p:sp>
          <p:nvSpPr>
            <p:cNvPr id="8" name="矩形: 剪去單一角落 7">
              <a:extLst>
                <a:ext uri="{FF2B5EF4-FFF2-40B4-BE49-F238E27FC236}">
                  <a16:creationId xmlns:a16="http://schemas.microsoft.com/office/drawing/2014/main" id="{642A8CA9-C2A3-633A-CCFC-22F842DB7D31}"/>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E0367E38-4C2D-D614-958A-3A38B7481C08}"/>
                </a:ext>
              </a:extLst>
            </p:cNvPr>
            <p:cNvSpPr txBox="1"/>
            <p:nvPr/>
          </p:nvSpPr>
          <p:spPr>
            <a:xfrm>
              <a:off x="97160" y="6535177"/>
              <a:ext cx="4255741" cy="400110"/>
            </a:xfrm>
            <a:prstGeom prst="rect">
              <a:avLst/>
            </a:prstGeom>
            <a:noFill/>
          </p:spPr>
          <p:txBody>
            <a:bodyPr wrap="square" lIns="91440" tIns="45720" rIns="91440" bIns="45720" anchor="t">
              <a:spAutoFit/>
            </a:bodyPr>
            <a:lstStyle/>
            <a:p>
              <a:r>
                <a:rPr lang="en-US" sz="2000" b="1" dirty="0">
                  <a:solidFill>
                    <a:srgbClr val="F9EBE0"/>
                  </a:solidFill>
                </a:rPr>
                <a:t>Results &amp; Evaluation of Models</a:t>
              </a:r>
              <a:endParaRPr lang="zh-TW" dirty="0"/>
            </a:p>
          </p:txBody>
        </p:sp>
        <p:sp>
          <p:nvSpPr>
            <p:cNvPr id="10" name="文字方塊 9">
              <a:extLst>
                <a:ext uri="{FF2B5EF4-FFF2-40B4-BE49-F238E27FC236}">
                  <a16:creationId xmlns:a16="http://schemas.microsoft.com/office/drawing/2014/main" id="{A16C440E-66A7-7793-8871-5B7E990BC014}"/>
                </a:ext>
              </a:extLst>
            </p:cNvPr>
            <p:cNvSpPr txBox="1"/>
            <p:nvPr/>
          </p:nvSpPr>
          <p:spPr>
            <a:xfrm>
              <a:off x="8619460" y="6498455"/>
              <a:ext cx="3475380" cy="400110"/>
            </a:xfrm>
            <a:prstGeom prst="rect">
              <a:avLst/>
            </a:prstGeom>
            <a:noFill/>
          </p:spPr>
          <p:txBody>
            <a:bodyPr wrap="square" lIns="91440" tIns="45720" rIns="91440" bIns="45720" anchor="t">
              <a:spAutoFit/>
            </a:bodyPr>
            <a:lstStyle/>
            <a:p>
              <a:pPr algn="r"/>
              <a:r>
                <a:rPr lang="en-US" altLang="zh-TW" sz="2000" b="1" dirty="0">
                  <a:solidFill>
                    <a:srgbClr val="F9EBE0"/>
                  </a:solidFill>
                </a:rPr>
                <a:t>16</a:t>
              </a:r>
              <a:endParaRPr lang="zh-TW" altLang="en-US" sz="2000" b="1" dirty="0">
                <a:solidFill>
                  <a:srgbClr val="F9EBE0"/>
                </a:solidFill>
              </a:endParaRPr>
            </a:p>
          </p:txBody>
        </p:sp>
      </p:grpSp>
      <p:graphicFrame>
        <p:nvGraphicFramePr>
          <p:cNvPr id="11" name="表格 10">
            <a:extLst>
              <a:ext uri="{FF2B5EF4-FFF2-40B4-BE49-F238E27FC236}">
                <a16:creationId xmlns:a16="http://schemas.microsoft.com/office/drawing/2014/main" id="{C34D8EB2-FD46-0ACB-32F2-6604CED2B3FD}"/>
              </a:ext>
            </a:extLst>
          </p:cNvPr>
          <p:cNvGraphicFramePr>
            <a:graphicFrameLocks noGrp="1"/>
          </p:cNvGraphicFramePr>
          <p:nvPr/>
        </p:nvGraphicFramePr>
        <p:xfrm>
          <a:off x="1492786" y="3047082"/>
          <a:ext cx="7315200" cy="1828800"/>
        </p:xfrm>
        <a:graphic>
          <a:graphicData uri="http://schemas.openxmlformats.org/drawingml/2006/table">
            <a:tbl>
              <a:tblPr firstRow="1" bandRow="1">
                <a:tableStyleId>{073A0DAA-6AF3-43AB-8588-CEC1D06C72B9}</a:tableStyleId>
              </a:tblPr>
              <a:tblGrid>
                <a:gridCol w="3505200">
                  <a:extLst>
                    <a:ext uri="{9D8B030D-6E8A-4147-A177-3AD203B41FA5}">
                      <a16:colId xmlns:a16="http://schemas.microsoft.com/office/drawing/2014/main" val="1061794621"/>
                    </a:ext>
                  </a:extLst>
                </a:gridCol>
                <a:gridCol w="3810000">
                  <a:extLst>
                    <a:ext uri="{9D8B030D-6E8A-4147-A177-3AD203B41FA5}">
                      <a16:colId xmlns:a16="http://schemas.microsoft.com/office/drawing/2014/main" val="3529180599"/>
                    </a:ext>
                  </a:extLst>
                </a:gridCol>
              </a:tblGrid>
              <a:tr h="365760">
                <a:tc>
                  <a:txBody>
                    <a:bodyPr/>
                    <a:lstStyle/>
                    <a:p>
                      <a:pPr marL="0" algn="ctr" rtl="0" eaLnBrk="1" latinLnBrk="0" hangingPunct="1">
                        <a:buNone/>
                      </a:pPr>
                      <a:r>
                        <a:rPr lang="en-US" sz="1800" kern="1200" dirty="0">
                          <a:solidFill>
                            <a:srgbClr val="FFFFFF"/>
                          </a:solidFill>
                          <a:effectLst/>
                        </a:rPr>
                        <a:t>Statistical Models</a:t>
                      </a:r>
                      <a:endParaRPr lang="en-US" altLang="zh-TW" dirty="0">
                        <a:effectLst/>
                      </a:endParaRPr>
                    </a:p>
                  </a:txBody>
                  <a:tcPr marL="0" marR="0" marT="0" marB="0" anchor="ctr"/>
                </a:tc>
                <a:tc>
                  <a:txBody>
                    <a:bodyPr/>
                    <a:lstStyle/>
                    <a:p>
                      <a:pPr marL="0" algn="ctr" rtl="0" eaLnBrk="1" latinLnBrk="0" hangingPunct="1">
                        <a:buNone/>
                      </a:pPr>
                      <a:r>
                        <a:rPr lang="en-US" sz="1800" kern="1200" dirty="0">
                          <a:solidFill>
                            <a:srgbClr val="FFFFFF"/>
                          </a:solidFill>
                          <a:effectLst/>
                        </a:rPr>
                        <a:t>ML </a:t>
                      </a:r>
                      <a:r>
                        <a:rPr lang="en-US" altLang="zh-TW" sz="1800" kern="1200" dirty="0">
                          <a:solidFill>
                            <a:srgbClr val="FFFFFF"/>
                          </a:solidFill>
                          <a:effectLst/>
                        </a:rPr>
                        <a:t>Model</a:t>
                      </a:r>
                      <a:r>
                        <a:rPr lang="en-US" sz="1800" kern="1200" dirty="0">
                          <a:solidFill>
                            <a:srgbClr val="FFFFFF"/>
                          </a:solidFill>
                          <a:effectLst/>
                        </a:rPr>
                        <a:t>s</a:t>
                      </a:r>
                      <a:endParaRPr lang="en-US" altLang="zh-TW" dirty="0">
                        <a:effectLst/>
                      </a:endParaRPr>
                    </a:p>
                  </a:txBody>
                  <a:tcPr marL="0" marR="0" marT="0" marB="0" anchor="ctr"/>
                </a:tc>
                <a:extLst>
                  <a:ext uri="{0D108BD9-81ED-4DB2-BD59-A6C34878D82A}">
                    <a16:rowId xmlns:a16="http://schemas.microsoft.com/office/drawing/2014/main" val="1749931843"/>
                  </a:ext>
                </a:extLst>
              </a:tr>
              <a:tr h="365760">
                <a:tc>
                  <a:txBody>
                    <a:bodyPr/>
                    <a:lstStyle/>
                    <a:p>
                      <a:pPr marL="0" algn="l" rtl="0" eaLnBrk="1" latinLnBrk="0" hangingPunct="1">
                        <a:buNone/>
                      </a:pPr>
                      <a:r>
                        <a:rPr lang="en-US" sz="1800" kern="1200">
                          <a:solidFill>
                            <a:srgbClr val="000000"/>
                          </a:solidFill>
                          <a:effectLst/>
                        </a:rPr>
                        <a:t>Ordinal Logit</a:t>
                      </a:r>
                      <a:endParaRPr lang="en-US" altLang="zh-TW">
                        <a:effectLst/>
                      </a:endParaRPr>
                    </a:p>
                  </a:txBody>
                  <a:tcPr marL="0" marR="0" marT="0" marB="0" anchor="ctr"/>
                </a:tc>
                <a:tc>
                  <a:txBody>
                    <a:bodyPr/>
                    <a:lstStyle/>
                    <a:p>
                      <a:pPr marL="0" algn="l" rtl="0" eaLnBrk="1" latinLnBrk="0" hangingPunct="1">
                        <a:buNone/>
                      </a:pPr>
                      <a:r>
                        <a:rPr lang="af-ZA" altLang="zh-TW" sz="1800" kern="1200" dirty="0">
                          <a:solidFill>
                            <a:srgbClr val="000000"/>
                          </a:solidFill>
                          <a:effectLst/>
                        </a:rPr>
                        <a:t>Decision Tree</a:t>
                      </a:r>
                      <a:endParaRPr lang="af-ZA" altLang="zh-TW" dirty="0">
                        <a:effectLst/>
                      </a:endParaRPr>
                    </a:p>
                  </a:txBody>
                  <a:tcPr marL="0" marR="0" marT="0" marB="0" anchor="ctr"/>
                </a:tc>
                <a:extLst>
                  <a:ext uri="{0D108BD9-81ED-4DB2-BD59-A6C34878D82A}">
                    <a16:rowId xmlns:a16="http://schemas.microsoft.com/office/drawing/2014/main" val="3263333914"/>
                  </a:ext>
                </a:extLst>
              </a:tr>
              <a:tr h="365760">
                <a:tc>
                  <a:txBody>
                    <a:bodyPr/>
                    <a:lstStyle/>
                    <a:p>
                      <a:pPr marL="0" algn="l" rtl="0" eaLnBrk="1" latinLnBrk="0" hangingPunct="1">
                        <a:buNone/>
                      </a:pPr>
                      <a:r>
                        <a:rPr lang="en-US" sz="1800" kern="1200">
                          <a:solidFill>
                            <a:srgbClr val="000000"/>
                          </a:solidFill>
                          <a:effectLst/>
                        </a:rPr>
                        <a:t>Multinomial Logit model</a:t>
                      </a:r>
                      <a:endParaRPr lang="en-US" altLang="zh-TW">
                        <a:effectLst/>
                      </a:endParaRPr>
                    </a:p>
                  </a:txBody>
                  <a:tcPr marL="0" marR="0" marT="0" marB="0" anchor="ctr"/>
                </a:tc>
                <a:tc>
                  <a:txBody>
                    <a:bodyPr/>
                    <a:lstStyle/>
                    <a:p>
                      <a:pPr marL="0" algn="l" rtl="0" eaLnBrk="1" latinLnBrk="0" hangingPunct="1">
                        <a:buNone/>
                      </a:pPr>
                      <a:r>
                        <a:rPr lang="af-ZA" altLang="zh-TW" sz="1800" kern="1200" dirty="0">
                          <a:solidFill>
                            <a:srgbClr val="000000"/>
                          </a:solidFill>
                          <a:effectLst/>
                        </a:rPr>
                        <a:t>Random Forest</a:t>
                      </a:r>
                      <a:endParaRPr lang="af-ZA" altLang="zh-TW" dirty="0">
                        <a:effectLst/>
                      </a:endParaRPr>
                    </a:p>
                  </a:txBody>
                  <a:tcPr marL="0" marR="0" marT="0" marB="0" anchor="ctr"/>
                </a:tc>
                <a:extLst>
                  <a:ext uri="{0D108BD9-81ED-4DB2-BD59-A6C34878D82A}">
                    <a16:rowId xmlns:a16="http://schemas.microsoft.com/office/drawing/2014/main" val="4293435058"/>
                  </a:ext>
                </a:extLst>
              </a:tr>
              <a:tr h="365760">
                <a:tc>
                  <a:txBody>
                    <a:bodyPr/>
                    <a:lstStyle/>
                    <a:p>
                      <a:pPr algn="l">
                        <a:buNone/>
                      </a:pPr>
                      <a:endParaRPr lang="zh-TW" altLang="en-US" dirty="0">
                        <a:effectLst/>
                      </a:endParaRPr>
                    </a:p>
                  </a:txBody>
                  <a:tcPr marL="0" marR="0" marT="0" marB="0" anchor="ctr"/>
                </a:tc>
                <a:tc>
                  <a:txBody>
                    <a:bodyPr/>
                    <a:lstStyle/>
                    <a:p>
                      <a:pPr marL="0" algn="l" rtl="0" eaLnBrk="1" latinLnBrk="0" hangingPunct="1">
                        <a:buNone/>
                      </a:pPr>
                      <a:r>
                        <a:rPr lang="af-ZA" altLang="zh-TW" sz="1800" kern="1200" dirty="0">
                          <a:solidFill>
                            <a:srgbClr val="000000"/>
                          </a:solidFill>
                          <a:effectLst/>
                        </a:rPr>
                        <a:t>Support Vector Machines (SVM)</a:t>
                      </a:r>
                      <a:endParaRPr lang="af-ZA" altLang="zh-TW" dirty="0">
                        <a:effectLst/>
                      </a:endParaRPr>
                    </a:p>
                  </a:txBody>
                  <a:tcPr marL="0" marR="0" marT="0" marB="0" anchor="ctr"/>
                </a:tc>
                <a:extLst>
                  <a:ext uri="{0D108BD9-81ED-4DB2-BD59-A6C34878D82A}">
                    <a16:rowId xmlns:a16="http://schemas.microsoft.com/office/drawing/2014/main" val="177184061"/>
                  </a:ext>
                </a:extLst>
              </a:tr>
              <a:tr h="365760">
                <a:tc>
                  <a:txBody>
                    <a:bodyPr/>
                    <a:lstStyle/>
                    <a:p>
                      <a:pPr algn="l">
                        <a:buNone/>
                      </a:pPr>
                      <a:endParaRPr lang="zh-TW" altLang="en-US" dirty="0">
                        <a:effectLst/>
                      </a:endParaRPr>
                    </a:p>
                  </a:txBody>
                  <a:tcPr marL="0" marR="0" marT="0" marB="0" anchor="ctr"/>
                </a:tc>
                <a:tc>
                  <a:txBody>
                    <a:bodyPr/>
                    <a:lstStyle/>
                    <a:p>
                      <a:pPr marL="0" algn="l" rtl="0" eaLnBrk="1" latinLnBrk="0" hangingPunct="1">
                        <a:buNone/>
                      </a:pPr>
                      <a:r>
                        <a:rPr lang="af-ZA" altLang="zh-TW" sz="1800" kern="1200" dirty="0">
                          <a:solidFill>
                            <a:srgbClr val="000000"/>
                          </a:solidFill>
                          <a:effectLst/>
                        </a:rPr>
                        <a:t>Neural Networks</a:t>
                      </a:r>
                      <a:endParaRPr lang="af-ZA" altLang="zh-TW" dirty="0">
                        <a:effectLst/>
                      </a:endParaRPr>
                    </a:p>
                  </a:txBody>
                  <a:tcPr marL="0" marR="0" marT="0" marB="0" anchor="ctr"/>
                </a:tc>
                <a:extLst>
                  <a:ext uri="{0D108BD9-81ED-4DB2-BD59-A6C34878D82A}">
                    <a16:rowId xmlns:a16="http://schemas.microsoft.com/office/drawing/2014/main" val="559661260"/>
                  </a:ext>
                </a:extLst>
              </a:tr>
            </a:tbl>
          </a:graphicData>
        </a:graphic>
      </p:graphicFrame>
      <p:graphicFrame>
        <p:nvGraphicFramePr>
          <p:cNvPr id="15" name="表格 14">
            <a:extLst>
              <a:ext uri="{FF2B5EF4-FFF2-40B4-BE49-F238E27FC236}">
                <a16:creationId xmlns:a16="http://schemas.microsoft.com/office/drawing/2014/main" id="{22225562-74AF-9500-924B-6B5040A3D388}"/>
              </a:ext>
            </a:extLst>
          </p:cNvPr>
          <p:cNvGraphicFramePr>
            <a:graphicFrameLocks noGrp="1"/>
          </p:cNvGraphicFramePr>
          <p:nvPr/>
        </p:nvGraphicFramePr>
        <p:xfrm>
          <a:off x="1496458" y="5518594"/>
          <a:ext cx="6096000" cy="741680"/>
        </p:xfrm>
        <a:graphic>
          <a:graphicData uri="http://schemas.openxmlformats.org/drawingml/2006/table">
            <a:tbl>
              <a:tblPr bandRow="1">
                <a:tableStyleId>{5C22544A-7EE6-4342-B048-85BDC9FD1C3A}</a:tableStyleId>
              </a:tblPr>
              <a:tblGrid>
                <a:gridCol w="1435100">
                  <a:extLst>
                    <a:ext uri="{9D8B030D-6E8A-4147-A177-3AD203B41FA5}">
                      <a16:colId xmlns:a16="http://schemas.microsoft.com/office/drawing/2014/main" val="1842602278"/>
                    </a:ext>
                  </a:extLst>
                </a:gridCol>
                <a:gridCol w="4660900">
                  <a:extLst>
                    <a:ext uri="{9D8B030D-6E8A-4147-A177-3AD203B41FA5}">
                      <a16:colId xmlns:a16="http://schemas.microsoft.com/office/drawing/2014/main" val="1240883413"/>
                    </a:ext>
                  </a:extLst>
                </a:gridCol>
              </a:tblGrid>
              <a:tr h="370840">
                <a:tc>
                  <a:txBody>
                    <a:bodyPr/>
                    <a:lstStyle/>
                    <a:p>
                      <a:pPr marL="0" algn="l" rtl="0" eaLnBrk="1" latinLnBrk="0" hangingPunct="1">
                        <a:buNone/>
                      </a:pPr>
                      <a:r>
                        <a:rPr lang="en-US" sz="1800" kern="1200" dirty="0">
                          <a:solidFill>
                            <a:srgbClr val="000000"/>
                          </a:solidFill>
                          <a:effectLst/>
                        </a:rPr>
                        <a:t>70%/ 2,862</a:t>
                      </a:r>
                      <a:endParaRPr lang="en-US" altLang="zh-TW">
                        <a:solidFill>
                          <a:srgbClr val="000000"/>
                        </a:solidFill>
                        <a:effectLst/>
                      </a:endParaRPr>
                    </a:p>
                  </a:txBody>
                  <a:tcPr marL="0" marR="0" marT="0" marB="0" anchor="ctr"/>
                </a:tc>
                <a:tc>
                  <a:txBody>
                    <a:bodyPr/>
                    <a:lstStyle/>
                    <a:p>
                      <a:pPr marL="0" algn="l" rtl="0" eaLnBrk="1" latinLnBrk="0" hangingPunct="1">
                        <a:buNone/>
                      </a:pPr>
                      <a:r>
                        <a:rPr lang="en-US" sz="1800" kern="1200" dirty="0">
                          <a:solidFill>
                            <a:srgbClr val="000000"/>
                          </a:solidFill>
                          <a:effectLst/>
                        </a:rPr>
                        <a:t>Estimated for training use</a:t>
                      </a:r>
                      <a:endParaRPr lang="en-US" altLang="zh-TW" dirty="0">
                        <a:solidFill>
                          <a:srgbClr val="000000"/>
                        </a:solidFill>
                        <a:effectLst/>
                      </a:endParaRPr>
                    </a:p>
                  </a:txBody>
                  <a:tcPr marL="0" marR="0" marT="0" marB="0" anchor="ctr"/>
                </a:tc>
                <a:extLst>
                  <a:ext uri="{0D108BD9-81ED-4DB2-BD59-A6C34878D82A}">
                    <a16:rowId xmlns:a16="http://schemas.microsoft.com/office/drawing/2014/main" val="1804589958"/>
                  </a:ext>
                </a:extLst>
              </a:tr>
              <a:tr h="370840">
                <a:tc>
                  <a:txBody>
                    <a:bodyPr/>
                    <a:lstStyle/>
                    <a:p>
                      <a:pPr marL="0" algn="l" rtl="0" eaLnBrk="1" latinLnBrk="0" hangingPunct="1">
                        <a:buNone/>
                      </a:pPr>
                      <a:r>
                        <a:rPr lang="en-US" sz="1800" kern="1200" dirty="0">
                          <a:solidFill>
                            <a:srgbClr val="000000"/>
                          </a:solidFill>
                          <a:effectLst/>
                        </a:rPr>
                        <a:t>30%/ 1,227</a:t>
                      </a:r>
                      <a:endParaRPr lang="en-US" altLang="zh-TW" dirty="0">
                        <a:effectLst/>
                      </a:endParaRPr>
                    </a:p>
                  </a:txBody>
                  <a:tcPr marL="0" marR="0" marT="0" marB="0" anchor="ctr"/>
                </a:tc>
                <a:tc>
                  <a:txBody>
                    <a:bodyPr/>
                    <a:lstStyle/>
                    <a:p>
                      <a:pPr marL="0" algn="l" rtl="0" eaLnBrk="1" latinLnBrk="0" hangingPunct="1">
                        <a:buNone/>
                      </a:pPr>
                      <a:r>
                        <a:rPr lang="en-US" sz="1800" kern="1200" dirty="0">
                          <a:solidFill>
                            <a:srgbClr val="000000"/>
                          </a:solidFill>
                          <a:effectLst/>
                        </a:rPr>
                        <a:t>reserved for prediction testing</a:t>
                      </a:r>
                      <a:endParaRPr lang="en-US" altLang="zh-TW" dirty="0">
                        <a:effectLst/>
                      </a:endParaRPr>
                    </a:p>
                  </a:txBody>
                  <a:tcPr marL="0" marR="0" marT="0" marB="0" anchor="ctr"/>
                </a:tc>
                <a:extLst>
                  <a:ext uri="{0D108BD9-81ED-4DB2-BD59-A6C34878D82A}">
                    <a16:rowId xmlns:a16="http://schemas.microsoft.com/office/drawing/2014/main" val="799350592"/>
                  </a:ext>
                </a:extLst>
              </a:tr>
            </a:tbl>
          </a:graphicData>
        </a:graphic>
      </p:graphicFrame>
    </p:spTree>
    <p:extLst>
      <p:ext uri="{BB962C8B-B14F-4D97-AF65-F5344CB8AC3E}">
        <p14:creationId xmlns:p14="http://schemas.microsoft.com/office/powerpoint/2010/main" val="4196455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C29F1-A4DE-525B-7C40-4CB851F4D7C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94C3F83-ACD9-AB73-3B27-B78BEDD9D8FF}"/>
              </a:ext>
            </a:extLst>
          </p:cNvPr>
          <p:cNvSpPr>
            <a:spLocks noGrp="1"/>
          </p:cNvSpPr>
          <p:nvPr>
            <p:ph type="title"/>
          </p:nvPr>
        </p:nvSpPr>
        <p:spPr/>
        <p:txBody>
          <a:bodyPr/>
          <a:lstStyle/>
          <a:p>
            <a:pPr indent="57150"/>
            <a:r>
              <a:rPr lang="en-US" dirty="0"/>
              <a:t>Statistical models</a:t>
            </a:r>
            <a:endParaRPr lang="zh-TW" dirty="0"/>
          </a:p>
        </p:txBody>
      </p:sp>
      <p:sp>
        <p:nvSpPr>
          <p:cNvPr id="6" name="Content Placeholder 5">
            <a:extLst>
              <a:ext uri="{FF2B5EF4-FFF2-40B4-BE49-F238E27FC236}">
                <a16:creationId xmlns:a16="http://schemas.microsoft.com/office/drawing/2014/main" id="{A5EED504-FB96-396D-A0FB-9EC210F237CB}"/>
              </a:ext>
            </a:extLst>
          </p:cNvPr>
          <p:cNvSpPr>
            <a:spLocks noGrp="1"/>
          </p:cNvSpPr>
          <p:nvPr>
            <p:ph idx="1"/>
          </p:nvPr>
        </p:nvSpPr>
        <p:spPr>
          <a:xfrm>
            <a:off x="1115568" y="2000627"/>
            <a:ext cx="10177308" cy="4171573"/>
          </a:xfrm>
        </p:spPr>
        <p:txBody>
          <a:bodyPr vert="horz" lIns="91440" tIns="45720" rIns="91440" bIns="45720" rtlCol="0" anchor="t">
            <a:normAutofit/>
          </a:bodyPr>
          <a:lstStyle/>
          <a:p>
            <a:r>
              <a:rPr lang="en-US" dirty="0"/>
              <a:t>The same significant variables were found for both the Ordinal and Multinomial Logit models.</a:t>
            </a:r>
          </a:p>
          <a:p>
            <a:endParaRPr lang="en-US" dirty="0"/>
          </a:p>
          <a:p>
            <a:endParaRPr lang="en-US" dirty="0"/>
          </a:p>
          <a:p>
            <a:endParaRPr lang="en-US" dirty="0"/>
          </a:p>
          <a:p>
            <a:r>
              <a:rPr lang="en-US" dirty="0"/>
              <a:t>Non-Significant Variables: </a:t>
            </a:r>
          </a:p>
          <a:p>
            <a:pPr marL="0" indent="0">
              <a:buNone/>
            </a:pPr>
            <a:r>
              <a:rPr lang="en-US" dirty="0"/>
              <a:t>   Trip duration in either model.</a:t>
            </a:r>
          </a:p>
        </p:txBody>
      </p:sp>
      <p:grpSp>
        <p:nvGrpSpPr>
          <p:cNvPr id="7" name="群組 6">
            <a:extLst>
              <a:ext uri="{FF2B5EF4-FFF2-40B4-BE49-F238E27FC236}">
                <a16:creationId xmlns:a16="http://schemas.microsoft.com/office/drawing/2014/main" id="{F0B24898-FE1B-A31C-D652-BD11223B72C4}"/>
              </a:ext>
            </a:extLst>
          </p:cNvPr>
          <p:cNvGrpSpPr/>
          <p:nvPr/>
        </p:nvGrpSpPr>
        <p:grpSpPr>
          <a:xfrm>
            <a:off x="0" y="6498455"/>
            <a:ext cx="12192000" cy="436832"/>
            <a:chOff x="0" y="6498455"/>
            <a:chExt cx="12192000" cy="436832"/>
          </a:xfrm>
        </p:grpSpPr>
        <p:sp>
          <p:nvSpPr>
            <p:cNvPr id="8" name="矩形: 剪去單一角落 7">
              <a:extLst>
                <a:ext uri="{FF2B5EF4-FFF2-40B4-BE49-F238E27FC236}">
                  <a16:creationId xmlns:a16="http://schemas.microsoft.com/office/drawing/2014/main" id="{065106CC-84A7-A90E-F21E-9E00415FDD83}"/>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F13B97CC-7F5A-3C34-84C5-51BF304854EC}"/>
                </a:ext>
              </a:extLst>
            </p:cNvPr>
            <p:cNvSpPr txBox="1"/>
            <p:nvPr/>
          </p:nvSpPr>
          <p:spPr>
            <a:xfrm>
              <a:off x="97160" y="6535177"/>
              <a:ext cx="4255741" cy="400110"/>
            </a:xfrm>
            <a:prstGeom prst="rect">
              <a:avLst/>
            </a:prstGeom>
            <a:noFill/>
          </p:spPr>
          <p:txBody>
            <a:bodyPr wrap="square" lIns="91440" tIns="45720" rIns="91440" bIns="45720" anchor="t">
              <a:spAutoFit/>
            </a:bodyPr>
            <a:lstStyle/>
            <a:p>
              <a:r>
                <a:rPr lang="en-US" sz="2000" b="1" dirty="0">
                  <a:solidFill>
                    <a:srgbClr val="F9EBE0"/>
                  </a:solidFill>
                </a:rPr>
                <a:t>Results &amp; Evaluation of Models</a:t>
              </a:r>
              <a:endParaRPr lang="zh-TW" dirty="0"/>
            </a:p>
          </p:txBody>
        </p:sp>
        <p:sp>
          <p:nvSpPr>
            <p:cNvPr id="10" name="文字方塊 9">
              <a:extLst>
                <a:ext uri="{FF2B5EF4-FFF2-40B4-BE49-F238E27FC236}">
                  <a16:creationId xmlns:a16="http://schemas.microsoft.com/office/drawing/2014/main" id="{55623CF3-DAA9-6F47-8BF1-6A64D0537D3D}"/>
                </a:ext>
              </a:extLst>
            </p:cNvPr>
            <p:cNvSpPr txBox="1"/>
            <p:nvPr/>
          </p:nvSpPr>
          <p:spPr>
            <a:xfrm>
              <a:off x="8619460" y="6498455"/>
              <a:ext cx="3475380" cy="400110"/>
            </a:xfrm>
            <a:prstGeom prst="rect">
              <a:avLst/>
            </a:prstGeom>
            <a:noFill/>
          </p:spPr>
          <p:txBody>
            <a:bodyPr wrap="square" lIns="91440" tIns="45720" rIns="91440" bIns="45720" anchor="t">
              <a:spAutoFit/>
            </a:bodyPr>
            <a:lstStyle/>
            <a:p>
              <a:pPr algn="r"/>
              <a:r>
                <a:rPr lang="en-US" altLang="zh-TW" sz="2000" b="1" dirty="0">
                  <a:solidFill>
                    <a:srgbClr val="F9EBE0"/>
                  </a:solidFill>
                </a:rPr>
                <a:t>17</a:t>
              </a:r>
              <a:endParaRPr lang="zh-TW" altLang="en-US" sz="2000" b="1" dirty="0">
                <a:solidFill>
                  <a:srgbClr val="F9EBE0"/>
                </a:solidFill>
              </a:endParaRPr>
            </a:p>
          </p:txBody>
        </p:sp>
      </p:grpSp>
      <p:graphicFrame>
        <p:nvGraphicFramePr>
          <p:cNvPr id="3" name="表格 2">
            <a:extLst>
              <a:ext uri="{FF2B5EF4-FFF2-40B4-BE49-F238E27FC236}">
                <a16:creationId xmlns:a16="http://schemas.microsoft.com/office/drawing/2014/main" id="{7D9A746D-8FE9-832F-7D69-56D45032B832}"/>
              </a:ext>
            </a:extLst>
          </p:cNvPr>
          <p:cNvGraphicFramePr>
            <a:graphicFrameLocks noGrp="1"/>
          </p:cNvGraphicFramePr>
          <p:nvPr>
            <p:extLst>
              <p:ext uri="{D42A27DB-BD31-4B8C-83A1-F6EECF244321}">
                <p14:modId xmlns:p14="http://schemas.microsoft.com/office/powerpoint/2010/main" val="624607509"/>
              </p:ext>
            </p:extLst>
          </p:nvPr>
        </p:nvGraphicFramePr>
        <p:xfrm>
          <a:off x="1543910" y="2911205"/>
          <a:ext cx="9104180" cy="1895442"/>
        </p:xfrm>
        <a:graphic>
          <a:graphicData uri="http://schemas.openxmlformats.org/drawingml/2006/table">
            <a:tbl>
              <a:tblPr firstRow="1" bandRow="1">
                <a:tableStyleId>{073A0DAA-6AF3-43AB-8588-CEC1D06C72B9}</a:tableStyleId>
              </a:tblPr>
              <a:tblGrid>
                <a:gridCol w="3060567">
                  <a:extLst>
                    <a:ext uri="{9D8B030D-6E8A-4147-A177-3AD203B41FA5}">
                      <a16:colId xmlns:a16="http://schemas.microsoft.com/office/drawing/2014/main" val="1920359621"/>
                    </a:ext>
                  </a:extLst>
                </a:gridCol>
                <a:gridCol w="2900362">
                  <a:extLst>
                    <a:ext uri="{9D8B030D-6E8A-4147-A177-3AD203B41FA5}">
                      <a16:colId xmlns:a16="http://schemas.microsoft.com/office/drawing/2014/main" val="2606936252"/>
                    </a:ext>
                  </a:extLst>
                </a:gridCol>
                <a:gridCol w="3143251">
                  <a:extLst>
                    <a:ext uri="{9D8B030D-6E8A-4147-A177-3AD203B41FA5}">
                      <a16:colId xmlns:a16="http://schemas.microsoft.com/office/drawing/2014/main" val="2860553453"/>
                    </a:ext>
                  </a:extLst>
                </a:gridCol>
              </a:tblGrid>
              <a:tr h="480931">
                <a:tc>
                  <a:txBody>
                    <a:bodyPr/>
                    <a:lstStyle/>
                    <a:p>
                      <a:pPr marL="0" algn="ctr" rtl="0" eaLnBrk="1" latinLnBrk="0" hangingPunct="1">
                        <a:buNone/>
                      </a:pPr>
                      <a:r>
                        <a:rPr lang="en-US" sz="1800" kern="1200" dirty="0">
                          <a:solidFill>
                            <a:srgbClr val="FFFFFF"/>
                          </a:solidFill>
                          <a:effectLst/>
                        </a:rPr>
                        <a:t>Travel</a:t>
                      </a:r>
                      <a:endParaRPr lang="en-US" altLang="zh-TW" dirty="0">
                        <a:effectLst/>
                      </a:endParaRPr>
                    </a:p>
                  </a:txBody>
                  <a:tcPr marL="0" marR="0" marT="0" marB="0" anchor="ctr"/>
                </a:tc>
                <a:tc>
                  <a:txBody>
                    <a:bodyPr/>
                    <a:lstStyle/>
                    <a:p>
                      <a:pPr marL="0" algn="ctr" rtl="0" eaLnBrk="1" latinLnBrk="0" hangingPunct="1">
                        <a:buNone/>
                      </a:pPr>
                      <a:r>
                        <a:rPr lang="en-US" sz="1800" kern="1200" dirty="0">
                          <a:solidFill>
                            <a:srgbClr val="FFFFFF"/>
                          </a:solidFill>
                          <a:effectLst/>
                        </a:rPr>
                        <a:t>Bus Stop</a:t>
                      </a:r>
                      <a:endParaRPr lang="en-US" altLang="zh-TW" dirty="0">
                        <a:effectLst/>
                      </a:endParaRPr>
                    </a:p>
                  </a:txBody>
                  <a:tcPr marL="0" marR="0" marT="0" marB="0" anchor="ctr"/>
                </a:tc>
                <a:tc>
                  <a:txBody>
                    <a:bodyPr/>
                    <a:lstStyle/>
                    <a:p>
                      <a:pPr marL="0" algn="ctr" rtl="0" eaLnBrk="1" latinLnBrk="0" hangingPunct="1">
                        <a:buNone/>
                      </a:pPr>
                      <a:r>
                        <a:rPr lang="en-US" sz="1800" kern="1200" dirty="0">
                          <a:solidFill>
                            <a:srgbClr val="FFFFFF"/>
                          </a:solidFill>
                          <a:effectLst/>
                        </a:rPr>
                        <a:t>Bus</a:t>
                      </a:r>
                      <a:endParaRPr lang="en-US" altLang="zh-TW" dirty="0">
                        <a:effectLst/>
                      </a:endParaRPr>
                    </a:p>
                  </a:txBody>
                  <a:tcPr marL="0" marR="0" marT="0" marB="0" anchor="ctr"/>
                </a:tc>
                <a:extLst>
                  <a:ext uri="{0D108BD9-81ED-4DB2-BD59-A6C34878D82A}">
                    <a16:rowId xmlns:a16="http://schemas.microsoft.com/office/drawing/2014/main" val="3688385179"/>
                  </a:ext>
                </a:extLst>
              </a:tr>
              <a:tr h="1414511">
                <a:tc>
                  <a:txBody>
                    <a:bodyPr/>
                    <a:lstStyle/>
                    <a:p>
                      <a:pPr marL="283210" indent="-283210" algn="l" rtl="0" eaLnBrk="1" latinLnBrk="0" hangingPunct="1">
                        <a:buClrTx/>
                        <a:buSzPts val="1800"/>
                        <a:buFont typeface="Arial" panose="020B0604020202020204" pitchFamily="34" charset="0"/>
                        <a:buChar char="•"/>
                      </a:pPr>
                      <a:r>
                        <a:rPr lang="en-US" sz="2000" b="1" kern="1200" dirty="0">
                          <a:solidFill>
                            <a:srgbClr val="000000"/>
                          </a:solidFill>
                          <a:effectLst/>
                        </a:rPr>
                        <a:t>Bus occupation</a:t>
                      </a:r>
                      <a:endParaRPr lang="en-US" altLang="zh-TW" sz="2000" b="1" dirty="0">
                        <a:effectLst/>
                      </a:endParaRPr>
                    </a:p>
                    <a:p>
                      <a:pPr marL="283210" lvl="0" indent="-283210" algn="l">
                        <a:buClrTx/>
                        <a:buSzPts val="1800"/>
                        <a:buFont typeface="Arial" panose="020B0604020202020204" pitchFamily="34" charset="0"/>
                        <a:buChar char="•"/>
                      </a:pPr>
                      <a:r>
                        <a:rPr lang="en-US" sz="2000" b="1" kern="1200" dirty="0">
                          <a:solidFill>
                            <a:srgbClr val="000000"/>
                          </a:solidFill>
                          <a:effectLst/>
                        </a:rPr>
                        <a:t>Average waiting time</a:t>
                      </a:r>
                      <a:endParaRPr lang="en-US" altLang="zh-TW" sz="2000" b="1" dirty="0">
                        <a:effectLst/>
                      </a:endParaRPr>
                    </a:p>
                    <a:p>
                      <a:pPr marL="283210" lvl="0" indent="-283210" algn="l">
                        <a:buClrTx/>
                        <a:buSzPts val="1800"/>
                        <a:buFont typeface="Arial" panose="020B0604020202020204" pitchFamily="34" charset="0"/>
                        <a:buChar char="•"/>
                      </a:pPr>
                      <a:r>
                        <a:rPr lang="en-US" sz="2000" kern="1200" dirty="0">
                          <a:solidFill>
                            <a:srgbClr val="000000"/>
                          </a:solidFill>
                          <a:effectLst/>
                        </a:rPr>
                        <a:t>Whether the bus had a full bus stop</a:t>
                      </a:r>
                      <a:endParaRPr lang="en-US" altLang="zh-TW" sz="2000" dirty="0">
                        <a:effectLst/>
                      </a:endParaRPr>
                    </a:p>
                  </a:txBody>
                  <a:tcPr marL="0" marR="0" marT="0" marB="0" anchor="ctr"/>
                </a:tc>
                <a:tc>
                  <a:txBody>
                    <a:bodyPr/>
                    <a:lstStyle/>
                    <a:p>
                      <a:pPr marL="283210" indent="-283210" algn="l" rtl="0" eaLnBrk="1" latinLnBrk="0" hangingPunct="1">
                        <a:buClrTx/>
                        <a:buSzPts val="1800"/>
                        <a:buFont typeface="Arial" panose="020B0604020202020204" pitchFamily="34" charset="0"/>
                        <a:buChar char="•"/>
                      </a:pPr>
                      <a:r>
                        <a:rPr lang="en-US" sz="2000" kern="1200" dirty="0">
                          <a:solidFill>
                            <a:srgbClr val="000000"/>
                          </a:solidFill>
                          <a:effectLst/>
                        </a:rPr>
                        <a:t>Presence of seats at the bus stop</a:t>
                      </a:r>
                      <a:endParaRPr lang="en-US" altLang="zh-TW" sz="2000" dirty="0">
                        <a:effectLst/>
                      </a:endParaRPr>
                    </a:p>
                    <a:p>
                      <a:pPr marL="283210" lvl="0" indent="-283210" algn="l">
                        <a:buClrTx/>
                        <a:buSzPts val="1800"/>
                        <a:buFont typeface="Arial" panose="020B0604020202020204" pitchFamily="34" charset="0"/>
                        <a:buChar char="•"/>
                      </a:pPr>
                      <a:r>
                        <a:rPr lang="en-US" sz="2000" kern="1200" dirty="0">
                          <a:solidFill>
                            <a:srgbClr val="000000"/>
                          </a:solidFill>
                          <a:effectLst/>
                        </a:rPr>
                        <a:t>Presence of lighting at the bus stop</a:t>
                      </a:r>
                      <a:endParaRPr lang="en-US" altLang="zh-TW" sz="2000" dirty="0">
                        <a:effectLst/>
                      </a:endParaRPr>
                    </a:p>
                  </a:txBody>
                  <a:tcPr marL="0" marR="0" marT="0" marB="0" anchor="ctr"/>
                </a:tc>
                <a:tc>
                  <a:txBody>
                    <a:bodyPr/>
                    <a:lstStyle/>
                    <a:p>
                      <a:pPr marL="283210" indent="-283210" algn="l" rtl="0" eaLnBrk="1" latinLnBrk="0" hangingPunct="1">
                        <a:buClrTx/>
                        <a:buSzPts val="1800"/>
                        <a:buFont typeface="Arial" panose="020B0604020202020204" pitchFamily="34" charset="0"/>
                        <a:buChar char="•"/>
                      </a:pPr>
                      <a:r>
                        <a:rPr lang="en-US" sz="2000" kern="1200" dirty="0">
                          <a:solidFill>
                            <a:srgbClr val="000000"/>
                          </a:solidFill>
                          <a:effectLst/>
                        </a:rPr>
                        <a:t>The condition of the bus (good or bad)</a:t>
                      </a:r>
                      <a:endParaRPr lang="en-US" altLang="zh-TW" sz="2000" dirty="0">
                        <a:effectLst/>
                      </a:endParaRPr>
                    </a:p>
                    <a:p>
                      <a:pPr marL="283210" lvl="0" indent="-283210" algn="l">
                        <a:buClrTx/>
                        <a:buSzPts val="1800"/>
                        <a:buFont typeface="Arial" panose="020B0604020202020204" pitchFamily="34" charset="0"/>
                        <a:buChar char="•"/>
                      </a:pPr>
                      <a:r>
                        <a:rPr lang="en-US" sz="2000" kern="1200" dirty="0">
                          <a:solidFill>
                            <a:srgbClr val="000000"/>
                          </a:solidFill>
                          <a:effectLst/>
                        </a:rPr>
                        <a:t>Whether the bus was clean or not</a:t>
                      </a:r>
                      <a:endParaRPr lang="en-US" altLang="zh-TW" sz="2000" dirty="0">
                        <a:effectLst/>
                      </a:endParaRPr>
                    </a:p>
                  </a:txBody>
                  <a:tcPr marL="0" marR="0" marT="0" marB="0" anchor="ctr"/>
                </a:tc>
                <a:extLst>
                  <a:ext uri="{0D108BD9-81ED-4DB2-BD59-A6C34878D82A}">
                    <a16:rowId xmlns:a16="http://schemas.microsoft.com/office/drawing/2014/main" val="2209601587"/>
                  </a:ext>
                </a:extLst>
              </a:tr>
            </a:tbl>
          </a:graphicData>
        </a:graphic>
      </p:graphicFrame>
    </p:spTree>
    <p:extLst>
      <p:ext uri="{BB962C8B-B14F-4D97-AF65-F5344CB8AC3E}">
        <p14:creationId xmlns:p14="http://schemas.microsoft.com/office/powerpoint/2010/main" val="470199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0417B-0D6A-40B2-B15E-2C451C7612E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05BD41F-A69F-2525-82E4-F45CAFE7B05A}"/>
              </a:ext>
            </a:extLst>
          </p:cNvPr>
          <p:cNvSpPr>
            <a:spLocks noGrp="1"/>
          </p:cNvSpPr>
          <p:nvPr>
            <p:ph type="title"/>
          </p:nvPr>
        </p:nvSpPr>
        <p:spPr/>
        <p:txBody>
          <a:bodyPr/>
          <a:lstStyle/>
          <a:p>
            <a:pPr indent="57150"/>
            <a:r>
              <a:rPr lang="en-US" dirty="0"/>
              <a:t>Comparison of Model Performance</a:t>
            </a:r>
            <a:endParaRPr lang="zh-TW" dirty="0"/>
          </a:p>
        </p:txBody>
      </p:sp>
      <p:sp>
        <p:nvSpPr>
          <p:cNvPr id="6" name="Content Placeholder 5">
            <a:extLst>
              <a:ext uri="{FF2B5EF4-FFF2-40B4-BE49-F238E27FC236}">
                <a16:creationId xmlns:a16="http://schemas.microsoft.com/office/drawing/2014/main" id="{DC07869D-0A30-DEAA-A719-E4992CE10E8C}"/>
              </a:ext>
            </a:extLst>
          </p:cNvPr>
          <p:cNvSpPr>
            <a:spLocks noGrp="1"/>
          </p:cNvSpPr>
          <p:nvPr>
            <p:ph idx="1"/>
          </p:nvPr>
        </p:nvSpPr>
        <p:spPr>
          <a:xfrm>
            <a:off x="1115568" y="1868428"/>
            <a:ext cx="10572079" cy="1027174"/>
          </a:xfrm>
        </p:spPr>
        <p:txBody>
          <a:bodyPr vert="horz" lIns="91440" tIns="45720" rIns="91440" bIns="45720" rtlCol="0" anchor="t">
            <a:normAutofit/>
          </a:bodyPr>
          <a:lstStyle/>
          <a:p>
            <a:r>
              <a:rPr lang="en-US" sz="2400" dirty="0"/>
              <a:t>ML models provide better predictive performance.</a:t>
            </a:r>
            <a:endParaRPr lang="zh-TW" altLang="en-US" sz="2400" dirty="0"/>
          </a:p>
          <a:p>
            <a:r>
              <a:rPr lang="en-US" sz="2400" dirty="0"/>
              <a:t>Random Forest is top, followed by SVM and Neural Networks.</a:t>
            </a:r>
          </a:p>
          <a:p>
            <a:endParaRPr lang="en-US" sz="2400" dirty="0"/>
          </a:p>
          <a:p>
            <a:endParaRPr lang="en-US" dirty="0"/>
          </a:p>
          <a:p>
            <a:endParaRPr lang="en-US" dirty="0"/>
          </a:p>
          <a:p>
            <a:endParaRPr lang="en-US" dirty="0"/>
          </a:p>
          <a:p>
            <a:pPr marL="0" indent="0">
              <a:buNone/>
            </a:pPr>
            <a:endParaRPr lang="en-US" dirty="0"/>
          </a:p>
          <a:p>
            <a:endParaRPr lang="en-US" dirty="0"/>
          </a:p>
          <a:p>
            <a:endParaRPr lang="en-US" dirty="0"/>
          </a:p>
        </p:txBody>
      </p:sp>
      <p:grpSp>
        <p:nvGrpSpPr>
          <p:cNvPr id="7" name="群組 6">
            <a:extLst>
              <a:ext uri="{FF2B5EF4-FFF2-40B4-BE49-F238E27FC236}">
                <a16:creationId xmlns:a16="http://schemas.microsoft.com/office/drawing/2014/main" id="{285FFD99-5B14-9B37-384F-C739E7ABAC22}"/>
              </a:ext>
            </a:extLst>
          </p:cNvPr>
          <p:cNvGrpSpPr/>
          <p:nvPr/>
        </p:nvGrpSpPr>
        <p:grpSpPr>
          <a:xfrm>
            <a:off x="0" y="6498455"/>
            <a:ext cx="12192000" cy="436832"/>
            <a:chOff x="0" y="6498455"/>
            <a:chExt cx="12192000" cy="436832"/>
          </a:xfrm>
        </p:grpSpPr>
        <p:sp>
          <p:nvSpPr>
            <p:cNvPr id="8" name="矩形: 剪去單一角落 7">
              <a:extLst>
                <a:ext uri="{FF2B5EF4-FFF2-40B4-BE49-F238E27FC236}">
                  <a16:creationId xmlns:a16="http://schemas.microsoft.com/office/drawing/2014/main" id="{95E0EA47-09DB-8C5A-C11A-108F43EFE614}"/>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12142F15-71F6-C36E-05E3-8BCDFDFBA701}"/>
                </a:ext>
              </a:extLst>
            </p:cNvPr>
            <p:cNvSpPr txBox="1"/>
            <p:nvPr/>
          </p:nvSpPr>
          <p:spPr>
            <a:xfrm>
              <a:off x="97160" y="6535177"/>
              <a:ext cx="4255741" cy="400110"/>
            </a:xfrm>
            <a:prstGeom prst="rect">
              <a:avLst/>
            </a:prstGeom>
            <a:noFill/>
          </p:spPr>
          <p:txBody>
            <a:bodyPr wrap="square" lIns="91440" tIns="45720" rIns="91440" bIns="45720" anchor="t">
              <a:spAutoFit/>
            </a:bodyPr>
            <a:lstStyle/>
            <a:p>
              <a:r>
                <a:rPr lang="en-US" sz="2000" b="1" dirty="0">
                  <a:solidFill>
                    <a:srgbClr val="F9EBE0"/>
                  </a:solidFill>
                </a:rPr>
                <a:t>Results &amp; Evaluation of Models</a:t>
              </a:r>
              <a:endParaRPr lang="zh-TW" dirty="0"/>
            </a:p>
          </p:txBody>
        </p:sp>
        <p:sp>
          <p:nvSpPr>
            <p:cNvPr id="10" name="文字方塊 9">
              <a:extLst>
                <a:ext uri="{FF2B5EF4-FFF2-40B4-BE49-F238E27FC236}">
                  <a16:creationId xmlns:a16="http://schemas.microsoft.com/office/drawing/2014/main" id="{2A8CF5CD-3941-9F83-AE21-1DE9C653E5CE}"/>
                </a:ext>
              </a:extLst>
            </p:cNvPr>
            <p:cNvSpPr txBox="1"/>
            <p:nvPr/>
          </p:nvSpPr>
          <p:spPr>
            <a:xfrm>
              <a:off x="8619460" y="6498455"/>
              <a:ext cx="3475380" cy="400110"/>
            </a:xfrm>
            <a:prstGeom prst="rect">
              <a:avLst/>
            </a:prstGeom>
            <a:noFill/>
          </p:spPr>
          <p:txBody>
            <a:bodyPr wrap="square" lIns="91440" tIns="45720" rIns="91440" bIns="45720" anchor="t">
              <a:spAutoFit/>
            </a:bodyPr>
            <a:lstStyle/>
            <a:p>
              <a:pPr algn="r"/>
              <a:r>
                <a:rPr lang="en-US" altLang="zh-TW" sz="2000" b="1" dirty="0">
                  <a:solidFill>
                    <a:srgbClr val="F9EBE0"/>
                  </a:solidFill>
                </a:rPr>
                <a:t>18</a:t>
              </a:r>
              <a:endParaRPr lang="zh-TW" altLang="en-US" sz="2000" b="1" dirty="0">
                <a:solidFill>
                  <a:srgbClr val="F9EBE0"/>
                </a:solidFill>
              </a:endParaRPr>
            </a:p>
          </p:txBody>
        </p:sp>
      </p:grpSp>
      <p:graphicFrame>
        <p:nvGraphicFramePr>
          <p:cNvPr id="4" name="表格 3">
            <a:extLst>
              <a:ext uri="{FF2B5EF4-FFF2-40B4-BE49-F238E27FC236}">
                <a16:creationId xmlns:a16="http://schemas.microsoft.com/office/drawing/2014/main" id="{B653B2B1-21E4-2169-ED3D-A5B9ECA182C0}"/>
              </a:ext>
            </a:extLst>
          </p:cNvPr>
          <p:cNvGraphicFramePr>
            <a:graphicFrameLocks noGrp="1"/>
          </p:cNvGraphicFramePr>
          <p:nvPr>
            <p:extLst>
              <p:ext uri="{D42A27DB-BD31-4B8C-83A1-F6EECF244321}">
                <p14:modId xmlns:p14="http://schemas.microsoft.com/office/powerpoint/2010/main" val="2927663319"/>
              </p:ext>
            </p:extLst>
          </p:nvPr>
        </p:nvGraphicFramePr>
        <p:xfrm>
          <a:off x="2013602" y="2916544"/>
          <a:ext cx="8776009" cy="3537966"/>
        </p:xfrm>
        <a:graphic>
          <a:graphicData uri="http://schemas.openxmlformats.org/drawingml/2006/table">
            <a:tbl>
              <a:tblPr firstRow="1" firstCol="1" bandRow="1">
                <a:tableStyleId>{073A0DAA-6AF3-43AB-8588-CEC1D06C72B9}</a:tableStyleId>
              </a:tblPr>
              <a:tblGrid>
                <a:gridCol w="1393988">
                  <a:extLst>
                    <a:ext uri="{9D8B030D-6E8A-4147-A177-3AD203B41FA5}">
                      <a16:colId xmlns:a16="http://schemas.microsoft.com/office/drawing/2014/main" val="3687828559"/>
                    </a:ext>
                  </a:extLst>
                </a:gridCol>
                <a:gridCol w="1006633">
                  <a:extLst>
                    <a:ext uri="{9D8B030D-6E8A-4147-A177-3AD203B41FA5}">
                      <a16:colId xmlns:a16="http://schemas.microsoft.com/office/drawing/2014/main" val="930073105"/>
                    </a:ext>
                  </a:extLst>
                </a:gridCol>
                <a:gridCol w="1589314">
                  <a:extLst>
                    <a:ext uri="{9D8B030D-6E8A-4147-A177-3AD203B41FA5}">
                      <a16:colId xmlns:a16="http://schemas.microsoft.com/office/drawing/2014/main" val="1808751492"/>
                    </a:ext>
                  </a:extLst>
                </a:gridCol>
                <a:gridCol w="1186540">
                  <a:extLst>
                    <a:ext uri="{9D8B030D-6E8A-4147-A177-3AD203B41FA5}">
                      <a16:colId xmlns:a16="http://schemas.microsoft.com/office/drawing/2014/main" val="1840819320"/>
                    </a:ext>
                  </a:extLst>
                </a:gridCol>
                <a:gridCol w="1197428">
                  <a:extLst>
                    <a:ext uri="{9D8B030D-6E8A-4147-A177-3AD203B41FA5}">
                      <a16:colId xmlns:a16="http://schemas.microsoft.com/office/drawing/2014/main" val="656798625"/>
                    </a:ext>
                  </a:extLst>
                </a:gridCol>
                <a:gridCol w="1121223">
                  <a:extLst>
                    <a:ext uri="{9D8B030D-6E8A-4147-A177-3AD203B41FA5}">
                      <a16:colId xmlns:a16="http://schemas.microsoft.com/office/drawing/2014/main" val="223468615"/>
                    </a:ext>
                  </a:extLst>
                </a:gridCol>
                <a:gridCol w="1280883">
                  <a:extLst>
                    <a:ext uri="{9D8B030D-6E8A-4147-A177-3AD203B41FA5}">
                      <a16:colId xmlns:a16="http://schemas.microsoft.com/office/drawing/2014/main" val="56846678"/>
                    </a:ext>
                  </a:extLst>
                </a:gridCol>
              </a:tblGrid>
              <a:tr h="0">
                <a:tc>
                  <a:txBody>
                    <a:bodyPr/>
                    <a:lstStyle/>
                    <a:p>
                      <a:pPr marL="0" indent="92075" algn="l" rtl="0" eaLnBrk="1" latinLnBrk="0" hangingPunct="1">
                        <a:buNone/>
                      </a:pPr>
                      <a:r>
                        <a:rPr lang="en-US" sz="1800" kern="1200" dirty="0">
                          <a:solidFill>
                            <a:schemeClr val="bg1"/>
                          </a:solidFill>
                          <a:effectLst/>
                        </a:rPr>
                        <a:t>Indicator</a:t>
                      </a:r>
                      <a:endParaRPr lang="en-US" altLang="zh-TW" dirty="0">
                        <a:solidFill>
                          <a:schemeClr val="bg1"/>
                        </a:solidFill>
                        <a:effectLst/>
                      </a:endParaRPr>
                    </a:p>
                  </a:txBody>
                  <a:tcPr marL="0" marR="0" marT="0" marB="0" anchor="ctr">
                    <a:lnR w="57150">
                      <a:solidFill>
                        <a:schemeClr val="accent1"/>
                      </a:solidFill>
                    </a:lnR>
                  </a:tcPr>
                </a:tc>
                <a:tc>
                  <a:txBody>
                    <a:bodyPr/>
                    <a:lstStyle/>
                    <a:p>
                      <a:pPr marL="0" marR="0" indent="0" algn="ctr" rtl="0" eaLnBrk="1" fontAlgn="auto" latinLnBrk="0" hangingPunct="1">
                        <a:buNone/>
                      </a:pPr>
                      <a:r>
                        <a:rPr lang="en-US" sz="1800" kern="1200" dirty="0">
                          <a:solidFill>
                            <a:schemeClr val="bg1"/>
                          </a:solidFill>
                          <a:effectLst/>
                        </a:rPr>
                        <a:t>Ordinal Logit</a:t>
                      </a:r>
                      <a:endParaRPr lang="en-US" altLang="zh-TW" dirty="0">
                        <a:solidFill>
                          <a:schemeClr val="bg1"/>
                        </a:solidFill>
                        <a:effectLst/>
                      </a:endParaRPr>
                    </a:p>
                  </a:txBody>
                  <a:tcPr marL="0" marR="0" marT="0" marB="0" anchor="ctr">
                    <a:lnL w="57150">
                      <a:solidFill>
                        <a:schemeClr val="accent1"/>
                      </a:solidFill>
                    </a:lnL>
                    <a:lnT w="57150">
                      <a:solidFill>
                        <a:schemeClr val="accent1"/>
                      </a:solidFill>
                    </a:lnT>
                  </a:tcPr>
                </a:tc>
                <a:tc>
                  <a:txBody>
                    <a:bodyPr/>
                    <a:lstStyle/>
                    <a:p>
                      <a:pPr marL="0" marR="0" indent="0" algn="ctr" rtl="0" eaLnBrk="1" fontAlgn="auto" latinLnBrk="0" hangingPunct="1">
                        <a:buNone/>
                      </a:pPr>
                      <a:r>
                        <a:rPr lang="en-US" sz="1800" kern="1200" dirty="0">
                          <a:solidFill>
                            <a:schemeClr val="bg1"/>
                          </a:solidFill>
                          <a:effectLst/>
                        </a:rPr>
                        <a:t>Multinomial Logit</a:t>
                      </a:r>
                      <a:endParaRPr lang="en-US" altLang="zh-TW" dirty="0">
                        <a:solidFill>
                          <a:schemeClr val="bg1"/>
                        </a:solidFill>
                        <a:effectLst/>
                      </a:endParaRPr>
                    </a:p>
                  </a:txBody>
                  <a:tcPr marL="0" marR="0" marT="0" marB="0" anchor="ctr">
                    <a:lnR w="57150">
                      <a:solidFill>
                        <a:schemeClr val="accent1"/>
                      </a:solidFill>
                    </a:lnR>
                    <a:lnT w="57150">
                      <a:solidFill>
                        <a:schemeClr val="accent1"/>
                      </a:solidFill>
                    </a:lnT>
                  </a:tcPr>
                </a:tc>
                <a:tc>
                  <a:txBody>
                    <a:bodyPr/>
                    <a:lstStyle/>
                    <a:p>
                      <a:pPr marL="0" algn="ctr" rtl="0" eaLnBrk="1" latinLnBrk="0" hangingPunct="1">
                        <a:buNone/>
                      </a:pPr>
                      <a:r>
                        <a:rPr lang="en-US" sz="1800" kern="1200" dirty="0">
                          <a:solidFill>
                            <a:schemeClr val="bg1"/>
                          </a:solidFill>
                          <a:effectLst/>
                        </a:rPr>
                        <a:t>Random Forest</a:t>
                      </a:r>
                      <a:endParaRPr lang="en-US" altLang="zh-TW" dirty="0">
                        <a:solidFill>
                          <a:schemeClr val="bg1"/>
                        </a:solidFill>
                        <a:effectLst/>
                      </a:endParaRPr>
                    </a:p>
                  </a:txBody>
                  <a:tcPr marL="0" marR="0" marT="0" marB="0" anchor="ctr">
                    <a:lnL w="57150">
                      <a:solidFill>
                        <a:schemeClr val="accent1"/>
                      </a:solidFill>
                    </a:lnL>
                    <a:lnT w="57150">
                      <a:solidFill>
                        <a:schemeClr val="accent1"/>
                      </a:solidFill>
                    </a:lnT>
                  </a:tcPr>
                </a:tc>
                <a:tc>
                  <a:txBody>
                    <a:bodyPr/>
                    <a:lstStyle/>
                    <a:p>
                      <a:pPr marL="0" algn="ctr" rtl="0" eaLnBrk="1" latinLnBrk="0" hangingPunct="1">
                        <a:buNone/>
                      </a:pPr>
                      <a:r>
                        <a:rPr lang="en-US" sz="1800" kern="1200" dirty="0">
                          <a:solidFill>
                            <a:schemeClr val="bg1"/>
                          </a:solidFill>
                          <a:effectLst/>
                        </a:rPr>
                        <a:t>Decision Tree</a:t>
                      </a:r>
                      <a:endParaRPr lang="en-US" altLang="zh-TW" dirty="0">
                        <a:solidFill>
                          <a:schemeClr val="bg1"/>
                        </a:solidFill>
                        <a:effectLst/>
                      </a:endParaRPr>
                    </a:p>
                  </a:txBody>
                  <a:tcPr marL="0" marR="0" marT="0" marB="0" anchor="ctr">
                    <a:lnT w="57150">
                      <a:solidFill>
                        <a:schemeClr val="accent1"/>
                      </a:solidFill>
                    </a:lnT>
                  </a:tcPr>
                </a:tc>
                <a:tc>
                  <a:txBody>
                    <a:bodyPr/>
                    <a:lstStyle/>
                    <a:p>
                      <a:pPr marL="0" algn="ctr" rtl="0" eaLnBrk="1" latinLnBrk="0" hangingPunct="1">
                        <a:buNone/>
                      </a:pPr>
                      <a:r>
                        <a:rPr lang="en-US" sz="1800" kern="1200" dirty="0">
                          <a:solidFill>
                            <a:schemeClr val="bg1"/>
                          </a:solidFill>
                          <a:effectLst/>
                        </a:rPr>
                        <a:t>SVM</a:t>
                      </a:r>
                      <a:endParaRPr lang="en-US" altLang="zh-TW" dirty="0">
                        <a:solidFill>
                          <a:schemeClr val="bg1"/>
                        </a:solidFill>
                        <a:effectLst/>
                      </a:endParaRPr>
                    </a:p>
                  </a:txBody>
                  <a:tcPr marL="0" marR="0" marT="0" marB="0" anchor="ctr">
                    <a:lnT w="57150">
                      <a:solidFill>
                        <a:schemeClr val="accent1"/>
                      </a:solidFill>
                    </a:lnT>
                  </a:tcPr>
                </a:tc>
                <a:tc>
                  <a:txBody>
                    <a:bodyPr/>
                    <a:lstStyle/>
                    <a:p>
                      <a:pPr marL="0" algn="ctr" rtl="0" eaLnBrk="1" latinLnBrk="0" hangingPunct="1">
                        <a:buNone/>
                      </a:pPr>
                      <a:r>
                        <a:rPr lang="en-US" sz="1800" kern="1200" dirty="0">
                          <a:solidFill>
                            <a:schemeClr val="bg1"/>
                          </a:solidFill>
                          <a:effectLst/>
                        </a:rPr>
                        <a:t>Neural Networks</a:t>
                      </a:r>
                      <a:endParaRPr lang="en-US" altLang="zh-TW" dirty="0">
                        <a:solidFill>
                          <a:schemeClr val="bg1"/>
                        </a:solidFill>
                        <a:effectLst/>
                      </a:endParaRPr>
                    </a:p>
                  </a:txBody>
                  <a:tcPr marL="0" marR="0" marT="0" marB="0" anchor="ctr">
                    <a:lnR w="57150">
                      <a:solidFill>
                        <a:schemeClr val="accent1"/>
                      </a:solidFill>
                    </a:lnR>
                    <a:lnT w="57150">
                      <a:solidFill>
                        <a:schemeClr val="accent1"/>
                      </a:solidFill>
                    </a:lnT>
                  </a:tcPr>
                </a:tc>
                <a:extLst>
                  <a:ext uri="{0D108BD9-81ED-4DB2-BD59-A6C34878D82A}">
                    <a16:rowId xmlns:a16="http://schemas.microsoft.com/office/drawing/2014/main" val="480244797"/>
                  </a:ext>
                </a:extLst>
              </a:tr>
              <a:tr h="498221">
                <a:tc>
                  <a:txBody>
                    <a:bodyPr/>
                    <a:lstStyle/>
                    <a:p>
                      <a:pPr marL="0" indent="92075" algn="l" rtl="0" eaLnBrk="1" latinLnBrk="0" hangingPunct="1">
                        <a:buNone/>
                      </a:pPr>
                      <a:r>
                        <a:rPr lang="en-US" sz="1800" kern="1200" dirty="0">
                          <a:solidFill>
                            <a:schemeClr val="bg1"/>
                          </a:solidFill>
                          <a:effectLst/>
                        </a:rPr>
                        <a:t>Accuracy</a:t>
                      </a:r>
                      <a:endParaRPr lang="en-US" altLang="zh-TW" dirty="0">
                        <a:solidFill>
                          <a:schemeClr val="bg1"/>
                        </a:solidFill>
                        <a:effectLst/>
                      </a:endParaRPr>
                    </a:p>
                  </a:txBody>
                  <a:tcPr marL="0" marR="0" marT="0" marB="0" anchor="ctr">
                    <a:lnR w="57150">
                      <a:solidFill>
                        <a:schemeClr val="accent1"/>
                      </a:solidFill>
                    </a:lnR>
                  </a:tcPr>
                </a:tc>
                <a:tc>
                  <a:txBody>
                    <a:bodyPr/>
                    <a:lstStyle/>
                    <a:p>
                      <a:pPr marL="0" algn="ctr" rtl="0" eaLnBrk="1" latinLnBrk="0" hangingPunct="1">
                        <a:buNone/>
                      </a:pPr>
                      <a:r>
                        <a:rPr lang="en-US" sz="1800" kern="1200" dirty="0">
                          <a:solidFill>
                            <a:srgbClr val="000000"/>
                          </a:solidFill>
                          <a:effectLst/>
                        </a:rPr>
                        <a:t>0.66</a:t>
                      </a:r>
                      <a:endParaRPr lang="en-US" altLang="zh-TW" dirty="0">
                        <a:effectLst/>
                      </a:endParaRPr>
                    </a:p>
                  </a:txBody>
                  <a:tcPr marL="0" marR="0" marT="0" marB="0" anchor="ctr">
                    <a:lnL w="57150">
                      <a:solidFill>
                        <a:schemeClr val="accent1"/>
                      </a:solidFill>
                    </a:lnL>
                  </a:tcPr>
                </a:tc>
                <a:tc>
                  <a:txBody>
                    <a:bodyPr/>
                    <a:lstStyle/>
                    <a:p>
                      <a:pPr marL="0" algn="ctr" rtl="0" eaLnBrk="1" latinLnBrk="0" hangingPunct="1">
                        <a:buNone/>
                      </a:pPr>
                      <a:r>
                        <a:rPr lang="en-US" sz="1800" kern="1200" dirty="0">
                          <a:solidFill>
                            <a:srgbClr val="000000"/>
                          </a:solidFill>
                          <a:effectLst/>
                        </a:rPr>
                        <a:t>0.66</a:t>
                      </a:r>
                      <a:endParaRPr lang="en-US" altLang="zh-TW" dirty="0">
                        <a:effectLst/>
                      </a:endParaRPr>
                    </a:p>
                  </a:txBody>
                  <a:tcPr marL="0" marR="0" marT="0" marB="0" anchor="ctr">
                    <a:lnR w="57150">
                      <a:solidFill>
                        <a:schemeClr val="accent1"/>
                      </a:solidFill>
                    </a:lnR>
                  </a:tcPr>
                </a:tc>
                <a:tc>
                  <a:txBody>
                    <a:bodyPr/>
                    <a:lstStyle/>
                    <a:p>
                      <a:pPr marL="0" algn="ctr" rtl="0" eaLnBrk="1" latinLnBrk="0" hangingPunct="1">
                        <a:buNone/>
                      </a:pPr>
                      <a:r>
                        <a:rPr lang="en-US" sz="1800" b="1" kern="1200" dirty="0">
                          <a:solidFill>
                            <a:srgbClr val="FF0000"/>
                          </a:solidFill>
                          <a:effectLst/>
                        </a:rPr>
                        <a:t>0.74</a:t>
                      </a:r>
                      <a:endParaRPr lang="en-US" altLang="zh-TW" b="1" dirty="0">
                        <a:effectLst/>
                      </a:endParaRPr>
                    </a:p>
                  </a:txBody>
                  <a:tcPr marL="0" marR="0" marT="0" marB="0" anchor="ctr">
                    <a:lnL w="57150">
                      <a:solidFill>
                        <a:schemeClr val="accent1"/>
                      </a:solidFill>
                    </a:lnL>
                  </a:tcPr>
                </a:tc>
                <a:tc>
                  <a:txBody>
                    <a:bodyPr/>
                    <a:lstStyle/>
                    <a:p>
                      <a:pPr marL="0" algn="ctr" rtl="0" eaLnBrk="1" latinLnBrk="0" hangingPunct="1">
                        <a:buNone/>
                      </a:pPr>
                      <a:r>
                        <a:rPr lang="en-US" sz="1800" kern="1200" dirty="0">
                          <a:solidFill>
                            <a:srgbClr val="000000"/>
                          </a:solidFill>
                          <a:effectLst/>
                        </a:rPr>
                        <a:t>0.67</a:t>
                      </a:r>
                      <a:endParaRPr lang="en-US" altLang="zh-TW" dirty="0">
                        <a:effectLst/>
                      </a:endParaRPr>
                    </a:p>
                  </a:txBody>
                  <a:tcPr marL="0" marR="0" marT="0" marB="0" anchor="ctr"/>
                </a:tc>
                <a:tc>
                  <a:txBody>
                    <a:bodyPr/>
                    <a:lstStyle/>
                    <a:p>
                      <a:pPr marL="0" algn="ctr" rtl="0" eaLnBrk="1" latinLnBrk="0" hangingPunct="1">
                        <a:buNone/>
                      </a:pPr>
                      <a:r>
                        <a:rPr lang="en-US" sz="1800" kern="1200" dirty="0">
                          <a:solidFill>
                            <a:srgbClr val="000000"/>
                          </a:solidFill>
                          <a:effectLst/>
                        </a:rPr>
                        <a:t>0.71</a:t>
                      </a:r>
                      <a:endParaRPr lang="en-US" altLang="zh-TW" dirty="0">
                        <a:effectLst/>
                      </a:endParaRPr>
                    </a:p>
                  </a:txBody>
                  <a:tcPr marL="0" marR="0" marT="0" marB="0" anchor="ctr"/>
                </a:tc>
                <a:tc>
                  <a:txBody>
                    <a:bodyPr/>
                    <a:lstStyle/>
                    <a:p>
                      <a:pPr marL="0" algn="ctr" rtl="0" eaLnBrk="1" latinLnBrk="0" hangingPunct="1">
                        <a:buNone/>
                      </a:pPr>
                      <a:r>
                        <a:rPr lang="en-US" sz="1800" kern="1200" dirty="0">
                          <a:solidFill>
                            <a:srgbClr val="000000"/>
                          </a:solidFill>
                          <a:effectLst/>
                        </a:rPr>
                        <a:t>0.72</a:t>
                      </a:r>
                      <a:endParaRPr lang="en-US" altLang="zh-TW" dirty="0">
                        <a:effectLst/>
                      </a:endParaRPr>
                    </a:p>
                  </a:txBody>
                  <a:tcPr marL="0" marR="0" marT="0" marB="0" anchor="ctr">
                    <a:lnR w="57150">
                      <a:solidFill>
                        <a:schemeClr val="accent1"/>
                      </a:solidFill>
                    </a:lnR>
                  </a:tcPr>
                </a:tc>
                <a:extLst>
                  <a:ext uri="{0D108BD9-81ED-4DB2-BD59-A6C34878D82A}">
                    <a16:rowId xmlns:a16="http://schemas.microsoft.com/office/drawing/2014/main" val="3807265451"/>
                  </a:ext>
                </a:extLst>
              </a:tr>
              <a:tr h="498221">
                <a:tc>
                  <a:txBody>
                    <a:bodyPr/>
                    <a:lstStyle/>
                    <a:p>
                      <a:pPr marL="0" indent="92075" algn="l" rtl="0" eaLnBrk="1" latinLnBrk="0" hangingPunct="1">
                        <a:buNone/>
                      </a:pPr>
                      <a:r>
                        <a:rPr lang="en-US" sz="1800" kern="1200" dirty="0">
                          <a:solidFill>
                            <a:schemeClr val="bg1"/>
                          </a:solidFill>
                          <a:effectLst/>
                        </a:rPr>
                        <a:t>AUC</a:t>
                      </a:r>
                      <a:endParaRPr lang="en-US" altLang="zh-TW" dirty="0">
                        <a:solidFill>
                          <a:schemeClr val="bg1"/>
                        </a:solidFill>
                        <a:effectLst/>
                      </a:endParaRPr>
                    </a:p>
                  </a:txBody>
                  <a:tcPr marL="0" marR="0" marT="0" marB="0" anchor="ctr">
                    <a:lnR w="57150">
                      <a:solidFill>
                        <a:schemeClr val="accent1"/>
                      </a:solidFill>
                    </a:lnR>
                  </a:tcPr>
                </a:tc>
                <a:tc>
                  <a:txBody>
                    <a:bodyPr/>
                    <a:lstStyle/>
                    <a:p>
                      <a:pPr marL="0" algn="ctr" rtl="0" eaLnBrk="1" latinLnBrk="0" hangingPunct="1">
                        <a:buNone/>
                      </a:pPr>
                      <a:r>
                        <a:rPr lang="en-US" sz="1800" kern="1200" dirty="0">
                          <a:solidFill>
                            <a:srgbClr val="000000"/>
                          </a:solidFill>
                          <a:effectLst/>
                        </a:rPr>
                        <a:t>0.75</a:t>
                      </a:r>
                      <a:endParaRPr lang="en-US" altLang="zh-TW" dirty="0">
                        <a:effectLst/>
                      </a:endParaRPr>
                    </a:p>
                  </a:txBody>
                  <a:tcPr marL="0" marR="0" marT="0" marB="0" anchor="ctr">
                    <a:lnL w="57150">
                      <a:solidFill>
                        <a:schemeClr val="accent1"/>
                      </a:solidFill>
                    </a:lnL>
                  </a:tcPr>
                </a:tc>
                <a:tc>
                  <a:txBody>
                    <a:bodyPr/>
                    <a:lstStyle/>
                    <a:p>
                      <a:pPr marL="0" algn="ctr" rtl="0" eaLnBrk="1" latinLnBrk="0" hangingPunct="1">
                        <a:buNone/>
                      </a:pPr>
                      <a:r>
                        <a:rPr lang="en-US" sz="1800" kern="1200" dirty="0">
                          <a:solidFill>
                            <a:srgbClr val="000000"/>
                          </a:solidFill>
                          <a:effectLst/>
                        </a:rPr>
                        <a:t>0.76</a:t>
                      </a:r>
                      <a:endParaRPr lang="en-US" altLang="zh-TW" dirty="0">
                        <a:effectLst/>
                      </a:endParaRPr>
                    </a:p>
                  </a:txBody>
                  <a:tcPr marL="0" marR="0" marT="0" marB="0" anchor="ctr">
                    <a:lnR w="57150">
                      <a:solidFill>
                        <a:schemeClr val="accent1"/>
                      </a:solidFill>
                    </a:lnR>
                  </a:tcPr>
                </a:tc>
                <a:tc>
                  <a:txBody>
                    <a:bodyPr/>
                    <a:lstStyle/>
                    <a:p>
                      <a:pPr marL="0" algn="ctr" rtl="0" eaLnBrk="1" latinLnBrk="0" hangingPunct="1">
                        <a:buNone/>
                      </a:pPr>
                      <a:r>
                        <a:rPr lang="en-US" sz="1800" b="1" kern="1200" dirty="0">
                          <a:solidFill>
                            <a:srgbClr val="FF0000"/>
                          </a:solidFill>
                          <a:effectLst/>
                        </a:rPr>
                        <a:t>0.83</a:t>
                      </a:r>
                      <a:endParaRPr lang="en-US" altLang="zh-TW" b="1" dirty="0">
                        <a:effectLst/>
                      </a:endParaRPr>
                    </a:p>
                  </a:txBody>
                  <a:tcPr marL="0" marR="0" marT="0" marB="0" anchor="ctr">
                    <a:lnL w="57150">
                      <a:solidFill>
                        <a:schemeClr val="accent1"/>
                      </a:solidFill>
                    </a:lnL>
                  </a:tcPr>
                </a:tc>
                <a:tc>
                  <a:txBody>
                    <a:bodyPr/>
                    <a:lstStyle/>
                    <a:p>
                      <a:pPr marL="0" algn="ctr" rtl="0" eaLnBrk="1" latinLnBrk="0" hangingPunct="1">
                        <a:buNone/>
                      </a:pPr>
                      <a:r>
                        <a:rPr lang="en-US" sz="1800" kern="1200" dirty="0">
                          <a:solidFill>
                            <a:srgbClr val="000000"/>
                          </a:solidFill>
                          <a:effectLst/>
                        </a:rPr>
                        <a:t>0.78</a:t>
                      </a:r>
                      <a:endParaRPr lang="en-US" altLang="zh-TW" dirty="0">
                        <a:effectLst/>
                      </a:endParaRPr>
                    </a:p>
                  </a:txBody>
                  <a:tcPr marL="0" marR="0" marT="0" marB="0" anchor="ctr"/>
                </a:tc>
                <a:tc>
                  <a:txBody>
                    <a:bodyPr/>
                    <a:lstStyle/>
                    <a:p>
                      <a:pPr marL="0" algn="ctr" rtl="0" eaLnBrk="1" latinLnBrk="0" hangingPunct="1">
                        <a:buNone/>
                      </a:pPr>
                      <a:r>
                        <a:rPr lang="en-US" sz="1800" kern="1200" dirty="0">
                          <a:solidFill>
                            <a:srgbClr val="000000"/>
                          </a:solidFill>
                          <a:effectLst/>
                        </a:rPr>
                        <a:t>0.79</a:t>
                      </a:r>
                      <a:endParaRPr lang="en-US" altLang="zh-TW" dirty="0">
                        <a:effectLst/>
                      </a:endParaRPr>
                    </a:p>
                  </a:txBody>
                  <a:tcPr marL="0" marR="0" marT="0" marB="0" anchor="ctr"/>
                </a:tc>
                <a:tc>
                  <a:txBody>
                    <a:bodyPr/>
                    <a:lstStyle/>
                    <a:p>
                      <a:pPr marL="0" algn="ctr" rtl="0" eaLnBrk="1" latinLnBrk="0" hangingPunct="1">
                        <a:buNone/>
                      </a:pPr>
                      <a:r>
                        <a:rPr lang="en-US" sz="1800" kern="1200" dirty="0">
                          <a:solidFill>
                            <a:srgbClr val="000000"/>
                          </a:solidFill>
                          <a:effectLst/>
                        </a:rPr>
                        <a:t>0.77</a:t>
                      </a:r>
                      <a:endParaRPr lang="en-US" altLang="zh-TW" dirty="0">
                        <a:effectLst/>
                      </a:endParaRPr>
                    </a:p>
                  </a:txBody>
                  <a:tcPr marL="0" marR="0" marT="0" marB="0" anchor="ctr">
                    <a:lnR w="57150">
                      <a:solidFill>
                        <a:schemeClr val="accent1"/>
                      </a:solidFill>
                    </a:lnR>
                  </a:tcPr>
                </a:tc>
                <a:extLst>
                  <a:ext uri="{0D108BD9-81ED-4DB2-BD59-A6C34878D82A}">
                    <a16:rowId xmlns:a16="http://schemas.microsoft.com/office/drawing/2014/main" val="3277070021"/>
                  </a:ext>
                </a:extLst>
              </a:tr>
              <a:tr h="498221">
                <a:tc>
                  <a:txBody>
                    <a:bodyPr/>
                    <a:lstStyle/>
                    <a:p>
                      <a:pPr marL="0" indent="92075" algn="l" rtl="0" eaLnBrk="1" latinLnBrk="0" hangingPunct="1">
                        <a:buNone/>
                      </a:pPr>
                      <a:r>
                        <a:rPr lang="en-US" sz="1800" kern="1200" dirty="0">
                          <a:solidFill>
                            <a:schemeClr val="bg1"/>
                          </a:solidFill>
                          <a:effectLst/>
                        </a:rPr>
                        <a:t>Recall</a:t>
                      </a:r>
                      <a:endParaRPr lang="en-US" altLang="zh-TW" dirty="0">
                        <a:solidFill>
                          <a:schemeClr val="bg1"/>
                        </a:solidFill>
                        <a:effectLst/>
                      </a:endParaRPr>
                    </a:p>
                  </a:txBody>
                  <a:tcPr marL="0" marR="0" marT="0" marB="0" anchor="ctr">
                    <a:lnR w="57150">
                      <a:solidFill>
                        <a:schemeClr val="accent1"/>
                      </a:solidFill>
                    </a:lnR>
                  </a:tcPr>
                </a:tc>
                <a:tc>
                  <a:txBody>
                    <a:bodyPr/>
                    <a:lstStyle/>
                    <a:p>
                      <a:pPr marL="0" algn="ctr" rtl="0" eaLnBrk="1" latinLnBrk="0" hangingPunct="1">
                        <a:buNone/>
                      </a:pPr>
                      <a:r>
                        <a:rPr lang="en-US" sz="1800" kern="1200" dirty="0">
                          <a:solidFill>
                            <a:srgbClr val="000000"/>
                          </a:solidFill>
                          <a:effectLst/>
                        </a:rPr>
                        <a:t>0.66</a:t>
                      </a:r>
                      <a:endParaRPr lang="en-US" altLang="zh-TW" dirty="0">
                        <a:effectLst/>
                      </a:endParaRPr>
                    </a:p>
                  </a:txBody>
                  <a:tcPr marL="0" marR="0" marT="0" marB="0" anchor="ctr">
                    <a:lnL w="57150">
                      <a:solidFill>
                        <a:schemeClr val="accent1"/>
                      </a:solidFill>
                    </a:lnL>
                  </a:tcPr>
                </a:tc>
                <a:tc>
                  <a:txBody>
                    <a:bodyPr/>
                    <a:lstStyle/>
                    <a:p>
                      <a:pPr marL="0" algn="ctr" rtl="0" eaLnBrk="1" latinLnBrk="0" hangingPunct="1">
                        <a:buNone/>
                      </a:pPr>
                      <a:r>
                        <a:rPr lang="en-US" sz="1800" kern="1200" dirty="0">
                          <a:solidFill>
                            <a:srgbClr val="000000"/>
                          </a:solidFill>
                          <a:effectLst/>
                        </a:rPr>
                        <a:t>0.67</a:t>
                      </a:r>
                      <a:endParaRPr lang="en-US" altLang="zh-TW" dirty="0">
                        <a:effectLst/>
                      </a:endParaRPr>
                    </a:p>
                  </a:txBody>
                  <a:tcPr marL="0" marR="0" marT="0" marB="0" anchor="ctr">
                    <a:lnR w="57150">
                      <a:solidFill>
                        <a:schemeClr val="accent1"/>
                      </a:solidFill>
                    </a:lnR>
                  </a:tcPr>
                </a:tc>
                <a:tc>
                  <a:txBody>
                    <a:bodyPr/>
                    <a:lstStyle/>
                    <a:p>
                      <a:pPr marL="0" algn="ctr" rtl="0" eaLnBrk="1" latinLnBrk="0" hangingPunct="1">
                        <a:buNone/>
                      </a:pPr>
                      <a:r>
                        <a:rPr lang="en-US" sz="1800" kern="1200" dirty="0">
                          <a:solidFill>
                            <a:srgbClr val="000000"/>
                          </a:solidFill>
                          <a:effectLst/>
                        </a:rPr>
                        <a:t>0.68</a:t>
                      </a:r>
                      <a:endParaRPr lang="en-US" altLang="zh-TW" dirty="0">
                        <a:effectLst/>
                      </a:endParaRPr>
                    </a:p>
                  </a:txBody>
                  <a:tcPr marL="0" marR="0" marT="0" marB="0" anchor="ctr">
                    <a:lnL w="57150">
                      <a:solidFill>
                        <a:schemeClr val="accent1"/>
                      </a:solidFill>
                    </a:lnL>
                  </a:tcPr>
                </a:tc>
                <a:tc>
                  <a:txBody>
                    <a:bodyPr/>
                    <a:lstStyle/>
                    <a:p>
                      <a:pPr marL="0" algn="ctr" rtl="0" eaLnBrk="1" latinLnBrk="0" hangingPunct="1">
                        <a:buNone/>
                      </a:pPr>
                      <a:r>
                        <a:rPr lang="en-US" sz="1800" kern="1200" dirty="0">
                          <a:solidFill>
                            <a:srgbClr val="000000"/>
                          </a:solidFill>
                          <a:effectLst/>
                        </a:rPr>
                        <a:t>0.67</a:t>
                      </a:r>
                      <a:endParaRPr lang="en-US" altLang="zh-TW" dirty="0">
                        <a:effectLst/>
                      </a:endParaRPr>
                    </a:p>
                  </a:txBody>
                  <a:tcPr marL="0" marR="0" marT="0" marB="0" anchor="ctr"/>
                </a:tc>
                <a:tc>
                  <a:txBody>
                    <a:bodyPr/>
                    <a:lstStyle/>
                    <a:p>
                      <a:pPr marL="0" algn="ctr" rtl="0" eaLnBrk="1" latinLnBrk="0" hangingPunct="1">
                        <a:buNone/>
                      </a:pPr>
                      <a:r>
                        <a:rPr lang="en-US" sz="1800" kern="1200" dirty="0">
                          <a:solidFill>
                            <a:srgbClr val="000000"/>
                          </a:solidFill>
                          <a:effectLst/>
                        </a:rPr>
                        <a:t>0.71</a:t>
                      </a:r>
                      <a:endParaRPr lang="en-US" altLang="zh-TW" dirty="0">
                        <a:effectLst/>
                      </a:endParaRPr>
                    </a:p>
                  </a:txBody>
                  <a:tcPr marL="0" marR="0" marT="0" marB="0" anchor="ctr"/>
                </a:tc>
                <a:tc>
                  <a:txBody>
                    <a:bodyPr/>
                    <a:lstStyle/>
                    <a:p>
                      <a:pPr marL="0" algn="ctr" rtl="0" eaLnBrk="1" latinLnBrk="0" hangingPunct="1">
                        <a:buNone/>
                      </a:pPr>
                      <a:r>
                        <a:rPr lang="en-US" sz="1800" b="1" kern="1200" dirty="0">
                          <a:solidFill>
                            <a:srgbClr val="FF0000"/>
                          </a:solidFill>
                          <a:effectLst/>
                        </a:rPr>
                        <a:t>0.69</a:t>
                      </a:r>
                      <a:endParaRPr lang="en-US" altLang="zh-TW" b="1">
                        <a:effectLst/>
                      </a:endParaRPr>
                    </a:p>
                  </a:txBody>
                  <a:tcPr marL="0" marR="0" marT="0" marB="0" anchor="ctr">
                    <a:lnR w="57150">
                      <a:solidFill>
                        <a:schemeClr val="accent1"/>
                      </a:solidFill>
                    </a:lnR>
                  </a:tcPr>
                </a:tc>
                <a:extLst>
                  <a:ext uri="{0D108BD9-81ED-4DB2-BD59-A6C34878D82A}">
                    <a16:rowId xmlns:a16="http://schemas.microsoft.com/office/drawing/2014/main" val="3966486641"/>
                  </a:ext>
                </a:extLst>
              </a:tr>
              <a:tr h="498221">
                <a:tc>
                  <a:txBody>
                    <a:bodyPr/>
                    <a:lstStyle/>
                    <a:p>
                      <a:pPr marL="0" indent="92075" algn="l" rtl="0" eaLnBrk="1" latinLnBrk="0" hangingPunct="1">
                        <a:buNone/>
                      </a:pPr>
                      <a:r>
                        <a:rPr lang="en-US" sz="1800" kern="1200" dirty="0">
                          <a:solidFill>
                            <a:schemeClr val="bg1"/>
                          </a:solidFill>
                          <a:effectLst/>
                        </a:rPr>
                        <a:t>Sensitivity</a:t>
                      </a:r>
                      <a:endParaRPr lang="en-US" altLang="zh-TW" dirty="0">
                        <a:solidFill>
                          <a:schemeClr val="bg1"/>
                        </a:solidFill>
                        <a:effectLst/>
                      </a:endParaRPr>
                    </a:p>
                  </a:txBody>
                  <a:tcPr marL="0" marR="0" marT="0" marB="0" anchor="ctr">
                    <a:lnR w="57150">
                      <a:solidFill>
                        <a:schemeClr val="accent1"/>
                      </a:solidFill>
                    </a:lnR>
                  </a:tcPr>
                </a:tc>
                <a:tc>
                  <a:txBody>
                    <a:bodyPr/>
                    <a:lstStyle/>
                    <a:p>
                      <a:pPr marL="0" algn="ctr" rtl="0" eaLnBrk="1" latinLnBrk="0" hangingPunct="1">
                        <a:buNone/>
                      </a:pPr>
                      <a:r>
                        <a:rPr lang="en-US" sz="1800" kern="1200" dirty="0">
                          <a:solidFill>
                            <a:srgbClr val="000000"/>
                          </a:solidFill>
                          <a:effectLst/>
                        </a:rPr>
                        <a:t>0.66</a:t>
                      </a:r>
                      <a:endParaRPr lang="en-US" altLang="zh-TW" dirty="0">
                        <a:effectLst/>
                      </a:endParaRPr>
                    </a:p>
                  </a:txBody>
                  <a:tcPr marL="0" marR="0" marT="0" marB="0" anchor="ctr">
                    <a:lnL w="57150">
                      <a:solidFill>
                        <a:schemeClr val="accent1"/>
                      </a:solidFill>
                    </a:lnL>
                  </a:tcPr>
                </a:tc>
                <a:tc>
                  <a:txBody>
                    <a:bodyPr/>
                    <a:lstStyle/>
                    <a:p>
                      <a:pPr marL="0" algn="ctr" rtl="0" eaLnBrk="1" latinLnBrk="0" hangingPunct="1">
                        <a:buNone/>
                      </a:pPr>
                      <a:r>
                        <a:rPr lang="en-US" sz="1800" kern="1200" dirty="0">
                          <a:solidFill>
                            <a:srgbClr val="000000"/>
                          </a:solidFill>
                          <a:effectLst/>
                        </a:rPr>
                        <a:t>0.67</a:t>
                      </a:r>
                      <a:endParaRPr lang="en-US" altLang="zh-TW" dirty="0">
                        <a:effectLst/>
                      </a:endParaRPr>
                    </a:p>
                  </a:txBody>
                  <a:tcPr marL="0" marR="0" marT="0" marB="0" anchor="ctr">
                    <a:lnR w="57150">
                      <a:solidFill>
                        <a:schemeClr val="accent1"/>
                      </a:solidFill>
                    </a:lnR>
                  </a:tcPr>
                </a:tc>
                <a:tc>
                  <a:txBody>
                    <a:bodyPr/>
                    <a:lstStyle/>
                    <a:p>
                      <a:pPr marL="0" algn="ctr" rtl="0" eaLnBrk="1" latinLnBrk="0" hangingPunct="1">
                        <a:buNone/>
                      </a:pPr>
                      <a:r>
                        <a:rPr lang="en-US" sz="1800" b="1" kern="1200" dirty="0">
                          <a:solidFill>
                            <a:srgbClr val="FF0000"/>
                          </a:solidFill>
                          <a:effectLst/>
                        </a:rPr>
                        <a:t>0.71</a:t>
                      </a:r>
                      <a:endParaRPr lang="en-US" altLang="zh-TW" b="1">
                        <a:effectLst/>
                      </a:endParaRPr>
                    </a:p>
                  </a:txBody>
                  <a:tcPr marL="0" marR="0" marT="0" marB="0" anchor="ctr">
                    <a:lnL w="57150">
                      <a:solidFill>
                        <a:schemeClr val="accent1"/>
                      </a:solidFill>
                    </a:lnL>
                  </a:tcPr>
                </a:tc>
                <a:tc>
                  <a:txBody>
                    <a:bodyPr/>
                    <a:lstStyle/>
                    <a:p>
                      <a:pPr marL="0" algn="ctr" rtl="0" eaLnBrk="1" latinLnBrk="0" hangingPunct="1">
                        <a:buNone/>
                      </a:pPr>
                      <a:r>
                        <a:rPr lang="en-US" sz="1800" kern="1200" dirty="0">
                          <a:solidFill>
                            <a:srgbClr val="000000"/>
                          </a:solidFill>
                          <a:effectLst/>
                        </a:rPr>
                        <a:t>0.67</a:t>
                      </a:r>
                      <a:endParaRPr lang="en-US" altLang="zh-TW" dirty="0">
                        <a:effectLst/>
                      </a:endParaRPr>
                    </a:p>
                  </a:txBody>
                  <a:tcPr marL="0" marR="0" marT="0" marB="0" anchor="ctr"/>
                </a:tc>
                <a:tc>
                  <a:txBody>
                    <a:bodyPr/>
                    <a:lstStyle/>
                    <a:p>
                      <a:pPr marL="0" algn="ctr" rtl="0" eaLnBrk="1" latinLnBrk="0" hangingPunct="1">
                        <a:buNone/>
                      </a:pPr>
                      <a:r>
                        <a:rPr lang="en-US" sz="1800" b="1" kern="1200" dirty="0">
                          <a:solidFill>
                            <a:srgbClr val="FF0000"/>
                          </a:solidFill>
                          <a:effectLst/>
                        </a:rPr>
                        <a:t>0.71</a:t>
                      </a:r>
                      <a:endParaRPr lang="en-US" altLang="zh-TW" b="1" dirty="0">
                        <a:effectLst/>
                      </a:endParaRPr>
                    </a:p>
                  </a:txBody>
                  <a:tcPr marL="0" marR="0" marT="0" marB="0" anchor="ctr"/>
                </a:tc>
                <a:tc>
                  <a:txBody>
                    <a:bodyPr/>
                    <a:lstStyle/>
                    <a:p>
                      <a:pPr marL="0" algn="ctr" rtl="0" eaLnBrk="1" latinLnBrk="0" hangingPunct="1">
                        <a:buNone/>
                      </a:pPr>
                      <a:r>
                        <a:rPr lang="en-US" sz="1800" kern="1200" dirty="0">
                          <a:solidFill>
                            <a:srgbClr val="000000"/>
                          </a:solidFill>
                          <a:effectLst/>
                        </a:rPr>
                        <a:t>0.67</a:t>
                      </a:r>
                      <a:endParaRPr lang="en-US" altLang="zh-TW" dirty="0">
                        <a:effectLst/>
                      </a:endParaRPr>
                    </a:p>
                  </a:txBody>
                  <a:tcPr marL="0" marR="0" marT="0" marB="0" anchor="ctr">
                    <a:lnR w="57150">
                      <a:solidFill>
                        <a:schemeClr val="accent1"/>
                      </a:solidFill>
                    </a:lnR>
                  </a:tcPr>
                </a:tc>
                <a:extLst>
                  <a:ext uri="{0D108BD9-81ED-4DB2-BD59-A6C34878D82A}">
                    <a16:rowId xmlns:a16="http://schemas.microsoft.com/office/drawing/2014/main" val="899401925"/>
                  </a:ext>
                </a:extLst>
              </a:tr>
              <a:tr h="498221">
                <a:tc>
                  <a:txBody>
                    <a:bodyPr/>
                    <a:lstStyle/>
                    <a:p>
                      <a:pPr marL="0" indent="92075" algn="l" rtl="0" eaLnBrk="1" latinLnBrk="0" hangingPunct="1">
                        <a:buNone/>
                      </a:pPr>
                      <a:r>
                        <a:rPr lang="en-US" sz="1800" kern="1200" dirty="0">
                          <a:solidFill>
                            <a:schemeClr val="bg1"/>
                          </a:solidFill>
                          <a:effectLst/>
                        </a:rPr>
                        <a:t>Specificity</a:t>
                      </a:r>
                      <a:endParaRPr lang="en-US" altLang="zh-TW" dirty="0">
                        <a:solidFill>
                          <a:schemeClr val="bg1"/>
                        </a:solidFill>
                        <a:effectLst/>
                      </a:endParaRPr>
                    </a:p>
                  </a:txBody>
                  <a:tcPr marL="0" marR="0" marT="0" marB="0" anchor="ctr">
                    <a:lnR w="57150">
                      <a:solidFill>
                        <a:schemeClr val="accent1"/>
                      </a:solidFill>
                    </a:lnR>
                  </a:tcPr>
                </a:tc>
                <a:tc>
                  <a:txBody>
                    <a:bodyPr/>
                    <a:lstStyle/>
                    <a:p>
                      <a:pPr marL="0" algn="ctr" rtl="0" eaLnBrk="1" latinLnBrk="0" hangingPunct="1">
                        <a:buNone/>
                      </a:pPr>
                      <a:r>
                        <a:rPr lang="en-US" sz="1800" kern="1200" dirty="0">
                          <a:solidFill>
                            <a:srgbClr val="000000"/>
                          </a:solidFill>
                          <a:effectLst/>
                        </a:rPr>
                        <a:t>0.70</a:t>
                      </a:r>
                      <a:endParaRPr lang="en-US" altLang="zh-TW" dirty="0">
                        <a:effectLst/>
                      </a:endParaRPr>
                    </a:p>
                  </a:txBody>
                  <a:tcPr marL="0" marR="0" marT="0" marB="0" anchor="ctr">
                    <a:lnL w="57150">
                      <a:solidFill>
                        <a:schemeClr val="accent1"/>
                      </a:solidFill>
                    </a:lnL>
                  </a:tcPr>
                </a:tc>
                <a:tc>
                  <a:txBody>
                    <a:bodyPr/>
                    <a:lstStyle/>
                    <a:p>
                      <a:pPr marL="0" algn="ctr" rtl="0" eaLnBrk="1" latinLnBrk="0" hangingPunct="1">
                        <a:buNone/>
                      </a:pPr>
                      <a:r>
                        <a:rPr lang="en-US" sz="1800" kern="1200" dirty="0">
                          <a:solidFill>
                            <a:srgbClr val="000000"/>
                          </a:solidFill>
                          <a:effectLst/>
                        </a:rPr>
                        <a:t>0.71</a:t>
                      </a:r>
                      <a:endParaRPr lang="en-US" altLang="zh-TW" dirty="0">
                        <a:effectLst/>
                      </a:endParaRPr>
                    </a:p>
                  </a:txBody>
                  <a:tcPr marL="0" marR="0" marT="0" marB="0" anchor="ctr">
                    <a:lnR w="57150">
                      <a:solidFill>
                        <a:schemeClr val="accent1"/>
                      </a:solidFill>
                    </a:lnR>
                  </a:tcPr>
                </a:tc>
                <a:tc>
                  <a:txBody>
                    <a:bodyPr/>
                    <a:lstStyle/>
                    <a:p>
                      <a:pPr marL="0" algn="ctr" rtl="0" eaLnBrk="1" latinLnBrk="0" hangingPunct="1">
                        <a:buNone/>
                      </a:pPr>
                      <a:r>
                        <a:rPr lang="en-US" sz="1800" b="1" kern="1200" dirty="0">
                          <a:solidFill>
                            <a:srgbClr val="FF0000"/>
                          </a:solidFill>
                          <a:effectLst/>
                        </a:rPr>
                        <a:t>0.78</a:t>
                      </a:r>
                      <a:endParaRPr lang="en-US" altLang="zh-TW" b="1">
                        <a:effectLst/>
                      </a:endParaRPr>
                    </a:p>
                  </a:txBody>
                  <a:tcPr marL="0" marR="0" marT="0" marB="0" anchor="ctr">
                    <a:lnL w="57150">
                      <a:solidFill>
                        <a:schemeClr val="accent1"/>
                      </a:solidFill>
                    </a:lnL>
                  </a:tcPr>
                </a:tc>
                <a:tc>
                  <a:txBody>
                    <a:bodyPr/>
                    <a:lstStyle/>
                    <a:p>
                      <a:pPr marL="0" algn="ctr" rtl="0" eaLnBrk="1" latinLnBrk="0" hangingPunct="1">
                        <a:buNone/>
                      </a:pPr>
                      <a:r>
                        <a:rPr lang="en-US" sz="1800" kern="1200" dirty="0">
                          <a:solidFill>
                            <a:srgbClr val="000000"/>
                          </a:solidFill>
                          <a:effectLst/>
                        </a:rPr>
                        <a:t>0.73</a:t>
                      </a:r>
                      <a:endParaRPr lang="en-US" altLang="zh-TW" dirty="0">
                        <a:effectLst/>
                      </a:endParaRPr>
                    </a:p>
                  </a:txBody>
                  <a:tcPr marL="0" marR="0" marT="0" marB="0" anchor="ctr"/>
                </a:tc>
                <a:tc>
                  <a:txBody>
                    <a:bodyPr/>
                    <a:lstStyle/>
                    <a:p>
                      <a:pPr marL="0" algn="ctr" rtl="0" eaLnBrk="1" latinLnBrk="0" hangingPunct="1">
                        <a:buNone/>
                      </a:pPr>
                      <a:r>
                        <a:rPr lang="en-US" sz="1800" kern="1200" dirty="0">
                          <a:solidFill>
                            <a:srgbClr val="000000"/>
                          </a:solidFill>
                          <a:effectLst/>
                        </a:rPr>
                        <a:t>0.76</a:t>
                      </a:r>
                      <a:endParaRPr lang="en-US" altLang="zh-TW" dirty="0">
                        <a:effectLst/>
                      </a:endParaRPr>
                    </a:p>
                  </a:txBody>
                  <a:tcPr marL="0" marR="0" marT="0" marB="0" anchor="ctr"/>
                </a:tc>
                <a:tc>
                  <a:txBody>
                    <a:bodyPr/>
                    <a:lstStyle/>
                    <a:p>
                      <a:pPr marL="0" algn="ctr" rtl="0" eaLnBrk="1" latinLnBrk="0" hangingPunct="1">
                        <a:buNone/>
                      </a:pPr>
                      <a:r>
                        <a:rPr lang="en-US" sz="1800" kern="1200" dirty="0">
                          <a:solidFill>
                            <a:srgbClr val="000000"/>
                          </a:solidFill>
                          <a:effectLst/>
                        </a:rPr>
                        <a:t>0.74</a:t>
                      </a:r>
                      <a:endParaRPr lang="en-US" altLang="zh-TW" dirty="0">
                        <a:effectLst/>
                      </a:endParaRPr>
                    </a:p>
                  </a:txBody>
                  <a:tcPr marL="0" marR="0" marT="0" marB="0" anchor="ctr">
                    <a:lnR w="57150">
                      <a:solidFill>
                        <a:schemeClr val="accent1"/>
                      </a:solidFill>
                    </a:lnR>
                  </a:tcPr>
                </a:tc>
                <a:extLst>
                  <a:ext uri="{0D108BD9-81ED-4DB2-BD59-A6C34878D82A}">
                    <a16:rowId xmlns:a16="http://schemas.microsoft.com/office/drawing/2014/main" val="2970728216"/>
                  </a:ext>
                </a:extLst>
              </a:tr>
              <a:tr h="498221">
                <a:tc>
                  <a:txBody>
                    <a:bodyPr/>
                    <a:lstStyle/>
                    <a:p>
                      <a:pPr marL="0" indent="92075" algn="l" rtl="0" eaLnBrk="1" latinLnBrk="0" hangingPunct="1">
                        <a:buNone/>
                      </a:pPr>
                      <a:r>
                        <a:rPr lang="en-US" sz="1800" kern="1200" dirty="0">
                          <a:solidFill>
                            <a:schemeClr val="bg1"/>
                          </a:solidFill>
                          <a:effectLst/>
                        </a:rPr>
                        <a:t>F1 Score</a:t>
                      </a:r>
                      <a:endParaRPr lang="en-US" altLang="zh-TW" dirty="0">
                        <a:solidFill>
                          <a:schemeClr val="bg1"/>
                        </a:solidFill>
                        <a:effectLst/>
                      </a:endParaRPr>
                    </a:p>
                  </a:txBody>
                  <a:tcPr marL="0" marR="0" marT="0" marB="0" anchor="ctr">
                    <a:lnR w="57150">
                      <a:solidFill>
                        <a:schemeClr val="accent1"/>
                      </a:solidFill>
                    </a:lnR>
                  </a:tcPr>
                </a:tc>
                <a:tc>
                  <a:txBody>
                    <a:bodyPr/>
                    <a:lstStyle/>
                    <a:p>
                      <a:pPr marL="0" algn="ctr" rtl="0" eaLnBrk="1" latinLnBrk="0" hangingPunct="1">
                        <a:buNone/>
                      </a:pPr>
                      <a:r>
                        <a:rPr lang="en-US" sz="1800" kern="1200" dirty="0">
                          <a:solidFill>
                            <a:srgbClr val="000000"/>
                          </a:solidFill>
                          <a:effectLst/>
                        </a:rPr>
                        <a:t>0.66</a:t>
                      </a:r>
                      <a:endParaRPr lang="en-US" altLang="zh-TW" dirty="0">
                        <a:effectLst/>
                      </a:endParaRPr>
                    </a:p>
                  </a:txBody>
                  <a:tcPr marL="0" marR="0" marT="0" marB="0" anchor="ctr">
                    <a:lnL w="57150">
                      <a:solidFill>
                        <a:schemeClr val="accent1"/>
                      </a:solidFill>
                    </a:lnL>
                    <a:lnB w="57150">
                      <a:solidFill>
                        <a:schemeClr val="accent1"/>
                      </a:solidFill>
                    </a:lnB>
                  </a:tcPr>
                </a:tc>
                <a:tc>
                  <a:txBody>
                    <a:bodyPr/>
                    <a:lstStyle/>
                    <a:p>
                      <a:pPr marL="0" algn="ctr" rtl="0" eaLnBrk="1" latinLnBrk="0" hangingPunct="1">
                        <a:buNone/>
                      </a:pPr>
                      <a:r>
                        <a:rPr lang="en-US" sz="1800" kern="1200" dirty="0">
                          <a:solidFill>
                            <a:srgbClr val="000000"/>
                          </a:solidFill>
                          <a:effectLst/>
                        </a:rPr>
                        <a:t>0.67</a:t>
                      </a:r>
                      <a:endParaRPr lang="en-US" altLang="zh-TW" dirty="0">
                        <a:effectLst/>
                      </a:endParaRPr>
                    </a:p>
                  </a:txBody>
                  <a:tcPr marL="0" marR="0" marT="0" marB="0" anchor="ctr">
                    <a:lnR w="57150">
                      <a:solidFill>
                        <a:schemeClr val="accent1"/>
                      </a:solidFill>
                    </a:lnR>
                    <a:lnB w="57150">
                      <a:solidFill>
                        <a:schemeClr val="accent1"/>
                      </a:solidFill>
                    </a:lnB>
                  </a:tcPr>
                </a:tc>
                <a:tc>
                  <a:txBody>
                    <a:bodyPr/>
                    <a:lstStyle/>
                    <a:p>
                      <a:pPr marL="0" algn="ctr" rtl="0" eaLnBrk="1" latinLnBrk="0" hangingPunct="1">
                        <a:buNone/>
                      </a:pPr>
                      <a:r>
                        <a:rPr lang="en-US" sz="1800" kern="1200" dirty="0">
                          <a:solidFill>
                            <a:srgbClr val="000000"/>
                          </a:solidFill>
                          <a:effectLst/>
                        </a:rPr>
                        <a:t>0.68</a:t>
                      </a:r>
                      <a:endParaRPr lang="en-US" altLang="zh-TW" dirty="0">
                        <a:effectLst/>
                      </a:endParaRPr>
                    </a:p>
                  </a:txBody>
                  <a:tcPr marL="0" marR="0" marT="0" marB="0" anchor="ctr">
                    <a:lnL w="57150">
                      <a:solidFill>
                        <a:schemeClr val="accent1"/>
                      </a:solidFill>
                    </a:lnL>
                    <a:lnB w="57150">
                      <a:solidFill>
                        <a:schemeClr val="accent1"/>
                      </a:solidFill>
                    </a:lnB>
                  </a:tcPr>
                </a:tc>
                <a:tc>
                  <a:txBody>
                    <a:bodyPr/>
                    <a:lstStyle/>
                    <a:p>
                      <a:pPr marL="0" algn="ctr" rtl="0" eaLnBrk="1" latinLnBrk="0" hangingPunct="1">
                        <a:buNone/>
                      </a:pPr>
                      <a:r>
                        <a:rPr lang="en-US" sz="1800" kern="1200" dirty="0">
                          <a:solidFill>
                            <a:srgbClr val="000000"/>
                          </a:solidFill>
                          <a:effectLst/>
                        </a:rPr>
                        <a:t>0.68</a:t>
                      </a:r>
                      <a:endParaRPr lang="en-US" altLang="zh-TW" dirty="0">
                        <a:effectLst/>
                      </a:endParaRPr>
                    </a:p>
                  </a:txBody>
                  <a:tcPr marL="0" marR="0" marT="0" marB="0" anchor="ctr">
                    <a:lnB w="57150">
                      <a:solidFill>
                        <a:schemeClr val="accent1"/>
                      </a:solidFill>
                    </a:lnB>
                  </a:tcPr>
                </a:tc>
                <a:tc>
                  <a:txBody>
                    <a:bodyPr/>
                    <a:lstStyle/>
                    <a:p>
                      <a:pPr marL="0" algn="ctr" rtl="0" eaLnBrk="1" latinLnBrk="0" hangingPunct="1">
                        <a:buNone/>
                      </a:pPr>
                      <a:r>
                        <a:rPr lang="en-US" sz="1800" b="1" kern="1200" dirty="0">
                          <a:solidFill>
                            <a:srgbClr val="FF0000"/>
                          </a:solidFill>
                          <a:effectLst/>
                        </a:rPr>
                        <a:t>0.71</a:t>
                      </a:r>
                      <a:endParaRPr lang="en-US" altLang="zh-TW" b="1">
                        <a:effectLst/>
                      </a:endParaRPr>
                    </a:p>
                  </a:txBody>
                  <a:tcPr marL="0" marR="0" marT="0" marB="0" anchor="ctr">
                    <a:lnB w="57150">
                      <a:solidFill>
                        <a:schemeClr val="accent1"/>
                      </a:solidFill>
                    </a:lnB>
                  </a:tcPr>
                </a:tc>
                <a:tc>
                  <a:txBody>
                    <a:bodyPr/>
                    <a:lstStyle/>
                    <a:p>
                      <a:pPr marL="0" algn="ctr" rtl="0" eaLnBrk="1" latinLnBrk="0" hangingPunct="1">
                        <a:buNone/>
                      </a:pPr>
                      <a:r>
                        <a:rPr lang="en-US" sz="1800" b="1" kern="1200" dirty="0">
                          <a:solidFill>
                            <a:srgbClr val="FF0000"/>
                          </a:solidFill>
                          <a:effectLst/>
                        </a:rPr>
                        <a:t>0.71</a:t>
                      </a:r>
                      <a:endParaRPr lang="en-US" altLang="zh-TW" b="1" dirty="0">
                        <a:effectLst/>
                      </a:endParaRPr>
                    </a:p>
                  </a:txBody>
                  <a:tcPr marL="0" marR="0" marT="0" marB="0" anchor="ctr">
                    <a:lnR w="57150">
                      <a:solidFill>
                        <a:schemeClr val="accent1"/>
                      </a:solidFill>
                    </a:lnR>
                    <a:lnB w="57150">
                      <a:solidFill>
                        <a:schemeClr val="accent1"/>
                      </a:solidFill>
                    </a:lnB>
                  </a:tcPr>
                </a:tc>
                <a:extLst>
                  <a:ext uri="{0D108BD9-81ED-4DB2-BD59-A6C34878D82A}">
                    <a16:rowId xmlns:a16="http://schemas.microsoft.com/office/drawing/2014/main" val="323454945"/>
                  </a:ext>
                </a:extLst>
              </a:tr>
            </a:tbl>
          </a:graphicData>
        </a:graphic>
      </p:graphicFrame>
    </p:spTree>
    <p:extLst>
      <p:ext uri="{BB962C8B-B14F-4D97-AF65-F5344CB8AC3E}">
        <p14:creationId xmlns:p14="http://schemas.microsoft.com/office/powerpoint/2010/main" val="11515218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96AB7-DC48-7C51-66B4-B82872E82F4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15509B8-0A31-942F-7AA0-7F6E614206B4}"/>
              </a:ext>
            </a:extLst>
          </p:cNvPr>
          <p:cNvSpPr>
            <a:spLocks noGrp="1"/>
          </p:cNvSpPr>
          <p:nvPr>
            <p:ph type="title"/>
          </p:nvPr>
        </p:nvSpPr>
        <p:spPr/>
        <p:txBody>
          <a:bodyPr/>
          <a:lstStyle/>
          <a:p>
            <a:pPr indent="57150"/>
            <a:r>
              <a:rPr lang="en-US"/>
              <a:t>Analysis of the Confusion Matrices</a:t>
            </a:r>
            <a:endParaRPr lang="zh-TW"/>
          </a:p>
        </p:txBody>
      </p:sp>
      <p:sp>
        <p:nvSpPr>
          <p:cNvPr id="6" name="Content Placeholder 5">
            <a:extLst>
              <a:ext uri="{FF2B5EF4-FFF2-40B4-BE49-F238E27FC236}">
                <a16:creationId xmlns:a16="http://schemas.microsoft.com/office/drawing/2014/main" id="{BF4D4367-EB97-E195-8908-6030CCEAC320}"/>
              </a:ext>
            </a:extLst>
          </p:cNvPr>
          <p:cNvSpPr>
            <a:spLocks noGrp="1"/>
          </p:cNvSpPr>
          <p:nvPr>
            <p:ph idx="1"/>
          </p:nvPr>
        </p:nvSpPr>
        <p:spPr>
          <a:xfrm>
            <a:off x="811762" y="1794134"/>
            <a:ext cx="10819405" cy="1179576"/>
          </a:xfrm>
        </p:spPr>
        <p:txBody>
          <a:bodyPr vert="horz" lIns="91440" tIns="45720" rIns="91440" bIns="45720" rtlCol="0" anchor="t">
            <a:normAutofit/>
          </a:bodyPr>
          <a:lstStyle/>
          <a:p>
            <a:r>
              <a:rPr lang="en-US" dirty="0"/>
              <a:t>Random Forest model performed slightly better than the others</a:t>
            </a:r>
            <a:r>
              <a:rPr lang="en-US" altLang="zh-TW" dirty="0"/>
              <a:t>.</a:t>
            </a:r>
            <a:endParaRPr lang="en-US" dirty="0"/>
          </a:p>
          <a:p>
            <a:r>
              <a:rPr lang="en-US" altLang="zh-TW" dirty="0"/>
              <a:t>U</a:t>
            </a:r>
            <a:r>
              <a:rPr lang="en-US" dirty="0"/>
              <a:t>se the Random Forest model for the subsequent analysis</a:t>
            </a:r>
            <a:r>
              <a:rPr lang="en-US" altLang="zh-TW" dirty="0"/>
              <a:t>.</a:t>
            </a:r>
            <a:endParaRPr lang="en-US" dirty="0"/>
          </a:p>
        </p:txBody>
      </p:sp>
      <p:grpSp>
        <p:nvGrpSpPr>
          <p:cNvPr id="7" name="群組 6">
            <a:extLst>
              <a:ext uri="{FF2B5EF4-FFF2-40B4-BE49-F238E27FC236}">
                <a16:creationId xmlns:a16="http://schemas.microsoft.com/office/drawing/2014/main" id="{259F982B-E03F-0942-B636-CA94E491BA4C}"/>
              </a:ext>
            </a:extLst>
          </p:cNvPr>
          <p:cNvGrpSpPr/>
          <p:nvPr/>
        </p:nvGrpSpPr>
        <p:grpSpPr>
          <a:xfrm>
            <a:off x="0" y="6498455"/>
            <a:ext cx="12192000" cy="436832"/>
            <a:chOff x="0" y="6498455"/>
            <a:chExt cx="12192000" cy="436832"/>
          </a:xfrm>
        </p:grpSpPr>
        <p:sp>
          <p:nvSpPr>
            <p:cNvPr id="8" name="矩形: 剪去單一角落 7">
              <a:extLst>
                <a:ext uri="{FF2B5EF4-FFF2-40B4-BE49-F238E27FC236}">
                  <a16:creationId xmlns:a16="http://schemas.microsoft.com/office/drawing/2014/main" id="{A8D52814-6AEB-C385-B4D0-ED7638C924F9}"/>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B5520186-A3B9-2EBA-485C-FE74672EFF82}"/>
                </a:ext>
              </a:extLst>
            </p:cNvPr>
            <p:cNvSpPr txBox="1"/>
            <p:nvPr/>
          </p:nvSpPr>
          <p:spPr>
            <a:xfrm>
              <a:off x="97160" y="6535177"/>
              <a:ext cx="4255741" cy="400110"/>
            </a:xfrm>
            <a:prstGeom prst="rect">
              <a:avLst/>
            </a:prstGeom>
            <a:noFill/>
          </p:spPr>
          <p:txBody>
            <a:bodyPr wrap="square" lIns="91440" tIns="45720" rIns="91440" bIns="45720" anchor="t">
              <a:spAutoFit/>
            </a:bodyPr>
            <a:lstStyle/>
            <a:p>
              <a:r>
                <a:rPr lang="en-US" sz="2000" b="1" dirty="0">
                  <a:solidFill>
                    <a:srgbClr val="F9EBE0"/>
                  </a:solidFill>
                </a:rPr>
                <a:t>Results &amp; Evaluation of Models</a:t>
              </a:r>
              <a:endParaRPr lang="zh-TW" dirty="0"/>
            </a:p>
          </p:txBody>
        </p:sp>
        <p:sp>
          <p:nvSpPr>
            <p:cNvPr id="10" name="文字方塊 9">
              <a:extLst>
                <a:ext uri="{FF2B5EF4-FFF2-40B4-BE49-F238E27FC236}">
                  <a16:creationId xmlns:a16="http://schemas.microsoft.com/office/drawing/2014/main" id="{BA5A8B94-1FD5-B4FB-E31A-DCE96C9F39AA}"/>
                </a:ext>
              </a:extLst>
            </p:cNvPr>
            <p:cNvSpPr txBox="1"/>
            <p:nvPr/>
          </p:nvSpPr>
          <p:spPr>
            <a:xfrm>
              <a:off x="8619460" y="6498455"/>
              <a:ext cx="3475380" cy="400110"/>
            </a:xfrm>
            <a:prstGeom prst="rect">
              <a:avLst/>
            </a:prstGeom>
            <a:noFill/>
          </p:spPr>
          <p:txBody>
            <a:bodyPr wrap="square" lIns="91440" tIns="45720" rIns="91440" bIns="45720" anchor="t">
              <a:spAutoFit/>
            </a:bodyPr>
            <a:lstStyle/>
            <a:p>
              <a:pPr algn="r"/>
              <a:r>
                <a:rPr lang="en-US" altLang="zh-TW" sz="2000" b="1" dirty="0">
                  <a:solidFill>
                    <a:srgbClr val="F9EBE0"/>
                  </a:solidFill>
                </a:rPr>
                <a:t>19</a:t>
              </a:r>
              <a:endParaRPr lang="zh-TW" altLang="en-US" sz="2000" b="1" dirty="0">
                <a:solidFill>
                  <a:srgbClr val="F9EBE0"/>
                </a:solidFill>
              </a:endParaRPr>
            </a:p>
          </p:txBody>
        </p:sp>
      </p:grpSp>
      <p:graphicFrame>
        <p:nvGraphicFramePr>
          <p:cNvPr id="3" name="表格 2">
            <a:extLst>
              <a:ext uri="{FF2B5EF4-FFF2-40B4-BE49-F238E27FC236}">
                <a16:creationId xmlns:a16="http://schemas.microsoft.com/office/drawing/2014/main" id="{596A84B4-FB38-3F4B-AF29-878B0501FC46}"/>
              </a:ext>
            </a:extLst>
          </p:cNvPr>
          <p:cNvGraphicFramePr>
            <a:graphicFrameLocks noGrp="1"/>
          </p:cNvGraphicFramePr>
          <p:nvPr>
            <p:extLst>
              <p:ext uri="{D42A27DB-BD31-4B8C-83A1-F6EECF244321}">
                <p14:modId xmlns:p14="http://schemas.microsoft.com/office/powerpoint/2010/main" val="1089195813"/>
              </p:ext>
            </p:extLst>
          </p:nvPr>
        </p:nvGraphicFramePr>
        <p:xfrm>
          <a:off x="2209800" y="2925697"/>
          <a:ext cx="7772400" cy="1828798"/>
        </p:xfrm>
        <a:graphic>
          <a:graphicData uri="http://schemas.openxmlformats.org/drawingml/2006/table">
            <a:tbl>
              <a:tblPr firstRow="1" bandRow="1">
                <a:tableStyleId>{5C22544A-7EE6-4342-B048-85BDC9FD1C3A}</a:tableStyleId>
              </a:tblPr>
              <a:tblGrid>
                <a:gridCol w="777240">
                  <a:extLst>
                    <a:ext uri="{9D8B030D-6E8A-4147-A177-3AD203B41FA5}">
                      <a16:colId xmlns:a16="http://schemas.microsoft.com/office/drawing/2014/main" val="3148818419"/>
                    </a:ext>
                  </a:extLst>
                </a:gridCol>
                <a:gridCol w="777240">
                  <a:extLst>
                    <a:ext uri="{9D8B030D-6E8A-4147-A177-3AD203B41FA5}">
                      <a16:colId xmlns:a16="http://schemas.microsoft.com/office/drawing/2014/main" val="956114827"/>
                    </a:ext>
                  </a:extLst>
                </a:gridCol>
                <a:gridCol w="777240">
                  <a:extLst>
                    <a:ext uri="{9D8B030D-6E8A-4147-A177-3AD203B41FA5}">
                      <a16:colId xmlns:a16="http://schemas.microsoft.com/office/drawing/2014/main" val="4132418997"/>
                    </a:ext>
                  </a:extLst>
                </a:gridCol>
                <a:gridCol w="777240">
                  <a:extLst>
                    <a:ext uri="{9D8B030D-6E8A-4147-A177-3AD203B41FA5}">
                      <a16:colId xmlns:a16="http://schemas.microsoft.com/office/drawing/2014/main" val="388118634"/>
                    </a:ext>
                  </a:extLst>
                </a:gridCol>
                <a:gridCol w="777240">
                  <a:extLst>
                    <a:ext uri="{9D8B030D-6E8A-4147-A177-3AD203B41FA5}">
                      <a16:colId xmlns:a16="http://schemas.microsoft.com/office/drawing/2014/main" val="1510451591"/>
                    </a:ext>
                  </a:extLst>
                </a:gridCol>
                <a:gridCol w="777240">
                  <a:extLst>
                    <a:ext uri="{9D8B030D-6E8A-4147-A177-3AD203B41FA5}">
                      <a16:colId xmlns:a16="http://schemas.microsoft.com/office/drawing/2014/main" val="1623603258"/>
                    </a:ext>
                  </a:extLst>
                </a:gridCol>
                <a:gridCol w="777240">
                  <a:extLst>
                    <a:ext uri="{9D8B030D-6E8A-4147-A177-3AD203B41FA5}">
                      <a16:colId xmlns:a16="http://schemas.microsoft.com/office/drawing/2014/main" val="1292725466"/>
                    </a:ext>
                  </a:extLst>
                </a:gridCol>
                <a:gridCol w="777240">
                  <a:extLst>
                    <a:ext uri="{9D8B030D-6E8A-4147-A177-3AD203B41FA5}">
                      <a16:colId xmlns:a16="http://schemas.microsoft.com/office/drawing/2014/main" val="4202048897"/>
                    </a:ext>
                  </a:extLst>
                </a:gridCol>
                <a:gridCol w="777240">
                  <a:extLst>
                    <a:ext uri="{9D8B030D-6E8A-4147-A177-3AD203B41FA5}">
                      <a16:colId xmlns:a16="http://schemas.microsoft.com/office/drawing/2014/main" val="156150956"/>
                    </a:ext>
                  </a:extLst>
                </a:gridCol>
                <a:gridCol w="777240">
                  <a:extLst>
                    <a:ext uri="{9D8B030D-6E8A-4147-A177-3AD203B41FA5}">
                      <a16:colId xmlns:a16="http://schemas.microsoft.com/office/drawing/2014/main" val="1509409222"/>
                    </a:ext>
                  </a:extLst>
                </a:gridCol>
              </a:tblGrid>
              <a:tr h="321776">
                <a:tc>
                  <a:txBody>
                    <a:bodyPr/>
                    <a:lstStyle/>
                    <a:p>
                      <a:pPr>
                        <a:buNone/>
                      </a:pPr>
                      <a:endParaRPr lang="zh-TW" altLang="en-US">
                        <a:effectLst/>
                      </a:endParaRPr>
                    </a:p>
                  </a:txBody>
                  <a:tcPr marL="0" marR="0" marT="0" marB="0" anchor="ctr"/>
                </a:tc>
                <a:tc gridSpan="3">
                  <a:txBody>
                    <a:bodyPr/>
                    <a:lstStyle/>
                    <a:p>
                      <a:pPr marL="0" marR="0" indent="0" algn="ctr" rtl="0" eaLnBrk="1" fontAlgn="auto" latinLnBrk="0" hangingPunct="1">
                        <a:buNone/>
                      </a:pPr>
                      <a:r>
                        <a:rPr lang="en-US" sz="1800" kern="1200" dirty="0">
                          <a:solidFill>
                            <a:srgbClr val="FFFFFF"/>
                          </a:solidFill>
                          <a:effectLst/>
                        </a:rPr>
                        <a:t>Ordinal Logit</a:t>
                      </a:r>
                      <a:endParaRPr lang="en-US" altLang="zh-TW" dirty="0">
                        <a:effectLst/>
                      </a:endParaRPr>
                    </a:p>
                  </a:txBody>
                  <a:tcPr marL="0" marR="0" marT="0" marB="0" anchor="ctr"/>
                </a:tc>
                <a:tc hMerge="1">
                  <a:txBody>
                    <a:bodyPr/>
                    <a:lstStyle/>
                    <a:p>
                      <a:endParaRPr lang="zh-TW" altLang="en-US"/>
                    </a:p>
                  </a:txBody>
                  <a:tcPr marL="0" marR="0" marT="0" marB="0" horzOverflow="overflow"/>
                </a:tc>
                <a:tc hMerge="1">
                  <a:txBody>
                    <a:bodyPr/>
                    <a:lstStyle/>
                    <a:p>
                      <a:endParaRPr lang="zh-TW" altLang="en-US"/>
                    </a:p>
                  </a:txBody>
                  <a:tcPr marL="0" marR="0" marT="0" marB="0" horzOverflow="overflow"/>
                </a:tc>
                <a:tc gridSpan="3">
                  <a:txBody>
                    <a:bodyPr/>
                    <a:lstStyle/>
                    <a:p>
                      <a:pPr marL="0" marR="0" indent="0" algn="ctr" rtl="0" eaLnBrk="1" fontAlgn="auto" latinLnBrk="0" hangingPunct="1">
                        <a:buNone/>
                      </a:pPr>
                      <a:r>
                        <a:rPr lang="en-US" sz="1800" kern="1200" dirty="0">
                          <a:solidFill>
                            <a:srgbClr val="FFFFFF"/>
                          </a:solidFill>
                          <a:effectLst/>
                        </a:rPr>
                        <a:t>Multinomial Logit</a:t>
                      </a:r>
                      <a:endParaRPr lang="en-US" altLang="zh-TW" dirty="0">
                        <a:effectLst/>
                      </a:endParaRPr>
                    </a:p>
                  </a:txBody>
                  <a:tcPr marL="0" marR="0" marT="0" marB="0" anchor="ctr"/>
                </a:tc>
                <a:tc hMerge="1">
                  <a:txBody>
                    <a:bodyPr/>
                    <a:lstStyle/>
                    <a:p>
                      <a:endParaRPr lang="zh-TW" altLang="en-US"/>
                    </a:p>
                  </a:txBody>
                  <a:tcPr marL="0" marR="0" marT="0" marB="0" horzOverflow="overflow"/>
                </a:tc>
                <a:tc hMerge="1">
                  <a:txBody>
                    <a:bodyPr/>
                    <a:lstStyle/>
                    <a:p>
                      <a:endParaRPr lang="zh-TW" altLang="en-US"/>
                    </a:p>
                  </a:txBody>
                  <a:tcPr marL="0" marR="0" marT="0" marB="0" horzOverflow="overflow"/>
                </a:tc>
                <a:tc gridSpan="3">
                  <a:txBody>
                    <a:bodyPr/>
                    <a:lstStyle/>
                    <a:p>
                      <a:pPr marL="0" marR="0" indent="0" algn="ctr" rtl="0" eaLnBrk="1" fontAlgn="auto" latinLnBrk="0" hangingPunct="1">
                        <a:buNone/>
                      </a:pPr>
                      <a:r>
                        <a:rPr lang="en-US" sz="1800" kern="1200" dirty="0">
                          <a:solidFill>
                            <a:srgbClr val="FFFFFF"/>
                          </a:solidFill>
                          <a:effectLst/>
                        </a:rPr>
                        <a:t>Random Forest</a:t>
                      </a:r>
                      <a:endParaRPr lang="en-US" altLang="zh-TW" dirty="0">
                        <a:effectLst/>
                      </a:endParaRPr>
                    </a:p>
                  </a:txBody>
                  <a:tcPr marL="0" marR="0" marT="0" marB="0" anchor="ctr"/>
                </a:tc>
                <a:tc hMerge="1">
                  <a:txBody>
                    <a:bodyPr/>
                    <a:lstStyle/>
                    <a:p>
                      <a:endParaRPr lang="zh-TW" altLang="en-US"/>
                    </a:p>
                  </a:txBody>
                  <a:tcPr marL="0" marR="0" marT="0" marB="0" horzOverflow="overflow"/>
                </a:tc>
                <a:tc hMerge="1">
                  <a:txBody>
                    <a:bodyPr/>
                    <a:lstStyle/>
                    <a:p>
                      <a:endParaRPr lang="zh-TW" altLang="en-US"/>
                    </a:p>
                  </a:txBody>
                  <a:tcPr marL="0" marR="0" marT="0" marB="0" horzOverflow="overflow"/>
                </a:tc>
                <a:extLst>
                  <a:ext uri="{0D108BD9-81ED-4DB2-BD59-A6C34878D82A}">
                    <a16:rowId xmlns:a16="http://schemas.microsoft.com/office/drawing/2014/main" val="4202463889"/>
                  </a:ext>
                </a:extLst>
              </a:tr>
              <a:tr h="370010">
                <a:tc>
                  <a:txBody>
                    <a:bodyPr/>
                    <a:lstStyle/>
                    <a:p>
                      <a:pPr algn="ctr">
                        <a:buNone/>
                      </a:pPr>
                      <a:endParaRPr lang="zh-TW" altLang="en-US" dirty="0">
                        <a:effectLst/>
                      </a:endParaRPr>
                    </a:p>
                  </a:txBody>
                  <a:tcPr marL="0" marR="0" marT="0" marB="0" anchor="ctr"/>
                </a:tc>
                <a:tc>
                  <a:txBody>
                    <a:bodyPr/>
                    <a:lstStyle/>
                    <a:p>
                      <a:pPr marL="0" algn="ctr" rtl="0" eaLnBrk="1" latinLnBrk="0" hangingPunct="1">
                        <a:buNone/>
                      </a:pPr>
                      <a:r>
                        <a:rPr lang="af-ZA" altLang="zh-TW" sz="1800" kern="1200" dirty="0">
                          <a:solidFill>
                            <a:srgbClr val="000000"/>
                          </a:solidFill>
                          <a:effectLst/>
                        </a:rPr>
                        <a:t>Bad</a:t>
                      </a:r>
                      <a:endParaRPr lang="af-ZA" altLang="zh-TW" dirty="0">
                        <a:effectLst/>
                      </a:endParaRPr>
                    </a:p>
                  </a:txBody>
                  <a:tcPr marL="0" marR="0" marT="0" marB="0" anchor="ctr"/>
                </a:tc>
                <a:tc>
                  <a:txBody>
                    <a:bodyPr/>
                    <a:lstStyle/>
                    <a:p>
                      <a:pPr marL="0" algn="ctr" rtl="0" eaLnBrk="1" latinLnBrk="0" hangingPunct="1">
                        <a:buNone/>
                      </a:pPr>
                      <a:r>
                        <a:rPr lang="af-ZA" altLang="zh-TW" sz="1800" kern="1200" dirty="0">
                          <a:solidFill>
                            <a:srgbClr val="000000"/>
                          </a:solidFill>
                          <a:effectLst/>
                        </a:rPr>
                        <a:t>Avg</a:t>
                      </a:r>
                      <a:endParaRPr lang="af-ZA" altLang="zh-TW" dirty="0">
                        <a:effectLst/>
                      </a:endParaRPr>
                    </a:p>
                  </a:txBody>
                  <a:tcPr marL="0" marR="0" marT="0" marB="0" anchor="ctr"/>
                </a:tc>
                <a:tc>
                  <a:txBody>
                    <a:bodyPr/>
                    <a:lstStyle/>
                    <a:p>
                      <a:pPr marL="0" algn="ctr" rtl="0" eaLnBrk="1" latinLnBrk="0" hangingPunct="1">
                        <a:buNone/>
                      </a:pPr>
                      <a:r>
                        <a:rPr lang="af-ZA" altLang="zh-TW" sz="1800" kern="1200" dirty="0">
                          <a:solidFill>
                            <a:srgbClr val="000000"/>
                          </a:solidFill>
                          <a:effectLst/>
                        </a:rPr>
                        <a:t>Good</a:t>
                      </a:r>
                      <a:endParaRPr lang="af-ZA" altLang="zh-TW" dirty="0">
                        <a:effectLst/>
                      </a:endParaRPr>
                    </a:p>
                  </a:txBody>
                  <a:tcPr marL="0" marR="0" marT="0" marB="0" anchor="ctr"/>
                </a:tc>
                <a:tc>
                  <a:txBody>
                    <a:bodyPr/>
                    <a:lstStyle/>
                    <a:p>
                      <a:pPr marL="0" algn="ctr" rtl="0" eaLnBrk="1" latinLnBrk="0" hangingPunct="1">
                        <a:buNone/>
                      </a:pPr>
                      <a:r>
                        <a:rPr lang="af-ZA" altLang="zh-TW" sz="1800" kern="1200" dirty="0">
                          <a:solidFill>
                            <a:srgbClr val="000000"/>
                          </a:solidFill>
                          <a:effectLst/>
                        </a:rPr>
                        <a:t>Bad</a:t>
                      </a:r>
                      <a:endParaRPr lang="af-ZA" altLang="zh-TW" dirty="0">
                        <a:effectLst/>
                      </a:endParaRPr>
                    </a:p>
                  </a:txBody>
                  <a:tcPr marL="0" marR="0" marT="0" marB="0" anchor="ctr"/>
                </a:tc>
                <a:tc>
                  <a:txBody>
                    <a:bodyPr/>
                    <a:lstStyle/>
                    <a:p>
                      <a:pPr marL="0" algn="ctr" rtl="0" eaLnBrk="1" latinLnBrk="0" hangingPunct="1">
                        <a:buNone/>
                      </a:pPr>
                      <a:r>
                        <a:rPr lang="af-ZA" altLang="zh-TW" sz="1800" kern="1200" err="1">
                          <a:solidFill>
                            <a:srgbClr val="000000"/>
                          </a:solidFill>
                          <a:effectLst/>
                        </a:rPr>
                        <a:t>Avg</a:t>
                      </a:r>
                      <a:endParaRPr lang="af-ZA" altLang="zh-TW" err="1">
                        <a:effectLst/>
                      </a:endParaRPr>
                    </a:p>
                  </a:txBody>
                  <a:tcPr marL="0" marR="0" marT="0" marB="0" anchor="ctr"/>
                </a:tc>
                <a:tc>
                  <a:txBody>
                    <a:bodyPr/>
                    <a:lstStyle/>
                    <a:p>
                      <a:pPr marL="0" algn="ctr" rtl="0" eaLnBrk="1" latinLnBrk="0" hangingPunct="1">
                        <a:buNone/>
                      </a:pPr>
                      <a:r>
                        <a:rPr lang="af-ZA" altLang="zh-TW" sz="1800" kern="1200" err="1">
                          <a:solidFill>
                            <a:srgbClr val="000000"/>
                          </a:solidFill>
                          <a:effectLst/>
                        </a:rPr>
                        <a:t>Good</a:t>
                      </a:r>
                      <a:endParaRPr lang="af-ZA" altLang="zh-TW" err="1">
                        <a:effectLst/>
                      </a:endParaRPr>
                    </a:p>
                  </a:txBody>
                  <a:tcPr marL="0" marR="0" marT="0" marB="0" anchor="ctr"/>
                </a:tc>
                <a:tc>
                  <a:txBody>
                    <a:bodyPr/>
                    <a:lstStyle/>
                    <a:p>
                      <a:pPr marL="0" algn="ctr" rtl="0" eaLnBrk="1" latinLnBrk="0" hangingPunct="1">
                        <a:buNone/>
                      </a:pPr>
                      <a:r>
                        <a:rPr lang="af-ZA" altLang="zh-TW" sz="1800" kern="1200" dirty="0">
                          <a:solidFill>
                            <a:srgbClr val="000000"/>
                          </a:solidFill>
                          <a:effectLst/>
                        </a:rPr>
                        <a:t>Bad</a:t>
                      </a:r>
                      <a:endParaRPr lang="af-ZA" altLang="zh-TW" dirty="0">
                        <a:effectLst/>
                      </a:endParaRPr>
                    </a:p>
                  </a:txBody>
                  <a:tcPr marL="0" marR="0" marT="0" marB="0" anchor="ctr"/>
                </a:tc>
                <a:tc>
                  <a:txBody>
                    <a:bodyPr/>
                    <a:lstStyle/>
                    <a:p>
                      <a:pPr marL="0" algn="ctr" rtl="0" eaLnBrk="1" latinLnBrk="0" hangingPunct="1">
                        <a:buNone/>
                      </a:pPr>
                      <a:r>
                        <a:rPr lang="af-ZA" altLang="zh-TW" sz="1800" kern="1200" err="1">
                          <a:solidFill>
                            <a:srgbClr val="000000"/>
                          </a:solidFill>
                          <a:effectLst/>
                        </a:rPr>
                        <a:t>Avg</a:t>
                      </a:r>
                      <a:endParaRPr lang="af-ZA" altLang="zh-TW" err="1">
                        <a:effectLst/>
                      </a:endParaRPr>
                    </a:p>
                  </a:txBody>
                  <a:tcPr marL="0" marR="0" marT="0" marB="0" anchor="ctr"/>
                </a:tc>
                <a:tc>
                  <a:txBody>
                    <a:bodyPr/>
                    <a:lstStyle/>
                    <a:p>
                      <a:pPr marL="0" algn="ctr" rtl="0" eaLnBrk="1" latinLnBrk="0" hangingPunct="1">
                        <a:buNone/>
                      </a:pPr>
                      <a:r>
                        <a:rPr lang="af-ZA" altLang="zh-TW" sz="1800" kern="1200" err="1">
                          <a:solidFill>
                            <a:srgbClr val="000000"/>
                          </a:solidFill>
                          <a:effectLst/>
                        </a:rPr>
                        <a:t>Good</a:t>
                      </a:r>
                      <a:endParaRPr lang="af-ZA" altLang="zh-TW" err="1">
                        <a:effectLst/>
                      </a:endParaRPr>
                    </a:p>
                  </a:txBody>
                  <a:tcPr marL="0" marR="0" marT="0" marB="0" anchor="ctr"/>
                </a:tc>
                <a:extLst>
                  <a:ext uri="{0D108BD9-81ED-4DB2-BD59-A6C34878D82A}">
                    <a16:rowId xmlns:a16="http://schemas.microsoft.com/office/drawing/2014/main" val="3838137316"/>
                  </a:ext>
                </a:extLst>
              </a:tr>
              <a:tr h="397931">
                <a:tc>
                  <a:txBody>
                    <a:bodyPr/>
                    <a:lstStyle/>
                    <a:p>
                      <a:pPr marL="0" algn="ctr" rtl="0" eaLnBrk="1" latinLnBrk="0" hangingPunct="1">
                        <a:buNone/>
                      </a:pPr>
                      <a:r>
                        <a:rPr lang="af-ZA" altLang="zh-TW" sz="1800" kern="1200" dirty="0">
                          <a:solidFill>
                            <a:srgbClr val="000000"/>
                          </a:solidFill>
                          <a:effectLst/>
                        </a:rPr>
                        <a:t>Bad</a:t>
                      </a:r>
                      <a:endParaRPr lang="af-ZA" altLang="zh-TW" dirty="0">
                        <a:effectLst/>
                      </a:endParaRPr>
                    </a:p>
                  </a:txBody>
                  <a:tcPr marL="0" marR="0" marT="0" marB="0" anchor="ctr"/>
                </a:tc>
                <a:tc>
                  <a:txBody>
                    <a:bodyPr/>
                    <a:lstStyle/>
                    <a:p>
                      <a:pPr marL="0" algn="ctr" rtl="0" eaLnBrk="1" latinLnBrk="0" hangingPunct="1">
                        <a:buNone/>
                      </a:pPr>
                      <a:r>
                        <a:rPr lang="en-US" altLang="zh-TW" sz="1800" kern="1200" dirty="0">
                          <a:solidFill>
                            <a:srgbClr val="000000"/>
                          </a:solidFill>
                          <a:effectLst/>
                        </a:rPr>
                        <a:t>79</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6</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1</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86</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8</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3</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81</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6</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1</a:t>
                      </a:r>
                      <a:endParaRPr lang="zh-TW" altLang="en-US" dirty="0">
                        <a:effectLst/>
                      </a:endParaRPr>
                    </a:p>
                  </a:txBody>
                  <a:tcPr marL="0" marR="0" marT="0" marB="0" anchor="ctr">
                    <a:noFill/>
                  </a:tcPr>
                </a:tc>
                <a:extLst>
                  <a:ext uri="{0D108BD9-81ED-4DB2-BD59-A6C34878D82A}">
                    <a16:rowId xmlns:a16="http://schemas.microsoft.com/office/drawing/2014/main" val="2938117919"/>
                  </a:ext>
                </a:extLst>
              </a:tr>
              <a:tr h="365434">
                <a:tc>
                  <a:txBody>
                    <a:bodyPr/>
                    <a:lstStyle/>
                    <a:p>
                      <a:pPr marL="0" algn="ctr" rtl="0" eaLnBrk="1" latinLnBrk="0" hangingPunct="1">
                        <a:buNone/>
                      </a:pPr>
                      <a:r>
                        <a:rPr lang="af-ZA" altLang="zh-TW" sz="1800" kern="1200" dirty="0" err="1">
                          <a:solidFill>
                            <a:srgbClr val="000000"/>
                          </a:solidFill>
                          <a:effectLst/>
                        </a:rPr>
                        <a:t>Avg</a:t>
                      </a:r>
                      <a:endParaRPr lang="af-ZA" altLang="zh-TW" dirty="0" err="1">
                        <a:effectLst/>
                      </a:endParaRPr>
                    </a:p>
                  </a:txBody>
                  <a:tcPr marL="0" marR="0" marT="0" marB="0" anchor="ctr"/>
                </a:tc>
                <a:tc>
                  <a:txBody>
                    <a:bodyPr/>
                    <a:lstStyle/>
                    <a:p>
                      <a:pPr marL="0" algn="ctr" rtl="0" eaLnBrk="1" latinLnBrk="0" hangingPunct="1">
                        <a:buNone/>
                      </a:pPr>
                      <a:r>
                        <a:rPr lang="en-US" altLang="zh-TW" sz="1800" kern="1200" dirty="0">
                          <a:solidFill>
                            <a:srgbClr val="000000"/>
                          </a:solidFill>
                          <a:effectLst/>
                        </a:rPr>
                        <a:t>29</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446</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192</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18</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450</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192</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27</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496</a:t>
                      </a:r>
                      <a:endParaRPr lang="zh-TW" altLang="en-US" dirty="0">
                        <a:effectLst/>
                      </a:endParaRPr>
                    </a:p>
                  </a:txBody>
                  <a:tcPr marL="0" marR="0" marT="0" marB="0" anchor="ctr">
                    <a:solidFill>
                      <a:srgbClr val="FF0000"/>
                    </a:solidFill>
                  </a:tcPr>
                </a:tc>
                <a:tc>
                  <a:txBody>
                    <a:bodyPr/>
                    <a:lstStyle/>
                    <a:p>
                      <a:pPr marL="0" algn="ctr" rtl="0" eaLnBrk="1" latinLnBrk="0" hangingPunct="1">
                        <a:buNone/>
                      </a:pPr>
                      <a:r>
                        <a:rPr lang="en-US" altLang="zh-TW" sz="1800" kern="1200" dirty="0">
                          <a:solidFill>
                            <a:srgbClr val="000000"/>
                          </a:solidFill>
                          <a:effectLst/>
                        </a:rPr>
                        <a:t>162</a:t>
                      </a:r>
                      <a:endParaRPr lang="zh-TW" altLang="en-US" dirty="0">
                        <a:effectLst/>
                      </a:endParaRPr>
                    </a:p>
                  </a:txBody>
                  <a:tcPr marL="0" marR="0" marT="0" marB="0" anchor="ctr">
                    <a:noFill/>
                  </a:tcPr>
                </a:tc>
                <a:extLst>
                  <a:ext uri="{0D108BD9-81ED-4DB2-BD59-A6C34878D82A}">
                    <a16:rowId xmlns:a16="http://schemas.microsoft.com/office/drawing/2014/main" val="677092062"/>
                  </a:ext>
                </a:extLst>
              </a:tr>
              <a:tr h="373647">
                <a:tc>
                  <a:txBody>
                    <a:bodyPr/>
                    <a:lstStyle/>
                    <a:p>
                      <a:pPr marL="0" algn="ctr" rtl="0" eaLnBrk="1" latinLnBrk="0" hangingPunct="1">
                        <a:buNone/>
                      </a:pPr>
                      <a:r>
                        <a:rPr lang="af-ZA" altLang="zh-TW" sz="1800" kern="1200" err="1">
                          <a:solidFill>
                            <a:srgbClr val="000000"/>
                          </a:solidFill>
                          <a:effectLst/>
                        </a:rPr>
                        <a:t>Good</a:t>
                      </a:r>
                      <a:endParaRPr lang="af-ZA" altLang="zh-TW" err="1">
                        <a:effectLst/>
                      </a:endParaRPr>
                    </a:p>
                  </a:txBody>
                  <a:tcPr marL="0" marR="0" marT="0" marB="0" anchor="ctr"/>
                </a:tc>
                <a:tc>
                  <a:txBody>
                    <a:bodyPr/>
                    <a:lstStyle/>
                    <a:p>
                      <a:pPr marL="0" algn="ctr" rtl="0" eaLnBrk="1" latinLnBrk="0" hangingPunct="1">
                        <a:buNone/>
                      </a:pPr>
                      <a:r>
                        <a:rPr lang="en-US" altLang="zh-TW" sz="1800" kern="1200" dirty="0">
                          <a:solidFill>
                            <a:srgbClr val="000000"/>
                          </a:solidFill>
                          <a:effectLst/>
                        </a:rPr>
                        <a:t>1</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189</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284</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5</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183</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282</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1</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119</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334</a:t>
                      </a:r>
                      <a:endParaRPr lang="zh-TW" altLang="en-US" dirty="0">
                        <a:effectLst/>
                      </a:endParaRPr>
                    </a:p>
                  </a:txBody>
                  <a:tcPr marL="0" marR="0" marT="0" marB="0" anchor="ctr">
                    <a:solidFill>
                      <a:srgbClr val="FF0000"/>
                    </a:solidFill>
                  </a:tcPr>
                </a:tc>
                <a:extLst>
                  <a:ext uri="{0D108BD9-81ED-4DB2-BD59-A6C34878D82A}">
                    <a16:rowId xmlns:a16="http://schemas.microsoft.com/office/drawing/2014/main" val="3490707546"/>
                  </a:ext>
                </a:extLst>
              </a:tr>
            </a:tbl>
          </a:graphicData>
        </a:graphic>
      </p:graphicFrame>
      <p:graphicFrame>
        <p:nvGraphicFramePr>
          <p:cNvPr id="12" name="表格 11">
            <a:extLst>
              <a:ext uri="{FF2B5EF4-FFF2-40B4-BE49-F238E27FC236}">
                <a16:creationId xmlns:a16="http://schemas.microsoft.com/office/drawing/2014/main" id="{8FB49AEF-0B6C-D2AE-69F9-A4B31039CC74}"/>
              </a:ext>
            </a:extLst>
          </p:cNvPr>
          <p:cNvGraphicFramePr>
            <a:graphicFrameLocks noGrp="1"/>
          </p:cNvGraphicFramePr>
          <p:nvPr>
            <p:extLst>
              <p:ext uri="{D42A27DB-BD31-4B8C-83A1-F6EECF244321}">
                <p14:modId xmlns:p14="http://schemas.microsoft.com/office/powerpoint/2010/main" val="3990221765"/>
              </p:ext>
            </p:extLst>
          </p:nvPr>
        </p:nvGraphicFramePr>
        <p:xfrm>
          <a:off x="2209800" y="4754495"/>
          <a:ext cx="7772400" cy="1692000"/>
        </p:xfrm>
        <a:graphic>
          <a:graphicData uri="http://schemas.openxmlformats.org/drawingml/2006/table">
            <a:tbl>
              <a:tblPr firstRow="1" bandRow="1">
                <a:tableStyleId>{5C22544A-7EE6-4342-B048-85BDC9FD1C3A}</a:tableStyleId>
              </a:tblPr>
              <a:tblGrid>
                <a:gridCol w="777240">
                  <a:extLst>
                    <a:ext uri="{9D8B030D-6E8A-4147-A177-3AD203B41FA5}">
                      <a16:colId xmlns:a16="http://schemas.microsoft.com/office/drawing/2014/main" val="3677761097"/>
                    </a:ext>
                  </a:extLst>
                </a:gridCol>
                <a:gridCol w="777240">
                  <a:extLst>
                    <a:ext uri="{9D8B030D-6E8A-4147-A177-3AD203B41FA5}">
                      <a16:colId xmlns:a16="http://schemas.microsoft.com/office/drawing/2014/main" val="2205111057"/>
                    </a:ext>
                  </a:extLst>
                </a:gridCol>
                <a:gridCol w="777240">
                  <a:extLst>
                    <a:ext uri="{9D8B030D-6E8A-4147-A177-3AD203B41FA5}">
                      <a16:colId xmlns:a16="http://schemas.microsoft.com/office/drawing/2014/main" val="1441595157"/>
                    </a:ext>
                  </a:extLst>
                </a:gridCol>
                <a:gridCol w="777240">
                  <a:extLst>
                    <a:ext uri="{9D8B030D-6E8A-4147-A177-3AD203B41FA5}">
                      <a16:colId xmlns:a16="http://schemas.microsoft.com/office/drawing/2014/main" val="3261738983"/>
                    </a:ext>
                  </a:extLst>
                </a:gridCol>
                <a:gridCol w="777240">
                  <a:extLst>
                    <a:ext uri="{9D8B030D-6E8A-4147-A177-3AD203B41FA5}">
                      <a16:colId xmlns:a16="http://schemas.microsoft.com/office/drawing/2014/main" val="390939030"/>
                    </a:ext>
                  </a:extLst>
                </a:gridCol>
                <a:gridCol w="777240">
                  <a:extLst>
                    <a:ext uri="{9D8B030D-6E8A-4147-A177-3AD203B41FA5}">
                      <a16:colId xmlns:a16="http://schemas.microsoft.com/office/drawing/2014/main" val="707371458"/>
                    </a:ext>
                  </a:extLst>
                </a:gridCol>
                <a:gridCol w="777240">
                  <a:extLst>
                    <a:ext uri="{9D8B030D-6E8A-4147-A177-3AD203B41FA5}">
                      <a16:colId xmlns:a16="http://schemas.microsoft.com/office/drawing/2014/main" val="2057336735"/>
                    </a:ext>
                  </a:extLst>
                </a:gridCol>
                <a:gridCol w="777240">
                  <a:extLst>
                    <a:ext uri="{9D8B030D-6E8A-4147-A177-3AD203B41FA5}">
                      <a16:colId xmlns:a16="http://schemas.microsoft.com/office/drawing/2014/main" val="4197725796"/>
                    </a:ext>
                  </a:extLst>
                </a:gridCol>
                <a:gridCol w="777240">
                  <a:extLst>
                    <a:ext uri="{9D8B030D-6E8A-4147-A177-3AD203B41FA5}">
                      <a16:colId xmlns:a16="http://schemas.microsoft.com/office/drawing/2014/main" val="2548212586"/>
                    </a:ext>
                  </a:extLst>
                </a:gridCol>
                <a:gridCol w="777240">
                  <a:extLst>
                    <a:ext uri="{9D8B030D-6E8A-4147-A177-3AD203B41FA5}">
                      <a16:colId xmlns:a16="http://schemas.microsoft.com/office/drawing/2014/main" val="4219701628"/>
                    </a:ext>
                  </a:extLst>
                </a:gridCol>
              </a:tblGrid>
              <a:tr h="338670">
                <a:tc>
                  <a:txBody>
                    <a:bodyPr/>
                    <a:lstStyle/>
                    <a:p>
                      <a:pPr algn="ctr">
                        <a:buNone/>
                      </a:pPr>
                      <a:endParaRPr lang="zh-TW" altLang="en-US" dirty="0">
                        <a:effectLst/>
                      </a:endParaRPr>
                    </a:p>
                  </a:txBody>
                  <a:tcPr marL="0" marR="0" marT="0" marB="0" anchor="ctr"/>
                </a:tc>
                <a:tc gridSpan="3">
                  <a:txBody>
                    <a:bodyPr/>
                    <a:lstStyle/>
                    <a:p>
                      <a:pPr marL="0" algn="ctr" rtl="0" eaLnBrk="1" latinLnBrk="0" hangingPunct="1">
                        <a:buNone/>
                      </a:pPr>
                      <a:r>
                        <a:rPr lang="en-US" sz="1800" kern="1200" dirty="0">
                          <a:solidFill>
                            <a:srgbClr val="FFFFFF"/>
                          </a:solidFill>
                          <a:effectLst/>
                        </a:rPr>
                        <a:t>Decision Trees</a:t>
                      </a:r>
                      <a:endParaRPr lang="en-US" altLang="zh-TW" dirty="0">
                        <a:effectLst/>
                      </a:endParaRPr>
                    </a:p>
                  </a:txBody>
                  <a:tcPr marL="0" marR="0" marT="0" marB="0" anchor="ctr"/>
                </a:tc>
                <a:tc hMerge="1">
                  <a:txBody>
                    <a:bodyPr/>
                    <a:lstStyle/>
                    <a:p>
                      <a:endParaRPr lang="zh-TW" altLang="en-US"/>
                    </a:p>
                  </a:txBody>
                  <a:tcPr marL="0" marR="0" marT="0" marB="0" horzOverflow="overflow"/>
                </a:tc>
                <a:tc hMerge="1">
                  <a:txBody>
                    <a:bodyPr/>
                    <a:lstStyle/>
                    <a:p>
                      <a:endParaRPr lang="zh-TW" altLang="en-US"/>
                    </a:p>
                  </a:txBody>
                  <a:tcPr marL="0" marR="0" marT="0" marB="0" horzOverflow="overflow"/>
                </a:tc>
                <a:tc gridSpan="3">
                  <a:txBody>
                    <a:bodyPr/>
                    <a:lstStyle/>
                    <a:p>
                      <a:pPr marL="0" marR="0" indent="0" algn="ctr" rtl="0" eaLnBrk="1" fontAlgn="auto" latinLnBrk="0" hangingPunct="1">
                        <a:buNone/>
                      </a:pPr>
                      <a:r>
                        <a:rPr lang="en-US" sz="1800" kern="1200" dirty="0">
                          <a:solidFill>
                            <a:srgbClr val="FFFFFF"/>
                          </a:solidFill>
                          <a:effectLst/>
                        </a:rPr>
                        <a:t>SVM</a:t>
                      </a:r>
                      <a:endParaRPr lang="en-US" altLang="zh-TW" dirty="0">
                        <a:effectLst/>
                      </a:endParaRPr>
                    </a:p>
                  </a:txBody>
                  <a:tcPr marL="0" marR="0" marT="0" marB="0" anchor="ctr"/>
                </a:tc>
                <a:tc hMerge="1">
                  <a:txBody>
                    <a:bodyPr/>
                    <a:lstStyle/>
                    <a:p>
                      <a:endParaRPr lang="zh-TW" altLang="en-US"/>
                    </a:p>
                  </a:txBody>
                  <a:tcPr marL="0" marR="0" marT="0" marB="0" horzOverflow="overflow"/>
                </a:tc>
                <a:tc hMerge="1">
                  <a:txBody>
                    <a:bodyPr/>
                    <a:lstStyle/>
                    <a:p>
                      <a:endParaRPr lang="zh-TW" altLang="en-US"/>
                    </a:p>
                  </a:txBody>
                  <a:tcPr marL="0" marR="0" marT="0" marB="0" horzOverflow="overflow"/>
                </a:tc>
                <a:tc gridSpan="3">
                  <a:txBody>
                    <a:bodyPr/>
                    <a:lstStyle/>
                    <a:p>
                      <a:pPr marL="0" marR="0" indent="0" algn="ctr" rtl="0" eaLnBrk="1" fontAlgn="auto" latinLnBrk="0" hangingPunct="1">
                        <a:buNone/>
                      </a:pPr>
                      <a:r>
                        <a:rPr lang="en-US" sz="1800" kern="1200" dirty="0">
                          <a:solidFill>
                            <a:srgbClr val="FFFFFF"/>
                          </a:solidFill>
                          <a:effectLst/>
                        </a:rPr>
                        <a:t>Neural Networks</a:t>
                      </a:r>
                      <a:endParaRPr lang="en-US" altLang="zh-TW" dirty="0">
                        <a:effectLst/>
                      </a:endParaRPr>
                    </a:p>
                  </a:txBody>
                  <a:tcPr marL="0" marR="0" marT="0" marB="0" anchor="ctr"/>
                </a:tc>
                <a:tc hMerge="1">
                  <a:txBody>
                    <a:bodyPr/>
                    <a:lstStyle/>
                    <a:p>
                      <a:endParaRPr lang="zh-TW" altLang="en-US"/>
                    </a:p>
                  </a:txBody>
                  <a:tcPr marL="0" marR="0" marT="0" marB="0" horzOverflow="overflow"/>
                </a:tc>
                <a:tc hMerge="1">
                  <a:txBody>
                    <a:bodyPr/>
                    <a:lstStyle/>
                    <a:p>
                      <a:endParaRPr lang="zh-TW" altLang="en-US"/>
                    </a:p>
                  </a:txBody>
                  <a:tcPr marL="0" marR="0" marT="0" marB="0" horzOverflow="overflow"/>
                </a:tc>
                <a:extLst>
                  <a:ext uri="{0D108BD9-81ED-4DB2-BD59-A6C34878D82A}">
                    <a16:rowId xmlns:a16="http://schemas.microsoft.com/office/drawing/2014/main" val="1568146562"/>
                  </a:ext>
                </a:extLst>
              </a:tr>
              <a:tr h="285750">
                <a:tc>
                  <a:txBody>
                    <a:bodyPr/>
                    <a:lstStyle/>
                    <a:p>
                      <a:pPr algn="ctr">
                        <a:buNone/>
                      </a:pPr>
                      <a:endParaRPr lang="zh-TW" altLang="en-US" dirty="0">
                        <a:effectLst/>
                      </a:endParaRPr>
                    </a:p>
                  </a:txBody>
                  <a:tcPr marL="0" marR="0" marT="0" marB="0" anchor="ctr"/>
                </a:tc>
                <a:tc>
                  <a:txBody>
                    <a:bodyPr/>
                    <a:lstStyle/>
                    <a:p>
                      <a:pPr marL="0" marR="0" indent="0" algn="ctr" rtl="0" eaLnBrk="1" fontAlgn="auto" latinLnBrk="0" hangingPunct="1">
                        <a:buNone/>
                      </a:pPr>
                      <a:r>
                        <a:rPr lang="en-US" sz="1800" kern="1200" dirty="0">
                          <a:solidFill>
                            <a:srgbClr val="000000"/>
                          </a:solidFill>
                          <a:effectLst/>
                        </a:rPr>
                        <a:t>Bad</a:t>
                      </a:r>
                      <a:endParaRPr lang="en-US" altLang="zh-TW" dirty="0">
                        <a:effectLst/>
                      </a:endParaRPr>
                    </a:p>
                  </a:txBody>
                  <a:tcPr marL="0" marR="0" marT="0" marB="0" anchor="ctr"/>
                </a:tc>
                <a:tc>
                  <a:txBody>
                    <a:bodyPr/>
                    <a:lstStyle/>
                    <a:p>
                      <a:pPr marL="0" algn="ctr" rtl="0" eaLnBrk="1" latinLnBrk="0" hangingPunct="1">
                        <a:buNone/>
                      </a:pPr>
                      <a:r>
                        <a:rPr lang="af-ZA" altLang="zh-TW" sz="1800" kern="1200" dirty="0" err="1">
                          <a:solidFill>
                            <a:srgbClr val="000000"/>
                          </a:solidFill>
                          <a:effectLst/>
                        </a:rPr>
                        <a:t>Avg</a:t>
                      </a:r>
                      <a:endParaRPr lang="af-ZA" altLang="zh-TW" dirty="0" err="1">
                        <a:effectLst/>
                      </a:endParaRPr>
                    </a:p>
                  </a:txBody>
                  <a:tcPr marL="0" marR="0" marT="0" marB="0" anchor="ctr"/>
                </a:tc>
                <a:tc>
                  <a:txBody>
                    <a:bodyPr/>
                    <a:lstStyle/>
                    <a:p>
                      <a:pPr marL="0" algn="ctr" rtl="0" eaLnBrk="1" latinLnBrk="0" hangingPunct="1">
                        <a:buNone/>
                      </a:pPr>
                      <a:r>
                        <a:rPr lang="af-ZA" altLang="zh-TW" sz="1800" kern="1200" dirty="0" err="1">
                          <a:solidFill>
                            <a:srgbClr val="000000"/>
                          </a:solidFill>
                          <a:effectLst/>
                        </a:rPr>
                        <a:t>Good</a:t>
                      </a:r>
                      <a:endParaRPr lang="af-ZA" altLang="zh-TW" dirty="0" err="1">
                        <a:effectLst/>
                      </a:endParaRPr>
                    </a:p>
                  </a:txBody>
                  <a:tcPr marL="0" marR="0" marT="0" marB="0" anchor="ctr"/>
                </a:tc>
                <a:tc>
                  <a:txBody>
                    <a:bodyPr/>
                    <a:lstStyle/>
                    <a:p>
                      <a:pPr marL="0" algn="ctr" rtl="0" eaLnBrk="1" latinLnBrk="0" hangingPunct="1">
                        <a:buNone/>
                      </a:pPr>
                      <a:r>
                        <a:rPr lang="af-ZA" altLang="zh-TW" sz="1800" kern="1200" dirty="0">
                          <a:solidFill>
                            <a:srgbClr val="000000"/>
                          </a:solidFill>
                          <a:effectLst/>
                        </a:rPr>
                        <a:t>Bad</a:t>
                      </a:r>
                      <a:endParaRPr lang="af-ZA" altLang="zh-TW" dirty="0">
                        <a:effectLst/>
                      </a:endParaRPr>
                    </a:p>
                  </a:txBody>
                  <a:tcPr marL="0" marR="0" marT="0" marB="0" anchor="ctr"/>
                </a:tc>
                <a:tc>
                  <a:txBody>
                    <a:bodyPr/>
                    <a:lstStyle/>
                    <a:p>
                      <a:pPr marL="0" algn="ctr" rtl="0" eaLnBrk="1" latinLnBrk="0" hangingPunct="1">
                        <a:buNone/>
                      </a:pPr>
                      <a:r>
                        <a:rPr lang="af-ZA" altLang="zh-TW" sz="1800" kern="1200" dirty="0" err="1">
                          <a:solidFill>
                            <a:srgbClr val="000000"/>
                          </a:solidFill>
                          <a:effectLst/>
                        </a:rPr>
                        <a:t>Avg</a:t>
                      </a:r>
                      <a:endParaRPr lang="af-ZA" altLang="zh-TW" dirty="0" err="1">
                        <a:effectLst/>
                      </a:endParaRPr>
                    </a:p>
                  </a:txBody>
                  <a:tcPr marL="0" marR="0" marT="0" marB="0" anchor="ctr"/>
                </a:tc>
                <a:tc>
                  <a:txBody>
                    <a:bodyPr/>
                    <a:lstStyle/>
                    <a:p>
                      <a:pPr marL="0" algn="ctr" rtl="0" eaLnBrk="1" latinLnBrk="0" hangingPunct="1">
                        <a:buNone/>
                      </a:pPr>
                      <a:r>
                        <a:rPr lang="af-ZA" altLang="zh-TW" sz="1800" kern="1200" dirty="0" err="1">
                          <a:solidFill>
                            <a:srgbClr val="000000"/>
                          </a:solidFill>
                          <a:effectLst/>
                        </a:rPr>
                        <a:t>Good</a:t>
                      </a:r>
                      <a:endParaRPr lang="af-ZA" altLang="zh-TW" dirty="0" err="1">
                        <a:effectLst/>
                      </a:endParaRPr>
                    </a:p>
                  </a:txBody>
                  <a:tcPr marL="0" marR="0" marT="0" marB="0" anchor="ctr"/>
                </a:tc>
                <a:tc>
                  <a:txBody>
                    <a:bodyPr/>
                    <a:lstStyle/>
                    <a:p>
                      <a:pPr marL="0" algn="ctr" rtl="0" eaLnBrk="1" latinLnBrk="0" hangingPunct="1">
                        <a:buNone/>
                      </a:pPr>
                      <a:r>
                        <a:rPr lang="af-ZA" altLang="zh-TW" sz="1800" kern="1200" dirty="0">
                          <a:solidFill>
                            <a:srgbClr val="000000"/>
                          </a:solidFill>
                          <a:effectLst/>
                        </a:rPr>
                        <a:t>Bad</a:t>
                      </a:r>
                      <a:endParaRPr lang="af-ZA" altLang="zh-TW" dirty="0">
                        <a:effectLst/>
                      </a:endParaRPr>
                    </a:p>
                  </a:txBody>
                  <a:tcPr marL="0" marR="0" marT="0" marB="0" anchor="ctr"/>
                </a:tc>
                <a:tc>
                  <a:txBody>
                    <a:bodyPr/>
                    <a:lstStyle/>
                    <a:p>
                      <a:pPr marL="0" algn="ctr" rtl="0" eaLnBrk="1" latinLnBrk="0" hangingPunct="1">
                        <a:buNone/>
                      </a:pPr>
                      <a:r>
                        <a:rPr lang="af-ZA" altLang="zh-TW" sz="1800" kern="1200" dirty="0" err="1">
                          <a:solidFill>
                            <a:srgbClr val="000000"/>
                          </a:solidFill>
                          <a:effectLst/>
                        </a:rPr>
                        <a:t>Avg</a:t>
                      </a:r>
                      <a:endParaRPr lang="af-ZA" altLang="zh-TW" dirty="0" err="1">
                        <a:effectLst/>
                      </a:endParaRPr>
                    </a:p>
                  </a:txBody>
                  <a:tcPr marL="0" marR="0" marT="0" marB="0" anchor="ctr"/>
                </a:tc>
                <a:tc>
                  <a:txBody>
                    <a:bodyPr/>
                    <a:lstStyle/>
                    <a:p>
                      <a:pPr marL="0" algn="ctr" rtl="0" eaLnBrk="1" latinLnBrk="0" hangingPunct="1">
                        <a:buNone/>
                      </a:pPr>
                      <a:r>
                        <a:rPr lang="af-ZA" altLang="zh-TW" sz="1800" kern="1200" dirty="0" err="1">
                          <a:solidFill>
                            <a:srgbClr val="000000"/>
                          </a:solidFill>
                          <a:effectLst/>
                        </a:rPr>
                        <a:t>Good</a:t>
                      </a:r>
                      <a:endParaRPr lang="af-ZA" altLang="zh-TW" dirty="0" err="1">
                        <a:effectLst/>
                      </a:endParaRPr>
                    </a:p>
                  </a:txBody>
                  <a:tcPr marL="0" marR="0" marT="0" marB="0" anchor="ctr"/>
                </a:tc>
                <a:extLst>
                  <a:ext uri="{0D108BD9-81ED-4DB2-BD59-A6C34878D82A}">
                    <a16:rowId xmlns:a16="http://schemas.microsoft.com/office/drawing/2014/main" val="1168162749"/>
                  </a:ext>
                </a:extLst>
              </a:tr>
              <a:tr h="331924">
                <a:tc>
                  <a:txBody>
                    <a:bodyPr/>
                    <a:lstStyle/>
                    <a:p>
                      <a:pPr marL="0" algn="ctr" rtl="0" eaLnBrk="1" latinLnBrk="0" hangingPunct="1">
                        <a:buNone/>
                      </a:pPr>
                      <a:r>
                        <a:rPr lang="af-ZA" altLang="zh-TW" sz="1800" kern="1200" dirty="0">
                          <a:solidFill>
                            <a:srgbClr val="000000"/>
                          </a:solidFill>
                          <a:effectLst/>
                        </a:rPr>
                        <a:t>Bad</a:t>
                      </a:r>
                      <a:endParaRPr lang="af-ZA" altLang="zh-TW" dirty="0">
                        <a:effectLst/>
                      </a:endParaRPr>
                    </a:p>
                  </a:txBody>
                  <a:tcPr marL="0" marR="0" marT="0" marB="0" anchor="ctr"/>
                </a:tc>
                <a:tc>
                  <a:txBody>
                    <a:bodyPr/>
                    <a:lstStyle/>
                    <a:p>
                      <a:pPr marL="0" algn="ctr" rtl="0" eaLnBrk="1" latinLnBrk="0" hangingPunct="1">
                        <a:buNone/>
                      </a:pPr>
                      <a:r>
                        <a:rPr lang="en-US" altLang="zh-TW" sz="1800" kern="1200" dirty="0">
                          <a:solidFill>
                            <a:srgbClr val="000000"/>
                          </a:solidFill>
                          <a:effectLst/>
                        </a:rPr>
                        <a:t>90</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12</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0</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86</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8</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1</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89</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9</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1</a:t>
                      </a:r>
                      <a:endParaRPr lang="zh-TW" altLang="en-US" dirty="0">
                        <a:effectLst/>
                      </a:endParaRPr>
                    </a:p>
                  </a:txBody>
                  <a:tcPr marL="0" marR="0" marT="0" marB="0" anchor="ctr">
                    <a:noFill/>
                  </a:tcPr>
                </a:tc>
                <a:extLst>
                  <a:ext uri="{0D108BD9-81ED-4DB2-BD59-A6C34878D82A}">
                    <a16:rowId xmlns:a16="http://schemas.microsoft.com/office/drawing/2014/main" val="469465675"/>
                  </a:ext>
                </a:extLst>
              </a:tr>
              <a:tr h="402045">
                <a:tc>
                  <a:txBody>
                    <a:bodyPr/>
                    <a:lstStyle/>
                    <a:p>
                      <a:pPr marL="0" algn="ctr" rtl="0" eaLnBrk="1" latinLnBrk="0" hangingPunct="1">
                        <a:buNone/>
                      </a:pPr>
                      <a:r>
                        <a:rPr lang="af-ZA" altLang="zh-TW" sz="1800" kern="1200" dirty="0" err="1">
                          <a:solidFill>
                            <a:srgbClr val="000000"/>
                          </a:solidFill>
                          <a:effectLst/>
                        </a:rPr>
                        <a:t>Avg</a:t>
                      </a:r>
                      <a:endParaRPr lang="af-ZA" altLang="zh-TW" dirty="0" err="1">
                        <a:effectLst/>
                      </a:endParaRPr>
                    </a:p>
                  </a:txBody>
                  <a:tcPr marL="0" marR="0" marT="0" marB="0" anchor="ctr"/>
                </a:tc>
                <a:tc>
                  <a:txBody>
                    <a:bodyPr/>
                    <a:lstStyle/>
                    <a:p>
                      <a:pPr marL="0" algn="ctr" rtl="0" eaLnBrk="1" latinLnBrk="0" hangingPunct="1">
                        <a:buNone/>
                      </a:pPr>
                      <a:r>
                        <a:rPr lang="en-US" altLang="zh-TW" sz="1800" kern="1200" dirty="0">
                          <a:solidFill>
                            <a:srgbClr val="000000"/>
                          </a:solidFill>
                          <a:effectLst/>
                        </a:rPr>
                        <a:t>13</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436</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171</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18</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446</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136</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27</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439</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210</a:t>
                      </a:r>
                      <a:endParaRPr lang="zh-TW" altLang="en-US" dirty="0">
                        <a:effectLst/>
                      </a:endParaRPr>
                    </a:p>
                  </a:txBody>
                  <a:tcPr marL="0" marR="0" marT="0" marB="0" anchor="ctr">
                    <a:noFill/>
                  </a:tcPr>
                </a:tc>
                <a:extLst>
                  <a:ext uri="{0D108BD9-81ED-4DB2-BD59-A6C34878D82A}">
                    <a16:rowId xmlns:a16="http://schemas.microsoft.com/office/drawing/2014/main" val="3601420082"/>
                  </a:ext>
                </a:extLst>
              </a:tr>
              <a:tr h="333611">
                <a:tc>
                  <a:txBody>
                    <a:bodyPr/>
                    <a:lstStyle/>
                    <a:p>
                      <a:pPr marL="0" algn="ctr" rtl="0" eaLnBrk="1" latinLnBrk="0" hangingPunct="1">
                        <a:buNone/>
                      </a:pPr>
                      <a:r>
                        <a:rPr lang="af-ZA" altLang="zh-TW" sz="1800" kern="1200" dirty="0" err="1">
                          <a:solidFill>
                            <a:srgbClr val="000000"/>
                          </a:solidFill>
                          <a:effectLst/>
                        </a:rPr>
                        <a:t>Good</a:t>
                      </a:r>
                      <a:endParaRPr lang="af-ZA" altLang="zh-TW" dirty="0" err="1">
                        <a:effectLst/>
                      </a:endParaRPr>
                    </a:p>
                  </a:txBody>
                  <a:tcPr marL="0" marR="0" marT="0" marB="0" anchor="ctr"/>
                </a:tc>
                <a:tc>
                  <a:txBody>
                    <a:bodyPr/>
                    <a:lstStyle/>
                    <a:p>
                      <a:pPr marL="0" algn="ctr" rtl="0" eaLnBrk="1" latinLnBrk="0" hangingPunct="1">
                        <a:buNone/>
                      </a:pPr>
                      <a:r>
                        <a:rPr lang="en-US" altLang="zh-TW" sz="1800" kern="1200" dirty="0">
                          <a:solidFill>
                            <a:srgbClr val="000000"/>
                          </a:solidFill>
                          <a:effectLst/>
                        </a:rPr>
                        <a:t>6</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193</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306</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5</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187</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340</a:t>
                      </a:r>
                      <a:endParaRPr lang="zh-TW" altLang="en-US" dirty="0">
                        <a:effectLst/>
                      </a:endParaRPr>
                    </a:p>
                  </a:txBody>
                  <a:tcPr marL="0" marR="0" marT="0" marB="0" anchor="ctr">
                    <a:solidFill>
                      <a:srgbClr val="92D050"/>
                    </a:solidFill>
                  </a:tcPr>
                </a:tc>
                <a:tc>
                  <a:txBody>
                    <a:bodyPr/>
                    <a:lstStyle/>
                    <a:p>
                      <a:pPr marL="0" algn="ctr" rtl="0" eaLnBrk="1" latinLnBrk="0" hangingPunct="1">
                        <a:buNone/>
                      </a:pPr>
                      <a:r>
                        <a:rPr lang="en-US" altLang="zh-TW" sz="1800" kern="1200" dirty="0">
                          <a:solidFill>
                            <a:srgbClr val="000000"/>
                          </a:solidFill>
                          <a:effectLst/>
                        </a:rPr>
                        <a:t>5</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147</a:t>
                      </a:r>
                      <a:endParaRPr lang="zh-TW" altLang="en-US" dirty="0">
                        <a:effectLst/>
                      </a:endParaRPr>
                    </a:p>
                  </a:txBody>
                  <a:tcPr marL="0" marR="0" marT="0" marB="0" anchor="ctr">
                    <a:noFill/>
                  </a:tcPr>
                </a:tc>
                <a:tc>
                  <a:txBody>
                    <a:bodyPr/>
                    <a:lstStyle/>
                    <a:p>
                      <a:pPr marL="0" algn="ctr" rtl="0" eaLnBrk="1" latinLnBrk="0" hangingPunct="1">
                        <a:buNone/>
                      </a:pPr>
                      <a:r>
                        <a:rPr lang="en-US" altLang="zh-TW" sz="1800" kern="1200" dirty="0">
                          <a:solidFill>
                            <a:srgbClr val="000000"/>
                          </a:solidFill>
                          <a:effectLst/>
                        </a:rPr>
                        <a:t>300</a:t>
                      </a:r>
                      <a:endParaRPr lang="zh-TW" altLang="en-US" dirty="0">
                        <a:effectLst/>
                      </a:endParaRPr>
                    </a:p>
                  </a:txBody>
                  <a:tcPr marL="0" marR="0" marT="0" marB="0" anchor="ctr">
                    <a:solidFill>
                      <a:srgbClr val="92D050"/>
                    </a:solidFill>
                  </a:tcPr>
                </a:tc>
                <a:extLst>
                  <a:ext uri="{0D108BD9-81ED-4DB2-BD59-A6C34878D82A}">
                    <a16:rowId xmlns:a16="http://schemas.microsoft.com/office/drawing/2014/main" val="234886208"/>
                  </a:ext>
                </a:extLst>
              </a:tr>
            </a:tbl>
          </a:graphicData>
        </a:graphic>
      </p:graphicFrame>
    </p:spTree>
    <p:extLst>
      <p:ext uri="{BB962C8B-B14F-4D97-AF65-F5344CB8AC3E}">
        <p14:creationId xmlns:p14="http://schemas.microsoft.com/office/powerpoint/2010/main" val="4133774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5FE9E-4B20-357A-7590-6DEF2F49B202}"/>
            </a:ext>
          </a:extLst>
        </p:cNvPr>
        <p:cNvGrpSpPr/>
        <p:nvPr/>
      </p:nvGrpSpPr>
      <p:grpSpPr>
        <a:xfrm>
          <a:off x="0" y="0"/>
          <a:ext cx="0" cy="0"/>
          <a:chOff x="0" y="0"/>
          <a:chExt cx="0" cy="0"/>
        </a:xfrm>
      </p:grpSpPr>
      <p:sp>
        <p:nvSpPr>
          <p:cNvPr id="2" name="流程圖: 資料 1">
            <a:extLst>
              <a:ext uri="{FF2B5EF4-FFF2-40B4-BE49-F238E27FC236}">
                <a16:creationId xmlns:a16="http://schemas.microsoft.com/office/drawing/2014/main" id="{0B5DB3CE-BEFE-590D-3F2B-481009CF93D5}"/>
              </a:ext>
            </a:extLst>
          </p:cNvPr>
          <p:cNvSpPr/>
          <p:nvPr/>
        </p:nvSpPr>
        <p:spPr>
          <a:xfrm flipV="1">
            <a:off x="1394979" y="1854777"/>
            <a:ext cx="9402042" cy="3148446"/>
          </a:xfrm>
          <a:prstGeom prst="flowChartInputOutput">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E9DB2CF9-6823-A8CD-BC1E-BE3DC8E87E88}"/>
              </a:ext>
            </a:extLst>
          </p:cNvPr>
          <p:cNvSpPr/>
          <p:nvPr/>
        </p:nvSpPr>
        <p:spPr>
          <a:xfrm>
            <a:off x="2344881" y="1252104"/>
            <a:ext cx="7502237" cy="4353791"/>
          </a:xfrm>
          <a:prstGeom prst="rect">
            <a:avLst/>
          </a:prstGeom>
          <a:solidFill>
            <a:schemeClr val="bg1"/>
          </a:solidFill>
          <a:ln w="28575">
            <a:solidFill>
              <a:srgbClr val="463F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D34BB5BD-AC6A-56AF-FB71-BBA6EC68B5AA}"/>
              </a:ext>
            </a:extLst>
          </p:cNvPr>
          <p:cNvSpPr txBox="1"/>
          <p:nvPr/>
        </p:nvSpPr>
        <p:spPr>
          <a:xfrm>
            <a:off x="3884858" y="3428999"/>
            <a:ext cx="4422281" cy="923330"/>
          </a:xfrm>
          <a:prstGeom prst="rect">
            <a:avLst/>
          </a:prstGeom>
          <a:noFill/>
        </p:spPr>
        <p:txBody>
          <a:bodyPr wrap="square" lIns="91440" tIns="45720" rIns="91440" bIns="45720" anchor="t">
            <a:spAutoFit/>
          </a:bodyPr>
          <a:lstStyle/>
          <a:p>
            <a:pPr algn="ctr"/>
            <a:r>
              <a:rPr lang="en-US" altLang="zh-TW" sz="5400" b="1" dirty="0"/>
              <a:t>Analysis</a:t>
            </a:r>
            <a:endParaRPr lang="zh-TW" altLang="en-US" sz="5400" b="1" dirty="0"/>
          </a:p>
        </p:txBody>
      </p:sp>
      <p:pic>
        <p:nvPicPr>
          <p:cNvPr id="15" name="圖形 14" descr="徽章 5 以實心填滿">
            <a:extLst>
              <a:ext uri="{FF2B5EF4-FFF2-40B4-BE49-F238E27FC236}">
                <a16:creationId xmlns:a16="http://schemas.microsoft.com/office/drawing/2014/main" id="{0A2D0B4B-1F94-7D9A-857A-C9CA17AC724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601118" y="2178095"/>
            <a:ext cx="989760" cy="989760"/>
          </a:xfrm>
          <a:prstGeom prst="rect">
            <a:avLst/>
          </a:prstGeom>
        </p:spPr>
      </p:pic>
    </p:spTree>
    <p:extLst>
      <p:ext uri="{BB962C8B-B14F-4D97-AF65-F5344CB8AC3E}">
        <p14:creationId xmlns:p14="http://schemas.microsoft.com/office/powerpoint/2010/main" val="2409877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1F09E-503E-FC59-83D7-50D75EE8DFA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3A1C66A-4D4F-3A16-26F1-968E1A49CF67}"/>
              </a:ext>
            </a:extLst>
          </p:cNvPr>
          <p:cNvSpPr>
            <a:spLocks noGrp="1"/>
          </p:cNvSpPr>
          <p:nvPr>
            <p:ph type="title"/>
          </p:nvPr>
        </p:nvSpPr>
        <p:spPr/>
        <p:txBody>
          <a:bodyPr/>
          <a:lstStyle/>
          <a:p>
            <a:r>
              <a:rPr lang="en-US" dirty="0"/>
              <a:t>Analysis </a:t>
            </a:r>
          </a:p>
        </p:txBody>
      </p:sp>
      <p:grpSp>
        <p:nvGrpSpPr>
          <p:cNvPr id="7" name="群組 6">
            <a:extLst>
              <a:ext uri="{FF2B5EF4-FFF2-40B4-BE49-F238E27FC236}">
                <a16:creationId xmlns:a16="http://schemas.microsoft.com/office/drawing/2014/main" id="{BF783C67-6839-8B5B-431F-1A84BFCBA235}"/>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867B22B6-B63A-2F9F-CADC-28A4D2079D47}"/>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B967498F-61D3-15E8-932C-E0A866D5738B}"/>
                </a:ext>
              </a:extLst>
            </p:cNvPr>
            <p:cNvSpPr txBox="1"/>
            <p:nvPr/>
          </p:nvSpPr>
          <p:spPr>
            <a:xfrm>
              <a:off x="97160" y="6498455"/>
              <a:ext cx="3475380" cy="400110"/>
            </a:xfrm>
            <a:prstGeom prst="rect">
              <a:avLst/>
            </a:prstGeom>
            <a:noFill/>
          </p:spPr>
          <p:txBody>
            <a:bodyPr wrap="square">
              <a:spAutoFit/>
            </a:bodyPr>
            <a:lstStyle/>
            <a:p>
              <a:r>
                <a:rPr lang="en-US" altLang="zh-TW" sz="2000" b="1" dirty="0">
                  <a:solidFill>
                    <a:srgbClr val="F9EBE0"/>
                  </a:solidFill>
                </a:rPr>
                <a:t>Analysis </a:t>
              </a:r>
            </a:p>
          </p:txBody>
        </p:sp>
        <p:sp>
          <p:nvSpPr>
            <p:cNvPr id="10" name="文字方塊 9">
              <a:extLst>
                <a:ext uri="{FF2B5EF4-FFF2-40B4-BE49-F238E27FC236}">
                  <a16:creationId xmlns:a16="http://schemas.microsoft.com/office/drawing/2014/main" id="{74F63982-3428-9877-7FAF-C61C58181AE0}"/>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20</a:t>
              </a:r>
              <a:endParaRPr lang="zh-TW" altLang="en-US" sz="2000" b="1" dirty="0">
                <a:solidFill>
                  <a:srgbClr val="F9EBE0"/>
                </a:solidFill>
              </a:endParaRPr>
            </a:p>
          </p:txBody>
        </p:sp>
      </p:grpSp>
      <p:sp>
        <p:nvSpPr>
          <p:cNvPr id="12" name="文字方塊 11">
            <a:extLst>
              <a:ext uri="{FF2B5EF4-FFF2-40B4-BE49-F238E27FC236}">
                <a16:creationId xmlns:a16="http://schemas.microsoft.com/office/drawing/2014/main" id="{4DA63DF0-DFBB-972C-F591-8D4C025B7103}"/>
              </a:ext>
            </a:extLst>
          </p:cNvPr>
          <p:cNvSpPr txBox="1"/>
          <p:nvPr/>
        </p:nvSpPr>
        <p:spPr>
          <a:xfrm>
            <a:off x="886405" y="2108372"/>
            <a:ext cx="10626453" cy="707886"/>
          </a:xfrm>
          <a:prstGeom prst="rect">
            <a:avLst/>
          </a:prstGeom>
          <a:noFill/>
        </p:spPr>
        <p:txBody>
          <a:bodyPr wrap="square">
            <a:spAutoFit/>
          </a:bodyPr>
          <a:lstStyle/>
          <a:p>
            <a:pPr algn="just"/>
            <a:r>
              <a:rPr lang="en-US" altLang="zh-TW" sz="2000" dirty="0"/>
              <a:t>Using the best-performing ML model, </a:t>
            </a:r>
            <a:r>
              <a:rPr lang="en-US" altLang="zh-TW" sz="2000" b="1" dirty="0"/>
              <a:t>Random Forest</a:t>
            </a:r>
            <a:r>
              <a:rPr lang="en-US" altLang="zh-TW" sz="2000" dirty="0"/>
              <a:t>, to identify the </a:t>
            </a:r>
            <a:r>
              <a:rPr lang="en-US" altLang="zh-TW" sz="2000" b="1" dirty="0"/>
              <a:t>key variables</a:t>
            </a:r>
            <a:r>
              <a:rPr lang="en-US" altLang="zh-TW" sz="2000" dirty="0"/>
              <a:t> that influence passenger service quality evaluations and how they influence them.</a:t>
            </a:r>
            <a:endParaRPr lang="zh-TW" altLang="en-US" sz="2000" dirty="0"/>
          </a:p>
        </p:txBody>
      </p:sp>
      <p:cxnSp>
        <p:nvCxnSpPr>
          <p:cNvPr id="14" name="直線接點 13">
            <a:extLst>
              <a:ext uri="{FF2B5EF4-FFF2-40B4-BE49-F238E27FC236}">
                <a16:creationId xmlns:a16="http://schemas.microsoft.com/office/drawing/2014/main" id="{90742CCA-0111-B90E-3B64-88A74A42FAB8}"/>
              </a:ext>
            </a:extLst>
          </p:cNvPr>
          <p:cNvCxnSpPr/>
          <p:nvPr/>
        </p:nvCxnSpPr>
        <p:spPr>
          <a:xfrm>
            <a:off x="820882" y="2877552"/>
            <a:ext cx="1074420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2" name="圖片 1">
            <a:extLst>
              <a:ext uri="{FF2B5EF4-FFF2-40B4-BE49-F238E27FC236}">
                <a16:creationId xmlns:a16="http://schemas.microsoft.com/office/drawing/2014/main" id="{3EA4DC1E-18E5-A208-CA6F-198BF9C17781}"/>
              </a:ext>
            </a:extLst>
          </p:cNvPr>
          <p:cNvPicPr>
            <a:picLocks noChangeAspect="1"/>
          </p:cNvPicPr>
          <p:nvPr/>
        </p:nvPicPr>
        <p:blipFill>
          <a:blip r:embed="rId3"/>
          <a:stretch>
            <a:fillRect/>
          </a:stretch>
        </p:blipFill>
        <p:spPr>
          <a:xfrm>
            <a:off x="2670463" y="3098595"/>
            <a:ext cx="6851073" cy="3338565"/>
          </a:xfrm>
          <a:prstGeom prst="rect">
            <a:avLst/>
          </a:prstGeom>
        </p:spPr>
      </p:pic>
      <p:sp>
        <p:nvSpPr>
          <p:cNvPr id="6" name="矩形 5">
            <a:extLst>
              <a:ext uri="{FF2B5EF4-FFF2-40B4-BE49-F238E27FC236}">
                <a16:creationId xmlns:a16="http://schemas.microsoft.com/office/drawing/2014/main" id="{69893045-D94B-47FE-F091-544CF01A0B7B}"/>
              </a:ext>
            </a:extLst>
          </p:cNvPr>
          <p:cNvSpPr/>
          <p:nvPr/>
        </p:nvSpPr>
        <p:spPr>
          <a:xfrm>
            <a:off x="2670463" y="3215075"/>
            <a:ext cx="3221183" cy="63895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a:extLst>
              <a:ext uri="{FF2B5EF4-FFF2-40B4-BE49-F238E27FC236}">
                <a16:creationId xmlns:a16="http://schemas.microsoft.com/office/drawing/2014/main" id="{566342F6-D379-A083-3DFB-965C75C0149F}"/>
              </a:ext>
            </a:extLst>
          </p:cNvPr>
          <p:cNvSpPr/>
          <p:nvPr/>
        </p:nvSpPr>
        <p:spPr>
          <a:xfrm>
            <a:off x="6193412" y="3221181"/>
            <a:ext cx="3221183" cy="63895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F3C882D3-37F0-E8C8-421E-D0E476ECE312}"/>
              </a:ext>
            </a:extLst>
          </p:cNvPr>
          <p:cNvSpPr/>
          <p:nvPr/>
        </p:nvSpPr>
        <p:spPr>
          <a:xfrm>
            <a:off x="4137210" y="6255071"/>
            <a:ext cx="1593274" cy="15534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FAFD6347-236B-AB94-6E1C-B2804CC0DFC5}"/>
              </a:ext>
            </a:extLst>
          </p:cNvPr>
          <p:cNvSpPr/>
          <p:nvPr/>
        </p:nvSpPr>
        <p:spPr>
          <a:xfrm>
            <a:off x="7697020" y="6239968"/>
            <a:ext cx="1593274" cy="15534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9A47ADA2-9607-2547-060F-E0C79275E367}"/>
              </a:ext>
            </a:extLst>
          </p:cNvPr>
          <p:cNvSpPr/>
          <p:nvPr/>
        </p:nvSpPr>
        <p:spPr>
          <a:xfrm>
            <a:off x="6193412" y="3900703"/>
            <a:ext cx="3221183" cy="227148"/>
          </a:xfrm>
          <a:prstGeom prst="rect">
            <a:avLst/>
          </a:prstGeom>
          <a:no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a:extLst>
              <a:ext uri="{FF2B5EF4-FFF2-40B4-BE49-F238E27FC236}">
                <a16:creationId xmlns:a16="http://schemas.microsoft.com/office/drawing/2014/main" id="{8AC68A8E-E043-4D19-982B-8D827505AA7B}"/>
              </a:ext>
            </a:extLst>
          </p:cNvPr>
          <p:cNvSpPr txBox="1"/>
          <p:nvPr/>
        </p:nvSpPr>
        <p:spPr>
          <a:xfrm>
            <a:off x="9521536" y="4417087"/>
            <a:ext cx="2573304" cy="830997"/>
          </a:xfrm>
          <a:prstGeom prst="rect">
            <a:avLst/>
          </a:prstGeom>
          <a:noFill/>
        </p:spPr>
        <p:txBody>
          <a:bodyPr wrap="square">
            <a:spAutoFit/>
          </a:bodyPr>
          <a:lstStyle/>
          <a:p>
            <a:r>
              <a:rPr lang="en-US" altLang="zh-TW" sz="1600" dirty="0" err="1"/>
              <a:t>Chien</a:t>
            </a:r>
            <a:r>
              <a:rPr lang="en-US" altLang="zh-TW" sz="1600" dirty="0"/>
              <a:t>, 2005</a:t>
            </a:r>
            <a:r>
              <a:rPr lang="zh-TW" altLang="en-US" sz="1600" dirty="0"/>
              <a:t>、</a:t>
            </a:r>
            <a:r>
              <a:rPr lang="en-US" altLang="zh-TW" sz="1600" dirty="0"/>
              <a:t>Garrido et al., 2014</a:t>
            </a:r>
            <a:r>
              <a:rPr lang="zh-TW" altLang="en-US" sz="1600" dirty="0"/>
              <a:t>、</a:t>
            </a:r>
            <a:r>
              <a:rPr lang="en-US" altLang="zh-TW" sz="1600" dirty="0"/>
              <a:t>Saleem et al., 2023</a:t>
            </a:r>
            <a:r>
              <a:rPr lang="zh-TW" altLang="en-US" sz="1600" dirty="0"/>
              <a:t>、</a:t>
            </a:r>
            <a:r>
              <a:rPr lang="en-US" altLang="zh-TW" sz="1600" dirty="0"/>
              <a:t>Weng et al., 2023.</a:t>
            </a:r>
            <a:endParaRPr lang="zh-TW" altLang="en-US" sz="1600" dirty="0"/>
          </a:p>
        </p:txBody>
      </p:sp>
      <p:pic>
        <p:nvPicPr>
          <p:cNvPr id="19" name="圖形 18" descr="游標 以實心填滿">
            <a:extLst>
              <a:ext uri="{FF2B5EF4-FFF2-40B4-BE49-F238E27FC236}">
                <a16:creationId xmlns:a16="http://schemas.microsoft.com/office/drawing/2014/main" id="{972E7EF7-F3F8-4880-940A-71FBEF88426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1197211">
            <a:off x="9378943" y="4001183"/>
            <a:ext cx="456169" cy="456169"/>
          </a:xfrm>
          <a:prstGeom prst="rect">
            <a:avLst/>
          </a:prstGeom>
        </p:spPr>
      </p:pic>
    </p:spTree>
    <p:extLst>
      <p:ext uri="{BB962C8B-B14F-4D97-AF65-F5344CB8AC3E}">
        <p14:creationId xmlns:p14="http://schemas.microsoft.com/office/powerpoint/2010/main" val="1412200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58638-6DF2-F93A-CDF4-0327FBA063BF}"/>
            </a:ext>
          </a:extLst>
        </p:cNvPr>
        <p:cNvGrpSpPr/>
        <p:nvPr/>
      </p:nvGrpSpPr>
      <p:grpSpPr>
        <a:xfrm>
          <a:off x="0" y="0"/>
          <a:ext cx="0" cy="0"/>
          <a:chOff x="0" y="0"/>
          <a:chExt cx="0" cy="0"/>
        </a:xfrm>
      </p:grpSpPr>
      <p:sp>
        <p:nvSpPr>
          <p:cNvPr id="24" name="矩形: 圓角 23">
            <a:extLst>
              <a:ext uri="{FF2B5EF4-FFF2-40B4-BE49-F238E27FC236}">
                <a16:creationId xmlns:a16="http://schemas.microsoft.com/office/drawing/2014/main" id="{215EFB87-40BE-1F2A-6B2A-FA7B42E936D9}"/>
              </a:ext>
            </a:extLst>
          </p:cNvPr>
          <p:cNvSpPr/>
          <p:nvPr/>
        </p:nvSpPr>
        <p:spPr>
          <a:xfrm>
            <a:off x="593605" y="2121379"/>
            <a:ext cx="11004787" cy="862446"/>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Title 4">
            <a:extLst>
              <a:ext uri="{FF2B5EF4-FFF2-40B4-BE49-F238E27FC236}">
                <a16:creationId xmlns:a16="http://schemas.microsoft.com/office/drawing/2014/main" id="{B1D7D6D7-A5B9-9D34-9073-1F5C07458B5F}"/>
              </a:ext>
            </a:extLst>
          </p:cNvPr>
          <p:cNvSpPr>
            <a:spLocks noGrp="1"/>
          </p:cNvSpPr>
          <p:nvPr>
            <p:ph type="title"/>
          </p:nvPr>
        </p:nvSpPr>
        <p:spPr/>
        <p:txBody>
          <a:bodyPr/>
          <a:lstStyle/>
          <a:p>
            <a:r>
              <a:rPr lang="en-US" dirty="0"/>
              <a:t>Analysis </a:t>
            </a:r>
          </a:p>
        </p:txBody>
      </p:sp>
      <p:grpSp>
        <p:nvGrpSpPr>
          <p:cNvPr id="7" name="群組 6">
            <a:extLst>
              <a:ext uri="{FF2B5EF4-FFF2-40B4-BE49-F238E27FC236}">
                <a16:creationId xmlns:a16="http://schemas.microsoft.com/office/drawing/2014/main" id="{E451E815-1248-583F-8E69-C7AD40BD3776}"/>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664B8679-4013-D64D-13B7-366FD05101DC}"/>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9BC70CCE-3371-71BE-526E-3DFE16CCA80C}"/>
                </a:ext>
              </a:extLst>
            </p:cNvPr>
            <p:cNvSpPr txBox="1"/>
            <p:nvPr/>
          </p:nvSpPr>
          <p:spPr>
            <a:xfrm>
              <a:off x="97160" y="6498455"/>
              <a:ext cx="3475380" cy="400110"/>
            </a:xfrm>
            <a:prstGeom prst="rect">
              <a:avLst/>
            </a:prstGeom>
            <a:noFill/>
          </p:spPr>
          <p:txBody>
            <a:bodyPr wrap="square">
              <a:spAutoFit/>
            </a:bodyPr>
            <a:lstStyle/>
            <a:p>
              <a:r>
                <a:rPr lang="en-US" altLang="zh-TW" sz="2000" b="1" dirty="0">
                  <a:solidFill>
                    <a:srgbClr val="F9EBE0"/>
                  </a:solidFill>
                </a:rPr>
                <a:t>Analysis </a:t>
              </a:r>
            </a:p>
          </p:txBody>
        </p:sp>
        <p:sp>
          <p:nvSpPr>
            <p:cNvPr id="10" name="文字方塊 9">
              <a:extLst>
                <a:ext uri="{FF2B5EF4-FFF2-40B4-BE49-F238E27FC236}">
                  <a16:creationId xmlns:a16="http://schemas.microsoft.com/office/drawing/2014/main" id="{73A410F3-BBD7-318E-0D43-97F4A8979706}"/>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21</a:t>
              </a:r>
              <a:endParaRPr lang="zh-TW" altLang="en-US" sz="2000" b="1" dirty="0">
                <a:solidFill>
                  <a:srgbClr val="F9EBE0"/>
                </a:solidFill>
              </a:endParaRPr>
            </a:p>
          </p:txBody>
        </p:sp>
      </p:grpSp>
      <p:sp>
        <p:nvSpPr>
          <p:cNvPr id="12" name="文字方塊 11">
            <a:extLst>
              <a:ext uri="{FF2B5EF4-FFF2-40B4-BE49-F238E27FC236}">
                <a16:creationId xmlns:a16="http://schemas.microsoft.com/office/drawing/2014/main" id="{D4EAF379-31CD-9045-EF2E-79C367FE0645}"/>
              </a:ext>
            </a:extLst>
          </p:cNvPr>
          <p:cNvSpPr txBox="1"/>
          <p:nvPr/>
        </p:nvSpPr>
        <p:spPr>
          <a:xfrm>
            <a:off x="690769" y="2219000"/>
            <a:ext cx="10810461" cy="400110"/>
          </a:xfrm>
          <a:prstGeom prst="rect">
            <a:avLst/>
          </a:prstGeom>
          <a:noFill/>
        </p:spPr>
        <p:txBody>
          <a:bodyPr wrap="square">
            <a:spAutoFit/>
          </a:bodyPr>
          <a:lstStyle/>
          <a:p>
            <a:pPr algn="just"/>
            <a:r>
              <a:rPr lang="en-US" altLang="zh-TW" sz="2000" dirty="0"/>
              <a:t>Joint changes in the predictor variables are no clear interaction effects with the quality score.</a:t>
            </a:r>
          </a:p>
        </p:txBody>
      </p:sp>
      <p:grpSp>
        <p:nvGrpSpPr>
          <p:cNvPr id="19" name="群組 18">
            <a:extLst>
              <a:ext uri="{FF2B5EF4-FFF2-40B4-BE49-F238E27FC236}">
                <a16:creationId xmlns:a16="http://schemas.microsoft.com/office/drawing/2014/main" id="{28774765-BBC6-CB0F-A85D-D049BA6D34C7}"/>
              </a:ext>
            </a:extLst>
          </p:cNvPr>
          <p:cNvGrpSpPr/>
          <p:nvPr/>
        </p:nvGrpSpPr>
        <p:grpSpPr>
          <a:xfrm>
            <a:off x="790521" y="2344780"/>
            <a:ext cx="10334679" cy="737755"/>
            <a:chOff x="2684032" y="2379518"/>
            <a:chExt cx="10334679" cy="737755"/>
          </a:xfrm>
        </p:grpSpPr>
        <p:pic>
          <p:nvPicPr>
            <p:cNvPr id="16" name="圖形 15" descr="箭號: 略彎曲線 以實心填滿">
              <a:extLst>
                <a:ext uri="{FF2B5EF4-FFF2-40B4-BE49-F238E27FC236}">
                  <a16:creationId xmlns:a16="http://schemas.microsoft.com/office/drawing/2014/main" id="{17FB6C87-CC21-0DC9-C58D-04E700DCA2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84032" y="2379518"/>
              <a:ext cx="737755" cy="737755"/>
            </a:xfrm>
            <a:prstGeom prst="rect">
              <a:avLst/>
            </a:prstGeom>
          </p:spPr>
        </p:pic>
        <p:sp>
          <p:nvSpPr>
            <p:cNvPr id="18" name="文字方塊 17">
              <a:extLst>
                <a:ext uri="{FF2B5EF4-FFF2-40B4-BE49-F238E27FC236}">
                  <a16:creationId xmlns:a16="http://schemas.microsoft.com/office/drawing/2014/main" id="{D583956B-DEF2-BA6A-2037-C1F267750668}"/>
                </a:ext>
              </a:extLst>
            </p:cNvPr>
            <p:cNvSpPr txBox="1"/>
            <p:nvPr/>
          </p:nvSpPr>
          <p:spPr>
            <a:xfrm>
              <a:off x="3421786" y="2563729"/>
              <a:ext cx="9596925" cy="400110"/>
            </a:xfrm>
            <a:prstGeom prst="rect">
              <a:avLst/>
            </a:prstGeom>
            <a:noFill/>
          </p:spPr>
          <p:txBody>
            <a:bodyPr wrap="square">
              <a:spAutoFit/>
            </a:bodyPr>
            <a:lstStyle/>
            <a:p>
              <a:pPr algn="just"/>
              <a:r>
                <a:rPr lang="en-US" altLang="zh-TW" sz="2000" dirty="0"/>
                <a:t>Use Ordered Logit model and Random Forest to explore each variable separately.</a:t>
              </a:r>
              <a:endParaRPr lang="zh-TW" altLang="en-US" sz="2000" dirty="0"/>
            </a:p>
          </p:txBody>
        </p:sp>
      </p:grpSp>
      <p:grpSp>
        <p:nvGrpSpPr>
          <p:cNvPr id="34" name="群組 33">
            <a:extLst>
              <a:ext uri="{FF2B5EF4-FFF2-40B4-BE49-F238E27FC236}">
                <a16:creationId xmlns:a16="http://schemas.microsoft.com/office/drawing/2014/main" id="{59F7FFA9-D426-5DF8-DECF-469D1CC7CFEA}"/>
              </a:ext>
            </a:extLst>
          </p:cNvPr>
          <p:cNvGrpSpPr/>
          <p:nvPr/>
        </p:nvGrpSpPr>
        <p:grpSpPr>
          <a:xfrm>
            <a:off x="0" y="3044989"/>
            <a:ext cx="12192000" cy="3110101"/>
            <a:chOff x="0" y="3080068"/>
            <a:chExt cx="12192000" cy="3110101"/>
          </a:xfrm>
        </p:grpSpPr>
        <p:grpSp>
          <p:nvGrpSpPr>
            <p:cNvPr id="21" name="群組 20">
              <a:extLst>
                <a:ext uri="{FF2B5EF4-FFF2-40B4-BE49-F238E27FC236}">
                  <a16:creationId xmlns:a16="http://schemas.microsoft.com/office/drawing/2014/main" id="{1D3C150F-3BB7-3B0E-AEC6-6310BC257D5D}"/>
                </a:ext>
              </a:extLst>
            </p:cNvPr>
            <p:cNvGrpSpPr/>
            <p:nvPr/>
          </p:nvGrpSpPr>
          <p:grpSpPr>
            <a:xfrm>
              <a:off x="0" y="3080068"/>
              <a:ext cx="12192000" cy="2801816"/>
              <a:chOff x="499089" y="3175792"/>
              <a:chExt cx="12192000" cy="2801816"/>
            </a:xfrm>
          </p:grpSpPr>
          <p:pic>
            <p:nvPicPr>
              <p:cNvPr id="1026" name="Picture 2">
                <a:extLst>
                  <a:ext uri="{FF2B5EF4-FFF2-40B4-BE49-F238E27FC236}">
                    <a16:creationId xmlns:a16="http://schemas.microsoft.com/office/drawing/2014/main" id="{7C122D30-0E33-C3AF-EF82-2B06CB1B954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1005" b="4049"/>
              <a:stretch>
                <a:fillRect/>
              </a:stretch>
            </p:blipFill>
            <p:spPr bwMode="auto">
              <a:xfrm>
                <a:off x="499089" y="3175793"/>
                <a:ext cx="4048757" cy="276124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068E9AC-B252-C5EB-C888-58A4BD251BD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8210" b="4049"/>
              <a:stretch>
                <a:fillRect/>
              </a:stretch>
            </p:blipFill>
            <p:spPr bwMode="auto">
              <a:xfrm>
                <a:off x="4547860" y="3175792"/>
                <a:ext cx="4071600" cy="2761249"/>
              </a:xfrm>
              <a:prstGeom prst="rect">
                <a:avLst/>
              </a:prstGeom>
              <a:noFill/>
              <a:extLst>
                <a:ext uri="{909E8E84-426E-40DD-AFC4-6F175D3DCCD1}">
                  <a14:hiddenFill xmlns:a14="http://schemas.microsoft.com/office/drawing/2010/main">
                    <a:solidFill>
                      <a:srgbClr val="FFFFFF"/>
                    </a:solidFill>
                  </a14:hiddenFill>
                </a:ext>
              </a:extLst>
            </p:spPr>
          </p:pic>
          <p:pic>
            <p:nvPicPr>
              <p:cNvPr id="20" name="圖片 19">
                <a:extLst>
                  <a:ext uri="{FF2B5EF4-FFF2-40B4-BE49-F238E27FC236}">
                    <a16:creationId xmlns:a16="http://schemas.microsoft.com/office/drawing/2014/main" id="{04D25B1E-EADE-F7FA-42B4-A5B0BF562968}"/>
                  </a:ext>
                </a:extLst>
              </p:cNvPr>
              <p:cNvPicPr>
                <a:picLocks noChangeAspect="1"/>
              </p:cNvPicPr>
              <p:nvPr/>
            </p:nvPicPr>
            <p:blipFill>
              <a:blip r:embed="rId7"/>
              <a:srcRect r="7450" b="3346"/>
              <a:stretch>
                <a:fillRect/>
              </a:stretch>
            </p:blipFill>
            <p:spPr>
              <a:xfrm>
                <a:off x="8619460" y="3197456"/>
                <a:ext cx="4071629" cy="2780152"/>
              </a:xfrm>
              <a:prstGeom prst="rect">
                <a:avLst/>
              </a:prstGeom>
            </p:spPr>
          </p:pic>
        </p:grpSp>
        <p:sp>
          <p:nvSpPr>
            <p:cNvPr id="26" name="文字方塊 25">
              <a:extLst>
                <a:ext uri="{FF2B5EF4-FFF2-40B4-BE49-F238E27FC236}">
                  <a16:creationId xmlns:a16="http://schemas.microsoft.com/office/drawing/2014/main" id="{53058103-8905-C03D-9828-909241616B69}"/>
                </a:ext>
              </a:extLst>
            </p:cNvPr>
            <p:cNvSpPr txBox="1"/>
            <p:nvPr/>
          </p:nvSpPr>
          <p:spPr>
            <a:xfrm>
              <a:off x="945792" y="5790568"/>
              <a:ext cx="1996388" cy="338554"/>
            </a:xfrm>
            <a:prstGeom prst="rect">
              <a:avLst/>
            </a:prstGeom>
            <a:noFill/>
          </p:spPr>
          <p:txBody>
            <a:bodyPr wrap="square">
              <a:spAutoFit/>
            </a:bodyPr>
            <a:lstStyle/>
            <a:p>
              <a:pPr algn="ctr"/>
              <a:r>
                <a:rPr lang="en-US" altLang="zh-TW" sz="1600" dirty="0"/>
                <a:t>Waiting time(min)</a:t>
              </a:r>
              <a:endParaRPr lang="zh-TW" altLang="en-US" sz="1600" dirty="0"/>
            </a:p>
          </p:txBody>
        </p:sp>
        <p:sp>
          <p:nvSpPr>
            <p:cNvPr id="27" name="文字方塊 26">
              <a:extLst>
                <a:ext uri="{FF2B5EF4-FFF2-40B4-BE49-F238E27FC236}">
                  <a16:creationId xmlns:a16="http://schemas.microsoft.com/office/drawing/2014/main" id="{A0CEFC32-4FE3-B0CE-4136-088C47E65ED3}"/>
                </a:ext>
              </a:extLst>
            </p:cNvPr>
            <p:cNvSpPr txBox="1"/>
            <p:nvPr/>
          </p:nvSpPr>
          <p:spPr>
            <a:xfrm>
              <a:off x="5024121" y="5815943"/>
              <a:ext cx="2120886" cy="338554"/>
            </a:xfrm>
            <a:prstGeom prst="rect">
              <a:avLst/>
            </a:prstGeom>
            <a:noFill/>
          </p:spPr>
          <p:txBody>
            <a:bodyPr wrap="square">
              <a:spAutoFit/>
            </a:bodyPr>
            <a:lstStyle/>
            <a:p>
              <a:pPr algn="ctr"/>
              <a:r>
                <a:rPr lang="en-US" altLang="zh-TW" sz="1600" dirty="0"/>
                <a:t>Bus occupancy(%)</a:t>
              </a:r>
              <a:endParaRPr lang="zh-TW" altLang="en-US" sz="1600" dirty="0"/>
            </a:p>
          </p:txBody>
        </p:sp>
        <p:sp>
          <p:nvSpPr>
            <p:cNvPr id="33" name="文字方塊 32">
              <a:extLst>
                <a:ext uri="{FF2B5EF4-FFF2-40B4-BE49-F238E27FC236}">
                  <a16:creationId xmlns:a16="http://schemas.microsoft.com/office/drawing/2014/main" id="{2BD64597-CE1B-67D6-3136-622C2356FE2C}"/>
                </a:ext>
              </a:extLst>
            </p:cNvPr>
            <p:cNvSpPr txBox="1"/>
            <p:nvPr/>
          </p:nvSpPr>
          <p:spPr>
            <a:xfrm>
              <a:off x="9095721" y="5851615"/>
              <a:ext cx="2120886" cy="338554"/>
            </a:xfrm>
            <a:prstGeom prst="rect">
              <a:avLst/>
            </a:prstGeom>
            <a:noFill/>
          </p:spPr>
          <p:txBody>
            <a:bodyPr wrap="square">
              <a:spAutoFit/>
            </a:bodyPr>
            <a:lstStyle/>
            <a:p>
              <a:pPr algn="ctr"/>
              <a:r>
                <a:rPr lang="en-US" altLang="zh-TW" sz="1600" dirty="0"/>
                <a:t>Bus speed(km/h)</a:t>
              </a:r>
              <a:endParaRPr lang="zh-TW" altLang="en-US" sz="1600" dirty="0"/>
            </a:p>
          </p:txBody>
        </p:sp>
      </p:grpSp>
      <p:pic>
        <p:nvPicPr>
          <p:cNvPr id="36" name="圖片 35">
            <a:extLst>
              <a:ext uri="{FF2B5EF4-FFF2-40B4-BE49-F238E27FC236}">
                <a16:creationId xmlns:a16="http://schemas.microsoft.com/office/drawing/2014/main" id="{60AAF575-1687-9208-59B1-D18EFAA2055C}"/>
              </a:ext>
            </a:extLst>
          </p:cNvPr>
          <p:cNvPicPr>
            <a:picLocks noChangeAspect="1"/>
          </p:cNvPicPr>
          <p:nvPr/>
        </p:nvPicPr>
        <p:blipFill>
          <a:blip r:embed="rId8"/>
          <a:srcRect t="22382" b="35599"/>
          <a:stretch>
            <a:fillRect/>
          </a:stretch>
        </p:blipFill>
        <p:spPr>
          <a:xfrm>
            <a:off x="66726" y="5793317"/>
            <a:ext cx="611606" cy="725422"/>
          </a:xfrm>
          <a:prstGeom prst="rect">
            <a:avLst/>
          </a:prstGeom>
        </p:spPr>
      </p:pic>
      <p:sp>
        <p:nvSpPr>
          <p:cNvPr id="37" name="橢圓 36">
            <a:extLst>
              <a:ext uri="{FF2B5EF4-FFF2-40B4-BE49-F238E27FC236}">
                <a16:creationId xmlns:a16="http://schemas.microsoft.com/office/drawing/2014/main" id="{DBB18B79-0DDC-E0FB-C7E3-363FBE7FFE3A}"/>
              </a:ext>
            </a:extLst>
          </p:cNvPr>
          <p:cNvSpPr/>
          <p:nvPr/>
        </p:nvSpPr>
        <p:spPr>
          <a:xfrm>
            <a:off x="2219325" y="4914088"/>
            <a:ext cx="247650" cy="257175"/>
          </a:xfrm>
          <a:prstGeom prst="ellipse">
            <a:avLst/>
          </a:prstGeom>
          <a:no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37">
            <a:extLst>
              <a:ext uri="{FF2B5EF4-FFF2-40B4-BE49-F238E27FC236}">
                <a16:creationId xmlns:a16="http://schemas.microsoft.com/office/drawing/2014/main" id="{7C5F8BC7-2710-1139-2BE4-2D604897753A}"/>
              </a:ext>
            </a:extLst>
          </p:cNvPr>
          <p:cNvSpPr/>
          <p:nvPr/>
        </p:nvSpPr>
        <p:spPr>
          <a:xfrm>
            <a:off x="2540874" y="5201892"/>
            <a:ext cx="247650" cy="257175"/>
          </a:xfrm>
          <a:prstGeom prst="ellipse">
            <a:avLst/>
          </a:prstGeom>
          <a:no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38">
            <a:extLst>
              <a:ext uri="{FF2B5EF4-FFF2-40B4-BE49-F238E27FC236}">
                <a16:creationId xmlns:a16="http://schemas.microsoft.com/office/drawing/2014/main" id="{2D8D02A7-29E0-F084-FA8E-CD26222A745B}"/>
              </a:ext>
            </a:extLst>
          </p:cNvPr>
          <p:cNvSpPr/>
          <p:nvPr/>
        </p:nvSpPr>
        <p:spPr>
          <a:xfrm>
            <a:off x="4412614" y="5037343"/>
            <a:ext cx="247650" cy="257175"/>
          </a:xfrm>
          <a:prstGeom prst="ellipse">
            <a:avLst/>
          </a:prstGeom>
          <a:no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橢圓 39">
            <a:extLst>
              <a:ext uri="{FF2B5EF4-FFF2-40B4-BE49-F238E27FC236}">
                <a16:creationId xmlns:a16="http://schemas.microsoft.com/office/drawing/2014/main" id="{86D8E3C1-CEBE-3825-C404-636F3C9D8C72}"/>
              </a:ext>
            </a:extLst>
          </p:cNvPr>
          <p:cNvSpPr/>
          <p:nvPr/>
        </p:nvSpPr>
        <p:spPr>
          <a:xfrm>
            <a:off x="5229225" y="5378683"/>
            <a:ext cx="247650" cy="257175"/>
          </a:xfrm>
          <a:prstGeom prst="ellipse">
            <a:avLst/>
          </a:prstGeom>
          <a:no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文字方塊 41">
            <a:extLst>
              <a:ext uri="{FF2B5EF4-FFF2-40B4-BE49-F238E27FC236}">
                <a16:creationId xmlns:a16="http://schemas.microsoft.com/office/drawing/2014/main" id="{E1254E18-933B-EF92-4766-1643ECCAD696}"/>
              </a:ext>
            </a:extLst>
          </p:cNvPr>
          <p:cNvSpPr txBox="1"/>
          <p:nvPr/>
        </p:nvSpPr>
        <p:spPr>
          <a:xfrm>
            <a:off x="1445499" y="4634130"/>
            <a:ext cx="895350" cy="369332"/>
          </a:xfrm>
          <a:prstGeom prst="rect">
            <a:avLst/>
          </a:prstGeom>
          <a:noFill/>
        </p:spPr>
        <p:txBody>
          <a:bodyPr wrap="square">
            <a:spAutoFit/>
          </a:bodyPr>
          <a:lstStyle/>
          <a:p>
            <a:r>
              <a:rPr lang="zh-TW" altLang="en-US" dirty="0">
                <a:ln>
                  <a:solidFill>
                    <a:schemeClr val="accent3"/>
                  </a:solidFill>
                </a:ln>
                <a:solidFill>
                  <a:schemeClr val="accent3"/>
                </a:solidFill>
              </a:rPr>
              <a:t>5 min</a:t>
            </a:r>
            <a:r>
              <a:rPr lang="en-US" altLang="zh-TW" dirty="0">
                <a:ln>
                  <a:solidFill>
                    <a:schemeClr val="accent3"/>
                  </a:solidFill>
                </a:ln>
                <a:solidFill>
                  <a:schemeClr val="accent3"/>
                </a:solidFill>
              </a:rPr>
              <a:t>s</a:t>
            </a:r>
            <a:endParaRPr lang="zh-TW" altLang="en-US" dirty="0">
              <a:ln>
                <a:solidFill>
                  <a:schemeClr val="accent3"/>
                </a:solidFill>
              </a:ln>
              <a:solidFill>
                <a:schemeClr val="accent3"/>
              </a:solidFill>
            </a:endParaRPr>
          </a:p>
        </p:txBody>
      </p:sp>
      <p:sp>
        <p:nvSpPr>
          <p:cNvPr id="44" name="文字方塊 43">
            <a:extLst>
              <a:ext uri="{FF2B5EF4-FFF2-40B4-BE49-F238E27FC236}">
                <a16:creationId xmlns:a16="http://schemas.microsoft.com/office/drawing/2014/main" id="{FCA0B5D5-AC1E-8C91-9E8A-1C7FA6B1D17D}"/>
              </a:ext>
            </a:extLst>
          </p:cNvPr>
          <p:cNvSpPr txBox="1"/>
          <p:nvPr/>
        </p:nvSpPr>
        <p:spPr>
          <a:xfrm>
            <a:off x="2788524" y="5101170"/>
            <a:ext cx="1019555" cy="369332"/>
          </a:xfrm>
          <a:prstGeom prst="rect">
            <a:avLst/>
          </a:prstGeom>
          <a:noFill/>
        </p:spPr>
        <p:txBody>
          <a:bodyPr wrap="square">
            <a:spAutoFit/>
          </a:bodyPr>
          <a:lstStyle/>
          <a:p>
            <a:r>
              <a:rPr lang="zh-TW" altLang="en-US">
                <a:ln>
                  <a:solidFill>
                    <a:schemeClr val="accent3"/>
                  </a:solidFill>
                </a:ln>
                <a:solidFill>
                  <a:schemeClr val="accent3"/>
                </a:solidFill>
              </a:rPr>
              <a:t>10 min</a:t>
            </a:r>
            <a:r>
              <a:rPr lang="en-US" altLang="zh-TW">
                <a:ln>
                  <a:solidFill>
                    <a:schemeClr val="accent3"/>
                  </a:solidFill>
                </a:ln>
                <a:solidFill>
                  <a:schemeClr val="accent3"/>
                </a:solidFill>
              </a:rPr>
              <a:t>s</a:t>
            </a:r>
            <a:endParaRPr lang="zh-TW" altLang="en-US" dirty="0">
              <a:ln>
                <a:solidFill>
                  <a:schemeClr val="accent3"/>
                </a:solidFill>
              </a:ln>
              <a:solidFill>
                <a:schemeClr val="accent3"/>
              </a:solidFill>
            </a:endParaRPr>
          </a:p>
        </p:txBody>
      </p:sp>
      <p:sp>
        <p:nvSpPr>
          <p:cNvPr id="45" name="文字方塊 44">
            <a:extLst>
              <a:ext uri="{FF2B5EF4-FFF2-40B4-BE49-F238E27FC236}">
                <a16:creationId xmlns:a16="http://schemas.microsoft.com/office/drawing/2014/main" id="{97A148C0-D168-5816-10F0-4D3F45CD410A}"/>
              </a:ext>
            </a:extLst>
          </p:cNvPr>
          <p:cNvSpPr txBox="1"/>
          <p:nvPr/>
        </p:nvSpPr>
        <p:spPr>
          <a:xfrm>
            <a:off x="4194296" y="4581679"/>
            <a:ext cx="778761" cy="369332"/>
          </a:xfrm>
          <a:prstGeom prst="rect">
            <a:avLst/>
          </a:prstGeom>
          <a:noFill/>
        </p:spPr>
        <p:txBody>
          <a:bodyPr wrap="square">
            <a:spAutoFit/>
          </a:bodyPr>
          <a:lstStyle/>
          <a:p>
            <a:r>
              <a:rPr lang="en-US" altLang="zh-TW" dirty="0">
                <a:ln>
                  <a:solidFill>
                    <a:schemeClr val="accent3"/>
                  </a:solidFill>
                </a:ln>
                <a:solidFill>
                  <a:schemeClr val="accent3"/>
                </a:solidFill>
              </a:rPr>
              <a:t>25</a:t>
            </a:r>
            <a:r>
              <a:rPr lang="zh-TW" altLang="en-US" dirty="0">
                <a:ln>
                  <a:solidFill>
                    <a:schemeClr val="accent3"/>
                  </a:solidFill>
                </a:ln>
                <a:solidFill>
                  <a:schemeClr val="accent3"/>
                </a:solidFill>
              </a:rPr>
              <a:t> </a:t>
            </a:r>
            <a:r>
              <a:rPr lang="en-US" altLang="zh-TW" dirty="0">
                <a:ln>
                  <a:solidFill>
                    <a:schemeClr val="accent3"/>
                  </a:solidFill>
                </a:ln>
                <a:solidFill>
                  <a:schemeClr val="accent3"/>
                </a:solidFill>
              </a:rPr>
              <a:t>%</a:t>
            </a:r>
            <a:endParaRPr lang="zh-TW" altLang="en-US" dirty="0">
              <a:ln>
                <a:solidFill>
                  <a:schemeClr val="accent3"/>
                </a:solidFill>
              </a:ln>
              <a:solidFill>
                <a:schemeClr val="accent3"/>
              </a:solidFill>
            </a:endParaRPr>
          </a:p>
        </p:txBody>
      </p:sp>
      <p:sp>
        <p:nvSpPr>
          <p:cNvPr id="46" name="文字方塊 45">
            <a:extLst>
              <a:ext uri="{FF2B5EF4-FFF2-40B4-BE49-F238E27FC236}">
                <a16:creationId xmlns:a16="http://schemas.microsoft.com/office/drawing/2014/main" id="{58A23440-24D1-E8DB-44EF-1BD5933B6F87}"/>
              </a:ext>
            </a:extLst>
          </p:cNvPr>
          <p:cNvSpPr txBox="1"/>
          <p:nvPr/>
        </p:nvSpPr>
        <p:spPr>
          <a:xfrm>
            <a:off x="5061969" y="5037343"/>
            <a:ext cx="778761" cy="369332"/>
          </a:xfrm>
          <a:prstGeom prst="rect">
            <a:avLst/>
          </a:prstGeom>
          <a:noFill/>
        </p:spPr>
        <p:txBody>
          <a:bodyPr wrap="square">
            <a:spAutoFit/>
          </a:bodyPr>
          <a:lstStyle/>
          <a:p>
            <a:r>
              <a:rPr lang="en-US" altLang="zh-TW" dirty="0">
                <a:ln>
                  <a:solidFill>
                    <a:schemeClr val="accent3"/>
                  </a:solidFill>
                </a:ln>
                <a:solidFill>
                  <a:schemeClr val="accent3"/>
                </a:solidFill>
              </a:rPr>
              <a:t>75</a:t>
            </a:r>
            <a:r>
              <a:rPr lang="zh-TW" altLang="en-US" dirty="0">
                <a:ln>
                  <a:solidFill>
                    <a:schemeClr val="accent3"/>
                  </a:solidFill>
                </a:ln>
                <a:solidFill>
                  <a:schemeClr val="accent3"/>
                </a:solidFill>
              </a:rPr>
              <a:t> </a:t>
            </a:r>
            <a:r>
              <a:rPr lang="en-US" altLang="zh-TW" dirty="0">
                <a:ln>
                  <a:solidFill>
                    <a:schemeClr val="accent3"/>
                  </a:solidFill>
                </a:ln>
                <a:solidFill>
                  <a:schemeClr val="accent3"/>
                </a:solidFill>
              </a:rPr>
              <a:t>%</a:t>
            </a:r>
            <a:endParaRPr lang="zh-TW" altLang="en-US" dirty="0">
              <a:ln>
                <a:solidFill>
                  <a:schemeClr val="accent3"/>
                </a:solidFill>
              </a:ln>
              <a:solidFill>
                <a:schemeClr val="accent3"/>
              </a:solidFill>
            </a:endParaRPr>
          </a:p>
        </p:txBody>
      </p:sp>
      <p:sp>
        <p:nvSpPr>
          <p:cNvPr id="47" name="橢圓 46">
            <a:extLst>
              <a:ext uri="{FF2B5EF4-FFF2-40B4-BE49-F238E27FC236}">
                <a16:creationId xmlns:a16="http://schemas.microsoft.com/office/drawing/2014/main" id="{0F05351E-95FA-123E-1FF6-3DFEC6DF2A53}"/>
              </a:ext>
            </a:extLst>
          </p:cNvPr>
          <p:cNvSpPr/>
          <p:nvPr/>
        </p:nvSpPr>
        <p:spPr>
          <a:xfrm>
            <a:off x="7385039" y="5250096"/>
            <a:ext cx="247650" cy="25717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文字方塊 47">
            <a:extLst>
              <a:ext uri="{FF2B5EF4-FFF2-40B4-BE49-F238E27FC236}">
                <a16:creationId xmlns:a16="http://schemas.microsoft.com/office/drawing/2014/main" id="{201F7F58-1E5D-7DD9-D90D-2F3D4EABEFE7}"/>
              </a:ext>
            </a:extLst>
          </p:cNvPr>
          <p:cNvSpPr txBox="1"/>
          <p:nvPr/>
        </p:nvSpPr>
        <p:spPr>
          <a:xfrm>
            <a:off x="7585451" y="5408853"/>
            <a:ext cx="778761" cy="369332"/>
          </a:xfrm>
          <a:prstGeom prst="rect">
            <a:avLst/>
          </a:prstGeom>
          <a:noFill/>
        </p:spPr>
        <p:txBody>
          <a:bodyPr wrap="square">
            <a:spAutoFit/>
          </a:bodyPr>
          <a:lstStyle/>
          <a:p>
            <a:r>
              <a:rPr lang="en-US" altLang="zh-TW" dirty="0">
                <a:solidFill>
                  <a:srgbClr val="FF0000"/>
                </a:solidFill>
              </a:rPr>
              <a:t>85</a:t>
            </a:r>
            <a:r>
              <a:rPr lang="zh-TW" altLang="en-US" dirty="0">
                <a:solidFill>
                  <a:srgbClr val="FF0000"/>
                </a:solidFill>
              </a:rPr>
              <a:t> </a:t>
            </a:r>
            <a:r>
              <a:rPr lang="en-US" altLang="zh-TW" dirty="0">
                <a:solidFill>
                  <a:srgbClr val="FF0000"/>
                </a:solidFill>
              </a:rPr>
              <a:t>%</a:t>
            </a:r>
            <a:endParaRPr lang="zh-TW" altLang="en-US" dirty="0">
              <a:solidFill>
                <a:srgbClr val="FF0000"/>
              </a:solidFill>
            </a:endParaRPr>
          </a:p>
        </p:txBody>
      </p:sp>
      <p:sp>
        <p:nvSpPr>
          <p:cNvPr id="49" name="橢圓 48">
            <a:extLst>
              <a:ext uri="{FF2B5EF4-FFF2-40B4-BE49-F238E27FC236}">
                <a16:creationId xmlns:a16="http://schemas.microsoft.com/office/drawing/2014/main" id="{892DB344-71C8-7FC0-108E-A292A8C6F827}"/>
              </a:ext>
            </a:extLst>
          </p:cNvPr>
          <p:cNvSpPr/>
          <p:nvPr/>
        </p:nvSpPr>
        <p:spPr>
          <a:xfrm>
            <a:off x="6835128" y="5089447"/>
            <a:ext cx="247650" cy="257175"/>
          </a:xfrm>
          <a:prstGeom prst="ellipse">
            <a:avLst/>
          </a:prstGeom>
          <a:no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文字方塊 49">
            <a:extLst>
              <a:ext uri="{FF2B5EF4-FFF2-40B4-BE49-F238E27FC236}">
                <a16:creationId xmlns:a16="http://schemas.microsoft.com/office/drawing/2014/main" id="{DBE7B4D5-4B2D-D5F5-8D3D-26A67449071E}"/>
              </a:ext>
            </a:extLst>
          </p:cNvPr>
          <p:cNvSpPr txBox="1"/>
          <p:nvPr/>
        </p:nvSpPr>
        <p:spPr>
          <a:xfrm>
            <a:off x="6853928" y="4746857"/>
            <a:ext cx="778761" cy="369332"/>
          </a:xfrm>
          <a:prstGeom prst="rect">
            <a:avLst/>
          </a:prstGeom>
          <a:noFill/>
        </p:spPr>
        <p:txBody>
          <a:bodyPr wrap="square">
            <a:spAutoFit/>
          </a:bodyPr>
          <a:lstStyle/>
          <a:p>
            <a:r>
              <a:rPr lang="en-US" altLang="zh-TW" dirty="0">
                <a:ln>
                  <a:solidFill>
                    <a:schemeClr val="accent3"/>
                  </a:solidFill>
                </a:ln>
                <a:solidFill>
                  <a:schemeClr val="accent3"/>
                </a:solidFill>
              </a:rPr>
              <a:t>55</a:t>
            </a:r>
            <a:r>
              <a:rPr lang="zh-TW" altLang="en-US" dirty="0">
                <a:ln>
                  <a:solidFill>
                    <a:schemeClr val="accent3"/>
                  </a:solidFill>
                </a:ln>
                <a:solidFill>
                  <a:schemeClr val="accent3"/>
                </a:solidFill>
              </a:rPr>
              <a:t> </a:t>
            </a:r>
            <a:r>
              <a:rPr lang="en-US" altLang="zh-TW" dirty="0">
                <a:ln>
                  <a:solidFill>
                    <a:schemeClr val="accent3"/>
                  </a:solidFill>
                </a:ln>
                <a:solidFill>
                  <a:schemeClr val="accent3"/>
                </a:solidFill>
              </a:rPr>
              <a:t>%</a:t>
            </a:r>
            <a:endParaRPr lang="zh-TW" altLang="en-US" dirty="0">
              <a:ln>
                <a:solidFill>
                  <a:schemeClr val="accent3"/>
                </a:solidFill>
              </a:ln>
              <a:solidFill>
                <a:schemeClr val="accent3"/>
              </a:solidFill>
            </a:endParaRPr>
          </a:p>
        </p:txBody>
      </p:sp>
      <p:sp>
        <p:nvSpPr>
          <p:cNvPr id="51" name="橢圓 50">
            <a:extLst>
              <a:ext uri="{FF2B5EF4-FFF2-40B4-BE49-F238E27FC236}">
                <a16:creationId xmlns:a16="http://schemas.microsoft.com/office/drawing/2014/main" id="{9500EF18-E431-7871-D71C-B33BEC6FED4F}"/>
              </a:ext>
            </a:extLst>
          </p:cNvPr>
          <p:cNvSpPr/>
          <p:nvPr/>
        </p:nvSpPr>
        <p:spPr>
          <a:xfrm>
            <a:off x="10233325" y="4228852"/>
            <a:ext cx="247650" cy="25717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文字方塊 51">
            <a:extLst>
              <a:ext uri="{FF2B5EF4-FFF2-40B4-BE49-F238E27FC236}">
                <a16:creationId xmlns:a16="http://schemas.microsoft.com/office/drawing/2014/main" id="{504623F0-D31D-F689-73FD-1449A9B37B15}"/>
              </a:ext>
            </a:extLst>
          </p:cNvPr>
          <p:cNvSpPr txBox="1"/>
          <p:nvPr/>
        </p:nvSpPr>
        <p:spPr>
          <a:xfrm>
            <a:off x="10367185" y="4033156"/>
            <a:ext cx="1516029" cy="369332"/>
          </a:xfrm>
          <a:prstGeom prst="rect">
            <a:avLst/>
          </a:prstGeom>
          <a:noFill/>
        </p:spPr>
        <p:txBody>
          <a:bodyPr wrap="square">
            <a:spAutoFit/>
          </a:bodyPr>
          <a:lstStyle/>
          <a:p>
            <a:r>
              <a:rPr lang="en-US" altLang="zh-TW" dirty="0">
                <a:solidFill>
                  <a:srgbClr val="FF0000"/>
                </a:solidFill>
              </a:rPr>
              <a:t>10~15</a:t>
            </a:r>
            <a:r>
              <a:rPr lang="zh-TW" altLang="en-US" dirty="0">
                <a:solidFill>
                  <a:srgbClr val="FF0000"/>
                </a:solidFill>
              </a:rPr>
              <a:t> </a:t>
            </a:r>
            <a:r>
              <a:rPr lang="en-US" altLang="zh-TW" dirty="0">
                <a:solidFill>
                  <a:srgbClr val="FF0000"/>
                </a:solidFill>
              </a:rPr>
              <a:t>km/h</a:t>
            </a:r>
            <a:endParaRPr lang="zh-TW" altLang="en-US" dirty="0">
              <a:solidFill>
                <a:srgbClr val="FF0000"/>
              </a:solidFill>
            </a:endParaRPr>
          </a:p>
        </p:txBody>
      </p:sp>
      <p:sp>
        <p:nvSpPr>
          <p:cNvPr id="53" name="橢圓 52">
            <a:extLst>
              <a:ext uri="{FF2B5EF4-FFF2-40B4-BE49-F238E27FC236}">
                <a16:creationId xmlns:a16="http://schemas.microsoft.com/office/drawing/2014/main" id="{532B3AA4-AB44-C7BA-141C-4D72328CE1EF}"/>
              </a:ext>
            </a:extLst>
          </p:cNvPr>
          <p:cNvSpPr/>
          <p:nvPr/>
        </p:nvSpPr>
        <p:spPr>
          <a:xfrm>
            <a:off x="10498851" y="4618269"/>
            <a:ext cx="247650" cy="25717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 name="直線接點 2">
            <a:extLst>
              <a:ext uri="{FF2B5EF4-FFF2-40B4-BE49-F238E27FC236}">
                <a16:creationId xmlns:a16="http://schemas.microsoft.com/office/drawing/2014/main" id="{CB790EA6-61AE-43DC-B245-BD3503756C24}"/>
              </a:ext>
            </a:extLst>
          </p:cNvPr>
          <p:cNvCxnSpPr/>
          <p:nvPr/>
        </p:nvCxnSpPr>
        <p:spPr>
          <a:xfrm>
            <a:off x="593605" y="6410131"/>
            <a:ext cx="196916"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1" name="直線接點 40">
            <a:extLst>
              <a:ext uri="{FF2B5EF4-FFF2-40B4-BE49-F238E27FC236}">
                <a16:creationId xmlns:a16="http://schemas.microsoft.com/office/drawing/2014/main" id="{91F4BD79-DA40-42A1-B12D-9C677C117645}"/>
              </a:ext>
            </a:extLst>
          </p:cNvPr>
          <p:cNvCxnSpPr/>
          <p:nvPr/>
        </p:nvCxnSpPr>
        <p:spPr>
          <a:xfrm>
            <a:off x="593605" y="6046239"/>
            <a:ext cx="19691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1429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671C2-E9D4-9A6D-7235-2A4A402AEB6D}"/>
            </a:ext>
          </a:extLst>
        </p:cNvPr>
        <p:cNvGrpSpPr/>
        <p:nvPr/>
      </p:nvGrpSpPr>
      <p:grpSpPr>
        <a:xfrm>
          <a:off x="0" y="0"/>
          <a:ext cx="0" cy="0"/>
          <a:chOff x="0" y="0"/>
          <a:chExt cx="0" cy="0"/>
        </a:xfrm>
      </p:grpSpPr>
      <p:sp>
        <p:nvSpPr>
          <p:cNvPr id="2" name="流程圖: 資料 1">
            <a:extLst>
              <a:ext uri="{FF2B5EF4-FFF2-40B4-BE49-F238E27FC236}">
                <a16:creationId xmlns:a16="http://schemas.microsoft.com/office/drawing/2014/main" id="{832B01DF-2707-18C4-9B24-4FDC8B234B05}"/>
              </a:ext>
            </a:extLst>
          </p:cNvPr>
          <p:cNvSpPr/>
          <p:nvPr/>
        </p:nvSpPr>
        <p:spPr>
          <a:xfrm flipV="1">
            <a:off x="1394979" y="1854777"/>
            <a:ext cx="9402042" cy="3148446"/>
          </a:xfrm>
          <a:prstGeom prst="flowChartInputOutput">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6D66CFB1-1718-9023-330A-A017250F6254}"/>
              </a:ext>
            </a:extLst>
          </p:cNvPr>
          <p:cNvSpPr/>
          <p:nvPr/>
        </p:nvSpPr>
        <p:spPr>
          <a:xfrm>
            <a:off x="2344881" y="1252104"/>
            <a:ext cx="7502237" cy="4353791"/>
          </a:xfrm>
          <a:prstGeom prst="rect">
            <a:avLst/>
          </a:prstGeom>
          <a:solidFill>
            <a:schemeClr val="bg1"/>
          </a:solidFill>
          <a:ln w="28575">
            <a:solidFill>
              <a:srgbClr val="463F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C334CF3C-F143-AEF0-4BB5-43716FFED981}"/>
              </a:ext>
            </a:extLst>
          </p:cNvPr>
          <p:cNvSpPr txBox="1"/>
          <p:nvPr/>
        </p:nvSpPr>
        <p:spPr>
          <a:xfrm>
            <a:off x="3884858" y="3428999"/>
            <a:ext cx="4422281" cy="923330"/>
          </a:xfrm>
          <a:prstGeom prst="rect">
            <a:avLst/>
          </a:prstGeom>
          <a:noFill/>
        </p:spPr>
        <p:txBody>
          <a:bodyPr wrap="square" lIns="91440" tIns="45720" rIns="91440" bIns="45720" anchor="t">
            <a:spAutoFit/>
          </a:bodyPr>
          <a:lstStyle/>
          <a:p>
            <a:pPr algn="ctr"/>
            <a:r>
              <a:rPr lang="en-US" altLang="zh-TW" sz="5400" b="1" dirty="0"/>
              <a:t>Discussion</a:t>
            </a:r>
            <a:endParaRPr lang="zh-TW" altLang="en-US" sz="5400" b="1" dirty="0"/>
          </a:p>
        </p:txBody>
      </p:sp>
      <p:pic>
        <p:nvPicPr>
          <p:cNvPr id="15" name="圖形 14" descr="徽章 6 以實心填滿">
            <a:extLst>
              <a:ext uri="{FF2B5EF4-FFF2-40B4-BE49-F238E27FC236}">
                <a16:creationId xmlns:a16="http://schemas.microsoft.com/office/drawing/2014/main" id="{9C63591D-8975-9393-DD32-9372C38675C0}"/>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601118" y="2178095"/>
            <a:ext cx="989760" cy="989760"/>
          </a:xfrm>
          <a:prstGeom prst="rect">
            <a:avLst/>
          </a:prstGeom>
        </p:spPr>
      </p:pic>
    </p:spTree>
    <p:extLst>
      <p:ext uri="{BB962C8B-B14F-4D97-AF65-F5344CB8AC3E}">
        <p14:creationId xmlns:p14="http://schemas.microsoft.com/office/powerpoint/2010/main" val="30722279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AE5A0-6E35-4772-EA61-3969403029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4139AB8-A30F-8269-DDF8-3D8D019C5E5B}"/>
              </a:ext>
            </a:extLst>
          </p:cNvPr>
          <p:cNvSpPr>
            <a:spLocks noGrp="1"/>
          </p:cNvSpPr>
          <p:nvPr>
            <p:ph type="title"/>
          </p:nvPr>
        </p:nvSpPr>
        <p:spPr/>
        <p:txBody>
          <a:bodyPr>
            <a:normAutofit/>
          </a:bodyPr>
          <a:lstStyle/>
          <a:p>
            <a:r>
              <a:rPr lang="en-US" dirty="0"/>
              <a:t>Discussion</a:t>
            </a:r>
          </a:p>
        </p:txBody>
      </p:sp>
      <p:grpSp>
        <p:nvGrpSpPr>
          <p:cNvPr id="7" name="群組 6">
            <a:extLst>
              <a:ext uri="{FF2B5EF4-FFF2-40B4-BE49-F238E27FC236}">
                <a16:creationId xmlns:a16="http://schemas.microsoft.com/office/drawing/2014/main" id="{0D1974E8-D581-43C0-DF57-A4EA456D9BD9}"/>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340C6A09-BEBC-72D9-83DD-F5004C66FCDD}"/>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E8C425E0-B706-1FEC-2CCD-2DFB8DCFA272}"/>
                </a:ext>
              </a:extLst>
            </p:cNvPr>
            <p:cNvSpPr txBox="1"/>
            <p:nvPr/>
          </p:nvSpPr>
          <p:spPr>
            <a:xfrm>
              <a:off x="97160" y="6498455"/>
              <a:ext cx="3475380" cy="400110"/>
            </a:xfrm>
            <a:prstGeom prst="rect">
              <a:avLst/>
            </a:prstGeom>
            <a:noFill/>
          </p:spPr>
          <p:txBody>
            <a:bodyPr wrap="square">
              <a:spAutoFit/>
            </a:bodyPr>
            <a:lstStyle/>
            <a:p>
              <a:r>
                <a:rPr lang="en-US" altLang="zh-TW" sz="2000" b="1" dirty="0">
                  <a:solidFill>
                    <a:srgbClr val="F9EBE0"/>
                  </a:solidFill>
                </a:rPr>
                <a:t>Discussion</a:t>
              </a:r>
            </a:p>
          </p:txBody>
        </p:sp>
        <p:sp>
          <p:nvSpPr>
            <p:cNvPr id="10" name="文字方塊 9">
              <a:extLst>
                <a:ext uri="{FF2B5EF4-FFF2-40B4-BE49-F238E27FC236}">
                  <a16:creationId xmlns:a16="http://schemas.microsoft.com/office/drawing/2014/main" id="{9E19EDB8-EB4A-4B9C-5908-13732CB396CD}"/>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22</a:t>
              </a:r>
              <a:endParaRPr lang="zh-TW" altLang="en-US" sz="2000" b="1" dirty="0">
                <a:solidFill>
                  <a:srgbClr val="F9EBE0"/>
                </a:solidFill>
              </a:endParaRPr>
            </a:p>
          </p:txBody>
        </p:sp>
      </p:grpSp>
      <p:cxnSp>
        <p:nvCxnSpPr>
          <p:cNvPr id="3" name="直線接點 2">
            <a:extLst>
              <a:ext uri="{FF2B5EF4-FFF2-40B4-BE49-F238E27FC236}">
                <a16:creationId xmlns:a16="http://schemas.microsoft.com/office/drawing/2014/main" id="{73EDD6E6-8767-4D13-8446-467E6E984D45}"/>
              </a:ext>
            </a:extLst>
          </p:cNvPr>
          <p:cNvCxnSpPr>
            <a:cxnSpLocks/>
          </p:cNvCxnSpPr>
          <p:nvPr/>
        </p:nvCxnSpPr>
        <p:spPr>
          <a:xfrm>
            <a:off x="600635" y="3429000"/>
            <a:ext cx="10999694"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A77D1086-973F-45B2-8119-3F3FFFF88BA5}"/>
              </a:ext>
            </a:extLst>
          </p:cNvPr>
          <p:cNvCxnSpPr>
            <a:cxnSpLocks/>
          </p:cNvCxnSpPr>
          <p:nvPr/>
        </p:nvCxnSpPr>
        <p:spPr>
          <a:xfrm>
            <a:off x="600635" y="4953000"/>
            <a:ext cx="10999694"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18" name="矩形: 圓角 17">
            <a:extLst>
              <a:ext uri="{FF2B5EF4-FFF2-40B4-BE49-F238E27FC236}">
                <a16:creationId xmlns:a16="http://schemas.microsoft.com/office/drawing/2014/main" id="{2659EFD7-E441-4E21-8FE2-402B6CF084F3}"/>
              </a:ext>
            </a:extLst>
          </p:cNvPr>
          <p:cNvSpPr/>
          <p:nvPr/>
        </p:nvSpPr>
        <p:spPr>
          <a:xfrm>
            <a:off x="188259" y="2402541"/>
            <a:ext cx="1281953" cy="600628"/>
          </a:xfrm>
          <a:prstGeom prst="roundRect">
            <a:avLst/>
          </a:prstGeom>
          <a:noFill/>
          <a:ln w="28575">
            <a:solidFill>
              <a:srgbClr val="6049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圓角 18">
            <a:extLst>
              <a:ext uri="{FF2B5EF4-FFF2-40B4-BE49-F238E27FC236}">
                <a16:creationId xmlns:a16="http://schemas.microsoft.com/office/drawing/2014/main" id="{09A1643C-9D06-47F3-A5B4-09538964A5DC}"/>
              </a:ext>
            </a:extLst>
          </p:cNvPr>
          <p:cNvSpPr/>
          <p:nvPr/>
        </p:nvSpPr>
        <p:spPr>
          <a:xfrm>
            <a:off x="188259" y="3926540"/>
            <a:ext cx="1281953" cy="600628"/>
          </a:xfrm>
          <a:prstGeom prst="roundRect">
            <a:avLst/>
          </a:prstGeom>
          <a:noFill/>
          <a:ln w="28575">
            <a:solidFill>
              <a:srgbClr val="6049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圓角 19">
            <a:extLst>
              <a:ext uri="{FF2B5EF4-FFF2-40B4-BE49-F238E27FC236}">
                <a16:creationId xmlns:a16="http://schemas.microsoft.com/office/drawing/2014/main" id="{BF0BE473-EF00-4CA7-9DB2-75069F632C64}"/>
              </a:ext>
            </a:extLst>
          </p:cNvPr>
          <p:cNvSpPr/>
          <p:nvPr/>
        </p:nvSpPr>
        <p:spPr>
          <a:xfrm>
            <a:off x="188259" y="5452300"/>
            <a:ext cx="1281953" cy="600628"/>
          </a:xfrm>
          <a:prstGeom prst="roundRect">
            <a:avLst/>
          </a:prstGeom>
          <a:noFill/>
          <a:ln w="28575">
            <a:solidFill>
              <a:srgbClr val="6049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文字方塊 21">
            <a:extLst>
              <a:ext uri="{FF2B5EF4-FFF2-40B4-BE49-F238E27FC236}">
                <a16:creationId xmlns:a16="http://schemas.microsoft.com/office/drawing/2014/main" id="{DEFC7B8E-E928-4FC7-BE32-0415CA25BBCE}"/>
              </a:ext>
            </a:extLst>
          </p:cNvPr>
          <p:cNvSpPr txBox="1"/>
          <p:nvPr/>
        </p:nvSpPr>
        <p:spPr>
          <a:xfrm>
            <a:off x="125505" y="5567948"/>
            <a:ext cx="1407459" cy="369332"/>
          </a:xfrm>
          <a:prstGeom prst="rect">
            <a:avLst/>
          </a:prstGeom>
          <a:noFill/>
        </p:spPr>
        <p:txBody>
          <a:bodyPr wrap="square">
            <a:spAutoFit/>
          </a:bodyPr>
          <a:lstStyle/>
          <a:p>
            <a:pPr algn="ctr"/>
            <a:r>
              <a:rPr lang="en-US" altLang="zh-TW" b="1" dirty="0"/>
              <a:t>Bus speed</a:t>
            </a:r>
            <a:endParaRPr lang="zh-TW" altLang="en-US" b="1" dirty="0"/>
          </a:p>
        </p:txBody>
      </p:sp>
      <p:sp>
        <p:nvSpPr>
          <p:cNvPr id="23" name="文字方塊 22">
            <a:extLst>
              <a:ext uri="{FF2B5EF4-FFF2-40B4-BE49-F238E27FC236}">
                <a16:creationId xmlns:a16="http://schemas.microsoft.com/office/drawing/2014/main" id="{6A61C903-B3C0-4C31-912E-BAE8232E6009}"/>
              </a:ext>
            </a:extLst>
          </p:cNvPr>
          <p:cNvSpPr txBox="1"/>
          <p:nvPr/>
        </p:nvSpPr>
        <p:spPr>
          <a:xfrm>
            <a:off x="125505" y="3906393"/>
            <a:ext cx="1407459" cy="646331"/>
          </a:xfrm>
          <a:prstGeom prst="rect">
            <a:avLst/>
          </a:prstGeom>
          <a:noFill/>
        </p:spPr>
        <p:txBody>
          <a:bodyPr wrap="square">
            <a:spAutoFit/>
          </a:bodyPr>
          <a:lstStyle/>
          <a:p>
            <a:pPr algn="ctr"/>
            <a:r>
              <a:rPr lang="en-US" altLang="zh-TW" b="1" dirty="0"/>
              <a:t>Bus occupancy</a:t>
            </a:r>
            <a:endParaRPr lang="zh-TW" altLang="en-US" b="1" dirty="0"/>
          </a:p>
        </p:txBody>
      </p:sp>
      <p:sp>
        <p:nvSpPr>
          <p:cNvPr id="24" name="文字方塊 23">
            <a:extLst>
              <a:ext uri="{FF2B5EF4-FFF2-40B4-BE49-F238E27FC236}">
                <a16:creationId xmlns:a16="http://schemas.microsoft.com/office/drawing/2014/main" id="{129F5FBD-EA97-4C97-8B87-D264E95D433F}"/>
              </a:ext>
            </a:extLst>
          </p:cNvPr>
          <p:cNvSpPr txBox="1"/>
          <p:nvPr/>
        </p:nvSpPr>
        <p:spPr>
          <a:xfrm>
            <a:off x="125505" y="2407747"/>
            <a:ext cx="1407459" cy="646331"/>
          </a:xfrm>
          <a:prstGeom prst="rect">
            <a:avLst/>
          </a:prstGeom>
          <a:noFill/>
        </p:spPr>
        <p:txBody>
          <a:bodyPr wrap="square">
            <a:spAutoFit/>
          </a:bodyPr>
          <a:lstStyle/>
          <a:p>
            <a:pPr algn="ctr"/>
            <a:r>
              <a:rPr lang="en-US" altLang="zh-TW" b="1" dirty="0"/>
              <a:t>Waiting time</a:t>
            </a:r>
            <a:endParaRPr lang="zh-TW" altLang="en-US" b="1" dirty="0"/>
          </a:p>
        </p:txBody>
      </p:sp>
      <p:sp>
        <p:nvSpPr>
          <p:cNvPr id="25" name="文字方塊 24">
            <a:extLst>
              <a:ext uri="{FF2B5EF4-FFF2-40B4-BE49-F238E27FC236}">
                <a16:creationId xmlns:a16="http://schemas.microsoft.com/office/drawing/2014/main" id="{E5241D82-0329-4B9A-8E79-78CFADE06BFE}"/>
              </a:ext>
            </a:extLst>
          </p:cNvPr>
          <p:cNvSpPr txBox="1"/>
          <p:nvPr/>
        </p:nvSpPr>
        <p:spPr>
          <a:xfrm>
            <a:off x="1595718" y="2169459"/>
            <a:ext cx="10168128" cy="1231106"/>
          </a:xfrm>
          <a:prstGeom prst="rect">
            <a:avLst/>
          </a:prstGeom>
          <a:noFill/>
        </p:spPr>
        <p:txBody>
          <a:bodyPr wrap="square" rtlCol="0">
            <a:spAutoFit/>
          </a:bodyPr>
          <a:lstStyle/>
          <a:p>
            <a:pPr marL="285750" indent="-285750">
              <a:buFont typeface="Arial" panose="020B0604020202020204" pitchFamily="34" charset="0"/>
              <a:buChar char="•"/>
            </a:pPr>
            <a:r>
              <a:rPr lang="en-US" altLang="zh-TW" b="1" dirty="0"/>
              <a:t>Optimize service schedules</a:t>
            </a:r>
            <a:r>
              <a:rPr lang="en-US" altLang="zh-TW" dirty="0"/>
              <a:t>, reduce waiting intervals, and enhance operational efficiency.</a:t>
            </a:r>
          </a:p>
          <a:p>
            <a:pPr marL="285750" indent="-285750">
              <a:buFont typeface="Arial" panose="020B0604020202020204" pitchFamily="34" charset="0"/>
              <a:buChar char="•"/>
            </a:pPr>
            <a:r>
              <a:rPr lang="en-US" altLang="zh-TW" dirty="0"/>
              <a:t>Real-time monitoring and adaptive scheduling enable operations managers to stay updated on system status at all times.</a:t>
            </a:r>
          </a:p>
          <a:p>
            <a:pPr marL="285750" indent="-285750">
              <a:buFont typeface="Arial" panose="020B0604020202020204" pitchFamily="34" charset="0"/>
              <a:buChar char="•"/>
            </a:pPr>
            <a:r>
              <a:rPr lang="en-US" altLang="zh-TW" sz="2000" b="1" dirty="0"/>
              <a:t>Invest in amenities at transportation stops </a:t>
            </a:r>
            <a:r>
              <a:rPr lang="en-US" altLang="zh-TW" sz="2000" dirty="0"/>
              <a:t>can enhances the waiting experience.</a:t>
            </a:r>
            <a:endParaRPr lang="zh-TW" altLang="en-US" sz="2000" dirty="0"/>
          </a:p>
        </p:txBody>
      </p:sp>
      <p:sp>
        <p:nvSpPr>
          <p:cNvPr id="26" name="文字方塊 25">
            <a:extLst>
              <a:ext uri="{FF2B5EF4-FFF2-40B4-BE49-F238E27FC236}">
                <a16:creationId xmlns:a16="http://schemas.microsoft.com/office/drawing/2014/main" id="{F4A396F7-47B4-4136-BB51-3D839260C6EC}"/>
              </a:ext>
            </a:extLst>
          </p:cNvPr>
          <p:cNvSpPr txBox="1"/>
          <p:nvPr/>
        </p:nvSpPr>
        <p:spPr>
          <a:xfrm>
            <a:off x="1595718" y="3585008"/>
            <a:ext cx="10168128" cy="126188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Use identified </a:t>
            </a:r>
            <a:r>
              <a:rPr lang="en-US" altLang="zh-TW" b="1" dirty="0"/>
              <a:t>critical occupancy levels </a:t>
            </a:r>
            <a:r>
              <a:rPr lang="en-US" altLang="zh-TW" dirty="0"/>
              <a:t>(e.g., 80%–85%) as benchmarks for acceptable service quality.</a:t>
            </a:r>
          </a:p>
          <a:p>
            <a:pPr marL="285750" indent="-285750">
              <a:buFont typeface="Arial" panose="020B0604020202020204" pitchFamily="34" charset="0"/>
              <a:buChar char="•"/>
            </a:pPr>
            <a:r>
              <a:rPr lang="en-US" altLang="zh-TW" sz="2000" b="1" dirty="0"/>
              <a:t>Install sensors or vision-based systems </a:t>
            </a:r>
            <a:r>
              <a:rPr lang="en-US" altLang="zh-TW" sz="2000" dirty="0"/>
              <a:t>on vehicles to monitor occupancy in real time.</a:t>
            </a:r>
          </a:p>
        </p:txBody>
      </p:sp>
      <p:sp>
        <p:nvSpPr>
          <p:cNvPr id="27" name="文字方塊 26">
            <a:extLst>
              <a:ext uri="{FF2B5EF4-FFF2-40B4-BE49-F238E27FC236}">
                <a16:creationId xmlns:a16="http://schemas.microsoft.com/office/drawing/2014/main" id="{254E3B1A-78B4-4B9A-95E6-F28C859034BC}"/>
              </a:ext>
            </a:extLst>
          </p:cNvPr>
          <p:cNvSpPr txBox="1"/>
          <p:nvPr/>
        </p:nvSpPr>
        <p:spPr>
          <a:xfrm>
            <a:off x="1595718" y="5429448"/>
            <a:ext cx="10168128" cy="646331"/>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Address safety concerns linked to high bus speeds through </a:t>
            </a:r>
            <a:r>
              <a:rPr lang="en-US" altLang="zh-TW" b="1" dirty="0"/>
              <a:t>driver training, behavior monitoring systems, and public awareness campaigns</a:t>
            </a:r>
            <a:r>
              <a:rPr lang="en-US" altLang="zh-TW" dirty="0"/>
              <a:t>.</a:t>
            </a:r>
          </a:p>
        </p:txBody>
      </p:sp>
    </p:spTree>
    <p:extLst>
      <p:ext uri="{BB962C8B-B14F-4D97-AF65-F5344CB8AC3E}">
        <p14:creationId xmlns:p14="http://schemas.microsoft.com/office/powerpoint/2010/main" val="712761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B547F-BCFA-D704-8924-EDF3D3FCE78C}"/>
            </a:ext>
          </a:extLst>
        </p:cNvPr>
        <p:cNvGrpSpPr/>
        <p:nvPr/>
      </p:nvGrpSpPr>
      <p:grpSpPr>
        <a:xfrm>
          <a:off x="0" y="0"/>
          <a:ext cx="0" cy="0"/>
          <a:chOff x="0" y="0"/>
          <a:chExt cx="0" cy="0"/>
        </a:xfrm>
      </p:grpSpPr>
      <p:sp>
        <p:nvSpPr>
          <p:cNvPr id="2" name="流程圖: 資料 1">
            <a:extLst>
              <a:ext uri="{FF2B5EF4-FFF2-40B4-BE49-F238E27FC236}">
                <a16:creationId xmlns:a16="http://schemas.microsoft.com/office/drawing/2014/main" id="{CFB4C63F-C36D-9FAD-1459-9ACA358DA02B}"/>
              </a:ext>
            </a:extLst>
          </p:cNvPr>
          <p:cNvSpPr/>
          <p:nvPr/>
        </p:nvSpPr>
        <p:spPr>
          <a:xfrm flipV="1">
            <a:off x="1394979" y="1854777"/>
            <a:ext cx="9402042" cy="3148446"/>
          </a:xfrm>
          <a:prstGeom prst="flowChartInputOutput">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8B5DA7E2-C446-9ADA-B474-017C3271E0DD}"/>
              </a:ext>
            </a:extLst>
          </p:cNvPr>
          <p:cNvSpPr/>
          <p:nvPr/>
        </p:nvSpPr>
        <p:spPr>
          <a:xfrm>
            <a:off x="2344881" y="1252104"/>
            <a:ext cx="7502237" cy="4353791"/>
          </a:xfrm>
          <a:prstGeom prst="rect">
            <a:avLst/>
          </a:prstGeom>
          <a:solidFill>
            <a:schemeClr val="bg1"/>
          </a:solidFill>
          <a:ln w="28575">
            <a:solidFill>
              <a:srgbClr val="463F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2A042D9F-FFA2-3B57-3B84-EFEA50CEC7F6}"/>
              </a:ext>
            </a:extLst>
          </p:cNvPr>
          <p:cNvSpPr txBox="1"/>
          <p:nvPr/>
        </p:nvSpPr>
        <p:spPr>
          <a:xfrm>
            <a:off x="3884858" y="3428999"/>
            <a:ext cx="4422281" cy="923330"/>
          </a:xfrm>
          <a:prstGeom prst="rect">
            <a:avLst/>
          </a:prstGeom>
          <a:noFill/>
        </p:spPr>
        <p:txBody>
          <a:bodyPr wrap="square" lIns="91440" tIns="45720" rIns="91440" bIns="45720" anchor="t">
            <a:spAutoFit/>
          </a:bodyPr>
          <a:lstStyle/>
          <a:p>
            <a:pPr algn="ctr"/>
            <a:r>
              <a:rPr lang="en-US" altLang="zh-TW" sz="5400" b="1" dirty="0"/>
              <a:t>Conclusions</a:t>
            </a:r>
            <a:endParaRPr lang="zh-TW" altLang="en-US" sz="5400" b="1" dirty="0"/>
          </a:p>
        </p:txBody>
      </p:sp>
      <p:pic>
        <p:nvPicPr>
          <p:cNvPr id="15" name="圖形 14" descr="徽章 7 以實心填滿">
            <a:extLst>
              <a:ext uri="{FF2B5EF4-FFF2-40B4-BE49-F238E27FC236}">
                <a16:creationId xmlns:a16="http://schemas.microsoft.com/office/drawing/2014/main" id="{BD5CF1AE-EB79-D516-2E75-CD8A01730513}"/>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601118" y="2178095"/>
            <a:ext cx="989760" cy="989760"/>
          </a:xfrm>
          <a:prstGeom prst="rect">
            <a:avLst/>
          </a:prstGeom>
        </p:spPr>
      </p:pic>
    </p:spTree>
    <p:extLst>
      <p:ext uri="{BB962C8B-B14F-4D97-AF65-F5344CB8AC3E}">
        <p14:creationId xmlns:p14="http://schemas.microsoft.com/office/powerpoint/2010/main" val="3396820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C98D4-266D-CEFF-21E9-014DA8751C2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A846FE8-D7A8-8312-5F87-1759C1B5AD69}"/>
              </a:ext>
            </a:extLst>
          </p:cNvPr>
          <p:cNvSpPr>
            <a:spLocks noGrp="1"/>
          </p:cNvSpPr>
          <p:nvPr>
            <p:ph type="title"/>
          </p:nvPr>
        </p:nvSpPr>
        <p:spPr/>
        <p:txBody>
          <a:bodyPr/>
          <a:lstStyle/>
          <a:p>
            <a:r>
              <a:rPr lang="en-US" altLang="zh-TW" dirty="0"/>
              <a:t>Conclus</a:t>
            </a:r>
            <a:r>
              <a:rPr lang="en-US" dirty="0"/>
              <a:t>ions</a:t>
            </a:r>
          </a:p>
        </p:txBody>
      </p:sp>
      <p:grpSp>
        <p:nvGrpSpPr>
          <p:cNvPr id="7" name="群組 6">
            <a:extLst>
              <a:ext uri="{FF2B5EF4-FFF2-40B4-BE49-F238E27FC236}">
                <a16:creationId xmlns:a16="http://schemas.microsoft.com/office/drawing/2014/main" id="{A4B09E7E-5F02-4868-13EB-3B3899B14DC8}"/>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DFAF2C0D-EA95-E0A0-651C-41A01503392B}"/>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4B2ADBA6-4172-2A7A-43D5-640F8B9710F9}"/>
                </a:ext>
              </a:extLst>
            </p:cNvPr>
            <p:cNvSpPr txBox="1"/>
            <p:nvPr/>
          </p:nvSpPr>
          <p:spPr>
            <a:xfrm>
              <a:off x="97160" y="6498455"/>
              <a:ext cx="3475380" cy="400110"/>
            </a:xfrm>
            <a:prstGeom prst="rect">
              <a:avLst/>
            </a:prstGeom>
            <a:noFill/>
          </p:spPr>
          <p:txBody>
            <a:bodyPr wrap="square">
              <a:spAutoFit/>
            </a:bodyPr>
            <a:lstStyle/>
            <a:p>
              <a:r>
                <a:rPr lang="en-US" altLang="zh-TW" sz="2000" b="1" dirty="0">
                  <a:solidFill>
                    <a:srgbClr val="F9EBE0"/>
                  </a:solidFill>
                </a:rPr>
                <a:t>Conclusion</a:t>
              </a:r>
            </a:p>
          </p:txBody>
        </p:sp>
        <p:sp>
          <p:nvSpPr>
            <p:cNvPr id="10" name="文字方塊 9">
              <a:extLst>
                <a:ext uri="{FF2B5EF4-FFF2-40B4-BE49-F238E27FC236}">
                  <a16:creationId xmlns:a16="http://schemas.microsoft.com/office/drawing/2014/main" id="{8043EEA5-7AB0-AB84-DA1F-CE7157A380BB}"/>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23</a:t>
              </a:r>
              <a:endParaRPr lang="zh-TW" altLang="en-US" sz="2000" b="1" dirty="0">
                <a:solidFill>
                  <a:srgbClr val="F9EBE0"/>
                </a:solidFill>
              </a:endParaRPr>
            </a:p>
          </p:txBody>
        </p:sp>
      </p:grpSp>
      <p:sp>
        <p:nvSpPr>
          <p:cNvPr id="4" name="文字方塊 3">
            <a:extLst>
              <a:ext uri="{FF2B5EF4-FFF2-40B4-BE49-F238E27FC236}">
                <a16:creationId xmlns:a16="http://schemas.microsoft.com/office/drawing/2014/main" id="{211C4978-E22E-556D-B01C-2DDEFF2C3E34}"/>
              </a:ext>
            </a:extLst>
          </p:cNvPr>
          <p:cNvSpPr txBox="1"/>
          <p:nvPr/>
        </p:nvSpPr>
        <p:spPr>
          <a:xfrm>
            <a:off x="1115568" y="5782069"/>
            <a:ext cx="2606461" cy="400110"/>
          </a:xfrm>
          <a:prstGeom prst="rect">
            <a:avLst/>
          </a:prstGeom>
          <a:noFill/>
        </p:spPr>
        <p:txBody>
          <a:bodyPr wrap="square">
            <a:spAutoFit/>
          </a:bodyPr>
          <a:lstStyle/>
          <a:p>
            <a:pPr algn="just"/>
            <a:r>
              <a:rPr lang="en-US" altLang="zh-TW" sz="2000" dirty="0"/>
              <a:t>4 kinds of ML model</a:t>
            </a:r>
            <a:endParaRPr lang="zh-TW" altLang="en-US" sz="2000" dirty="0"/>
          </a:p>
        </p:txBody>
      </p:sp>
      <p:sp>
        <p:nvSpPr>
          <p:cNvPr id="11" name="文字方塊 10">
            <a:extLst>
              <a:ext uri="{FF2B5EF4-FFF2-40B4-BE49-F238E27FC236}">
                <a16:creationId xmlns:a16="http://schemas.microsoft.com/office/drawing/2014/main" id="{EF831DCE-BD99-9C79-7ACE-F071014ED6E1}"/>
              </a:ext>
            </a:extLst>
          </p:cNvPr>
          <p:cNvSpPr txBox="1"/>
          <p:nvPr/>
        </p:nvSpPr>
        <p:spPr>
          <a:xfrm>
            <a:off x="4573639" y="5626297"/>
            <a:ext cx="2606461" cy="707886"/>
          </a:xfrm>
          <a:prstGeom prst="rect">
            <a:avLst/>
          </a:prstGeom>
          <a:noFill/>
        </p:spPr>
        <p:txBody>
          <a:bodyPr wrap="square">
            <a:spAutoFit/>
          </a:bodyPr>
          <a:lstStyle/>
          <a:p>
            <a:pPr algn="ctr"/>
            <a:r>
              <a:rPr lang="en-US" altLang="zh-TW" sz="2000" dirty="0"/>
              <a:t>3 distinct sources of dataset</a:t>
            </a:r>
            <a:endParaRPr lang="zh-TW" altLang="en-US" sz="2000" dirty="0"/>
          </a:p>
        </p:txBody>
      </p:sp>
      <p:sp>
        <p:nvSpPr>
          <p:cNvPr id="12" name="文字方塊 11">
            <a:extLst>
              <a:ext uri="{FF2B5EF4-FFF2-40B4-BE49-F238E27FC236}">
                <a16:creationId xmlns:a16="http://schemas.microsoft.com/office/drawing/2014/main" id="{D9A0517B-F1A4-4147-65CF-212E080646B4}"/>
              </a:ext>
            </a:extLst>
          </p:cNvPr>
          <p:cNvSpPr txBox="1"/>
          <p:nvPr/>
        </p:nvSpPr>
        <p:spPr>
          <a:xfrm>
            <a:off x="8031711" y="5628181"/>
            <a:ext cx="4063129" cy="707886"/>
          </a:xfrm>
          <a:prstGeom prst="rect">
            <a:avLst/>
          </a:prstGeom>
          <a:noFill/>
        </p:spPr>
        <p:txBody>
          <a:bodyPr wrap="square">
            <a:spAutoFit/>
          </a:bodyPr>
          <a:lstStyle/>
          <a:p>
            <a:pPr algn="ctr"/>
            <a:r>
              <a:rPr lang="en-US" altLang="zh-TW" sz="2000" dirty="0"/>
              <a:t>3 levels of evaluation </a:t>
            </a:r>
            <a:r>
              <a:rPr lang="en-US" altLang="zh-TW" sz="2000" dirty="0" err="1"/>
              <a:t>socres</a:t>
            </a:r>
            <a:r>
              <a:rPr lang="en-US" altLang="zh-TW" sz="2000" dirty="0"/>
              <a:t> from the </a:t>
            </a:r>
            <a:r>
              <a:rPr lang="en-US" altLang="zh-TW" sz="2000" dirty="0" err="1"/>
              <a:t>tranportation</a:t>
            </a:r>
            <a:r>
              <a:rPr lang="en-US" altLang="zh-TW" sz="2000" dirty="0"/>
              <a:t> mobile app </a:t>
            </a:r>
            <a:endParaRPr lang="zh-TW" altLang="en-US" sz="2000" dirty="0"/>
          </a:p>
        </p:txBody>
      </p:sp>
      <p:pic>
        <p:nvPicPr>
          <p:cNvPr id="16" name="圖片 15">
            <a:extLst>
              <a:ext uri="{FF2B5EF4-FFF2-40B4-BE49-F238E27FC236}">
                <a16:creationId xmlns:a16="http://schemas.microsoft.com/office/drawing/2014/main" id="{4FCAD8AE-9335-8F77-DC0A-697049B6DE39}"/>
              </a:ext>
            </a:extLst>
          </p:cNvPr>
          <p:cNvPicPr>
            <a:picLocks noChangeAspect="1"/>
          </p:cNvPicPr>
          <p:nvPr/>
        </p:nvPicPr>
        <p:blipFill>
          <a:blip r:embed="rId2"/>
          <a:stretch>
            <a:fillRect/>
          </a:stretch>
        </p:blipFill>
        <p:spPr>
          <a:xfrm>
            <a:off x="897843" y="2681507"/>
            <a:ext cx="3122042" cy="2846060"/>
          </a:xfrm>
          <a:prstGeom prst="rect">
            <a:avLst/>
          </a:prstGeom>
        </p:spPr>
      </p:pic>
      <p:pic>
        <p:nvPicPr>
          <p:cNvPr id="18" name="圖片 17">
            <a:extLst>
              <a:ext uri="{FF2B5EF4-FFF2-40B4-BE49-F238E27FC236}">
                <a16:creationId xmlns:a16="http://schemas.microsoft.com/office/drawing/2014/main" id="{0BF67FE2-21D5-6660-7D18-F6FD4708F314}"/>
              </a:ext>
            </a:extLst>
          </p:cNvPr>
          <p:cNvPicPr>
            <a:picLocks noChangeAspect="1"/>
          </p:cNvPicPr>
          <p:nvPr/>
        </p:nvPicPr>
        <p:blipFill>
          <a:blip r:embed="rId3"/>
          <a:stretch>
            <a:fillRect/>
          </a:stretch>
        </p:blipFill>
        <p:spPr>
          <a:xfrm>
            <a:off x="4399885" y="2776141"/>
            <a:ext cx="2904684" cy="2809590"/>
          </a:xfrm>
          <a:prstGeom prst="rect">
            <a:avLst/>
          </a:prstGeom>
        </p:spPr>
      </p:pic>
      <p:pic>
        <p:nvPicPr>
          <p:cNvPr id="20" name="圖片 19">
            <a:extLst>
              <a:ext uri="{FF2B5EF4-FFF2-40B4-BE49-F238E27FC236}">
                <a16:creationId xmlns:a16="http://schemas.microsoft.com/office/drawing/2014/main" id="{F2B9DBA5-FCBD-4401-FD32-94BC40B2B3B2}"/>
              </a:ext>
            </a:extLst>
          </p:cNvPr>
          <p:cNvPicPr>
            <a:picLocks noChangeAspect="1"/>
          </p:cNvPicPr>
          <p:nvPr/>
        </p:nvPicPr>
        <p:blipFill>
          <a:blip r:embed="rId4"/>
          <a:stretch>
            <a:fillRect/>
          </a:stretch>
        </p:blipFill>
        <p:spPr>
          <a:xfrm>
            <a:off x="8031711" y="3121939"/>
            <a:ext cx="4105848" cy="2400635"/>
          </a:xfrm>
          <a:prstGeom prst="rect">
            <a:avLst/>
          </a:prstGeom>
        </p:spPr>
      </p:pic>
    </p:spTree>
    <p:extLst>
      <p:ext uri="{BB962C8B-B14F-4D97-AF65-F5344CB8AC3E}">
        <p14:creationId xmlns:p14="http://schemas.microsoft.com/office/powerpoint/2010/main" val="12268161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BEA8A-0B10-A1BC-2292-2E8C326C498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7DE3AA0-47A8-A460-FE7B-6383211E424F}"/>
              </a:ext>
            </a:extLst>
          </p:cNvPr>
          <p:cNvSpPr>
            <a:spLocks noGrp="1"/>
          </p:cNvSpPr>
          <p:nvPr>
            <p:ph type="title"/>
          </p:nvPr>
        </p:nvSpPr>
        <p:spPr/>
        <p:txBody>
          <a:bodyPr/>
          <a:lstStyle/>
          <a:p>
            <a:r>
              <a:rPr lang="en-US" altLang="zh-TW" dirty="0"/>
              <a:t>Conclus</a:t>
            </a:r>
            <a:r>
              <a:rPr lang="en-US" dirty="0"/>
              <a:t>ions</a:t>
            </a:r>
          </a:p>
        </p:txBody>
      </p:sp>
      <p:sp>
        <p:nvSpPr>
          <p:cNvPr id="6" name="Content Placeholder 5">
            <a:extLst>
              <a:ext uri="{FF2B5EF4-FFF2-40B4-BE49-F238E27FC236}">
                <a16:creationId xmlns:a16="http://schemas.microsoft.com/office/drawing/2014/main" id="{E272B4CB-9A16-20E6-85A7-CFF1C8D305E9}"/>
              </a:ext>
            </a:extLst>
          </p:cNvPr>
          <p:cNvSpPr>
            <a:spLocks noGrp="1"/>
          </p:cNvSpPr>
          <p:nvPr>
            <p:ph idx="1"/>
          </p:nvPr>
        </p:nvSpPr>
        <p:spPr>
          <a:xfrm>
            <a:off x="1115568" y="2478024"/>
            <a:ext cx="10168128" cy="1105148"/>
          </a:xfrm>
        </p:spPr>
        <p:txBody>
          <a:bodyPr>
            <a:normAutofit fontScale="70000" lnSpcReduction="20000"/>
          </a:bodyPr>
          <a:lstStyle/>
          <a:p>
            <a:r>
              <a:rPr lang="en-US" altLang="zh-TW" dirty="0"/>
              <a:t>All ML models outperform Ordinal and Multinomial Logit baselines</a:t>
            </a:r>
          </a:p>
          <a:p>
            <a:r>
              <a:rPr lang="en-US" altLang="zh-TW" dirty="0"/>
              <a:t>Random Forests deliver the best predictive performance by flexibly capturing nonlinearities.</a:t>
            </a:r>
            <a:endParaRPr lang="en-US" dirty="0"/>
          </a:p>
        </p:txBody>
      </p:sp>
      <p:grpSp>
        <p:nvGrpSpPr>
          <p:cNvPr id="7" name="群組 6">
            <a:extLst>
              <a:ext uri="{FF2B5EF4-FFF2-40B4-BE49-F238E27FC236}">
                <a16:creationId xmlns:a16="http://schemas.microsoft.com/office/drawing/2014/main" id="{8ED1D5BD-AF74-13C5-5431-FA620F431AC0}"/>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925653A1-2D38-3B50-4E0C-FFFA73D86D30}"/>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89CB390D-2ECE-4456-0C0B-055C2A13334F}"/>
                </a:ext>
              </a:extLst>
            </p:cNvPr>
            <p:cNvSpPr txBox="1"/>
            <p:nvPr/>
          </p:nvSpPr>
          <p:spPr>
            <a:xfrm>
              <a:off x="97160" y="6498455"/>
              <a:ext cx="3475380" cy="400110"/>
            </a:xfrm>
            <a:prstGeom prst="rect">
              <a:avLst/>
            </a:prstGeom>
            <a:noFill/>
          </p:spPr>
          <p:txBody>
            <a:bodyPr wrap="square">
              <a:spAutoFit/>
            </a:bodyPr>
            <a:lstStyle/>
            <a:p>
              <a:r>
                <a:rPr lang="en-US" altLang="zh-TW" sz="2000" b="1" dirty="0">
                  <a:solidFill>
                    <a:srgbClr val="F9EBE0"/>
                  </a:solidFill>
                </a:rPr>
                <a:t>Conclusion</a:t>
              </a:r>
            </a:p>
          </p:txBody>
        </p:sp>
        <p:sp>
          <p:nvSpPr>
            <p:cNvPr id="10" name="文字方塊 9">
              <a:extLst>
                <a:ext uri="{FF2B5EF4-FFF2-40B4-BE49-F238E27FC236}">
                  <a16:creationId xmlns:a16="http://schemas.microsoft.com/office/drawing/2014/main" id="{752D87FD-731C-F63F-3D02-B77EF33385AD}"/>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24</a:t>
              </a:r>
              <a:endParaRPr lang="zh-TW" altLang="en-US" sz="2000" b="1" dirty="0">
                <a:solidFill>
                  <a:srgbClr val="F9EBE0"/>
                </a:solidFill>
              </a:endParaRPr>
            </a:p>
          </p:txBody>
        </p:sp>
      </p:grpSp>
      <p:sp>
        <p:nvSpPr>
          <p:cNvPr id="3" name="文字方塊 2">
            <a:extLst>
              <a:ext uri="{FF2B5EF4-FFF2-40B4-BE49-F238E27FC236}">
                <a16:creationId xmlns:a16="http://schemas.microsoft.com/office/drawing/2014/main" id="{FC6D3245-3B60-7E41-D8F8-6E753DF1E023}"/>
              </a:ext>
            </a:extLst>
          </p:cNvPr>
          <p:cNvSpPr txBox="1"/>
          <p:nvPr/>
        </p:nvSpPr>
        <p:spPr>
          <a:xfrm>
            <a:off x="1115568" y="5552518"/>
            <a:ext cx="4076306" cy="400110"/>
          </a:xfrm>
          <a:prstGeom prst="rect">
            <a:avLst/>
          </a:prstGeom>
          <a:noFill/>
        </p:spPr>
        <p:txBody>
          <a:bodyPr wrap="square">
            <a:spAutoFit/>
          </a:bodyPr>
          <a:lstStyle/>
          <a:p>
            <a:pPr algn="just"/>
            <a:r>
              <a:rPr lang="en-US" altLang="zh-TW" sz="2000" dirty="0"/>
              <a:t>Ordinal Logit &amp; Multinomial Logit </a:t>
            </a:r>
            <a:endParaRPr lang="zh-TW" altLang="en-US" sz="2000" dirty="0"/>
          </a:p>
        </p:txBody>
      </p:sp>
      <p:sp>
        <p:nvSpPr>
          <p:cNvPr id="4" name="文字方塊 3">
            <a:extLst>
              <a:ext uri="{FF2B5EF4-FFF2-40B4-BE49-F238E27FC236}">
                <a16:creationId xmlns:a16="http://schemas.microsoft.com/office/drawing/2014/main" id="{FCFC71F0-0F6E-277E-9CEF-31C6E46387EB}"/>
              </a:ext>
            </a:extLst>
          </p:cNvPr>
          <p:cNvSpPr txBox="1"/>
          <p:nvPr/>
        </p:nvSpPr>
        <p:spPr>
          <a:xfrm>
            <a:off x="6611966" y="5552518"/>
            <a:ext cx="4076306" cy="400110"/>
          </a:xfrm>
          <a:prstGeom prst="rect">
            <a:avLst/>
          </a:prstGeom>
          <a:noFill/>
        </p:spPr>
        <p:txBody>
          <a:bodyPr wrap="square">
            <a:spAutoFit/>
          </a:bodyPr>
          <a:lstStyle/>
          <a:p>
            <a:pPr algn="just"/>
            <a:r>
              <a:rPr lang="en-US" altLang="zh-TW" sz="2000" dirty="0"/>
              <a:t>4 kinds of ML model</a:t>
            </a:r>
            <a:endParaRPr lang="zh-TW" altLang="en-US" sz="2000" dirty="0"/>
          </a:p>
        </p:txBody>
      </p:sp>
      <p:pic>
        <p:nvPicPr>
          <p:cNvPr id="12" name="圖片 11">
            <a:extLst>
              <a:ext uri="{FF2B5EF4-FFF2-40B4-BE49-F238E27FC236}">
                <a16:creationId xmlns:a16="http://schemas.microsoft.com/office/drawing/2014/main" id="{9957F64C-E8D7-F640-C0EA-1D54077E23DA}"/>
              </a:ext>
            </a:extLst>
          </p:cNvPr>
          <p:cNvPicPr>
            <a:picLocks noChangeAspect="1"/>
          </p:cNvPicPr>
          <p:nvPr/>
        </p:nvPicPr>
        <p:blipFill>
          <a:blip r:embed="rId2"/>
          <a:stretch>
            <a:fillRect/>
          </a:stretch>
        </p:blipFill>
        <p:spPr>
          <a:xfrm>
            <a:off x="1708686" y="3556162"/>
            <a:ext cx="2986876" cy="2023367"/>
          </a:xfrm>
          <a:prstGeom prst="rect">
            <a:avLst/>
          </a:prstGeom>
        </p:spPr>
      </p:pic>
      <p:pic>
        <p:nvPicPr>
          <p:cNvPr id="14" name="圖片 13">
            <a:extLst>
              <a:ext uri="{FF2B5EF4-FFF2-40B4-BE49-F238E27FC236}">
                <a16:creationId xmlns:a16="http://schemas.microsoft.com/office/drawing/2014/main" id="{32E5F4FA-B1FC-C0D9-783B-EFE238489412}"/>
              </a:ext>
            </a:extLst>
          </p:cNvPr>
          <p:cNvPicPr>
            <a:picLocks noChangeAspect="1"/>
          </p:cNvPicPr>
          <p:nvPr/>
        </p:nvPicPr>
        <p:blipFill>
          <a:blip r:embed="rId3"/>
          <a:stretch>
            <a:fillRect/>
          </a:stretch>
        </p:blipFill>
        <p:spPr>
          <a:xfrm>
            <a:off x="6718293" y="3347929"/>
            <a:ext cx="2294539" cy="2294539"/>
          </a:xfrm>
          <a:prstGeom prst="rect">
            <a:avLst/>
          </a:prstGeom>
        </p:spPr>
      </p:pic>
    </p:spTree>
    <p:extLst>
      <p:ext uri="{BB962C8B-B14F-4D97-AF65-F5344CB8AC3E}">
        <p14:creationId xmlns:p14="http://schemas.microsoft.com/office/powerpoint/2010/main" val="1221974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65415-88B7-0C98-2D85-F3C17D8CBE4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42E2112-B1D2-2DBC-8BE8-DDA0D76455AA}"/>
              </a:ext>
            </a:extLst>
          </p:cNvPr>
          <p:cNvSpPr>
            <a:spLocks noGrp="1"/>
          </p:cNvSpPr>
          <p:nvPr>
            <p:ph type="title"/>
          </p:nvPr>
        </p:nvSpPr>
        <p:spPr/>
        <p:txBody>
          <a:bodyPr/>
          <a:lstStyle/>
          <a:p>
            <a:r>
              <a:rPr lang="en-US" altLang="zh-TW" dirty="0"/>
              <a:t>Conclus</a:t>
            </a:r>
            <a:r>
              <a:rPr lang="en-US" dirty="0"/>
              <a:t>ions</a:t>
            </a:r>
          </a:p>
        </p:txBody>
      </p:sp>
      <p:sp>
        <p:nvSpPr>
          <p:cNvPr id="6" name="Content Placeholder 5">
            <a:extLst>
              <a:ext uri="{FF2B5EF4-FFF2-40B4-BE49-F238E27FC236}">
                <a16:creationId xmlns:a16="http://schemas.microsoft.com/office/drawing/2014/main" id="{0E57DD16-DB38-FB1F-B1AD-22245A719E21}"/>
              </a:ext>
            </a:extLst>
          </p:cNvPr>
          <p:cNvSpPr>
            <a:spLocks noGrp="1"/>
          </p:cNvSpPr>
          <p:nvPr>
            <p:ph idx="1"/>
          </p:nvPr>
        </p:nvSpPr>
        <p:spPr>
          <a:xfrm>
            <a:off x="1115568" y="2478024"/>
            <a:ext cx="10168128" cy="1105148"/>
          </a:xfrm>
        </p:spPr>
        <p:txBody>
          <a:bodyPr/>
          <a:lstStyle/>
          <a:p>
            <a:pPr marL="0" indent="0" algn="ctr">
              <a:buNone/>
            </a:pPr>
            <a:r>
              <a:rPr lang="en-US" altLang="zh-TW" dirty="0"/>
              <a:t>RF identifies actionable thresholds: </a:t>
            </a:r>
            <a:endParaRPr lang="en-US" dirty="0"/>
          </a:p>
        </p:txBody>
      </p:sp>
      <p:grpSp>
        <p:nvGrpSpPr>
          <p:cNvPr id="7" name="群組 6">
            <a:extLst>
              <a:ext uri="{FF2B5EF4-FFF2-40B4-BE49-F238E27FC236}">
                <a16:creationId xmlns:a16="http://schemas.microsoft.com/office/drawing/2014/main" id="{E09F9725-AB4D-D406-E54D-644883DC0A46}"/>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62928AB9-33E6-6034-7ACA-49B2DAB3AFB0}"/>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A0EB9356-6B1C-FEBC-17CE-6E904975F59E}"/>
                </a:ext>
              </a:extLst>
            </p:cNvPr>
            <p:cNvSpPr txBox="1"/>
            <p:nvPr/>
          </p:nvSpPr>
          <p:spPr>
            <a:xfrm>
              <a:off x="97160" y="6498455"/>
              <a:ext cx="3475380" cy="400110"/>
            </a:xfrm>
            <a:prstGeom prst="rect">
              <a:avLst/>
            </a:prstGeom>
            <a:noFill/>
          </p:spPr>
          <p:txBody>
            <a:bodyPr wrap="square">
              <a:spAutoFit/>
            </a:bodyPr>
            <a:lstStyle/>
            <a:p>
              <a:r>
                <a:rPr lang="en-US" altLang="zh-TW" sz="2000" b="1" dirty="0">
                  <a:solidFill>
                    <a:srgbClr val="F9EBE0"/>
                  </a:solidFill>
                </a:rPr>
                <a:t>Conclusion</a:t>
              </a:r>
            </a:p>
          </p:txBody>
        </p:sp>
        <p:sp>
          <p:nvSpPr>
            <p:cNvPr id="10" name="文字方塊 9">
              <a:extLst>
                <a:ext uri="{FF2B5EF4-FFF2-40B4-BE49-F238E27FC236}">
                  <a16:creationId xmlns:a16="http://schemas.microsoft.com/office/drawing/2014/main" id="{0D0A252D-9F95-5EC4-2C76-C2634790794B}"/>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25</a:t>
              </a:r>
              <a:endParaRPr lang="zh-TW" altLang="en-US" sz="2000" b="1" dirty="0">
                <a:solidFill>
                  <a:srgbClr val="F9EBE0"/>
                </a:solidFill>
              </a:endParaRPr>
            </a:p>
          </p:txBody>
        </p:sp>
      </p:grpSp>
      <p:sp>
        <p:nvSpPr>
          <p:cNvPr id="3" name="文字方塊 2">
            <a:extLst>
              <a:ext uri="{FF2B5EF4-FFF2-40B4-BE49-F238E27FC236}">
                <a16:creationId xmlns:a16="http://schemas.microsoft.com/office/drawing/2014/main" id="{90E5BC92-0FAB-7AF3-3687-3821F123172A}"/>
              </a:ext>
            </a:extLst>
          </p:cNvPr>
          <p:cNvSpPr txBox="1"/>
          <p:nvPr/>
        </p:nvSpPr>
        <p:spPr>
          <a:xfrm>
            <a:off x="201168" y="5552518"/>
            <a:ext cx="4076306" cy="707886"/>
          </a:xfrm>
          <a:prstGeom prst="rect">
            <a:avLst/>
          </a:prstGeom>
          <a:noFill/>
        </p:spPr>
        <p:txBody>
          <a:bodyPr wrap="square">
            <a:spAutoFit/>
          </a:bodyPr>
          <a:lstStyle/>
          <a:p>
            <a:pPr algn="ctr"/>
            <a:r>
              <a:rPr lang="en-US" altLang="zh-TW" sz="2000" dirty="0"/>
              <a:t>(</a:t>
            </a:r>
            <a:r>
              <a:rPr lang="en-US" altLang="zh-TW" sz="2000" dirty="0" err="1"/>
              <a:t>i</a:t>
            </a:r>
            <a:r>
              <a:rPr lang="en-US" altLang="zh-TW" sz="2000" dirty="0"/>
              <a:t>) waiting-time breakpoints around 5 and 10 minutes</a:t>
            </a:r>
            <a:endParaRPr lang="zh-TW" altLang="en-US" sz="2000" dirty="0"/>
          </a:p>
        </p:txBody>
      </p:sp>
      <p:sp>
        <p:nvSpPr>
          <p:cNvPr id="4" name="文字方塊 3">
            <a:extLst>
              <a:ext uri="{FF2B5EF4-FFF2-40B4-BE49-F238E27FC236}">
                <a16:creationId xmlns:a16="http://schemas.microsoft.com/office/drawing/2014/main" id="{D8B53705-70C9-926E-FCB6-BA7261913118}"/>
              </a:ext>
            </a:extLst>
          </p:cNvPr>
          <p:cNvSpPr txBox="1"/>
          <p:nvPr/>
        </p:nvSpPr>
        <p:spPr>
          <a:xfrm>
            <a:off x="7873943" y="5462508"/>
            <a:ext cx="4076306" cy="1015663"/>
          </a:xfrm>
          <a:prstGeom prst="rect">
            <a:avLst/>
          </a:prstGeom>
          <a:noFill/>
        </p:spPr>
        <p:txBody>
          <a:bodyPr wrap="square">
            <a:spAutoFit/>
          </a:bodyPr>
          <a:lstStyle/>
          <a:p>
            <a:pPr algn="ctr"/>
            <a:r>
              <a:rPr lang="en-US" altLang="zh-TW" sz="2000" dirty="0"/>
              <a:t>(iii) rising negative ratings beyond a speed threshold (~15 km/h)</a:t>
            </a:r>
            <a:endParaRPr lang="zh-TW" altLang="en-US" sz="2000" dirty="0"/>
          </a:p>
        </p:txBody>
      </p:sp>
      <p:sp>
        <p:nvSpPr>
          <p:cNvPr id="11" name="文字方塊 10">
            <a:extLst>
              <a:ext uri="{FF2B5EF4-FFF2-40B4-BE49-F238E27FC236}">
                <a16:creationId xmlns:a16="http://schemas.microsoft.com/office/drawing/2014/main" id="{D6DC9559-A1C6-B883-6128-CB98341C17A0}"/>
              </a:ext>
            </a:extLst>
          </p:cNvPr>
          <p:cNvSpPr txBox="1"/>
          <p:nvPr/>
        </p:nvSpPr>
        <p:spPr>
          <a:xfrm>
            <a:off x="4037556" y="5421942"/>
            <a:ext cx="4076306" cy="1015663"/>
          </a:xfrm>
          <a:prstGeom prst="rect">
            <a:avLst/>
          </a:prstGeom>
          <a:noFill/>
        </p:spPr>
        <p:txBody>
          <a:bodyPr wrap="square">
            <a:spAutoFit/>
          </a:bodyPr>
          <a:lstStyle/>
          <a:p>
            <a:pPr algn="ctr"/>
            <a:r>
              <a:rPr lang="en-US" altLang="zh-TW" sz="2000" dirty="0"/>
              <a:t>(ii) tolerance to bus occupancy up to ~80–85% (with “good” ratings declining from ~55%)</a:t>
            </a:r>
            <a:endParaRPr lang="zh-TW" altLang="en-US" sz="2000" dirty="0"/>
          </a:p>
        </p:txBody>
      </p:sp>
      <p:pic>
        <p:nvPicPr>
          <p:cNvPr id="13" name="圖片 12">
            <a:extLst>
              <a:ext uri="{FF2B5EF4-FFF2-40B4-BE49-F238E27FC236}">
                <a16:creationId xmlns:a16="http://schemas.microsoft.com/office/drawing/2014/main" id="{C63B4B8A-BF32-72DF-34CF-245191E822C2}"/>
              </a:ext>
            </a:extLst>
          </p:cNvPr>
          <p:cNvPicPr>
            <a:picLocks noChangeAspect="1"/>
          </p:cNvPicPr>
          <p:nvPr/>
        </p:nvPicPr>
        <p:blipFill>
          <a:blip r:embed="rId2"/>
          <a:stretch>
            <a:fillRect/>
          </a:stretch>
        </p:blipFill>
        <p:spPr>
          <a:xfrm>
            <a:off x="1147050" y="2923251"/>
            <a:ext cx="2229161" cy="2629267"/>
          </a:xfrm>
          <a:prstGeom prst="rect">
            <a:avLst/>
          </a:prstGeom>
        </p:spPr>
      </p:pic>
      <p:pic>
        <p:nvPicPr>
          <p:cNvPr id="15" name="圖片 14">
            <a:extLst>
              <a:ext uri="{FF2B5EF4-FFF2-40B4-BE49-F238E27FC236}">
                <a16:creationId xmlns:a16="http://schemas.microsoft.com/office/drawing/2014/main" id="{E46F439B-0F96-BBAF-23DA-DFBD41F3E8A1}"/>
              </a:ext>
            </a:extLst>
          </p:cNvPr>
          <p:cNvPicPr>
            <a:picLocks noChangeAspect="1"/>
          </p:cNvPicPr>
          <p:nvPr/>
        </p:nvPicPr>
        <p:blipFill>
          <a:blip r:embed="rId3"/>
          <a:stretch>
            <a:fillRect/>
          </a:stretch>
        </p:blipFill>
        <p:spPr>
          <a:xfrm>
            <a:off x="3988563" y="3225633"/>
            <a:ext cx="3934374" cy="2286319"/>
          </a:xfrm>
          <a:prstGeom prst="rect">
            <a:avLst/>
          </a:prstGeom>
        </p:spPr>
      </p:pic>
      <p:pic>
        <p:nvPicPr>
          <p:cNvPr id="16" name="圖片 15">
            <a:extLst>
              <a:ext uri="{FF2B5EF4-FFF2-40B4-BE49-F238E27FC236}">
                <a16:creationId xmlns:a16="http://schemas.microsoft.com/office/drawing/2014/main" id="{149D3EB9-BE19-A3E8-A732-746E538385D6}"/>
              </a:ext>
            </a:extLst>
          </p:cNvPr>
          <p:cNvPicPr>
            <a:picLocks noChangeAspect="1"/>
          </p:cNvPicPr>
          <p:nvPr/>
        </p:nvPicPr>
        <p:blipFill>
          <a:blip r:embed="rId4"/>
          <a:stretch>
            <a:fillRect/>
          </a:stretch>
        </p:blipFill>
        <p:spPr>
          <a:xfrm>
            <a:off x="8031711" y="3121939"/>
            <a:ext cx="4105848" cy="2400635"/>
          </a:xfrm>
          <a:prstGeom prst="rect">
            <a:avLst/>
          </a:prstGeom>
        </p:spPr>
      </p:pic>
    </p:spTree>
    <p:extLst>
      <p:ext uri="{BB962C8B-B14F-4D97-AF65-F5344CB8AC3E}">
        <p14:creationId xmlns:p14="http://schemas.microsoft.com/office/powerpoint/2010/main" val="22355098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60F6A-7455-6DD6-AD39-8F2A4C39DF0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AC3D2FE-2826-DEAC-8284-9527CBA53534}"/>
              </a:ext>
            </a:extLst>
          </p:cNvPr>
          <p:cNvSpPr>
            <a:spLocks noGrp="1"/>
          </p:cNvSpPr>
          <p:nvPr>
            <p:ph type="title"/>
          </p:nvPr>
        </p:nvSpPr>
        <p:spPr/>
        <p:txBody>
          <a:bodyPr/>
          <a:lstStyle/>
          <a:p>
            <a:r>
              <a:rPr lang="en-US" altLang="zh-TW" dirty="0"/>
              <a:t>Conclus</a:t>
            </a:r>
            <a:r>
              <a:rPr lang="en-US" dirty="0"/>
              <a:t>ions</a:t>
            </a:r>
          </a:p>
        </p:txBody>
      </p:sp>
      <p:sp>
        <p:nvSpPr>
          <p:cNvPr id="6" name="Content Placeholder 5">
            <a:extLst>
              <a:ext uri="{FF2B5EF4-FFF2-40B4-BE49-F238E27FC236}">
                <a16:creationId xmlns:a16="http://schemas.microsoft.com/office/drawing/2014/main" id="{016B2000-B36A-D38E-B764-C7B529AB11CF}"/>
              </a:ext>
            </a:extLst>
          </p:cNvPr>
          <p:cNvSpPr>
            <a:spLocks noGrp="1"/>
          </p:cNvSpPr>
          <p:nvPr>
            <p:ph idx="1"/>
          </p:nvPr>
        </p:nvSpPr>
        <p:spPr>
          <a:xfrm>
            <a:off x="1115568" y="2478024"/>
            <a:ext cx="10168128" cy="1105148"/>
          </a:xfrm>
        </p:spPr>
        <p:txBody>
          <a:bodyPr>
            <a:normAutofit fontScale="85000" lnSpcReduction="20000"/>
          </a:bodyPr>
          <a:lstStyle/>
          <a:p>
            <a:r>
              <a:rPr lang="en-US" altLang="zh-TW" dirty="0"/>
              <a:t>Future work targets temporal dynamics, cross-context validation, and dynamically updated, interactive tools to monitor and improve low-quality routes/stops.</a:t>
            </a:r>
            <a:endParaRPr lang="en-US" dirty="0"/>
          </a:p>
        </p:txBody>
      </p:sp>
      <p:grpSp>
        <p:nvGrpSpPr>
          <p:cNvPr id="7" name="群組 6">
            <a:extLst>
              <a:ext uri="{FF2B5EF4-FFF2-40B4-BE49-F238E27FC236}">
                <a16:creationId xmlns:a16="http://schemas.microsoft.com/office/drawing/2014/main" id="{B005EF1A-3208-7873-618D-8A2D0F2AEAB1}"/>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D337A143-C823-4DB8-734C-5EABC0D3E2C1}"/>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E0456F2C-8BFB-4D6D-06F0-1B12A08A42FD}"/>
                </a:ext>
              </a:extLst>
            </p:cNvPr>
            <p:cNvSpPr txBox="1"/>
            <p:nvPr/>
          </p:nvSpPr>
          <p:spPr>
            <a:xfrm>
              <a:off x="97160" y="6498455"/>
              <a:ext cx="3475380" cy="400110"/>
            </a:xfrm>
            <a:prstGeom prst="rect">
              <a:avLst/>
            </a:prstGeom>
            <a:noFill/>
          </p:spPr>
          <p:txBody>
            <a:bodyPr wrap="square">
              <a:spAutoFit/>
            </a:bodyPr>
            <a:lstStyle/>
            <a:p>
              <a:r>
                <a:rPr lang="en-US" altLang="zh-TW" sz="2000" b="1" dirty="0">
                  <a:solidFill>
                    <a:srgbClr val="F9EBE0"/>
                  </a:solidFill>
                </a:rPr>
                <a:t>Conclusion</a:t>
              </a:r>
            </a:p>
          </p:txBody>
        </p:sp>
        <p:sp>
          <p:nvSpPr>
            <p:cNvPr id="10" name="文字方塊 9">
              <a:extLst>
                <a:ext uri="{FF2B5EF4-FFF2-40B4-BE49-F238E27FC236}">
                  <a16:creationId xmlns:a16="http://schemas.microsoft.com/office/drawing/2014/main" id="{B72B68C7-FE3C-45D1-9993-4F2220A418C6}"/>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26</a:t>
              </a:r>
              <a:endParaRPr lang="zh-TW" altLang="en-US" sz="2000" b="1" dirty="0">
                <a:solidFill>
                  <a:srgbClr val="F9EBE0"/>
                </a:solidFill>
              </a:endParaRPr>
            </a:p>
          </p:txBody>
        </p:sp>
      </p:grpSp>
      <p:pic>
        <p:nvPicPr>
          <p:cNvPr id="14" name="圖片 13">
            <a:extLst>
              <a:ext uri="{FF2B5EF4-FFF2-40B4-BE49-F238E27FC236}">
                <a16:creationId xmlns:a16="http://schemas.microsoft.com/office/drawing/2014/main" id="{E25FB8AD-9524-90AC-FA7E-3DBC75086CF7}"/>
              </a:ext>
            </a:extLst>
          </p:cNvPr>
          <p:cNvPicPr>
            <a:picLocks noChangeAspect="1"/>
          </p:cNvPicPr>
          <p:nvPr/>
        </p:nvPicPr>
        <p:blipFill>
          <a:blip r:embed="rId2"/>
          <a:stretch>
            <a:fillRect/>
          </a:stretch>
        </p:blipFill>
        <p:spPr>
          <a:xfrm>
            <a:off x="6644463" y="3116988"/>
            <a:ext cx="3949994" cy="3148026"/>
          </a:xfrm>
          <a:prstGeom prst="rect">
            <a:avLst/>
          </a:prstGeom>
        </p:spPr>
      </p:pic>
    </p:spTree>
    <p:extLst>
      <p:ext uri="{BB962C8B-B14F-4D97-AF65-F5344CB8AC3E}">
        <p14:creationId xmlns:p14="http://schemas.microsoft.com/office/powerpoint/2010/main" val="3578286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9AC64-843F-8806-019E-FCAF93471F47}"/>
            </a:ext>
          </a:extLst>
        </p:cNvPr>
        <p:cNvGrpSpPr/>
        <p:nvPr/>
      </p:nvGrpSpPr>
      <p:grpSpPr>
        <a:xfrm>
          <a:off x="0" y="0"/>
          <a:ext cx="0" cy="0"/>
          <a:chOff x="0" y="0"/>
          <a:chExt cx="0" cy="0"/>
        </a:xfrm>
      </p:grpSpPr>
      <p:sp>
        <p:nvSpPr>
          <p:cNvPr id="2" name="流程圖: 資料 1">
            <a:extLst>
              <a:ext uri="{FF2B5EF4-FFF2-40B4-BE49-F238E27FC236}">
                <a16:creationId xmlns:a16="http://schemas.microsoft.com/office/drawing/2014/main" id="{D21AB2F6-FC20-89CF-86CD-1FCA0FE58510}"/>
              </a:ext>
            </a:extLst>
          </p:cNvPr>
          <p:cNvSpPr/>
          <p:nvPr/>
        </p:nvSpPr>
        <p:spPr>
          <a:xfrm flipV="1">
            <a:off x="1394979" y="1854777"/>
            <a:ext cx="9402042" cy="3148446"/>
          </a:xfrm>
          <a:prstGeom prst="flowChartInputOutput">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6589712D-B57C-5F33-5708-D0342838B926}"/>
              </a:ext>
            </a:extLst>
          </p:cNvPr>
          <p:cNvSpPr/>
          <p:nvPr/>
        </p:nvSpPr>
        <p:spPr>
          <a:xfrm>
            <a:off x="2344881" y="1252104"/>
            <a:ext cx="7502237" cy="4353791"/>
          </a:xfrm>
          <a:prstGeom prst="rect">
            <a:avLst/>
          </a:prstGeom>
          <a:solidFill>
            <a:schemeClr val="bg1"/>
          </a:solidFill>
          <a:ln w="28575">
            <a:solidFill>
              <a:srgbClr val="463F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5C122E61-AACE-6A27-512D-4E4DD7B3035F}"/>
              </a:ext>
            </a:extLst>
          </p:cNvPr>
          <p:cNvSpPr txBox="1"/>
          <p:nvPr/>
        </p:nvSpPr>
        <p:spPr>
          <a:xfrm>
            <a:off x="3523577" y="3428999"/>
            <a:ext cx="5144842" cy="923330"/>
          </a:xfrm>
          <a:prstGeom prst="rect">
            <a:avLst/>
          </a:prstGeom>
          <a:noFill/>
        </p:spPr>
        <p:txBody>
          <a:bodyPr wrap="square" lIns="91440" tIns="45720" rIns="91440" bIns="45720" anchor="t">
            <a:spAutoFit/>
          </a:bodyPr>
          <a:lstStyle/>
          <a:p>
            <a:pPr algn="ctr"/>
            <a:r>
              <a:rPr lang="en-US" altLang="zh-TW" sz="5400" b="1"/>
              <a:t>Our comments</a:t>
            </a:r>
            <a:endParaRPr lang="zh-TW" altLang="en-US" sz="5400" b="1"/>
          </a:p>
        </p:txBody>
      </p:sp>
      <p:pic>
        <p:nvPicPr>
          <p:cNvPr id="15" name="圖形 14" descr="徽章 8 以實心填滿">
            <a:extLst>
              <a:ext uri="{FF2B5EF4-FFF2-40B4-BE49-F238E27FC236}">
                <a16:creationId xmlns:a16="http://schemas.microsoft.com/office/drawing/2014/main" id="{23FB328D-D4B3-842C-53B8-E59207CC3CA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601118" y="2178095"/>
            <a:ext cx="989760" cy="989760"/>
          </a:xfrm>
          <a:prstGeom prst="rect">
            <a:avLst/>
          </a:prstGeom>
        </p:spPr>
      </p:pic>
    </p:spTree>
    <p:extLst>
      <p:ext uri="{BB962C8B-B14F-4D97-AF65-F5344CB8AC3E}">
        <p14:creationId xmlns:p14="http://schemas.microsoft.com/office/powerpoint/2010/main" val="25182099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909E0-F354-3285-F0FA-EFB20416404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FFE841F-B319-223B-1223-E19C48B33C1E}"/>
              </a:ext>
            </a:extLst>
          </p:cNvPr>
          <p:cNvSpPr>
            <a:spLocks noGrp="1"/>
          </p:cNvSpPr>
          <p:nvPr>
            <p:ph type="title"/>
          </p:nvPr>
        </p:nvSpPr>
        <p:spPr/>
        <p:txBody>
          <a:bodyPr/>
          <a:lstStyle/>
          <a:p>
            <a:r>
              <a:rPr lang="en-US"/>
              <a:t>Our Comments</a:t>
            </a:r>
          </a:p>
        </p:txBody>
      </p:sp>
      <p:grpSp>
        <p:nvGrpSpPr>
          <p:cNvPr id="7" name="群組 6">
            <a:extLst>
              <a:ext uri="{FF2B5EF4-FFF2-40B4-BE49-F238E27FC236}">
                <a16:creationId xmlns:a16="http://schemas.microsoft.com/office/drawing/2014/main" id="{8AFE3089-71D0-816E-C391-257CEC343693}"/>
              </a:ext>
            </a:extLst>
          </p:cNvPr>
          <p:cNvGrpSpPr/>
          <p:nvPr/>
        </p:nvGrpSpPr>
        <p:grpSpPr>
          <a:xfrm>
            <a:off x="0" y="6498455"/>
            <a:ext cx="12192000" cy="400110"/>
            <a:chOff x="0" y="6498455"/>
            <a:chExt cx="12192000" cy="400110"/>
          </a:xfrm>
        </p:grpSpPr>
        <p:sp>
          <p:nvSpPr>
            <p:cNvPr id="8" name="矩形: 剪去單一角落 7">
              <a:extLst>
                <a:ext uri="{FF2B5EF4-FFF2-40B4-BE49-F238E27FC236}">
                  <a16:creationId xmlns:a16="http://schemas.microsoft.com/office/drawing/2014/main" id="{C8B0544E-E8AD-7901-3C15-81F93D7B0426}"/>
                </a:ext>
              </a:extLst>
            </p:cNvPr>
            <p:cNvSpPr/>
            <p:nvPr/>
          </p:nvSpPr>
          <p:spPr>
            <a:xfrm flipV="1">
              <a:off x="0" y="6539022"/>
              <a:ext cx="12192000" cy="318977"/>
            </a:xfrm>
            <a:prstGeom prst="snip1Rect">
              <a:avLst>
                <a:gd name="adj" fmla="val 0"/>
              </a:avLst>
            </a:prstGeom>
            <a:solidFill>
              <a:srgbClr val="463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60025AAF-0DE4-0D42-83DC-310B729521D9}"/>
                </a:ext>
              </a:extLst>
            </p:cNvPr>
            <p:cNvSpPr txBox="1"/>
            <p:nvPr/>
          </p:nvSpPr>
          <p:spPr>
            <a:xfrm>
              <a:off x="97160" y="6498455"/>
              <a:ext cx="3475380" cy="400110"/>
            </a:xfrm>
            <a:prstGeom prst="rect">
              <a:avLst/>
            </a:prstGeom>
            <a:noFill/>
          </p:spPr>
          <p:txBody>
            <a:bodyPr wrap="square">
              <a:spAutoFit/>
            </a:bodyPr>
            <a:lstStyle/>
            <a:p>
              <a:r>
                <a:rPr lang="en-US" altLang="zh-TW" sz="2000" b="1" dirty="0">
                  <a:solidFill>
                    <a:srgbClr val="F9EBE0"/>
                  </a:solidFill>
                </a:rPr>
                <a:t>Our Comments</a:t>
              </a:r>
            </a:p>
          </p:txBody>
        </p:sp>
        <p:sp>
          <p:nvSpPr>
            <p:cNvPr id="10" name="文字方塊 9">
              <a:extLst>
                <a:ext uri="{FF2B5EF4-FFF2-40B4-BE49-F238E27FC236}">
                  <a16:creationId xmlns:a16="http://schemas.microsoft.com/office/drawing/2014/main" id="{ACF8F97B-2CAA-6847-27F5-16D22B94F5A5}"/>
                </a:ext>
              </a:extLst>
            </p:cNvPr>
            <p:cNvSpPr txBox="1"/>
            <p:nvPr/>
          </p:nvSpPr>
          <p:spPr>
            <a:xfrm>
              <a:off x="8619460" y="6498455"/>
              <a:ext cx="3475380" cy="400110"/>
            </a:xfrm>
            <a:prstGeom prst="rect">
              <a:avLst/>
            </a:prstGeom>
            <a:noFill/>
          </p:spPr>
          <p:txBody>
            <a:bodyPr wrap="square">
              <a:spAutoFit/>
            </a:bodyPr>
            <a:lstStyle/>
            <a:p>
              <a:pPr algn="r"/>
              <a:r>
                <a:rPr lang="en-US" altLang="zh-TW" sz="2000" b="1" dirty="0">
                  <a:solidFill>
                    <a:srgbClr val="F9EBE0"/>
                  </a:solidFill>
                </a:rPr>
                <a:t>27</a:t>
              </a:r>
              <a:endParaRPr lang="zh-TW" altLang="en-US" sz="2000" b="1" dirty="0">
                <a:solidFill>
                  <a:srgbClr val="F9EBE0"/>
                </a:solidFill>
              </a:endParaRPr>
            </a:p>
          </p:txBody>
        </p:sp>
      </p:grpSp>
      <p:grpSp>
        <p:nvGrpSpPr>
          <p:cNvPr id="3" name="群組 2">
            <a:extLst>
              <a:ext uri="{FF2B5EF4-FFF2-40B4-BE49-F238E27FC236}">
                <a16:creationId xmlns:a16="http://schemas.microsoft.com/office/drawing/2014/main" id="{6333D1B7-8C70-4327-A2D5-F228CF195040}"/>
              </a:ext>
            </a:extLst>
          </p:cNvPr>
          <p:cNvGrpSpPr/>
          <p:nvPr/>
        </p:nvGrpSpPr>
        <p:grpSpPr>
          <a:xfrm>
            <a:off x="748066" y="2165685"/>
            <a:ext cx="10695867" cy="4011180"/>
            <a:chOff x="778760" y="2136911"/>
            <a:chExt cx="10695867" cy="4030624"/>
          </a:xfrm>
        </p:grpSpPr>
        <p:sp>
          <p:nvSpPr>
            <p:cNvPr id="2" name="矩形: 圓角 1">
              <a:extLst>
                <a:ext uri="{FF2B5EF4-FFF2-40B4-BE49-F238E27FC236}">
                  <a16:creationId xmlns:a16="http://schemas.microsoft.com/office/drawing/2014/main" id="{18481A6A-9CA5-4943-8E19-4A61BAFD8102}"/>
                </a:ext>
              </a:extLst>
            </p:cNvPr>
            <p:cNvSpPr/>
            <p:nvPr/>
          </p:nvSpPr>
          <p:spPr>
            <a:xfrm>
              <a:off x="778760" y="2985796"/>
              <a:ext cx="2855167" cy="3181739"/>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矩形: 圓角 10">
              <a:extLst>
                <a:ext uri="{FF2B5EF4-FFF2-40B4-BE49-F238E27FC236}">
                  <a16:creationId xmlns:a16="http://schemas.microsoft.com/office/drawing/2014/main" id="{12CF4133-506D-4ABE-9296-F6B581624D5E}"/>
                </a:ext>
              </a:extLst>
            </p:cNvPr>
            <p:cNvSpPr/>
            <p:nvPr/>
          </p:nvSpPr>
          <p:spPr>
            <a:xfrm>
              <a:off x="4699110" y="2985796"/>
              <a:ext cx="2855167" cy="3181739"/>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矩形: 圓角 11">
              <a:extLst>
                <a:ext uri="{FF2B5EF4-FFF2-40B4-BE49-F238E27FC236}">
                  <a16:creationId xmlns:a16="http://schemas.microsoft.com/office/drawing/2014/main" id="{3111BB4E-BA15-42C2-820A-E1E4B82640B6}"/>
                </a:ext>
              </a:extLst>
            </p:cNvPr>
            <p:cNvSpPr/>
            <p:nvPr/>
          </p:nvSpPr>
          <p:spPr>
            <a:xfrm>
              <a:off x="8619460" y="2985796"/>
              <a:ext cx="2855167" cy="3181739"/>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矩形 12">
              <a:extLst>
                <a:ext uri="{FF2B5EF4-FFF2-40B4-BE49-F238E27FC236}">
                  <a16:creationId xmlns:a16="http://schemas.microsoft.com/office/drawing/2014/main" id="{8497F651-5D8F-49B9-9713-9E471499DFAD}"/>
                </a:ext>
              </a:extLst>
            </p:cNvPr>
            <p:cNvSpPr/>
            <p:nvPr/>
          </p:nvSpPr>
          <p:spPr>
            <a:xfrm>
              <a:off x="1063405" y="2136911"/>
              <a:ext cx="2258009" cy="690266"/>
            </a:xfrm>
            <a:prstGeom prst="rect">
              <a:avLst/>
            </a:prstGeom>
            <a:noFill/>
            <a:ln w="19050">
              <a:solidFill>
                <a:srgbClr val="6049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矩形 13">
              <a:extLst>
                <a:ext uri="{FF2B5EF4-FFF2-40B4-BE49-F238E27FC236}">
                  <a16:creationId xmlns:a16="http://schemas.microsoft.com/office/drawing/2014/main" id="{578EFA6D-9E35-41E5-A341-C73C5FC00CFF}"/>
                </a:ext>
              </a:extLst>
            </p:cNvPr>
            <p:cNvSpPr/>
            <p:nvPr/>
          </p:nvSpPr>
          <p:spPr>
            <a:xfrm>
              <a:off x="4983755" y="2136911"/>
              <a:ext cx="2258009" cy="690266"/>
            </a:xfrm>
            <a:prstGeom prst="rect">
              <a:avLst/>
            </a:prstGeom>
            <a:noFill/>
            <a:ln w="19050">
              <a:solidFill>
                <a:srgbClr val="6049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矩形 14">
              <a:extLst>
                <a:ext uri="{FF2B5EF4-FFF2-40B4-BE49-F238E27FC236}">
                  <a16:creationId xmlns:a16="http://schemas.microsoft.com/office/drawing/2014/main" id="{798399AC-1CC5-45E8-A996-577B17A25866}"/>
                </a:ext>
              </a:extLst>
            </p:cNvPr>
            <p:cNvSpPr/>
            <p:nvPr/>
          </p:nvSpPr>
          <p:spPr>
            <a:xfrm>
              <a:off x="8904105" y="2136911"/>
              <a:ext cx="2258009" cy="690266"/>
            </a:xfrm>
            <a:prstGeom prst="rect">
              <a:avLst/>
            </a:prstGeom>
            <a:noFill/>
            <a:ln w="19050">
              <a:solidFill>
                <a:srgbClr val="6049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16" name="文字方塊 15">
            <a:extLst>
              <a:ext uri="{FF2B5EF4-FFF2-40B4-BE49-F238E27FC236}">
                <a16:creationId xmlns:a16="http://schemas.microsoft.com/office/drawing/2014/main" id="{2003A7D2-A7D1-4CB1-9F1B-7B0C142713E7}"/>
              </a:ext>
            </a:extLst>
          </p:cNvPr>
          <p:cNvSpPr txBox="1"/>
          <p:nvPr/>
        </p:nvSpPr>
        <p:spPr>
          <a:xfrm>
            <a:off x="1046645" y="2167716"/>
            <a:ext cx="2258008" cy="646331"/>
          </a:xfrm>
          <a:prstGeom prst="rect">
            <a:avLst/>
          </a:prstGeom>
          <a:noFill/>
        </p:spPr>
        <p:txBody>
          <a:bodyPr wrap="square">
            <a:spAutoFit/>
          </a:bodyPr>
          <a:lstStyle/>
          <a:p>
            <a:pPr algn="ctr"/>
            <a:r>
              <a:rPr lang="en-US" altLang="zh-TW" b="1" dirty="0"/>
              <a:t>Check for Feature Importance</a:t>
            </a:r>
            <a:endParaRPr lang="zh-TW" altLang="en-US" b="1" dirty="0"/>
          </a:p>
        </p:txBody>
      </p:sp>
      <p:sp>
        <p:nvSpPr>
          <p:cNvPr id="6" name="文字方塊 5">
            <a:extLst>
              <a:ext uri="{FF2B5EF4-FFF2-40B4-BE49-F238E27FC236}">
                <a16:creationId xmlns:a16="http://schemas.microsoft.com/office/drawing/2014/main" id="{7635A96B-A9C7-328E-5100-A0515FD230B9}"/>
              </a:ext>
            </a:extLst>
          </p:cNvPr>
          <p:cNvSpPr txBox="1"/>
          <p:nvPr/>
        </p:nvSpPr>
        <p:spPr>
          <a:xfrm>
            <a:off x="835600" y="3198664"/>
            <a:ext cx="2767633" cy="2862322"/>
          </a:xfrm>
          <a:prstGeom prst="rect">
            <a:avLst/>
          </a:prstGeom>
          <a:noFill/>
        </p:spPr>
        <p:txBody>
          <a:bodyPr wrap="square">
            <a:spAutoFit/>
          </a:bodyPr>
          <a:lstStyle/>
          <a:p>
            <a:pPr algn="ctr"/>
            <a:r>
              <a:rPr lang="en-US" altLang="zh-TW" dirty="0"/>
              <a:t>Supplement the existing Gini-based feature importance with a ranking based on Mean Decrease in Entropy.</a:t>
            </a:r>
          </a:p>
          <a:p>
            <a:pPr algn="ctr"/>
            <a:r>
              <a:rPr lang="en-US" altLang="zh-TW" dirty="0"/>
              <a:t>Comparing both results can help assess the consistency and robustness of the model's interpretability.</a:t>
            </a:r>
            <a:endParaRPr lang="zh-TW" altLang="en-US" dirty="0"/>
          </a:p>
        </p:txBody>
      </p:sp>
      <p:sp>
        <p:nvSpPr>
          <p:cNvPr id="4" name="矩形 3">
            <a:extLst>
              <a:ext uri="{FF2B5EF4-FFF2-40B4-BE49-F238E27FC236}">
                <a16:creationId xmlns:a16="http://schemas.microsoft.com/office/drawing/2014/main" id="{AD55DD82-B747-4273-A34E-CF49D3E23080}"/>
              </a:ext>
            </a:extLst>
          </p:cNvPr>
          <p:cNvSpPr/>
          <p:nvPr/>
        </p:nvSpPr>
        <p:spPr>
          <a:xfrm>
            <a:off x="4939128" y="2138661"/>
            <a:ext cx="2244076" cy="784830"/>
          </a:xfrm>
          <a:prstGeom prst="rect">
            <a:avLst/>
          </a:prstGeom>
        </p:spPr>
        <p:txBody>
          <a:bodyPr wrap="square">
            <a:spAutoFit/>
          </a:bodyPr>
          <a:lstStyle/>
          <a:p>
            <a:pPr algn="ctr">
              <a:lnSpc>
                <a:spcPts val="1800"/>
              </a:lnSpc>
            </a:pPr>
            <a:r>
              <a:rPr lang="en-US" altLang="zh-TW" b="1" dirty="0"/>
              <a:t>Data integration &amp; preprocessing complexity</a:t>
            </a:r>
            <a:endParaRPr lang="zh-TW" altLang="en-US" b="1" dirty="0"/>
          </a:p>
        </p:txBody>
      </p:sp>
      <p:sp>
        <p:nvSpPr>
          <p:cNvPr id="17" name="文字方塊 16">
            <a:extLst>
              <a:ext uri="{FF2B5EF4-FFF2-40B4-BE49-F238E27FC236}">
                <a16:creationId xmlns:a16="http://schemas.microsoft.com/office/drawing/2014/main" id="{ABB2B830-F951-4E93-AB43-5B314AD195EC}"/>
              </a:ext>
            </a:extLst>
          </p:cNvPr>
          <p:cNvSpPr txBox="1"/>
          <p:nvPr/>
        </p:nvSpPr>
        <p:spPr>
          <a:xfrm>
            <a:off x="4698248" y="3162509"/>
            <a:ext cx="2767633" cy="2862322"/>
          </a:xfrm>
          <a:prstGeom prst="rect">
            <a:avLst/>
          </a:prstGeom>
          <a:noFill/>
        </p:spPr>
        <p:txBody>
          <a:bodyPr wrap="square">
            <a:spAutoFit/>
          </a:bodyPr>
          <a:lstStyle/>
          <a:p>
            <a:pPr algn="ctr"/>
            <a:r>
              <a:rPr lang="en-US" altLang="zh-TW" dirty="0"/>
              <a:t>Matching mobile application,  bus and stops networks, smartcard and bus GPS data requires complex preprocess; errors in cross-matching or missing value handling may propagate into the model</a:t>
            </a:r>
            <a:endParaRPr lang="zh-TW" altLang="en-US" dirty="0"/>
          </a:p>
        </p:txBody>
      </p:sp>
      <p:sp>
        <p:nvSpPr>
          <p:cNvPr id="18" name="文字方塊 17">
            <a:extLst>
              <a:ext uri="{FF2B5EF4-FFF2-40B4-BE49-F238E27FC236}">
                <a16:creationId xmlns:a16="http://schemas.microsoft.com/office/drawing/2014/main" id="{87BEFA0C-D756-429B-B05B-233C6B9881E8}"/>
              </a:ext>
            </a:extLst>
          </p:cNvPr>
          <p:cNvSpPr txBox="1"/>
          <p:nvPr/>
        </p:nvSpPr>
        <p:spPr>
          <a:xfrm>
            <a:off x="8872725" y="2183065"/>
            <a:ext cx="2258008" cy="646331"/>
          </a:xfrm>
          <a:prstGeom prst="rect">
            <a:avLst/>
          </a:prstGeom>
          <a:noFill/>
        </p:spPr>
        <p:txBody>
          <a:bodyPr wrap="square">
            <a:spAutoFit/>
          </a:bodyPr>
          <a:lstStyle/>
          <a:p>
            <a:pPr algn="ctr"/>
            <a:r>
              <a:rPr lang="en-US" altLang="zh-TW" b="1" dirty="0"/>
              <a:t>Sample size &amp; sampling bias</a:t>
            </a:r>
            <a:endParaRPr lang="zh-TW" altLang="en-US" b="1" dirty="0"/>
          </a:p>
        </p:txBody>
      </p:sp>
      <p:sp>
        <p:nvSpPr>
          <p:cNvPr id="19" name="文字方塊 18">
            <a:extLst>
              <a:ext uri="{FF2B5EF4-FFF2-40B4-BE49-F238E27FC236}">
                <a16:creationId xmlns:a16="http://schemas.microsoft.com/office/drawing/2014/main" id="{099C0BF4-3E9F-4E65-A97B-98153EBAF21E}"/>
              </a:ext>
            </a:extLst>
          </p:cNvPr>
          <p:cNvSpPr txBox="1"/>
          <p:nvPr/>
        </p:nvSpPr>
        <p:spPr>
          <a:xfrm>
            <a:off x="8588766" y="3144083"/>
            <a:ext cx="2767633" cy="2862322"/>
          </a:xfrm>
          <a:prstGeom prst="rect">
            <a:avLst/>
          </a:prstGeom>
          <a:noFill/>
        </p:spPr>
        <p:txBody>
          <a:bodyPr wrap="square">
            <a:spAutoFit/>
          </a:bodyPr>
          <a:lstStyle/>
          <a:p>
            <a:pPr algn="ctr"/>
            <a:r>
              <a:rPr lang="en-US" altLang="zh-TW" dirty="0"/>
              <a:t>Depending on APP usage for passenger satisfaction, certain passenger demographics might be overrepresented, may not fully represent all passenger segments or routes, especially for larger transit systems.</a:t>
            </a:r>
            <a:endParaRPr lang="zh-TW" altLang="en-US" dirty="0"/>
          </a:p>
        </p:txBody>
      </p:sp>
    </p:spTree>
    <p:extLst>
      <p:ext uri="{BB962C8B-B14F-4D97-AF65-F5344CB8AC3E}">
        <p14:creationId xmlns:p14="http://schemas.microsoft.com/office/powerpoint/2010/main" val="40354242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5334BA-1A26-F86D-A827-9C92D5E53947}"/>
            </a:ext>
          </a:extLst>
        </p:cNvPr>
        <p:cNvGrpSpPr/>
        <p:nvPr/>
      </p:nvGrpSpPr>
      <p:grpSpPr>
        <a:xfrm>
          <a:off x="0" y="0"/>
          <a:ext cx="0" cy="0"/>
          <a:chOff x="0" y="0"/>
          <a:chExt cx="0" cy="0"/>
        </a:xfrm>
      </p:grpSpPr>
      <p:grpSp>
        <p:nvGrpSpPr>
          <p:cNvPr id="3" name="群組 2">
            <a:extLst>
              <a:ext uri="{FF2B5EF4-FFF2-40B4-BE49-F238E27FC236}">
                <a16:creationId xmlns:a16="http://schemas.microsoft.com/office/drawing/2014/main" id="{C796353C-E678-2153-F058-A6F5C40BB009}"/>
              </a:ext>
            </a:extLst>
          </p:cNvPr>
          <p:cNvGrpSpPr/>
          <p:nvPr/>
        </p:nvGrpSpPr>
        <p:grpSpPr>
          <a:xfrm>
            <a:off x="1267689" y="1746071"/>
            <a:ext cx="9656619" cy="3365857"/>
            <a:chOff x="1194953" y="1338070"/>
            <a:chExt cx="9656619" cy="3365857"/>
          </a:xfrm>
        </p:grpSpPr>
        <p:grpSp>
          <p:nvGrpSpPr>
            <p:cNvPr id="13" name="群組 12">
              <a:extLst>
                <a:ext uri="{FF2B5EF4-FFF2-40B4-BE49-F238E27FC236}">
                  <a16:creationId xmlns:a16="http://schemas.microsoft.com/office/drawing/2014/main" id="{7B7EF8C3-F5B5-87F1-136B-E6E30154D35B}"/>
                </a:ext>
              </a:extLst>
            </p:cNvPr>
            <p:cNvGrpSpPr/>
            <p:nvPr/>
          </p:nvGrpSpPr>
          <p:grpSpPr>
            <a:xfrm>
              <a:off x="1194953" y="1338070"/>
              <a:ext cx="9656619" cy="3365857"/>
              <a:chOff x="1172440" y="1673730"/>
              <a:chExt cx="9656619" cy="3365857"/>
            </a:xfrm>
          </p:grpSpPr>
          <p:sp>
            <p:nvSpPr>
              <p:cNvPr id="11" name="矩形: 圓角 10">
                <a:extLst>
                  <a:ext uri="{FF2B5EF4-FFF2-40B4-BE49-F238E27FC236}">
                    <a16:creationId xmlns:a16="http://schemas.microsoft.com/office/drawing/2014/main" id="{8EAE2003-A0EE-9E16-F953-085CB7CE6AC7}"/>
                  </a:ext>
                </a:extLst>
              </p:cNvPr>
              <p:cNvSpPr/>
              <p:nvPr/>
            </p:nvSpPr>
            <p:spPr>
              <a:xfrm>
                <a:off x="1362941" y="1818413"/>
                <a:ext cx="9466118" cy="3221174"/>
              </a:xfrm>
              <a:prstGeom prst="roundRect">
                <a:avLst/>
              </a:prstGeom>
              <a:solidFill>
                <a:srgbClr val="60492C"/>
              </a:solidFill>
              <a:ln w="28575">
                <a:solidFill>
                  <a:srgbClr val="6049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圓角 11">
                <a:extLst>
                  <a:ext uri="{FF2B5EF4-FFF2-40B4-BE49-F238E27FC236}">
                    <a16:creationId xmlns:a16="http://schemas.microsoft.com/office/drawing/2014/main" id="{58C1A68B-7402-E07A-3EEE-6CCFF9FB6D1A}"/>
                  </a:ext>
                </a:extLst>
              </p:cNvPr>
              <p:cNvSpPr/>
              <p:nvPr/>
            </p:nvSpPr>
            <p:spPr>
              <a:xfrm>
                <a:off x="1172440" y="1673730"/>
                <a:ext cx="9466118" cy="3221174"/>
              </a:xfrm>
              <a:prstGeom prst="roundRect">
                <a:avLst/>
              </a:prstGeom>
              <a:solidFill>
                <a:schemeClr val="bg1"/>
              </a:solidFill>
              <a:ln w="28575">
                <a:solidFill>
                  <a:srgbClr val="6049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a:extLst>
                <a:ext uri="{FF2B5EF4-FFF2-40B4-BE49-F238E27FC236}">
                  <a16:creationId xmlns:a16="http://schemas.microsoft.com/office/drawing/2014/main" id="{E7027952-8E4C-6AE3-0548-BEE121140221}"/>
                </a:ext>
              </a:extLst>
            </p:cNvPr>
            <p:cNvSpPr txBox="1"/>
            <p:nvPr/>
          </p:nvSpPr>
          <p:spPr>
            <a:xfrm>
              <a:off x="1801855" y="3385090"/>
              <a:ext cx="8588288" cy="830997"/>
            </a:xfrm>
            <a:prstGeom prst="rect">
              <a:avLst/>
            </a:prstGeom>
            <a:noFill/>
          </p:spPr>
          <p:txBody>
            <a:bodyPr wrap="square" lIns="91440" tIns="45720" rIns="91440" bIns="45720" anchor="t">
              <a:spAutoFit/>
            </a:bodyPr>
            <a:lstStyle/>
            <a:p>
              <a:pPr algn="ctr"/>
              <a:r>
                <a:rPr lang="en-US" altLang="zh-TW" sz="4800" b="1" dirty="0"/>
                <a:t>Q &amp; A</a:t>
              </a:r>
              <a:endParaRPr lang="zh-TW" altLang="en-US" sz="4800" b="1" dirty="0"/>
            </a:p>
          </p:txBody>
        </p:sp>
        <p:sp>
          <p:nvSpPr>
            <p:cNvPr id="2" name="文字方塊 1">
              <a:extLst>
                <a:ext uri="{FF2B5EF4-FFF2-40B4-BE49-F238E27FC236}">
                  <a16:creationId xmlns:a16="http://schemas.microsoft.com/office/drawing/2014/main" id="{828F1C5B-FE6D-9402-8D83-42DC4CE6A867}"/>
                </a:ext>
              </a:extLst>
            </p:cNvPr>
            <p:cNvSpPr txBox="1"/>
            <p:nvPr/>
          </p:nvSpPr>
          <p:spPr>
            <a:xfrm>
              <a:off x="1801855" y="2184761"/>
              <a:ext cx="8588288" cy="1200329"/>
            </a:xfrm>
            <a:prstGeom prst="rect">
              <a:avLst/>
            </a:prstGeom>
            <a:noFill/>
          </p:spPr>
          <p:txBody>
            <a:bodyPr wrap="square" lIns="91440" tIns="45720" rIns="91440" bIns="45720" anchor="t">
              <a:spAutoFit/>
            </a:bodyPr>
            <a:lstStyle/>
            <a:p>
              <a:pPr algn="ctr"/>
              <a:r>
                <a:rPr lang="zh-TW" altLang="en-US" sz="7200" b="1" dirty="0"/>
                <a:t>謝謝大家</a:t>
              </a:r>
            </a:p>
          </p:txBody>
        </p:sp>
      </p:grpSp>
    </p:spTree>
    <p:extLst>
      <p:ext uri="{BB962C8B-B14F-4D97-AF65-F5344CB8AC3E}">
        <p14:creationId xmlns:p14="http://schemas.microsoft.com/office/powerpoint/2010/main" val="850857351"/>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374</TotalTime>
  <Words>1898</Words>
  <Application>Microsoft Office PowerPoint</Application>
  <PresentationFormat>寬螢幕</PresentationFormat>
  <Paragraphs>398</Paragraphs>
  <Slides>38</Slides>
  <Notes>12</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38</vt:i4>
      </vt:variant>
    </vt:vector>
  </HeadingPairs>
  <TitlesOfParts>
    <vt:vector size="42" baseType="lpstr">
      <vt:lpstr>Aptos</vt:lpstr>
      <vt:lpstr>Arial</vt:lpstr>
      <vt:lpstr>Avenir Next LT Pro</vt:lpstr>
      <vt:lpstr>AccentBoxVTI</vt:lpstr>
      <vt:lpstr>PowerPoint 簡報</vt:lpstr>
      <vt:lpstr>PowerPoint 簡報</vt:lpstr>
      <vt:lpstr>PowerPoint 簡報</vt:lpstr>
      <vt:lpstr>Introduction</vt:lpstr>
      <vt:lpstr>PowerPoint 簡報</vt:lpstr>
      <vt:lpstr>Machine Learning Predictive Models</vt:lpstr>
      <vt:lpstr>Machine Learning Predictive Models</vt:lpstr>
      <vt:lpstr>Machine Learning Predictive Models</vt:lpstr>
      <vt:lpstr>Machine Learning Predictive Models</vt:lpstr>
      <vt:lpstr>Machine Learning Predictive Models</vt:lpstr>
      <vt:lpstr>Machine Learning Predictive Models</vt:lpstr>
      <vt:lpstr>Machine Learning Predictive Models</vt:lpstr>
      <vt:lpstr>Machine Learning Predictive Models</vt:lpstr>
      <vt:lpstr>PowerPoint 簡報</vt:lpstr>
      <vt:lpstr>Study Area (Context)</vt:lpstr>
      <vt:lpstr>Data Pipeline</vt:lpstr>
      <vt:lpstr>Variables (4 Dimensions)</vt:lpstr>
      <vt:lpstr>Target Classes (Score Aggregation)</vt:lpstr>
      <vt:lpstr>EDA: continuous vars vs Score</vt:lpstr>
      <vt:lpstr>Spatial Distribution of Scores</vt:lpstr>
      <vt:lpstr>PowerPoint 簡報</vt:lpstr>
      <vt:lpstr>Evaluation of Models</vt:lpstr>
      <vt:lpstr>Statistical models</vt:lpstr>
      <vt:lpstr>Comparison of Model Performance</vt:lpstr>
      <vt:lpstr>Analysis of the Confusion Matrices</vt:lpstr>
      <vt:lpstr>PowerPoint 簡報</vt:lpstr>
      <vt:lpstr>Analysis </vt:lpstr>
      <vt:lpstr>Analysis </vt:lpstr>
      <vt:lpstr>PowerPoint 簡報</vt:lpstr>
      <vt:lpstr>Discussion</vt:lpstr>
      <vt:lpstr>PowerPoint 簡報</vt:lpstr>
      <vt:lpstr>Conclusions</vt:lpstr>
      <vt:lpstr>Conclusions</vt:lpstr>
      <vt:lpstr>Conclusions</vt:lpstr>
      <vt:lpstr>Conclusions</vt:lpstr>
      <vt:lpstr>PowerPoint 簡報</vt:lpstr>
      <vt:lpstr>Our Comments</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陳怡慧</dc:creator>
  <cp:lastModifiedBy>陳怡慧</cp:lastModifiedBy>
  <cp:revision>144</cp:revision>
  <dcterms:created xsi:type="dcterms:W3CDTF">2025-09-17T06:38:40Z</dcterms:created>
  <dcterms:modified xsi:type="dcterms:W3CDTF">2025-09-30T11:46:47Z</dcterms:modified>
</cp:coreProperties>
</file>