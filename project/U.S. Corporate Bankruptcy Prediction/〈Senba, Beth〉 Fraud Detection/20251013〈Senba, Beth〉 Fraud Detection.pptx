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753600" cy="7315200"/>
  <p:notesSz cx="6858000" cy="9144000"/>
  <p:embeddedFontLst>
    <p:embeddedFont>
      <p:font typeface="Helvetica" charset="1" panose="020B0504020202020204"/>
      <p:regular r:id="rId16"/>
    </p:embeddedFont>
    <p:embeddedFont>
      <p:font typeface="Helvetica Bold" charset="1" panose="020B0704020202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https://www.kaggle.com/datasets/computingvictor/transactions-fraud-datasets?resource=download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511325" y="168064"/>
            <a:ext cx="1787623" cy="1734183"/>
            <a:chOff x="0" y="0"/>
            <a:chExt cx="2383497" cy="2312245"/>
          </a:xfrm>
        </p:grpSpPr>
        <p:sp>
          <p:nvSpPr>
            <p:cNvPr name="Freeform 4" id="4" descr="pasted-image.png"/>
            <p:cNvSpPr/>
            <p:nvPr/>
          </p:nvSpPr>
          <p:spPr>
            <a:xfrm flipH="false" flipV="false" rot="0">
              <a:off x="0" y="0"/>
              <a:ext cx="2383536" cy="2312289"/>
            </a:xfrm>
            <a:custGeom>
              <a:avLst/>
              <a:gdLst/>
              <a:ahLst/>
              <a:cxnLst/>
              <a:rect r="r" b="b" t="t" l="l"/>
              <a:pathLst>
                <a:path h="2312289" w="2383536">
                  <a:moveTo>
                    <a:pt x="0" y="0"/>
                  </a:moveTo>
                  <a:lnTo>
                    <a:pt x="2383536" y="0"/>
                  </a:lnTo>
                  <a:lnTo>
                    <a:pt x="2383536" y="2312289"/>
                  </a:lnTo>
                  <a:lnTo>
                    <a:pt x="0" y="2312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" t="0" r="-6" b="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7203" y="3352023"/>
            <a:ext cx="8503527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Cheng-Min Tsai, </a:t>
            </a:r>
          </a:p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Nguyen-Thu Thuy, </a:t>
            </a:r>
          </a:p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Huei-Wen Teng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7203" y="5267016"/>
            <a:ext cx="85015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NYCU</a:t>
            </a:r>
          </a:p>
          <a:p>
            <a:pPr algn="l">
              <a:lnSpc>
                <a:spcPts val="2879"/>
              </a:lnSpc>
            </a:pPr>
            <a:r>
              <a:rPr lang="en-US" sz="2400" u="sng">
                <a:solidFill>
                  <a:srgbClr val="0000FF"/>
                </a:solidFill>
                <a:latin typeface="Helvetica"/>
                <a:ea typeface="Helvetica"/>
                <a:cs typeface="Helvetica"/>
                <a:sym typeface="Helvetica"/>
              </a:rPr>
              <a:t>MY SITE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6190" y="2005411"/>
            <a:ext cx="850360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1"/>
              </a:lnSpc>
            </a:pPr>
            <a:r>
              <a:rPr lang="en-US" sz="4126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Next-Gen Credit Risk and Fraud Detection with Explainable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87593" y="6966606"/>
            <a:ext cx="22812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20251013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11" y="459246"/>
            <a:ext cx="8626875" cy="19055"/>
            <a:chOff x="0" y="0"/>
            <a:chExt cx="11502500" cy="25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0" y="6861609"/>
            <a:ext cx="7928605" cy="19055"/>
            <a:chOff x="0" y="0"/>
            <a:chExt cx="10571473" cy="25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589923" y="6449440"/>
            <a:ext cx="954170" cy="582012"/>
            <a:chOff x="0" y="0"/>
            <a:chExt cx="1272227" cy="776016"/>
          </a:xfrm>
        </p:grpSpPr>
        <p:sp>
          <p:nvSpPr>
            <p:cNvPr name="Freeform 8" id="8" descr="norm_quant.jpg"/>
            <p:cNvSpPr/>
            <p:nvPr/>
          </p:nvSpPr>
          <p:spPr>
            <a:xfrm flipH="false" flipV="false" rot="0">
              <a:off x="0" y="0"/>
              <a:ext cx="1272286" cy="775970"/>
            </a:xfrm>
            <a:custGeom>
              <a:avLst/>
              <a:gdLst/>
              <a:ahLst/>
              <a:cxnLst/>
              <a:rect r="r" b="b" t="t" l="l"/>
              <a:pathLst>
                <a:path h="775970" w="1272286">
                  <a:moveTo>
                    <a:pt x="0" y="0"/>
                  </a:moveTo>
                  <a:lnTo>
                    <a:pt x="1272286" y="0"/>
                  </a:lnTo>
                  <a:lnTo>
                    <a:pt x="1272286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88" t="-16686" r="-7973" b="-1898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13032" y="186886"/>
            <a:ext cx="7036811" cy="22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Motivation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7676" y="589101"/>
            <a:ext cx="851086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Motivation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203" y="1074876"/>
            <a:ext cx="8510865" cy="4714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There is a need to redesign ML frameworks for consumer FinTech analytics with both accuracy and interpretability.</a:t>
            </a:r>
          </a:p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The model should capture complex data patterns across users, cards, and transactions.</a:t>
            </a:r>
          </a:p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It must remain transparent and trustworthy for users and regulators.</a:t>
            </a:r>
          </a:p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This study proposes a hybrid framework combining:</a:t>
            </a:r>
          </a:p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XGBoost for strong predictive power.</a:t>
            </a:r>
          </a:p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Decision Tree and SHAP for clear, explainable insights.</a:t>
            </a:r>
          </a:p>
          <a:p>
            <a:pPr algn="l">
              <a:lnSpc>
                <a:spcPts val="3375"/>
              </a:lnSpc>
            </a:pPr>
          </a:p>
          <a:p>
            <a:pPr algn="l">
              <a:lnSpc>
                <a:spcPts val="3375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531924" y="6923537"/>
            <a:ext cx="4119966" cy="308875"/>
            <a:chOff x="0" y="0"/>
            <a:chExt cx="5493288" cy="41183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93288" cy="411834"/>
            </a:xfrm>
            <a:custGeom>
              <a:avLst/>
              <a:gdLst/>
              <a:ahLst/>
              <a:cxnLst/>
              <a:rect r="r" b="b" t="t" l="l"/>
              <a:pathLst>
                <a:path h="411834" w="5493288">
                  <a:moveTo>
                    <a:pt x="0" y="0"/>
                  </a:moveTo>
                  <a:lnTo>
                    <a:pt x="5493288" y="0"/>
                  </a:lnTo>
                  <a:lnTo>
                    <a:pt x="5493288" y="411834"/>
                  </a:lnTo>
                  <a:lnTo>
                    <a:pt x="0" y="411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493288" cy="4308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IDA Template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17676" y="589101"/>
            <a:ext cx="8510865" cy="39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Outline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16270" y="6861609"/>
            <a:ext cx="7928605" cy="19055"/>
            <a:chOff x="0" y="0"/>
            <a:chExt cx="10571473" cy="254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589923" y="6449440"/>
            <a:ext cx="954170" cy="582012"/>
            <a:chOff x="0" y="0"/>
            <a:chExt cx="1272227" cy="776016"/>
          </a:xfrm>
        </p:grpSpPr>
        <p:sp>
          <p:nvSpPr>
            <p:cNvPr name="Freeform 7" id="7" descr="norm_quant.jpg"/>
            <p:cNvSpPr/>
            <p:nvPr/>
          </p:nvSpPr>
          <p:spPr>
            <a:xfrm flipH="false" flipV="false" rot="0">
              <a:off x="0" y="0"/>
              <a:ext cx="1272286" cy="775970"/>
            </a:xfrm>
            <a:custGeom>
              <a:avLst/>
              <a:gdLst/>
              <a:ahLst/>
              <a:cxnLst/>
              <a:rect r="r" b="b" t="t" l="l"/>
              <a:pathLst>
                <a:path h="775970" w="1272286">
                  <a:moveTo>
                    <a:pt x="0" y="0"/>
                  </a:moveTo>
                  <a:lnTo>
                    <a:pt x="1272286" y="0"/>
                  </a:lnTo>
                  <a:lnTo>
                    <a:pt x="1272286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88" t="-16686" r="-7973" b="-1898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759" y="6866373"/>
            <a:ext cx="4310996" cy="308875"/>
            <a:chOff x="0" y="0"/>
            <a:chExt cx="5747995" cy="411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47995" cy="411834"/>
            </a:xfrm>
            <a:custGeom>
              <a:avLst/>
              <a:gdLst/>
              <a:ahLst/>
              <a:cxnLst/>
              <a:rect r="r" b="b" t="t" l="l"/>
              <a:pathLst>
                <a:path h="411834" w="5747995">
                  <a:moveTo>
                    <a:pt x="0" y="0"/>
                  </a:moveTo>
                  <a:lnTo>
                    <a:pt x="5747995" y="0"/>
                  </a:lnTo>
                  <a:lnTo>
                    <a:pt x="5747995" y="411834"/>
                  </a:lnTo>
                  <a:lnTo>
                    <a:pt x="0" y="411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747995" cy="4308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A5F5E"/>
                  </a:solidFill>
                  <a:latin typeface="Helvetica"/>
                  <a:ea typeface="Helvetica"/>
                  <a:cs typeface="Helvetica"/>
                  <a:sym typeface="Helvetica"/>
                </a:rPr>
                <a:t>IDA Template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17676" y="1244904"/>
            <a:ext cx="8510865" cy="306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504" indent="-101752" lvl="1">
              <a:lnSpc>
                <a:spcPts val="4050"/>
              </a:lnSpc>
              <a:buAutoNum type="arabicPeriod" startAt="1"/>
            </a:pPr>
            <a:r>
              <a:rPr lang="en-US" sz="225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sz="225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Motivation </a:t>
            </a:r>
            <a:r>
              <a:rPr lang="en-US" sz="225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✓</a:t>
            </a:r>
          </a:p>
          <a:p>
            <a:pPr algn="l" marL="203696" indent="-101848" lvl="1">
              <a:lnSpc>
                <a:spcPts val="4050"/>
              </a:lnSpc>
              <a:buAutoNum type="arabicPeriod" startAt="1"/>
            </a:pPr>
            <a:r>
              <a:rPr lang="en-US" sz="225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 Intro Datasets</a:t>
            </a:r>
          </a:p>
          <a:p>
            <a:pPr algn="l" marL="203504" indent="-101752" lvl="1">
              <a:lnSpc>
                <a:spcPts val="4050"/>
              </a:lnSpc>
              <a:buAutoNum type="arabicPeriod" startAt="1"/>
            </a:pPr>
            <a:r>
              <a:rPr lang="en-US" sz="225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 Define Credit Fraud</a:t>
            </a:r>
          </a:p>
          <a:p>
            <a:pPr algn="l" marL="203504" indent="-101752" lvl="1">
              <a:lnSpc>
                <a:spcPts val="4050"/>
              </a:lnSpc>
              <a:buAutoNum type="arabicPeriod" startAt="1"/>
            </a:pPr>
            <a:r>
              <a:rPr lang="en-US" sz="225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 Clean Data</a:t>
            </a:r>
          </a:p>
          <a:p>
            <a:pPr algn="l" marL="203504" indent="-101752" lvl="1">
              <a:lnSpc>
                <a:spcPts val="4050"/>
              </a:lnSpc>
              <a:buAutoNum type="arabicPeriod" startAt="1"/>
            </a:pPr>
            <a:r>
              <a:rPr lang="en-US" sz="225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 EDA Chart</a:t>
            </a:r>
          </a:p>
          <a:p>
            <a:pPr algn="l" marL="203696" indent="-101848" lvl="1">
              <a:lnSpc>
                <a:spcPts val="4050"/>
              </a:lnSpc>
              <a:buAutoNum type="arabicPeriod" startAt="1"/>
            </a:pPr>
            <a:r>
              <a:rPr lang="en-US" sz="225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 Conclusion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11" y="459246"/>
            <a:ext cx="8626875" cy="19055"/>
            <a:chOff x="0" y="0"/>
            <a:chExt cx="11502500" cy="25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0" y="6861609"/>
            <a:ext cx="7928605" cy="19055"/>
            <a:chOff x="0" y="0"/>
            <a:chExt cx="10571473" cy="25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589923" y="6449440"/>
            <a:ext cx="954170" cy="582012"/>
            <a:chOff x="0" y="0"/>
            <a:chExt cx="1272227" cy="776016"/>
          </a:xfrm>
        </p:grpSpPr>
        <p:sp>
          <p:nvSpPr>
            <p:cNvPr name="Freeform 8" id="8" descr="norm_quant.jpg"/>
            <p:cNvSpPr/>
            <p:nvPr/>
          </p:nvSpPr>
          <p:spPr>
            <a:xfrm flipH="false" flipV="false" rot="0">
              <a:off x="0" y="0"/>
              <a:ext cx="1272286" cy="775970"/>
            </a:xfrm>
            <a:custGeom>
              <a:avLst/>
              <a:gdLst/>
              <a:ahLst/>
              <a:cxnLst/>
              <a:rect r="r" b="b" t="t" l="l"/>
              <a:pathLst>
                <a:path h="775970" w="1272286">
                  <a:moveTo>
                    <a:pt x="0" y="0"/>
                  </a:moveTo>
                  <a:lnTo>
                    <a:pt x="1272286" y="0"/>
                  </a:lnTo>
                  <a:lnTo>
                    <a:pt x="1272286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88" t="-16686" r="-7973" b="-1898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31924" y="6923537"/>
            <a:ext cx="4119966" cy="308875"/>
            <a:chOff x="0" y="0"/>
            <a:chExt cx="5493288" cy="411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3288" cy="411834"/>
            </a:xfrm>
            <a:custGeom>
              <a:avLst/>
              <a:gdLst/>
              <a:ahLst/>
              <a:cxnLst/>
              <a:rect r="r" b="b" t="t" l="l"/>
              <a:pathLst>
                <a:path h="411834" w="5493288">
                  <a:moveTo>
                    <a:pt x="0" y="0"/>
                  </a:moveTo>
                  <a:lnTo>
                    <a:pt x="5493288" y="0"/>
                  </a:lnTo>
                  <a:lnTo>
                    <a:pt x="5493288" y="411834"/>
                  </a:lnTo>
                  <a:lnTo>
                    <a:pt x="0" y="411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493288" cy="4308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Title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35555" y="2758812"/>
            <a:ext cx="3006856" cy="3675046"/>
          </a:xfrm>
          <a:custGeom>
            <a:avLst/>
            <a:gdLst/>
            <a:ahLst/>
            <a:cxnLst/>
            <a:rect r="r" b="b" t="t" l="l"/>
            <a:pathLst>
              <a:path h="3675046" w="3006856">
                <a:moveTo>
                  <a:pt x="0" y="0"/>
                </a:moveTo>
                <a:lnTo>
                  <a:pt x="3006856" y="0"/>
                </a:lnTo>
                <a:lnTo>
                  <a:pt x="3006856" y="3675046"/>
                </a:lnTo>
                <a:lnTo>
                  <a:pt x="0" y="36750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42411" y="2758812"/>
            <a:ext cx="3151155" cy="3675046"/>
          </a:xfrm>
          <a:custGeom>
            <a:avLst/>
            <a:gdLst/>
            <a:ahLst/>
            <a:cxnLst/>
            <a:rect r="r" b="b" t="t" l="l"/>
            <a:pathLst>
              <a:path h="3675046" w="3151155">
                <a:moveTo>
                  <a:pt x="0" y="0"/>
                </a:moveTo>
                <a:lnTo>
                  <a:pt x="3151154" y="0"/>
                </a:lnTo>
                <a:lnTo>
                  <a:pt x="3151154" y="3675046"/>
                </a:lnTo>
                <a:lnTo>
                  <a:pt x="0" y="36750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58" t="0" r="-658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420917" y="2758812"/>
            <a:ext cx="2997128" cy="3675046"/>
          </a:xfrm>
          <a:custGeom>
            <a:avLst/>
            <a:gdLst/>
            <a:ahLst/>
            <a:cxnLst/>
            <a:rect r="r" b="b" t="t" l="l"/>
            <a:pathLst>
              <a:path h="3675046" w="2997128">
                <a:moveTo>
                  <a:pt x="0" y="0"/>
                </a:moveTo>
                <a:lnTo>
                  <a:pt x="2997128" y="0"/>
                </a:lnTo>
                <a:lnTo>
                  <a:pt x="2997128" y="3675046"/>
                </a:lnTo>
                <a:lnTo>
                  <a:pt x="0" y="36750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39" t="0" r="-439" b="-424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13032" y="186886"/>
            <a:ext cx="70368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In</a:t>
            </a: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tro Datasets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7676" y="589101"/>
            <a:ext cx="851086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Intro Datasets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7675" y="1146959"/>
            <a:ext cx="8510865" cy="128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Teachers datasets on kaggle (</a:t>
            </a:r>
            <a:r>
              <a:rPr lang="en-US" sz="2250" u="sng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  <a:hlinkClick r:id="rId8" tooltip="https://www.kaggle.com/datasets/computingvictor/transactions-fraud-datasets?resource=download"/>
              </a:rPr>
              <a:t>Kaggle's Financial Transactions Dataset: Analytics</a:t>
            </a: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, introduced by Chrissy)</a:t>
            </a:r>
          </a:p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b="true" sz="2250">
                <a:solidFill>
                  <a:srgbClr val="00599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Cards, Transactions, Users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11" y="459246"/>
            <a:ext cx="8626875" cy="19055"/>
            <a:chOff x="0" y="0"/>
            <a:chExt cx="11502500" cy="25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0" y="6861609"/>
            <a:ext cx="7928605" cy="19055"/>
            <a:chOff x="0" y="0"/>
            <a:chExt cx="10571473" cy="25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589923" y="6449440"/>
            <a:ext cx="954170" cy="582012"/>
            <a:chOff x="0" y="0"/>
            <a:chExt cx="1272227" cy="776016"/>
          </a:xfrm>
        </p:grpSpPr>
        <p:sp>
          <p:nvSpPr>
            <p:cNvPr name="Freeform 8" id="8" descr="norm_quant.jpg"/>
            <p:cNvSpPr/>
            <p:nvPr/>
          </p:nvSpPr>
          <p:spPr>
            <a:xfrm flipH="false" flipV="false" rot="0">
              <a:off x="0" y="0"/>
              <a:ext cx="1272286" cy="775970"/>
            </a:xfrm>
            <a:custGeom>
              <a:avLst/>
              <a:gdLst/>
              <a:ahLst/>
              <a:cxnLst/>
              <a:rect r="r" b="b" t="t" l="l"/>
              <a:pathLst>
                <a:path h="775970" w="1272286">
                  <a:moveTo>
                    <a:pt x="0" y="0"/>
                  </a:moveTo>
                  <a:lnTo>
                    <a:pt x="1272286" y="0"/>
                  </a:lnTo>
                  <a:lnTo>
                    <a:pt x="1272286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88" t="-16686" r="-7973" b="-1898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31924" y="6923537"/>
            <a:ext cx="4119966" cy="308875"/>
            <a:chOff x="0" y="0"/>
            <a:chExt cx="5493288" cy="411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3288" cy="411834"/>
            </a:xfrm>
            <a:custGeom>
              <a:avLst/>
              <a:gdLst/>
              <a:ahLst/>
              <a:cxnLst/>
              <a:rect r="r" b="b" t="t" l="l"/>
              <a:pathLst>
                <a:path h="411834" w="5493288">
                  <a:moveTo>
                    <a:pt x="0" y="0"/>
                  </a:moveTo>
                  <a:lnTo>
                    <a:pt x="5493288" y="0"/>
                  </a:lnTo>
                  <a:lnTo>
                    <a:pt x="5493288" y="411834"/>
                  </a:lnTo>
                  <a:lnTo>
                    <a:pt x="0" y="411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493288" cy="4308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Title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62111" y="3146673"/>
            <a:ext cx="8459969" cy="1173821"/>
          </a:xfrm>
          <a:custGeom>
            <a:avLst/>
            <a:gdLst/>
            <a:ahLst/>
            <a:cxnLst/>
            <a:rect r="r" b="b" t="t" l="l"/>
            <a:pathLst>
              <a:path h="1173821" w="8459969">
                <a:moveTo>
                  <a:pt x="0" y="0"/>
                </a:moveTo>
                <a:lnTo>
                  <a:pt x="8459969" y="0"/>
                </a:lnTo>
                <a:lnTo>
                  <a:pt x="8459969" y="1173820"/>
                </a:lnTo>
                <a:lnTo>
                  <a:pt x="0" y="11738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3032" y="186886"/>
            <a:ext cx="70368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In</a:t>
            </a: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tro Datasets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7676" y="589101"/>
            <a:ext cx="851086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Clean the 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7675" y="1146959"/>
            <a:ext cx="8510865" cy="2143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There datasets we use is </a:t>
            </a:r>
            <a:r>
              <a:rPr lang="en-US" b="true" sz="2250">
                <a:solidFill>
                  <a:srgbClr val="00599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Cards, Transactions, Users</a:t>
            </a:r>
          </a:p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Remove or make up the missing values</a:t>
            </a:r>
          </a:p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Combine three datasets</a:t>
            </a:r>
          </a:p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Remove unused datas (cvv, card_on_dark_web...)</a:t>
            </a:r>
          </a:p>
          <a:p>
            <a:pPr algn="l">
              <a:lnSpc>
                <a:spcPts val="3375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11" y="459246"/>
            <a:ext cx="8626875" cy="19055"/>
            <a:chOff x="0" y="0"/>
            <a:chExt cx="11502500" cy="25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0" y="6861609"/>
            <a:ext cx="7928605" cy="19055"/>
            <a:chOff x="0" y="0"/>
            <a:chExt cx="10571473" cy="25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589923" y="6449440"/>
            <a:ext cx="954170" cy="582012"/>
            <a:chOff x="0" y="0"/>
            <a:chExt cx="1272227" cy="776016"/>
          </a:xfrm>
        </p:grpSpPr>
        <p:sp>
          <p:nvSpPr>
            <p:cNvPr name="Freeform 8" id="8" descr="norm_quant.jpg"/>
            <p:cNvSpPr/>
            <p:nvPr/>
          </p:nvSpPr>
          <p:spPr>
            <a:xfrm flipH="false" flipV="false" rot="0">
              <a:off x="0" y="0"/>
              <a:ext cx="1272286" cy="775970"/>
            </a:xfrm>
            <a:custGeom>
              <a:avLst/>
              <a:gdLst/>
              <a:ahLst/>
              <a:cxnLst/>
              <a:rect r="r" b="b" t="t" l="l"/>
              <a:pathLst>
                <a:path h="775970" w="1272286">
                  <a:moveTo>
                    <a:pt x="0" y="0"/>
                  </a:moveTo>
                  <a:lnTo>
                    <a:pt x="1272286" y="0"/>
                  </a:lnTo>
                  <a:lnTo>
                    <a:pt x="1272286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88" t="-16686" r="-7973" b="-1898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13032" y="186886"/>
            <a:ext cx="70368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D</a:t>
            </a: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efine Credit Fraud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7676" y="589101"/>
            <a:ext cx="851086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D</a:t>
            </a: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efine Credit Fraud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1924" y="6923537"/>
            <a:ext cx="4119966" cy="308875"/>
            <a:chOff x="0" y="0"/>
            <a:chExt cx="5493288" cy="4118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93288" cy="411834"/>
            </a:xfrm>
            <a:custGeom>
              <a:avLst/>
              <a:gdLst/>
              <a:ahLst/>
              <a:cxnLst/>
              <a:rect r="r" b="b" t="t" l="l"/>
              <a:pathLst>
                <a:path h="411834" w="5493288">
                  <a:moveTo>
                    <a:pt x="0" y="0"/>
                  </a:moveTo>
                  <a:lnTo>
                    <a:pt x="5493288" y="0"/>
                  </a:lnTo>
                  <a:lnTo>
                    <a:pt x="5493288" y="411834"/>
                  </a:lnTo>
                  <a:lnTo>
                    <a:pt x="0" y="411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493288" cy="4308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Title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17675" y="1146959"/>
            <a:ext cx="8510865" cy="342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10184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To define what situations conform to fraud.</a:t>
            </a:r>
          </a:p>
          <a:p>
            <a:pPr algn="l" marL="203696" indent="-101848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Common situations</a:t>
            </a:r>
          </a:p>
          <a:p>
            <a:pPr algn="l" marL="537055" indent="-179018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Low credit score</a:t>
            </a:r>
          </a:p>
          <a:p>
            <a:pPr algn="l" marL="537055" indent="-179018" lvl="2">
              <a:lnSpc>
                <a:spcPts val="3375"/>
              </a:lnSpc>
              <a:buFont typeface="Arial"/>
              <a:buChar char="⚬"/>
            </a:pPr>
            <a:r>
              <a:rPr lang="en-US" b="true" sz="2250">
                <a:solidFill>
                  <a:srgbClr val="00599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Late-night transactions  ✓</a:t>
            </a:r>
          </a:p>
          <a:p>
            <a:pPr algn="l" marL="537055" indent="-179018" lvl="2">
              <a:lnSpc>
                <a:spcPts val="3375"/>
              </a:lnSpc>
              <a:buFont typeface="Arial"/>
              <a:buChar char="⚬"/>
            </a:pPr>
            <a:r>
              <a:rPr lang="en-US" b="true" sz="2250">
                <a:solidFill>
                  <a:srgbClr val="00599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Multiple transactions in a short period  ✓</a:t>
            </a:r>
          </a:p>
          <a:p>
            <a:pPr algn="l" marL="537055" indent="-179018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Spending amount significantly different from usual</a:t>
            </a:r>
          </a:p>
          <a:p>
            <a:pPr algn="l" marL="537055" indent="-179018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Spending location too far from home</a:t>
            </a:r>
          </a:p>
          <a:p>
            <a:pPr algn="l" marL="537153" indent="-179051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Don’t change card pin for long time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2111" y="459246"/>
            <a:ext cx="8626875" cy="19055"/>
            <a:chOff x="0" y="0"/>
            <a:chExt cx="11502500" cy="254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6270" y="6861609"/>
            <a:ext cx="7928605" cy="19055"/>
            <a:chOff x="0" y="0"/>
            <a:chExt cx="10571473" cy="254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589923" y="6449440"/>
            <a:ext cx="954170" cy="582012"/>
            <a:chOff x="0" y="0"/>
            <a:chExt cx="1272227" cy="776016"/>
          </a:xfrm>
        </p:grpSpPr>
        <p:sp>
          <p:nvSpPr>
            <p:cNvPr name="Freeform 7" id="7" descr="norm_quant.jpg"/>
            <p:cNvSpPr/>
            <p:nvPr/>
          </p:nvSpPr>
          <p:spPr>
            <a:xfrm flipH="false" flipV="false" rot="0">
              <a:off x="0" y="0"/>
              <a:ext cx="1272286" cy="775970"/>
            </a:xfrm>
            <a:custGeom>
              <a:avLst/>
              <a:gdLst/>
              <a:ahLst/>
              <a:cxnLst/>
              <a:rect r="r" b="b" t="t" l="l"/>
              <a:pathLst>
                <a:path h="775970" w="1272286">
                  <a:moveTo>
                    <a:pt x="0" y="0"/>
                  </a:moveTo>
                  <a:lnTo>
                    <a:pt x="1272286" y="0"/>
                  </a:lnTo>
                  <a:lnTo>
                    <a:pt x="1272286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988" t="-16686" r="-7973" b="-1898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924" y="6923537"/>
            <a:ext cx="4119966" cy="308875"/>
            <a:chOff x="0" y="0"/>
            <a:chExt cx="5493288" cy="411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93288" cy="411834"/>
            </a:xfrm>
            <a:custGeom>
              <a:avLst/>
              <a:gdLst/>
              <a:ahLst/>
              <a:cxnLst/>
              <a:rect r="r" b="b" t="t" l="l"/>
              <a:pathLst>
                <a:path h="411834" w="5493288">
                  <a:moveTo>
                    <a:pt x="0" y="0"/>
                  </a:moveTo>
                  <a:lnTo>
                    <a:pt x="5493288" y="0"/>
                  </a:lnTo>
                  <a:lnTo>
                    <a:pt x="5493288" y="411834"/>
                  </a:lnTo>
                  <a:lnTo>
                    <a:pt x="0" y="411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493288" cy="4308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Title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31520" y="2956520"/>
            <a:ext cx="5109160" cy="230142"/>
          </a:xfrm>
          <a:custGeom>
            <a:avLst/>
            <a:gdLst/>
            <a:ahLst/>
            <a:cxnLst/>
            <a:rect r="r" b="b" t="t" l="l"/>
            <a:pathLst>
              <a:path h="230142" w="5109160">
                <a:moveTo>
                  <a:pt x="0" y="0"/>
                </a:moveTo>
                <a:lnTo>
                  <a:pt x="5109160" y="0"/>
                </a:lnTo>
                <a:lnTo>
                  <a:pt x="5109160" y="230142"/>
                </a:lnTo>
                <a:lnTo>
                  <a:pt x="0" y="230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11811" y="3312530"/>
            <a:ext cx="3855197" cy="2731291"/>
          </a:xfrm>
          <a:custGeom>
            <a:avLst/>
            <a:gdLst/>
            <a:ahLst/>
            <a:cxnLst/>
            <a:rect r="r" b="b" t="t" l="l"/>
            <a:pathLst>
              <a:path h="2731291" w="3855197">
                <a:moveTo>
                  <a:pt x="0" y="0"/>
                </a:moveTo>
                <a:lnTo>
                  <a:pt x="3855197" y="0"/>
                </a:lnTo>
                <a:lnTo>
                  <a:pt x="3855197" y="2731291"/>
                </a:lnTo>
                <a:lnTo>
                  <a:pt x="0" y="27312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627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16190" y="3530445"/>
            <a:ext cx="4908098" cy="2454049"/>
          </a:xfrm>
          <a:custGeom>
            <a:avLst/>
            <a:gdLst/>
            <a:ahLst/>
            <a:cxnLst/>
            <a:rect r="r" b="b" t="t" l="l"/>
            <a:pathLst>
              <a:path h="2454049" w="4908098">
                <a:moveTo>
                  <a:pt x="0" y="0"/>
                </a:moveTo>
                <a:lnTo>
                  <a:pt x="4908098" y="0"/>
                </a:lnTo>
                <a:lnTo>
                  <a:pt x="4908098" y="2454049"/>
                </a:lnTo>
                <a:lnTo>
                  <a:pt x="0" y="24540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3032" y="186886"/>
            <a:ext cx="70368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EDA</a:t>
            </a: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 Chart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7676" y="589101"/>
            <a:ext cx="851086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EDA Chart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7675" y="1146959"/>
            <a:ext cx="8510865" cy="1285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101848" lvl="1">
              <a:lnSpc>
                <a:spcPts val="3375"/>
              </a:lnSpc>
              <a:buFont typeface="Arial"/>
              <a:buChar char="•"/>
            </a:pPr>
            <a:r>
              <a:rPr lang="en-US" b="true" sz="2250">
                <a:solidFill>
                  <a:srgbClr val="00599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Frequent transactions in a short period of time  (5min)</a:t>
            </a:r>
          </a:p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Notated these datas in Trans_Data</a:t>
            </a:r>
          </a:p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Measure the difference in these bias data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2111" y="459246"/>
            <a:ext cx="8626875" cy="19055"/>
            <a:chOff x="0" y="0"/>
            <a:chExt cx="11502500" cy="254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6270" y="6861609"/>
            <a:ext cx="7928605" cy="19055"/>
            <a:chOff x="0" y="0"/>
            <a:chExt cx="10571473" cy="25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589923" y="6449440"/>
            <a:ext cx="954170" cy="582012"/>
            <a:chOff x="0" y="0"/>
            <a:chExt cx="1272227" cy="776016"/>
          </a:xfrm>
        </p:grpSpPr>
        <p:sp>
          <p:nvSpPr>
            <p:cNvPr name="Freeform 8" id="8" descr="norm_quant.jpg"/>
            <p:cNvSpPr/>
            <p:nvPr/>
          </p:nvSpPr>
          <p:spPr>
            <a:xfrm flipH="false" flipV="false" rot="0">
              <a:off x="0" y="0"/>
              <a:ext cx="1272286" cy="775970"/>
            </a:xfrm>
            <a:custGeom>
              <a:avLst/>
              <a:gdLst/>
              <a:ahLst/>
              <a:cxnLst/>
              <a:rect r="r" b="b" t="t" l="l"/>
              <a:pathLst>
                <a:path h="775970" w="1272286">
                  <a:moveTo>
                    <a:pt x="0" y="0"/>
                  </a:moveTo>
                  <a:lnTo>
                    <a:pt x="1272286" y="0"/>
                  </a:lnTo>
                  <a:lnTo>
                    <a:pt x="1272286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988" t="-16686" r="-7973" b="-1898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31924" y="6923537"/>
            <a:ext cx="4119966" cy="308875"/>
            <a:chOff x="0" y="0"/>
            <a:chExt cx="5493288" cy="4118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493288" cy="411834"/>
            </a:xfrm>
            <a:custGeom>
              <a:avLst/>
              <a:gdLst/>
              <a:ahLst/>
              <a:cxnLst/>
              <a:rect r="r" b="b" t="t" l="l"/>
              <a:pathLst>
                <a:path h="411834" w="5493288">
                  <a:moveTo>
                    <a:pt x="0" y="0"/>
                  </a:moveTo>
                  <a:lnTo>
                    <a:pt x="5493288" y="0"/>
                  </a:lnTo>
                  <a:lnTo>
                    <a:pt x="5493288" y="411834"/>
                  </a:lnTo>
                  <a:lnTo>
                    <a:pt x="0" y="411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493288" cy="4308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Title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99734" y="3330356"/>
            <a:ext cx="4190208" cy="2403903"/>
          </a:xfrm>
          <a:custGeom>
            <a:avLst/>
            <a:gdLst/>
            <a:ahLst/>
            <a:cxnLst/>
            <a:rect r="r" b="b" t="t" l="l"/>
            <a:pathLst>
              <a:path h="2403903" w="4190208">
                <a:moveTo>
                  <a:pt x="0" y="0"/>
                </a:moveTo>
                <a:lnTo>
                  <a:pt x="4190208" y="0"/>
                </a:lnTo>
                <a:lnTo>
                  <a:pt x="4190208" y="2403903"/>
                </a:lnTo>
                <a:lnTo>
                  <a:pt x="0" y="2403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55" t="0" r="-8883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389942" y="2911327"/>
            <a:ext cx="5273028" cy="3241961"/>
          </a:xfrm>
          <a:custGeom>
            <a:avLst/>
            <a:gdLst/>
            <a:ahLst/>
            <a:cxnLst/>
            <a:rect r="r" b="b" t="t" l="l"/>
            <a:pathLst>
              <a:path h="3241961" w="5273028">
                <a:moveTo>
                  <a:pt x="0" y="0"/>
                </a:moveTo>
                <a:lnTo>
                  <a:pt x="5273027" y="0"/>
                </a:lnTo>
                <a:lnTo>
                  <a:pt x="5273027" y="3241961"/>
                </a:lnTo>
                <a:lnTo>
                  <a:pt x="0" y="3241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116" t="0" r="-16847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13032" y="186886"/>
            <a:ext cx="70368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EDA</a:t>
            </a: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 Chart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7676" y="589101"/>
            <a:ext cx="851086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EDA Chart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7675" y="1146959"/>
            <a:ext cx="8510865" cy="1714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03696" indent="-101848" lvl="1">
              <a:lnSpc>
                <a:spcPts val="3375"/>
              </a:lnSpc>
              <a:buFont typeface="Arial"/>
              <a:buChar char="•"/>
            </a:pPr>
            <a:r>
              <a:rPr lang="en-US" b="true" sz="2250">
                <a:solidFill>
                  <a:srgbClr val="00599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About transactions</a:t>
            </a: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 </a:t>
            </a:r>
            <a:r>
              <a:rPr lang="en-US" b="true" sz="2250">
                <a:solidFill>
                  <a:srgbClr val="00599E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Time</a:t>
            </a:r>
          </a:p>
          <a:p>
            <a:pPr algn="l" marL="203504" indent="-101752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Observe</a:t>
            </a: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 numerous amount at strange time </a:t>
            </a:r>
          </a:p>
          <a:p>
            <a:pPr algn="l" marL="971786" indent="-323929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Client </a:t>
            </a: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114</a:t>
            </a:r>
          </a:p>
          <a:p>
            <a:pPr algn="l" marL="971786" indent="-323929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Client 1168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2111" y="459246"/>
            <a:ext cx="8626875" cy="19055"/>
            <a:chOff x="0" y="0"/>
            <a:chExt cx="11502500" cy="254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00" y="0"/>
              <a:ext cx="11477117" cy="25400"/>
            </a:xfrm>
            <a:custGeom>
              <a:avLst/>
              <a:gdLst/>
              <a:ahLst/>
              <a:cxnLst/>
              <a:rect r="r" b="b" t="t" l="l"/>
              <a:pathLst>
                <a:path h="25400" w="11477117">
                  <a:moveTo>
                    <a:pt x="0" y="0"/>
                  </a:moveTo>
                  <a:lnTo>
                    <a:pt x="11477117" y="0"/>
                  </a:lnTo>
                  <a:lnTo>
                    <a:pt x="11477117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16270" y="6861609"/>
            <a:ext cx="7928605" cy="19055"/>
            <a:chOff x="0" y="0"/>
            <a:chExt cx="10571473" cy="2540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12700" y="0"/>
              <a:ext cx="10546080" cy="25400"/>
            </a:xfrm>
            <a:custGeom>
              <a:avLst/>
              <a:gdLst/>
              <a:ahLst/>
              <a:cxnLst/>
              <a:rect r="r" b="b" t="t" l="l"/>
              <a:pathLst>
                <a:path h="25400" w="10546080">
                  <a:moveTo>
                    <a:pt x="0" y="0"/>
                  </a:moveTo>
                  <a:lnTo>
                    <a:pt x="10546080" y="0"/>
                  </a:lnTo>
                  <a:lnTo>
                    <a:pt x="1054608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5A5F5E">
                <a:alpha val="2353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8589923" y="6449440"/>
            <a:ext cx="954170" cy="582012"/>
            <a:chOff x="0" y="0"/>
            <a:chExt cx="1272227" cy="776016"/>
          </a:xfrm>
        </p:grpSpPr>
        <p:sp>
          <p:nvSpPr>
            <p:cNvPr name="Freeform 7" id="7" descr="norm_quant.jpg"/>
            <p:cNvSpPr/>
            <p:nvPr/>
          </p:nvSpPr>
          <p:spPr>
            <a:xfrm flipH="false" flipV="false" rot="0">
              <a:off x="0" y="0"/>
              <a:ext cx="1272286" cy="775970"/>
            </a:xfrm>
            <a:custGeom>
              <a:avLst/>
              <a:gdLst/>
              <a:ahLst/>
              <a:cxnLst/>
              <a:rect r="r" b="b" t="t" l="l"/>
              <a:pathLst>
                <a:path h="775970" w="1272286">
                  <a:moveTo>
                    <a:pt x="0" y="0"/>
                  </a:moveTo>
                  <a:lnTo>
                    <a:pt x="1272286" y="0"/>
                  </a:lnTo>
                  <a:lnTo>
                    <a:pt x="1272286" y="775970"/>
                  </a:lnTo>
                  <a:lnTo>
                    <a:pt x="0" y="7759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8988" t="-16686" r="-7973" b="-1898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1924" y="6923537"/>
            <a:ext cx="4119966" cy="308875"/>
            <a:chOff x="0" y="0"/>
            <a:chExt cx="5493288" cy="411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93288" cy="411834"/>
            </a:xfrm>
            <a:custGeom>
              <a:avLst/>
              <a:gdLst/>
              <a:ahLst/>
              <a:cxnLst/>
              <a:rect r="r" b="b" t="t" l="l"/>
              <a:pathLst>
                <a:path h="411834" w="5493288">
                  <a:moveTo>
                    <a:pt x="0" y="0"/>
                  </a:moveTo>
                  <a:lnTo>
                    <a:pt x="5493288" y="0"/>
                  </a:lnTo>
                  <a:lnTo>
                    <a:pt x="5493288" y="411834"/>
                  </a:lnTo>
                  <a:lnTo>
                    <a:pt x="0" y="4118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5493288" cy="4308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Helvetica"/>
                  <a:ea typeface="Helvetica"/>
                  <a:cs typeface="Helvetica"/>
                  <a:sym typeface="Helvetica"/>
                </a:rPr>
                <a:t>Title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13032" y="186886"/>
            <a:ext cx="7036811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17676" y="589101"/>
            <a:ext cx="851086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6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7675" y="1146959"/>
            <a:ext cx="8926417" cy="4286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Transaction Distribution</a:t>
            </a:r>
          </a:p>
          <a:p>
            <a:pPr algn="l" marL="971786" indent="-323929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Trading is concentrated between 6 AM and 4 PM.</a:t>
            </a:r>
          </a:p>
          <a:p>
            <a:pPr algn="l" marL="971786" indent="-323929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The least activity occurs from 11 PM to 5 AM.</a:t>
            </a:r>
          </a:p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The risk of using a card by swiping is the higher than chip.</a:t>
            </a:r>
          </a:p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High transaction clients compared to low transaction clients.</a:t>
            </a:r>
          </a:p>
          <a:p>
            <a:pPr algn="l" marL="971786" indent="-323929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higher yearly income</a:t>
            </a:r>
          </a:p>
          <a:p>
            <a:pPr algn="l" marL="971786" indent="-323929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higher total debet</a:t>
            </a:r>
          </a:p>
          <a:p>
            <a:pPr algn="l" marL="485893" indent="-242947" lvl="1">
              <a:lnSpc>
                <a:spcPts val="3375"/>
              </a:lnSpc>
              <a:buFont typeface="Arial"/>
              <a:buChar char="•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Frequent transactions data compared to others.</a:t>
            </a:r>
          </a:p>
          <a:p>
            <a:pPr algn="l" marL="971786" indent="-323929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higher total debet</a:t>
            </a:r>
          </a:p>
          <a:p>
            <a:pPr algn="l" marL="971786" indent="-323929" lvl="2">
              <a:lnSpc>
                <a:spcPts val="3375"/>
              </a:lnSpc>
              <a:buFont typeface="Arial"/>
              <a:buChar char="⚬"/>
            </a:pPr>
            <a:r>
              <a:rPr lang="en-US" sz="2250">
                <a:solidFill>
                  <a:srgbClr val="00599E"/>
                </a:solidFill>
                <a:latin typeface="Helvetica"/>
                <a:ea typeface="Helvetica"/>
                <a:cs typeface="Helvetica"/>
                <a:sym typeface="Helvetica"/>
              </a:rPr>
              <a:t>higher credit limit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9753600" cy="7315200"/>
          </a:xfrm>
          <a:custGeom>
            <a:avLst/>
            <a:gdLst/>
            <a:ahLst/>
            <a:cxnLst/>
            <a:rect r="r" b="b" t="t" l="l"/>
            <a:pathLst>
              <a:path h="7315200" w="9753600">
                <a:moveTo>
                  <a:pt x="0" y="0"/>
                </a:moveTo>
                <a:lnTo>
                  <a:pt x="9753600" y="0"/>
                </a:lnTo>
                <a:lnTo>
                  <a:pt x="9753600" y="7315200"/>
                </a:lnTo>
                <a:lnTo>
                  <a:pt x="0" y="7315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511325" y="168064"/>
            <a:ext cx="1787623" cy="1734183"/>
            <a:chOff x="0" y="0"/>
            <a:chExt cx="2383497" cy="2312245"/>
          </a:xfrm>
        </p:grpSpPr>
        <p:sp>
          <p:nvSpPr>
            <p:cNvPr name="Freeform 4" id="4" descr="pasted-image.png"/>
            <p:cNvSpPr/>
            <p:nvPr/>
          </p:nvSpPr>
          <p:spPr>
            <a:xfrm flipH="false" flipV="false" rot="0">
              <a:off x="0" y="0"/>
              <a:ext cx="2383536" cy="2312289"/>
            </a:xfrm>
            <a:custGeom>
              <a:avLst/>
              <a:gdLst/>
              <a:ahLst/>
              <a:cxnLst/>
              <a:rect r="r" b="b" t="t" l="l"/>
              <a:pathLst>
                <a:path h="2312289" w="2383536">
                  <a:moveTo>
                    <a:pt x="0" y="0"/>
                  </a:moveTo>
                  <a:lnTo>
                    <a:pt x="2383536" y="0"/>
                  </a:lnTo>
                  <a:lnTo>
                    <a:pt x="2383536" y="2312289"/>
                  </a:lnTo>
                  <a:lnTo>
                    <a:pt x="0" y="23122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" t="0" r="-6" b="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627203" y="3352023"/>
            <a:ext cx="8503527" cy="1466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Cheng-Min Tsai, </a:t>
            </a:r>
          </a:p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Nguyen-Thu Thuy, </a:t>
            </a:r>
          </a:p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Huei-Wen Teng</a:t>
            </a:r>
          </a:p>
          <a:p>
            <a:pPr algn="l">
              <a:lnSpc>
                <a:spcPts val="28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27203" y="5267016"/>
            <a:ext cx="8501575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5A5F5E"/>
                </a:solidFill>
                <a:latin typeface="Helvetica"/>
                <a:ea typeface="Helvetica"/>
                <a:cs typeface="Helvetica"/>
                <a:sym typeface="Helvetica"/>
              </a:rPr>
              <a:t>NYCU</a:t>
            </a:r>
          </a:p>
          <a:p>
            <a:pPr algn="l">
              <a:lnSpc>
                <a:spcPts val="2879"/>
              </a:lnSpc>
            </a:pPr>
            <a:r>
              <a:rPr lang="en-US" sz="2400" u="sng">
                <a:solidFill>
                  <a:srgbClr val="0000FF"/>
                </a:solidFill>
                <a:latin typeface="Helvetica"/>
                <a:ea typeface="Helvetica"/>
                <a:cs typeface="Helvetica"/>
                <a:sym typeface="Helvetica"/>
              </a:rPr>
              <a:t>MY SITE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6190" y="2005411"/>
            <a:ext cx="8503601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51"/>
              </a:lnSpc>
            </a:pPr>
            <a:r>
              <a:rPr lang="en-US" sz="4126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Next-Gen Credit Risk and Fraud Detection with Explainable AI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187593" y="6966606"/>
            <a:ext cx="228123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D30F11"/>
                </a:solidFill>
                <a:latin typeface="Helvetica"/>
                <a:ea typeface="Helvetica"/>
                <a:cs typeface="Helvetica"/>
                <a:sym typeface="Helvetica"/>
              </a:rPr>
              <a:t>20251013 Project presentation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DAG1Xvs6dnk</dc:identifier>
  <dcterms:modified xsi:type="dcterms:W3CDTF">2011-08-01T06:04:30Z</dcterms:modified>
  <cp:revision>1</cp:revision>
  <dc:title>20250509 HWTeng TemplateKeynote (CLEAN).pptx</dc:title>
</cp:coreProperties>
</file>