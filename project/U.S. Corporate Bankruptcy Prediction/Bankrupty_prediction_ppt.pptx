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316" r:id="rId4"/>
    <p:sldId id="317" r:id="rId5"/>
    <p:sldId id="276" r:id="rId6"/>
    <p:sldId id="311" r:id="rId7"/>
    <p:sldId id="302" r:id="rId8"/>
    <p:sldId id="278" r:id="rId9"/>
    <p:sldId id="275" r:id="rId10"/>
    <p:sldId id="312" r:id="rId11"/>
    <p:sldId id="325" r:id="rId12"/>
    <p:sldId id="327" r:id="rId13"/>
    <p:sldId id="326" r:id="rId14"/>
    <p:sldId id="318" r:id="rId15"/>
    <p:sldId id="319" r:id="rId16"/>
    <p:sldId id="320" r:id="rId17"/>
    <p:sldId id="321" r:id="rId18"/>
    <p:sldId id="322" r:id="rId19"/>
    <p:sldId id="324" r:id="rId20"/>
    <p:sldId id="300" r:id="rId21"/>
    <p:sldId id="329" r:id="rId22"/>
    <p:sldId id="328" r:id="rId23"/>
    <p:sldId id="301" r:id="rId2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500" b="0" i="0" u="none" strike="noStrike" cap="none" spc="0" normalizeH="0" baseline="0">
        <a:ln>
          <a:noFill/>
        </a:ln>
        <a:solidFill>
          <a:srgbClr val="D30F11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49189B-D7A0-53CF-6106-A3164506BCB2}" v="2174" dt="2025-12-07T15:53:45.764"/>
    <p1510:client id="{B425A030-549A-CC81-2727-0470AAC4A1FF}" v="1684" dt="2025-12-07T15:56:43.582"/>
    <p1510:client id="{F495EFA4-C407-82AD-AC6A-F7477F865986}" v="14" dt="2025-12-07T15:46:45.8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50800" cap="flat">
              <a:noFill/>
              <a:miter lim="400000"/>
            </a:ln>
          </a:left>
          <a:right>
            <a:ln w="50800" cap="flat">
              <a:noFill/>
              <a:miter lim="400000"/>
            </a:ln>
          </a:right>
          <a:top>
            <a:ln w="50800" cap="flat">
              <a:noFill/>
              <a:miter lim="400000"/>
            </a:ln>
          </a:top>
          <a:bottom>
            <a:ln w="50800" cap="flat">
              <a:noFill/>
              <a:miter lim="400000"/>
            </a:ln>
          </a:bottom>
          <a:insideH>
            <a:ln w="50800" cap="flat">
              <a:noFill/>
              <a:miter lim="400000"/>
            </a:ln>
          </a:insideH>
          <a:insideV>
            <a:ln w="508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" name="Shape 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D707-88A1-C28C-E062-0333318F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2C3C29F-CE10-BB1C-1022-2D29160A1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866D9D-451B-8D02-7551-A021B9B86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/>
              <a:t>美國市場</a:t>
            </a:r>
          </a:p>
        </p:txBody>
      </p:sp>
    </p:spTree>
    <p:extLst>
      <p:ext uri="{BB962C8B-B14F-4D97-AF65-F5344CB8AC3E}">
        <p14:creationId xmlns:p14="http://schemas.microsoft.com/office/powerpoint/2010/main" val="39593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C55AF-CC52-C553-C5D9-6C3534EB3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B4222F-FC9A-4FBF-48F9-78D5592E5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2C9CEE-243B-4A5C-6B7A-5CAACDAF2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/>
              <a:t>美國市場</a:t>
            </a:r>
          </a:p>
        </p:txBody>
      </p:sp>
    </p:spTree>
    <p:extLst>
      <p:ext uri="{BB962C8B-B14F-4D97-AF65-F5344CB8AC3E}">
        <p14:creationId xmlns:p14="http://schemas.microsoft.com/office/powerpoint/2010/main" val="147398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mplate Present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r>
              <a:t>Title</a:t>
            </a:r>
          </a:p>
        </p:txBody>
      </p:sp>
      <p:sp>
        <p:nvSpPr>
          <p:cNvPr id="14" name="Your name"/>
          <p:cNvSpPr>
            <a:spLocks noGrp="1"/>
          </p:cNvSpPr>
          <p:nvPr>
            <p:ph type="body" sz="quarter" idx="22" hasCustomPrompt="1"/>
          </p:nvPr>
        </p:nvSpPr>
        <p:spPr>
          <a:xfrm>
            <a:off x="773350" y="4429226"/>
            <a:ext cx="11458100" cy="717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4" y="18306"/>
                  <a:pt x="5" y="15012"/>
                  <a:pt x="6" y="11718"/>
                </a:cubicBezTo>
                <a:cubicBezTo>
                  <a:pt x="6" y="7811"/>
                  <a:pt x="4" y="3905"/>
                  <a:pt x="0" y="0"/>
                </a:cubicBezTo>
                <a:close/>
              </a:path>
            </a:pathLst>
          </a:custGeom>
        </p:spPr>
        <p:txBody>
          <a:bodyPr/>
          <a:lstStyle>
            <a:lvl1pPr defTabSz="457200">
              <a:spcBef>
                <a:spcPts val="1200"/>
              </a:spcBef>
              <a:defRPr sz="3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Your name</a:t>
            </a:r>
          </a:p>
        </p:txBody>
      </p:sp>
      <p:sp>
        <p:nvSpPr>
          <p:cNvPr id="15" name="Your affiliation"/>
          <p:cNvSpPr>
            <a:spLocks noGrp="1"/>
          </p:cNvSpPr>
          <p:nvPr>
            <p:ph type="body" sz="quarter" idx="23" hasCustomPrompt="1"/>
          </p:nvPr>
        </p:nvSpPr>
        <p:spPr>
          <a:xfrm>
            <a:off x="773350" y="6766027"/>
            <a:ext cx="11458100" cy="717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4" y="18306"/>
                  <a:pt x="5" y="15012"/>
                  <a:pt x="6" y="11718"/>
                </a:cubicBezTo>
                <a:cubicBezTo>
                  <a:pt x="6" y="7811"/>
                  <a:pt x="4" y="3905"/>
                  <a:pt x="0" y="0"/>
                </a:cubicBezTo>
                <a:close/>
              </a:path>
            </a:pathLst>
          </a:custGeom>
        </p:spPr>
        <p:txBody>
          <a:bodyPr/>
          <a:lstStyle>
            <a:lvl1pPr defTabSz="457200">
              <a:spcBef>
                <a:spcPts val="1200"/>
              </a:spcBef>
              <a:defRPr sz="3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Your affiliation </a:t>
            </a:r>
          </a:p>
        </p:txBody>
      </p:sp>
      <p:sp>
        <p:nvSpPr>
          <p:cNvPr id="1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</p:spPr>
        <p:txBody>
          <a:bodyPr wrap="square"/>
          <a:lstStyle>
            <a:lvl1pPr algn="r"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6" name="線條"/>
          <p:cNvSpPr/>
          <p:nvPr/>
        </p:nvSpPr>
        <p:spPr>
          <a:xfrm>
            <a:off x="761999" y="624879"/>
            <a:ext cx="114742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7" name="Section 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55809" y="213147"/>
            <a:ext cx="9502858" cy="399033"/>
          </a:xfrm>
          <a:prstGeom prst="rect">
            <a:avLst/>
          </a:prstGeom>
        </p:spPr>
        <p:txBody>
          <a:bodyPr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Section Title</a:t>
            </a:r>
          </a:p>
        </p:txBody>
      </p:sp>
      <p:sp>
        <p:nvSpPr>
          <p:cNvPr id="38" name="Slide 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</p:spPr>
        <p:txBody>
          <a:bodyPr/>
          <a:lstStyle>
            <a:lvl1pPr>
              <a:defRPr sz="35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39" name="文字"/>
          <p:cNvSpPr txBox="1">
            <a:spLocks noGrp="1"/>
          </p:cNvSpPr>
          <p:nvPr>
            <p:ph type="body" sz="quarter" idx="23"/>
          </p:nvPr>
        </p:nvSpPr>
        <p:spPr>
          <a:xfrm>
            <a:off x="761999" y="1581811"/>
            <a:ext cx="11467783" cy="6883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Char char="⊡"/>
              <a:defRPr sz="3000">
                <a:solidFill>
                  <a:srgbClr val="5A5F5E"/>
                </a:solidFill>
              </a:defRPr>
            </a:pPr>
            <a:endParaRPr/>
          </a:p>
        </p:txBody>
      </p:sp>
      <p:sp>
        <p:nvSpPr>
          <p:cNvPr id="40" name="Titl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</p:spPr>
        <p:txBody>
          <a:bodyPr anchor="b"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Title</a:t>
            </a:r>
          </a:p>
        </p:txBody>
      </p:sp>
      <p:sp>
        <p:nvSpPr>
          <p:cNvPr id="41" name="線條"/>
          <p:cNvSpPr/>
          <p:nvPr/>
        </p:nvSpPr>
        <p:spPr>
          <a:xfrm>
            <a:off x="700892" y="9159279"/>
            <a:ext cx="105434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42" name="norm_quant.jpeg" descr="norm_quant.jpeg"/>
          <p:cNvPicPr>
            <a:picLocks noChangeAspect="1"/>
          </p:cNvPicPr>
          <p:nvPr/>
        </p:nvPicPr>
        <p:blipFill>
          <a:blip r:embed="rId2"/>
          <a:srcRect l="7685" t="12299" r="6266" b="13992"/>
          <a:stretch>
            <a:fillRect/>
          </a:stretch>
        </p:blipFill>
        <p:spPr>
          <a:xfrm>
            <a:off x="11456784" y="8603504"/>
            <a:ext cx="1259216" cy="763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75" extrusionOk="0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esentation 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</p:spPr>
        <p:txBody>
          <a:bodyPr anchor="b">
            <a:spAutoFit/>
          </a:bodyPr>
          <a:lstStyle>
            <a:lvl1pPr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4" name="Outline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lnSpcReduction="10000"/>
          </a:bodyPr>
          <a:lstStyle>
            <a:lvl1pPr>
              <a:defRPr sz="35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Outline</a:t>
            </a:r>
          </a:p>
        </p:txBody>
      </p:sp>
      <p:sp>
        <p:nvSpPr>
          <p:cNvPr id="25" name="文字"/>
          <p:cNvSpPr txBox="1">
            <a:spLocks noGrp="1"/>
          </p:cNvSpPr>
          <p:nvPr>
            <p:ph type="body" sz="quarter" idx="22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endParaRPr/>
          </a:p>
        </p:txBody>
      </p:sp>
      <p:sp>
        <p:nvSpPr>
          <p:cNvPr id="26" name="線條"/>
          <p:cNvSpPr/>
          <p:nvPr/>
        </p:nvSpPr>
        <p:spPr>
          <a:xfrm>
            <a:off x="700892" y="9159279"/>
            <a:ext cx="10543492" cy="1"/>
          </a:xfrm>
          <a:prstGeom prst="line">
            <a:avLst/>
          </a:prstGeom>
          <a:ln w="25400">
            <a:solidFill>
              <a:srgbClr val="5A5F5E">
                <a:alpha val="15947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27" name="norm_quant.jpg" descr="norm_quant.jpg"/>
          <p:cNvPicPr>
            <a:picLocks noChangeAspect="1"/>
          </p:cNvPicPr>
          <p:nvPr/>
        </p:nvPicPr>
        <p:blipFill>
          <a:blip r:embed="rId2"/>
          <a:srcRect l="7685" t="12299" r="6266" b="13992"/>
          <a:stretch>
            <a:fillRect/>
          </a:stretch>
        </p:blipFill>
        <p:spPr>
          <a:xfrm>
            <a:off x="11456784" y="8603504"/>
            <a:ext cx="1259216" cy="763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575" extrusionOk="0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28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</p:spPr>
        <p:txBody>
          <a:bodyPr wrap="square"/>
          <a:lstStyle>
            <a:lvl1pPr algn="r" defTabSz="457200">
              <a:spcBef>
                <a:spcPts val="1200"/>
              </a:spcBef>
              <a:defRPr sz="2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66443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ng" descr="pasted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02" y="370369"/>
            <a:ext cx="2121850" cy="205807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矩形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defTabSz="457200">
              <a:defRPr sz="3000">
                <a:solidFill>
                  <a:srgbClr val="5A5F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endParaRPr/>
          </a:p>
        </p:txBody>
      </p:sp>
      <p:sp>
        <p:nvSpPr>
          <p:cNvPr id="4" name="大標題文字"/>
          <p:cNvSpPr txBox="1">
            <a:spLocks noGrp="1"/>
          </p:cNvSpPr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大標題文字</a:t>
            </a:r>
          </a:p>
        </p:txBody>
      </p:sp>
      <p:sp>
        <p:nvSpPr>
          <p:cNvPr id="5" name="內文層級一…"/>
          <p:cNvSpPr txBox="1">
            <a:spLocks noGrp="1"/>
          </p:cNvSpPr>
          <p:nvPr>
            <p:ph type="body" idx="1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6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 algn="ctr">
              <a:defRPr sz="1600">
                <a:solidFill>
                  <a:srgbClr val="535353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transition spd="med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D30F11"/>
          </a:solidFill>
          <a:uFillTx/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Map, Food, &amp; Smiles…"/>
          <p:cNvSpPr txBox="1">
            <a:spLocks noGrp="1"/>
          </p:cNvSpPr>
          <p:nvPr>
            <p:ph type="body" idx="21"/>
          </p:nvPr>
        </p:nvSpPr>
        <p:spPr>
          <a:xfrm>
            <a:off x="773350" y="2649953"/>
            <a:ext cx="10672979" cy="1760787"/>
          </a:xfrm>
          <a:prstGeom prst="rect">
            <a:avLst/>
          </a:prstGeom>
        </p:spPr>
        <p:txBody>
          <a:bodyPr lIns="50800" tIns="50800" rIns="50800" bIns="50800" anchor="t">
            <a:normAutofit fontScale="70000" lnSpcReduction="20000"/>
          </a:bodyPr>
          <a:lstStyle/>
          <a:p>
            <a:r>
              <a:rPr lang="en" altLang="zh-TW"/>
              <a:t>Imbalance-Aware Feature Selection and Machine</a:t>
            </a:r>
          </a:p>
          <a:p>
            <a:r>
              <a:rPr lang="en" altLang="zh-TW"/>
              <a:t>Learning for U.S. Corporate Bankruptcy Prediction</a:t>
            </a:r>
          </a:p>
          <a:p>
            <a:endParaRPr lang="en"/>
          </a:p>
        </p:txBody>
      </p:sp>
      <p:sp>
        <p:nvSpPr>
          <p:cNvPr id="52" name="Your name"/>
          <p:cNvSpPr>
            <a:spLocks noGrp="1"/>
          </p:cNvSpPr>
          <p:nvPr>
            <p:ph type="body" idx="22"/>
          </p:nvPr>
        </p:nvSpPr>
        <p:spPr>
          <a:xfrm>
            <a:off x="773350" y="4659408"/>
            <a:ext cx="9121764" cy="717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4" y="18306"/>
                  <a:pt x="5" y="15012"/>
                  <a:pt x="6" y="11718"/>
                </a:cubicBezTo>
                <a:cubicBezTo>
                  <a:pt x="6" y="7811"/>
                  <a:pt x="4" y="3905"/>
                  <a:pt x="0" y="0"/>
                </a:cubicBezTo>
                <a:close/>
              </a:path>
            </a:pathLst>
          </a:cu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r>
              <a:rPr lang="en"/>
              <a:t>Yun-Chen Li, Rou-Rou Yu, Yi-An Chen, Huei-Wen Tung</a:t>
            </a:r>
            <a:endParaRPr/>
          </a:p>
        </p:txBody>
      </p:sp>
      <p:sp>
        <p:nvSpPr>
          <p:cNvPr id="53" name="Your affiliation"/>
          <p:cNvSpPr>
            <a:spLocks noGrp="1"/>
          </p:cNvSpPr>
          <p:nvPr>
            <p:ph type="body" idx="23"/>
          </p:nvPr>
        </p:nvSpPr>
        <p:spPr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4" y="18306"/>
                  <a:pt x="5" y="15012"/>
                  <a:pt x="6" y="11718"/>
                </a:cubicBezTo>
                <a:cubicBezTo>
                  <a:pt x="6" y="7811"/>
                  <a:pt x="4" y="3905"/>
                  <a:pt x="0" y="0"/>
                </a:cubicBezTo>
                <a:close/>
              </a:path>
            </a:pathLst>
          </a:cu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 </a:t>
            </a:r>
          </a:p>
        </p:txBody>
      </p:sp>
      <p:sp>
        <p:nvSpPr>
          <p:cNvPr id="54" name="20240419 TEN MFS.key"/>
          <p:cNvSpPr txBox="1"/>
          <p:nvPr/>
        </p:nvSpPr>
        <p:spPr>
          <a:xfrm>
            <a:off x="9519751" y="9237870"/>
            <a:ext cx="2134553" cy="32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normAutofit lnSpcReduction="10000"/>
          </a:bodyPr>
          <a:lstStyle>
            <a:lvl1pPr>
              <a:defRPr sz="1500"/>
            </a:lvl1pPr>
          </a:lstStyle>
          <a:p>
            <a:r>
              <a:rPr lang="da-DK"/>
              <a:t>20251013</a:t>
            </a:r>
            <a:r>
              <a:t> </a:t>
            </a:r>
            <a:r>
              <a:rPr lang="da-DK"/>
              <a:t>BP</a:t>
            </a:r>
            <a:r>
              <a:t>.key</a:t>
            </a:r>
          </a:p>
        </p:txBody>
      </p:sp>
      <p:pic>
        <p:nvPicPr>
          <p:cNvPr id="2" name="VenTeng_Webpage_QRCode.png" descr="VenTeng_Webpage_QRCode.png">
            <a:extLst>
              <a:ext uri="{FF2B5EF4-FFF2-40B4-BE49-F238E27FC236}">
                <a16:creationId xmlns:a16="http://schemas.microsoft.com/office/drawing/2014/main" id="{4164E007-F9A5-A966-2D43-AE8EB3E6B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865" y="3685968"/>
            <a:ext cx="1891682" cy="1891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eingesetztes-Bild.tiff" descr="eingesetztes-Bild.tiff">
            <a:extLst>
              <a:ext uri="{FF2B5EF4-FFF2-40B4-BE49-F238E27FC236}">
                <a16:creationId xmlns:a16="http://schemas.microsoft.com/office/drawing/2014/main" id="{20C2DA3B-4FDF-9D5C-083A-5CF67A932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18" y="7428868"/>
            <a:ext cx="3091498" cy="837989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FIMA_transparent.png" descr="FIMA_transparent.png">
            <a:extLst>
              <a:ext uri="{FF2B5EF4-FFF2-40B4-BE49-F238E27FC236}">
                <a16:creationId xmlns:a16="http://schemas.microsoft.com/office/drawing/2014/main" id="{C53379CD-52BC-7E14-4FED-79A66D899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5875" y="5628572"/>
            <a:ext cx="4769663" cy="13152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DA Template"/>
          <p:cNvSpPr txBox="1">
            <a:spLocks noGrp="1"/>
          </p:cNvSpPr>
          <p:nvPr>
            <p:ph type="body" idx="21"/>
          </p:nvPr>
        </p:nvSpPr>
        <p:spPr>
          <a:xfrm>
            <a:off x="768509" y="9159279"/>
            <a:ext cx="5733892" cy="410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U.S. Corporate Bankruptcy Prediction</a:t>
            </a:r>
          </a:p>
        </p:txBody>
      </p:sp>
      <p:sp>
        <p:nvSpPr>
          <p:cNvPr id="79" name="Motivation ✓…"/>
          <p:cNvSpPr txBox="1">
            <a:spLocks noGrp="1"/>
          </p:cNvSpPr>
          <p:nvPr>
            <p:ph type="body" idx="22"/>
          </p:nvPr>
        </p:nvSpPr>
        <p:spPr>
          <a:xfrm>
            <a:off x="761999" y="1581811"/>
            <a:ext cx="11467783" cy="694125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b="1"/>
              <a:t>Motivation</a:t>
            </a:r>
            <a:r>
              <a:rPr b="1"/>
              <a:t> </a:t>
            </a:r>
            <a:endParaRPr b="1">
              <a:latin typeface="Lucida Grande"/>
              <a:ea typeface="Lucida Grande"/>
              <a:cs typeface="Lucida Grande"/>
              <a:sym typeface="Lucida Grande"/>
            </a:endParaRPr>
          </a:p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b="1"/>
              <a:t>Study Plan</a:t>
            </a:r>
          </a:p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en-US" altLang="zh-TW" b="1"/>
              <a:t>Data (EDA)</a:t>
            </a:r>
            <a:endParaRPr lang="zh-TW" altLang="en-US" b="1"/>
          </a:p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r>
              <a:rPr lang="da-DK" b="1"/>
              <a:t>Model </a:t>
            </a:r>
            <a:r>
              <a:rPr lang="da-DK" b="1" err="1"/>
              <a:t>Result</a:t>
            </a:r>
            <a:endParaRPr lang="da-DK" b="1"/>
          </a:p>
          <a:p>
            <a:pPr>
              <a:lnSpc>
                <a:spcPct val="150000"/>
              </a:lnSpc>
              <a:buClr>
                <a:srgbClr val="5A5F5E"/>
              </a:buClr>
              <a:buSzPct val="100000"/>
              <a:defRPr sz="3000">
                <a:solidFill>
                  <a:srgbClr val="5A5F5E"/>
                </a:solidFill>
              </a:defRPr>
            </a:pPr>
            <a:r>
              <a:rPr lang="da-DK" b="1"/>
              <a:t>   - LR (</a:t>
            </a:r>
            <a:r>
              <a:rPr lang="da-DK" altLang="zh-TW" b="1"/>
              <a:t>Benchmark)</a:t>
            </a:r>
            <a:endParaRPr lang="da-DK"/>
          </a:p>
          <a:p>
            <a:pPr>
              <a:lnSpc>
                <a:spcPct val="150000"/>
              </a:lnSpc>
              <a:defRPr sz="3000">
                <a:solidFill>
                  <a:srgbClr val="5A5F5E"/>
                </a:solidFill>
              </a:defRPr>
            </a:pPr>
            <a:r>
              <a:rPr lang="da-DK" altLang="zh-TW" b="1"/>
              <a:t> - XGB</a:t>
            </a:r>
          </a:p>
          <a:p>
            <a:pPr>
              <a:lnSpc>
                <a:spcPct val="150000"/>
              </a:lnSpc>
              <a:defRPr sz="3000">
                <a:solidFill>
                  <a:srgbClr val="5A5F5E"/>
                </a:solidFill>
              </a:defRPr>
            </a:pPr>
            <a:r>
              <a:rPr lang="da-DK" altLang="zh-TW" b="1"/>
              <a:t> - SVM</a:t>
            </a:r>
          </a:p>
          <a:p>
            <a:pPr>
              <a:lnSpc>
                <a:spcPct val="150000"/>
              </a:lnSpc>
              <a:defRPr sz="3000">
                <a:solidFill>
                  <a:srgbClr val="5A5F5E"/>
                </a:solidFill>
              </a:defRPr>
            </a:pPr>
            <a:r>
              <a:rPr lang="da-DK" altLang="zh-TW" b="1"/>
              <a:t> - RF</a:t>
            </a:r>
          </a:p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endParaRPr lang="da-DK" altLang="zh-TW" b="1"/>
          </a:p>
          <a:p>
            <a:pPr marL="444500" indent="-444500">
              <a:lnSpc>
                <a:spcPct val="150000"/>
              </a:lnSpc>
              <a:buClr>
                <a:srgbClr val="5A5F5E"/>
              </a:buClr>
              <a:buSzPct val="100000"/>
              <a:buAutoNum type="arabicPeriod"/>
              <a:defRPr sz="3000">
                <a:solidFill>
                  <a:srgbClr val="5A5F5E"/>
                </a:solidFill>
              </a:defRPr>
            </a:pPr>
            <a:endParaRPr lang="da-DK" altLang="zh-TW" b="1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5497-BA31-8843-611E-BB3DEEC0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燈片編號">
            <a:extLst>
              <a:ext uri="{FF2B5EF4-FFF2-40B4-BE49-F238E27FC236}">
                <a16:creationId xmlns:a16="http://schemas.microsoft.com/office/drawing/2014/main" id="{E0AF6825-3DFF-F90C-4781-212D483E9C0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60" name="Motivation">
            <a:extLst>
              <a:ext uri="{FF2B5EF4-FFF2-40B4-BE49-F238E27FC236}">
                <a16:creationId xmlns:a16="http://schemas.microsoft.com/office/drawing/2014/main" id="{1732159B-D2E4-2601-7F95-EBAA4DA1A2B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TW" b="1"/>
              <a:t>Motivation</a:t>
            </a:r>
            <a:endParaRPr/>
          </a:p>
        </p:txBody>
      </p:sp>
      <p:sp>
        <p:nvSpPr>
          <p:cNvPr id="61" name="Motivation">
            <a:extLst>
              <a:ext uri="{FF2B5EF4-FFF2-40B4-BE49-F238E27FC236}">
                <a16:creationId xmlns:a16="http://schemas.microsoft.com/office/drawing/2014/main" id="{5868C966-F6D3-C71D-8DDA-9591A1C92622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altLang="zh-TW" b="1"/>
              <a:t>Motivation</a:t>
            </a:r>
            <a:endParaRPr/>
          </a:p>
        </p:txBody>
      </p:sp>
      <p:sp>
        <p:nvSpPr>
          <p:cNvPr id="62" name="Motivate your presentation on 3-10 slides…">
            <a:extLst>
              <a:ext uri="{FF2B5EF4-FFF2-40B4-BE49-F238E27FC236}">
                <a16:creationId xmlns:a16="http://schemas.microsoft.com/office/drawing/2014/main" id="{A0DDA18F-5B77-3F00-29C1-63B199A4CC9B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61999" y="1581811"/>
            <a:ext cx="11467783" cy="2930546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" altLang="zh-TW" sz="3000"/>
              <a:t>Create a corporate bankruptcy prediction</a:t>
            </a:r>
            <a:endParaRPr lang="en-US"/>
          </a:p>
          <a:p>
            <a:pPr marL="444500" lvl="3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/>
              <a:t>Use high dimensional financial data</a:t>
            </a:r>
          </a:p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/>
              <a:t>Solve class imbalance  by creating synthetic samples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/>
              <a:t>Use feature selection (LASSO, </a:t>
            </a:r>
            <a:r>
              <a:rPr lang="en-US" altLang="zh-TW" err="1"/>
              <a:t>XGBoost</a:t>
            </a:r>
            <a:r>
              <a:rPr lang="en-US" altLang="zh-TW"/>
              <a:t>)</a:t>
            </a:r>
            <a:endParaRPr lang="en-US"/>
          </a:p>
          <a:p>
            <a:pPr marL="444500" lvl="1" indent="-444500">
              <a:lnSpc>
                <a:spcPts val="4500"/>
              </a:lnSpc>
              <a:buClr>
                <a:srgbClr val="00599E"/>
              </a:buClr>
              <a:buSzPct val="100000"/>
              <a:buFont typeface="Courier New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/>
              <a:t>Comparing LR, XGB, Random Forest and SVM</a:t>
            </a:r>
          </a:p>
        </p:txBody>
      </p:sp>
      <p:sp>
        <p:nvSpPr>
          <p:cNvPr id="9" name="IDA Template">
            <a:extLst>
              <a:ext uri="{FF2B5EF4-FFF2-40B4-BE49-F238E27FC236}">
                <a16:creationId xmlns:a16="http://schemas.microsoft.com/office/drawing/2014/main" id="{3701FD8A-E017-E917-AA5E-D00BEB75DE44}"/>
              </a:ext>
            </a:extLst>
          </p:cNvPr>
          <p:cNvSpPr txBox="1">
            <a:spLocks/>
          </p:cNvSpPr>
          <p:nvPr/>
        </p:nvSpPr>
        <p:spPr>
          <a:xfrm>
            <a:off x="768509" y="9159279"/>
            <a:ext cx="5733892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/>
              <a:t>U.S. Corporate Bankruptcy Prediction</a:t>
            </a:r>
          </a:p>
        </p:txBody>
      </p:sp>
    </p:spTree>
    <p:extLst>
      <p:ext uri="{BB962C8B-B14F-4D97-AF65-F5344CB8AC3E}">
        <p14:creationId xmlns:p14="http://schemas.microsoft.com/office/powerpoint/2010/main" val="36485094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D8DA8-ED30-86FD-B380-C20B45EA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燈片編號">
            <a:extLst>
              <a:ext uri="{FF2B5EF4-FFF2-40B4-BE49-F238E27FC236}">
                <a16:creationId xmlns:a16="http://schemas.microsoft.com/office/drawing/2014/main" id="{25B4B917-65B2-EC57-E6FC-04E74BA5968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60" name="Motivation">
            <a:extLst>
              <a:ext uri="{FF2B5EF4-FFF2-40B4-BE49-F238E27FC236}">
                <a16:creationId xmlns:a16="http://schemas.microsoft.com/office/drawing/2014/main" id="{6CC2E300-499D-B09E-764C-D77509FAC47C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TW" b="1"/>
              <a:t>Motivation</a:t>
            </a:r>
            <a:endParaRPr/>
          </a:p>
        </p:txBody>
      </p:sp>
      <p:sp>
        <p:nvSpPr>
          <p:cNvPr id="61" name="Motivation">
            <a:extLst>
              <a:ext uri="{FF2B5EF4-FFF2-40B4-BE49-F238E27FC236}">
                <a16:creationId xmlns:a16="http://schemas.microsoft.com/office/drawing/2014/main" id="{94C2C4A0-06F6-A830-2751-49A849A3E0DB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en-US" altLang="zh-TW" b="1"/>
              <a:t>Study Plan</a:t>
            </a:r>
          </a:p>
        </p:txBody>
      </p:sp>
      <p:sp>
        <p:nvSpPr>
          <p:cNvPr id="9" name="IDA Template">
            <a:extLst>
              <a:ext uri="{FF2B5EF4-FFF2-40B4-BE49-F238E27FC236}">
                <a16:creationId xmlns:a16="http://schemas.microsoft.com/office/drawing/2014/main" id="{91871FE7-CA03-87B5-5789-935A2D7EFFC6}"/>
              </a:ext>
            </a:extLst>
          </p:cNvPr>
          <p:cNvSpPr txBox="1">
            <a:spLocks/>
          </p:cNvSpPr>
          <p:nvPr/>
        </p:nvSpPr>
        <p:spPr>
          <a:xfrm>
            <a:off x="768509" y="9159279"/>
            <a:ext cx="5733892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/>
              <a:t>U.S. Corporate Bankruptcy Prediction</a:t>
            </a:r>
          </a:p>
        </p:txBody>
      </p:sp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401404A2-3E48-2740-2D80-C692084E5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492" y="417319"/>
            <a:ext cx="8118792" cy="898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517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BAC7-DBF3-B670-5F30-46CAA84D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DCE981EE-616A-54FD-2882-C7C1106E9EA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6D7E9AAF-7361-8589-4702-749F41EB256E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4CB0DCDA-B603-C1FF-8D43-DE29B880BD8F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3" name="Motivate your presentation on 3-10 slides…">
            <a:extLst>
              <a:ext uri="{FF2B5EF4-FFF2-40B4-BE49-F238E27FC236}">
                <a16:creationId xmlns:a16="http://schemas.microsoft.com/office/drawing/2014/main" id="{96954B8B-B408-A6CB-0338-FE54FE9C068E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55809" y="1241530"/>
            <a:ext cx="11467783" cy="1776384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3000">
                <a:solidFill>
                  <a:srgbClr val="5A5F5E"/>
                </a:solidFill>
              </a:rPr>
              <a:t>11475 </a:t>
            </a:r>
            <a:r>
              <a:rPr lang="en-US"/>
              <a:t>companies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/>
              <a:t>118 features</a:t>
            </a:r>
          </a:p>
          <a:p>
            <a:pPr marL="444500" indent="-444500">
              <a:lnSpc>
                <a:spcPts val="4500"/>
              </a:lnSpc>
              <a:buClr>
                <a:srgbClr val="00599E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/>
              <a:t>Large class imbalance</a:t>
            </a:r>
          </a:p>
        </p:txBody>
      </p:sp>
      <p:sp>
        <p:nvSpPr>
          <p:cNvPr id="8" name="IDA Template">
            <a:extLst>
              <a:ext uri="{FF2B5EF4-FFF2-40B4-BE49-F238E27FC236}">
                <a16:creationId xmlns:a16="http://schemas.microsoft.com/office/drawing/2014/main" id="{107BA345-D115-DE15-2856-A5EC7623868F}"/>
              </a:ext>
            </a:extLst>
          </p:cNvPr>
          <p:cNvSpPr txBox="1">
            <a:spLocks/>
          </p:cNvSpPr>
          <p:nvPr/>
        </p:nvSpPr>
        <p:spPr>
          <a:xfrm>
            <a:off x="768509" y="9159279"/>
            <a:ext cx="5733892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/>
              <a:t>U.S. Corporate Bankruptcy Prediction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6778AA-87B9-C4E7-9C0F-30090839F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789262"/>
              </p:ext>
            </p:extLst>
          </p:nvPr>
        </p:nvGraphicFramePr>
        <p:xfrm>
          <a:off x="7584549" y="1695129"/>
          <a:ext cx="4407174" cy="132317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432920">
                  <a:extLst>
                    <a:ext uri="{9D8B030D-6E8A-4147-A177-3AD203B41FA5}">
                      <a16:colId xmlns:a16="http://schemas.microsoft.com/office/drawing/2014/main" val="3094680081"/>
                    </a:ext>
                  </a:extLst>
                </a:gridCol>
                <a:gridCol w="1974254">
                  <a:extLst>
                    <a:ext uri="{9D8B030D-6E8A-4147-A177-3AD203B41FA5}">
                      <a16:colId xmlns:a16="http://schemas.microsoft.com/office/drawing/2014/main" val="3146140452"/>
                    </a:ext>
                  </a:extLst>
                </a:gridCol>
              </a:tblGrid>
              <a:tr h="3307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  <a:effectLst/>
                        </a:rPr>
                        <a:t>Variable 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  <a:effectLst/>
                        </a:rPr>
                        <a:t>Number of type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981026"/>
                  </a:ext>
                </a:extLst>
              </a:tr>
              <a:tr h="3307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  <a:effectLst/>
                        </a:rPr>
                        <a:t>Categorical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569823"/>
                  </a:ext>
                </a:extLst>
              </a:tr>
              <a:tr h="3307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  <a:effectLst/>
                        </a:rPr>
                        <a:t>Text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2257"/>
                  </a:ext>
                </a:extLst>
              </a:tr>
              <a:tr h="3307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  <a:effectLst/>
                        </a:rPr>
                        <a:t>Continuous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2"/>
                          </a:solidFill>
                        </a:rPr>
                        <a:t>104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45595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AC5998-13C0-5339-945A-C0C4F7735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856203"/>
              </p:ext>
            </p:extLst>
          </p:nvPr>
        </p:nvGraphicFramePr>
        <p:xfrm>
          <a:off x="621830" y="4173709"/>
          <a:ext cx="9241476" cy="114322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901434">
                  <a:extLst>
                    <a:ext uri="{9D8B030D-6E8A-4147-A177-3AD203B41FA5}">
                      <a16:colId xmlns:a16="http://schemas.microsoft.com/office/drawing/2014/main" val="3191566600"/>
                    </a:ext>
                  </a:extLst>
                </a:gridCol>
                <a:gridCol w="7340042">
                  <a:extLst>
                    <a:ext uri="{9D8B030D-6E8A-4147-A177-3AD203B41FA5}">
                      <a16:colId xmlns:a16="http://schemas.microsoft.com/office/drawing/2014/main" val="1631377164"/>
                    </a:ext>
                  </a:extLst>
                </a:gridCol>
              </a:tblGrid>
              <a:tr h="381075"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accent6"/>
                          </a:solidFill>
                          <a:effectLst/>
                        </a:rPr>
                        <a:t>Data Information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2">
                          <a:lumMod val="5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305085"/>
                  </a:ext>
                </a:extLst>
              </a:tr>
              <a:tr h="381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accent6"/>
                          </a:solidFill>
                          <a:effectLst/>
                        </a:rPr>
                        <a:t>Period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/>
                          </a:solidFill>
                          <a:effectLst/>
                        </a:rPr>
                        <a:t>2019/1/1-2024/12/31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482092"/>
                  </a:ext>
                </a:extLst>
              </a:tr>
              <a:tr h="381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chemeClr val="accent6"/>
                          </a:solidFill>
                          <a:effectLst/>
                        </a:rPr>
                        <a:t>Frequency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2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accent6"/>
                          </a:solidFill>
                          <a:effectLst/>
                        </a:rPr>
                        <a:t>Yearly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2">
                          <a:lumMod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06925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167C94-85AD-2CF0-C491-D8BE66E1B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492891"/>
              </p:ext>
            </p:extLst>
          </p:nvPr>
        </p:nvGraphicFramePr>
        <p:xfrm>
          <a:off x="578546" y="5630344"/>
          <a:ext cx="9294522" cy="1024509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510400">
                  <a:extLst>
                    <a:ext uri="{9D8B030D-6E8A-4147-A177-3AD203B41FA5}">
                      <a16:colId xmlns:a16="http://schemas.microsoft.com/office/drawing/2014/main" val="3664236477"/>
                    </a:ext>
                  </a:extLst>
                </a:gridCol>
                <a:gridCol w="6784122">
                  <a:extLst>
                    <a:ext uri="{9D8B030D-6E8A-4147-A177-3AD203B41FA5}">
                      <a16:colId xmlns:a16="http://schemas.microsoft.com/office/drawing/2014/main" val="788197671"/>
                    </a:ext>
                  </a:extLst>
                </a:gridCol>
              </a:tblGrid>
              <a:tr h="295275">
                <a:tc gridSpan="2"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buNone/>
                      </a:pPr>
                      <a:r>
                        <a:rPr lang="en-US" b="1">
                          <a:solidFill>
                            <a:schemeClr val="accent6"/>
                          </a:solidFill>
                          <a:effectLst/>
                          <a:latin typeface="Helvetica Neue"/>
                        </a:rPr>
                        <a:t>Database</a:t>
                      </a:r>
                      <a:endParaRPr lang="en-US" b="1">
                        <a:solidFill>
                          <a:schemeClr val="accent6"/>
                        </a:solidFill>
                        <a:effectLst/>
                        <a:latin typeface="Helvetica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01994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buNone/>
                      </a:pPr>
                      <a:r>
                        <a:rPr lang="en-US" b="1">
                          <a:solidFill>
                            <a:schemeClr val="accent6"/>
                          </a:solidFill>
                          <a:effectLst/>
                          <a:latin typeface="Helvetica Neue"/>
                        </a:rPr>
                        <a:t>Bankruptcy</a:t>
                      </a:r>
                      <a:endParaRPr lang="en-US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  <a:effectLst/>
                          <a:latin typeface="Helvetica Neue Light"/>
                        </a:rPr>
                        <a:t>WRDS CRSP US Stock delisting information</a:t>
                      </a:r>
                      <a:endParaRPr lang="en-US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42006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buNone/>
                      </a:pPr>
                      <a:r>
                        <a:rPr lang="en-US" b="1">
                          <a:solidFill>
                            <a:schemeClr val="accent6"/>
                          </a:solidFill>
                          <a:effectLst/>
                          <a:latin typeface="Helvetica Neue"/>
                        </a:rPr>
                        <a:t>Financial Statement</a:t>
                      </a:r>
                      <a:endParaRPr lang="en-US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2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  <a:effectLst/>
                          <a:latin typeface="Helvetica Light"/>
                        </a:rPr>
                        <a:t>WRDS </a:t>
                      </a:r>
                      <a:r>
                        <a:rPr lang="en-US" err="1">
                          <a:solidFill>
                            <a:schemeClr val="accent6"/>
                          </a:solidFill>
                          <a:effectLst/>
                          <a:latin typeface="Helvetica Light"/>
                        </a:rPr>
                        <a:t>Compustat</a:t>
                      </a:r>
                      <a:r>
                        <a:rPr lang="en-US">
                          <a:solidFill>
                            <a:schemeClr val="accent6"/>
                          </a:solidFill>
                          <a:effectLst/>
                          <a:latin typeface="Helvetica Light"/>
                        </a:rPr>
                        <a:t> Fundamental Annual</a:t>
                      </a:r>
                      <a:endParaRPr lang="en-US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marL="38100" marR="38100" marT="38100" marB="38100" anchor="ctr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2">
                          <a:lumMod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63663"/>
                  </a:ext>
                </a:extLst>
              </a:tr>
            </a:tbl>
          </a:graphicData>
        </a:graphic>
      </p:graphicFrame>
      <p:pic>
        <p:nvPicPr>
          <p:cNvPr id="13" name="Picture 1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5B18FF1-D86E-307F-F969-78D706AE5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47" y="6903289"/>
            <a:ext cx="4001927" cy="1493020"/>
          </a:xfrm>
          <a:prstGeom prst="rect">
            <a:avLst/>
          </a:prstGeom>
        </p:spPr>
      </p:pic>
      <p:pic>
        <p:nvPicPr>
          <p:cNvPr id="14" name="Picture 1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A79065B-6A3C-8E38-AE76-85E1449E5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173" y="5813425"/>
            <a:ext cx="8459368" cy="257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2175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6DD9-31D6-3100-FECD-3AF621B8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A01B8E7-0AC3-A117-7CEB-7A266F1019F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5FCFCC84-B989-E136-6CF6-201AE503406E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9A9EF363-62A4-4196-7DFC-C8B62C02C6C2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90823A6-29D4-D702-3915-7FC97C138527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IDA Template">
            <a:extLst>
              <a:ext uri="{FF2B5EF4-FFF2-40B4-BE49-F238E27FC236}">
                <a16:creationId xmlns:a16="http://schemas.microsoft.com/office/drawing/2014/main" id="{1FB53254-059D-EE2C-E716-DB979DF6BD8A}"/>
              </a:ext>
            </a:extLst>
          </p:cNvPr>
          <p:cNvSpPr txBox="1">
            <a:spLocks/>
          </p:cNvSpPr>
          <p:nvPr/>
        </p:nvSpPr>
        <p:spPr>
          <a:xfrm>
            <a:off x="768509" y="9159279"/>
            <a:ext cx="5733892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5A5F5E"/>
                </a:solidFill>
                <a:uFillTx/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/>
            <a:r>
              <a:rPr lang="en-US"/>
              <a:t>U.S. Corporate Bankruptcy Prediction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7CF43539-5E10-F661-7060-BC0D45C4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143" b="180"/>
          <a:stretch>
            <a:fillRect/>
          </a:stretch>
        </p:blipFill>
        <p:spPr>
          <a:xfrm>
            <a:off x="6029957" y="4534407"/>
            <a:ext cx="5721399" cy="430545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F612DD-FE4C-F6DA-DCFE-C3BEF1BF5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02637"/>
              </p:ext>
            </p:extLst>
          </p:nvPr>
        </p:nvGraphicFramePr>
        <p:xfrm>
          <a:off x="763325" y="3354643"/>
          <a:ext cx="11677876" cy="82468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59917">
                  <a:extLst>
                    <a:ext uri="{9D8B030D-6E8A-4147-A177-3AD203B41FA5}">
                      <a16:colId xmlns:a16="http://schemas.microsoft.com/office/drawing/2014/main" val="402786116"/>
                    </a:ext>
                  </a:extLst>
                </a:gridCol>
                <a:gridCol w="2722366">
                  <a:extLst>
                    <a:ext uri="{9D8B030D-6E8A-4147-A177-3AD203B41FA5}">
                      <a16:colId xmlns:a16="http://schemas.microsoft.com/office/drawing/2014/main" val="3321856456"/>
                    </a:ext>
                  </a:extLst>
                </a:gridCol>
                <a:gridCol w="2065243">
                  <a:extLst>
                    <a:ext uri="{9D8B030D-6E8A-4147-A177-3AD203B41FA5}">
                      <a16:colId xmlns:a16="http://schemas.microsoft.com/office/drawing/2014/main" val="1507647865"/>
                    </a:ext>
                  </a:extLst>
                </a:gridCol>
                <a:gridCol w="2102794">
                  <a:extLst>
                    <a:ext uri="{9D8B030D-6E8A-4147-A177-3AD203B41FA5}">
                      <a16:colId xmlns:a16="http://schemas.microsoft.com/office/drawing/2014/main" val="2363825157"/>
                    </a:ext>
                  </a:extLst>
                </a:gridCol>
                <a:gridCol w="2027556">
                  <a:extLst>
                    <a:ext uri="{9D8B030D-6E8A-4147-A177-3AD203B41FA5}">
                      <a16:colId xmlns:a16="http://schemas.microsoft.com/office/drawing/2014/main" val="2741465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  <a:effectLst/>
                        </a:rPr>
                        <a:t>Dummy Variable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  <a:effectLst/>
                        </a:rPr>
                        <a:t>Non-Delist Frequency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  <a:effectLst/>
                        </a:rPr>
                        <a:t>Non-Delist (%)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  <a:effectLst/>
                        </a:rPr>
                        <a:t>Delist Frequency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  <a:effectLst/>
                        </a:rPr>
                        <a:t>Delist (%)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932886"/>
                  </a:ext>
                </a:extLst>
              </a:tr>
              <a:tr h="2751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  <a:effectLst/>
                        </a:rPr>
                        <a:t>dummy delist company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</a:rPr>
                        <a:t>56,511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</a:rPr>
                        <a:t>99.59%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</a:rPr>
                        <a:t>230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2"/>
                          </a:solidFill>
                        </a:rPr>
                        <a:t>0.41%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2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773829"/>
                  </a:ext>
                </a:extLst>
              </a:tr>
              <a:tr h="2751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solidFill>
                            <a:schemeClr val="bg2"/>
                          </a:solidFill>
                          <a:effectLst/>
                        </a:rPr>
                        <a:t>dummy company status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2"/>
                          </a:solidFill>
                        </a:rPr>
                        <a:t>59,533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2"/>
                          </a:solidFill>
                        </a:rPr>
                        <a:t>87.30%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2"/>
                          </a:solidFill>
                        </a:rPr>
                        <a:t>7,208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2"/>
                          </a:solidFill>
                        </a:rPr>
                        <a:t>12.70%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tx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56472"/>
                  </a:ext>
                </a:extLst>
              </a:tr>
            </a:tbl>
          </a:graphicData>
        </a:graphic>
      </p:graphicFrame>
      <p:sp>
        <p:nvSpPr>
          <p:cNvPr id="9" name="Motivate your presentation on 3-10 slides…">
            <a:extLst>
              <a:ext uri="{FF2B5EF4-FFF2-40B4-BE49-F238E27FC236}">
                <a16:creationId xmlns:a16="http://schemas.microsoft.com/office/drawing/2014/main" id="{BE20B9AB-ACDE-4071-3B28-489864D1E227}"/>
              </a:ext>
            </a:extLst>
          </p:cNvPr>
          <p:cNvSpPr txBox="1">
            <a:spLocks/>
          </p:cNvSpPr>
          <p:nvPr/>
        </p:nvSpPr>
        <p:spPr>
          <a:xfrm>
            <a:off x="784026" y="1373208"/>
            <a:ext cx="11467783" cy="177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44500" indent="-444500" hangingPunct="1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3000">
                <a:solidFill>
                  <a:srgbClr val="5A5F5E"/>
                </a:solidFill>
              </a:rPr>
              <a:t>11475 companies</a:t>
            </a:r>
          </a:p>
          <a:p>
            <a:pPr marL="444500" indent="-444500" hangingPunct="1">
              <a:lnSpc>
                <a:spcPts val="4500"/>
              </a:lnSpc>
              <a:buClr>
                <a:srgbClr val="00599E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118 variables</a:t>
            </a:r>
          </a:p>
          <a:p>
            <a:pPr marL="444500" indent="-444500" hangingPunct="1">
              <a:lnSpc>
                <a:spcPts val="4500"/>
              </a:lnSpc>
              <a:buClr>
                <a:srgbClr val="00599E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3000">
                <a:solidFill>
                  <a:srgbClr val="5A5F5E"/>
                </a:solidFill>
              </a:rPr>
              <a:t>Large class imbalance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D2798540-ACC1-D876-F1D9-078B3A8C8D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252" t="-2592" r="-242" b="2808"/>
          <a:stretch>
            <a:fillRect/>
          </a:stretch>
        </p:blipFill>
        <p:spPr>
          <a:xfrm>
            <a:off x="780643" y="4404370"/>
            <a:ext cx="5199320" cy="425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3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9369-3C60-8483-8E02-52C8EBD29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22484093-C161-DE0F-4A6E-28CA24EF9B1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756F5980-2248-5B56-BE93-3C9A3572CC7A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DFDF077B-C1B2-901C-F646-C5E9EAD446C6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/>
              <a:t>Data </a:t>
            </a:r>
            <a:r>
              <a:rPr lang="da-DK" err="1"/>
              <a:t>pre-processing</a:t>
            </a:r>
            <a:endParaRPr err="1"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0813A355-0768-F793-11B0-E10A1F074083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D0F997-645B-A85B-F871-3AA8FF34F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809471"/>
              </p:ext>
            </p:extLst>
          </p:nvPr>
        </p:nvGraphicFramePr>
        <p:xfrm>
          <a:off x="758016" y="1575036"/>
          <a:ext cx="11560531" cy="4126068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769738">
                  <a:extLst>
                    <a:ext uri="{9D8B030D-6E8A-4147-A177-3AD203B41FA5}">
                      <a16:colId xmlns:a16="http://schemas.microsoft.com/office/drawing/2014/main" val="2544607102"/>
                    </a:ext>
                  </a:extLst>
                </a:gridCol>
                <a:gridCol w="7790793">
                  <a:extLst>
                    <a:ext uri="{9D8B030D-6E8A-4147-A177-3AD203B41FA5}">
                      <a16:colId xmlns:a16="http://schemas.microsoft.com/office/drawing/2014/main" val="250462700"/>
                    </a:ext>
                  </a:extLst>
                </a:gridCol>
              </a:tblGrid>
              <a:tr h="419054">
                <a:tc gridSpan="2"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Processing types                            Effects</a:t>
                      </a:r>
                    </a:p>
                  </a:txBody>
                  <a:tcPr marL="38100" marR="38100" marT="38100" marB="381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901898"/>
                  </a:ext>
                </a:extLst>
              </a:tr>
              <a:tr h="483523">
                <a:tc rowSpan="2"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Missing </a:t>
                      </a:r>
                      <a:r>
                        <a:rPr lang="en-US" sz="20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  <a:sym typeface="Helvetica Neue"/>
                        </a:rPr>
                        <a:t>value</a:t>
                      </a:r>
                    </a:p>
                  </a:txBody>
                  <a:tcPr marL="38100" marR="38100" marT="38100" marB="381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Fill with use the median for each variable with missing</a:t>
                      </a:r>
                      <a:endParaRPr lang="ja-JP" altLang="en-US" sz="2000" b="0">
                        <a:solidFill>
                          <a:schemeClr val="accent6"/>
                        </a:solidFill>
                        <a:effectLst/>
                        <a:latin typeface="Helvetica"/>
                      </a:endParaRPr>
                    </a:p>
                  </a:txBody>
                  <a:tcPr marL="38100" marR="38100" marT="38100" marB="381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666724"/>
                  </a:ext>
                </a:extLst>
              </a:tr>
              <a:tr h="10315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38100" marR="38100" marT="38100" marB="381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Create a dummy missing indicator for each missing value</a:t>
                      </a:r>
                    </a:p>
                  </a:txBody>
                  <a:tcPr marL="38100" marR="38100" marT="38100" marB="38100" anchor="ctr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455368"/>
                  </a:ext>
                </a:extLst>
              </a:tr>
              <a:tr h="741403"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One-hot encoding</a:t>
                      </a:r>
                    </a:p>
                  </a:txBody>
                  <a:tcPr marL="38100" marR="38100" marT="38100" marB="38100" anchor="ctr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Create/convert a categorical v</a:t>
                      </a:r>
                      <a:r>
                        <a:rPr lang="en-US" sz="20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  <a:sym typeface="Helvetica Neue"/>
                        </a:rPr>
                        <a:t>ariable i</a:t>
                      </a: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nto binary (0/1) feature</a:t>
                      </a:r>
                    </a:p>
                  </a:txBody>
                  <a:tcPr marL="38100" marR="38100" marT="38100" marB="38100" anchor="ctr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solidFill>
                        <a:srgbClr val="000000"/>
                      </a:solidFill>
                    </a:lnT>
                    <a:lnB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046856"/>
                  </a:ext>
                </a:extLst>
              </a:tr>
              <a:tr h="741403">
                <a:tc>
                  <a:txBody>
                    <a:bodyPr/>
                    <a:lstStyle/>
                    <a:p>
                      <a:pPr marL="0" marR="0" lvl="0" indent="0" algn="ctr" defTabSz="584200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  <a:sym typeface="Helvetica Neue"/>
                        </a:rPr>
                        <a:t>Log </a:t>
                      </a:r>
                      <a:r>
                        <a:rPr lang="en-US" sz="20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</a:rPr>
                        <a:t>transforming</a:t>
                      </a:r>
                      <a:endParaRPr lang="en-US" sz="2000" b="0" i="0" u="none" strike="noStrike" cap="none" spc="0" baseline="0">
                        <a:solidFill>
                          <a:schemeClr val="accent6"/>
                        </a:solidFill>
                        <a:effectLst/>
                        <a:uFillTx/>
                        <a:latin typeface="Helvetica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38099" marR="38099" marT="38099" marB="38099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latinLnBrk="0">
                        <a:lnSpc>
                          <a:spcPts val="2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</a:rPr>
                        <a:t>To deal with right-skewed</a:t>
                      </a:r>
                      <a:r>
                        <a:rPr lang="en-US" sz="20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  <a:sym typeface="Helvetica Neue"/>
                        </a:rPr>
                        <a:t> </a:t>
                      </a:r>
                      <a:r>
                        <a:rPr lang="en-US" sz="2000" b="0" i="0" u="none" strike="noStrike" cap="none" spc="0" baseline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</a:rPr>
                        <a:t>distribution</a:t>
                      </a:r>
                      <a:endParaRPr lang="zh-TW" altLang="en-US" sz="2000" b="0" i="0" u="none" strike="noStrike" cap="none" spc="0" baseline="0">
                        <a:solidFill>
                          <a:schemeClr val="accent6"/>
                        </a:solidFill>
                        <a:effectLst/>
                        <a:uFillTx/>
                        <a:latin typeface="Helvetica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38099" marR="38099" marT="38099" marB="38099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713775"/>
                  </a:ext>
                </a:extLst>
              </a:tr>
              <a:tr h="709167">
                <a:tc>
                  <a:txBody>
                    <a:bodyPr/>
                    <a:lstStyle/>
                    <a:p>
                      <a:pPr>
                        <a:lnSpc>
                          <a:spcPts val="2250"/>
                        </a:lnSpc>
                        <a:buNone/>
                      </a:pPr>
                      <a:r>
                        <a:rPr lang="en-US" sz="2000" b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Standard scaler</a:t>
                      </a:r>
                    </a:p>
                  </a:txBody>
                  <a:tcPr marL="38100" marR="38100" marT="38100" marB="38100" anchor="ctr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noFill/>
                    </a:lnT>
                    <a:lnB w="12700">
                      <a:solidFill>
                        <a:schemeClr val="tx2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2250"/>
                        </a:lnSpc>
                        <a:buNone/>
                      </a:pPr>
                      <a:r>
                        <a:rPr lang="en-US" sz="2000" b="0" i="0" u="none" strike="noStrike" cap="none" spc="0" baseline="0" noProof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  <a:sym typeface="Helvetica Neue"/>
                        </a:rPr>
                        <a:t>Uniform</a:t>
                      </a:r>
                      <a:r>
                        <a:rPr lang="en-US" sz="2000" b="0" i="0" u="none" strike="noStrike" noProof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 </a:t>
                      </a:r>
                      <a:r>
                        <a:rPr lang="en-US" sz="2000" b="0" i="0" u="none" strike="noStrike" cap="none" spc="0" baseline="0" noProof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  <a:sym typeface="Helvetica Neue"/>
                        </a:rPr>
                        <a:t>Feature</a:t>
                      </a:r>
                      <a:r>
                        <a:rPr lang="en-US" sz="2000" b="0" i="0" u="none" strike="noStrike" noProof="0">
                          <a:solidFill>
                            <a:schemeClr val="accent6"/>
                          </a:solidFill>
                          <a:effectLst/>
                          <a:latin typeface="Helvetica"/>
                        </a:rPr>
                        <a:t> </a:t>
                      </a:r>
                      <a:r>
                        <a:rPr lang="en-US" sz="2000" b="0" i="0" u="none" strike="noStrike" cap="none" spc="0" baseline="0" noProof="0">
                          <a:solidFill>
                            <a:schemeClr val="accent6"/>
                          </a:solidFill>
                          <a:effectLst/>
                          <a:uFillTx/>
                          <a:latin typeface="Helvetica"/>
                          <a:ea typeface="+mn-ea"/>
                          <a:cs typeface="+mn-cs"/>
                          <a:sym typeface="Helvetica Neue"/>
                        </a:rPr>
                        <a:t>Scale</a:t>
                      </a:r>
                      <a:endParaRPr lang="zh-TW" altLang="en-US" sz="2000" b="0" i="0" u="none" strike="noStrike" cap="none" spc="0" baseline="0">
                        <a:solidFill>
                          <a:schemeClr val="accent6"/>
                        </a:solidFill>
                        <a:effectLst/>
                        <a:uFillTx/>
                        <a:latin typeface="Helvetica"/>
                        <a:ea typeface="+mn-ea"/>
                        <a:cs typeface="+mn-cs"/>
                        <a:sym typeface="Helvetica Neue"/>
                      </a:endParaRPr>
                    </a:p>
                  </a:txBody>
                  <a:tcPr marL="38100" marR="38100" marT="38100" marB="38100" anchor="ctr">
                    <a:lnL>
                      <a:solidFill>
                        <a:srgbClr val="000000"/>
                      </a:solidFill>
                    </a:lnL>
                    <a:lnR>
                      <a:solidFill>
                        <a:srgbClr val="000000"/>
                      </a:solidFill>
                    </a:lnR>
                    <a:lnT>
                      <a:noFill/>
                    </a:lnT>
                    <a:lnB w="12700">
                      <a:solidFill>
                        <a:schemeClr val="tx2">
                          <a:lumMod val="50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07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1094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320B-295A-3A77-C60E-433E26FC2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A858E378-7146-FFAD-BD78-8607487BA2F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AF515E84-4F4E-F817-12A0-2DEC5301E6ED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D5300459-D47B-647F-D5C2-4999136A4DF3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F7A31E80-0693-7465-6DDA-F53581F3597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5EB0C2E-6D60-2328-2A16-0982351E8D3A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Motivate your presentation on 3-10 slides…">
            <a:extLst>
              <a:ext uri="{FF2B5EF4-FFF2-40B4-BE49-F238E27FC236}">
                <a16:creationId xmlns:a16="http://schemas.microsoft.com/office/drawing/2014/main" id="{B1016009-AE79-BFBA-6718-BE820CDEDA96}"/>
              </a:ext>
            </a:extLst>
          </p:cNvPr>
          <p:cNvSpPr txBox="1">
            <a:spLocks/>
          </p:cNvSpPr>
          <p:nvPr/>
        </p:nvSpPr>
        <p:spPr>
          <a:xfrm>
            <a:off x="802298" y="1446081"/>
            <a:ext cx="11467783" cy="62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44500" indent="-444500" hangingPunct="1">
              <a:lnSpc>
                <a:spcPts val="4500"/>
              </a:lnSpc>
              <a:buClr>
                <a:srgbClr val="002060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Boxplots of selected features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7BF8265-DD59-D784-25A0-488721708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20" y="2027178"/>
            <a:ext cx="10449107" cy="69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1829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BBD3-321F-C866-7B0E-293123D8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80C806F-9B7B-46E3-F025-AD3A7E7B8ED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619CC174-A9F9-4D49-EBE2-B3C2B7C92D9E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57BA4399-B2E0-DEBF-C624-7ED8CAAAB49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E76B5E5E-904C-670B-F644-5CEAC06E4EB4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74320C2-932B-E374-6C97-FDCCC669E664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" name="Motivate your presentation on 3-10 slides…">
            <a:extLst>
              <a:ext uri="{FF2B5EF4-FFF2-40B4-BE49-F238E27FC236}">
                <a16:creationId xmlns:a16="http://schemas.microsoft.com/office/drawing/2014/main" id="{D89214DC-9F80-D8E3-4546-34E04A46059D}"/>
              </a:ext>
            </a:extLst>
          </p:cNvPr>
          <p:cNvSpPr txBox="1">
            <a:spLocks/>
          </p:cNvSpPr>
          <p:nvPr/>
        </p:nvSpPr>
        <p:spPr>
          <a:xfrm>
            <a:off x="783487" y="1643598"/>
            <a:ext cx="11467783" cy="1199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44500" indent="-444500" hangingPunct="1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3000">
                <a:solidFill>
                  <a:srgbClr val="5A5F5E"/>
                </a:solidFill>
              </a:rPr>
              <a:t>Description summary for selected numerical features</a:t>
            </a:r>
          </a:p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 sz="3000"/>
              <a:t>Log transformation</a:t>
            </a:r>
          </a:p>
        </p:txBody>
      </p:sp>
      <p:sp>
        <p:nvSpPr>
          <p:cNvPr id="18" name="Motivate your presentation on 3-10 slides…">
            <a:extLst>
              <a:ext uri="{FF2B5EF4-FFF2-40B4-BE49-F238E27FC236}">
                <a16:creationId xmlns:a16="http://schemas.microsoft.com/office/drawing/2014/main" id="{414EDAA8-3264-C912-1FA4-1EDC98B240C6}"/>
              </a:ext>
            </a:extLst>
          </p:cNvPr>
          <p:cNvSpPr txBox="1">
            <a:spLocks/>
          </p:cNvSpPr>
          <p:nvPr/>
        </p:nvSpPr>
        <p:spPr>
          <a:xfrm>
            <a:off x="783621" y="7418760"/>
            <a:ext cx="11467783" cy="593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>
              <a:lnSpc>
                <a:spcPts val="4500"/>
              </a:lnSpc>
              <a:buClr>
                <a:srgbClr val="002060"/>
              </a:buClr>
              <a:buSzPct val="100000"/>
              <a:defRPr sz="3000">
                <a:solidFill>
                  <a:srgbClr val="5A5F5E"/>
                </a:solidFill>
              </a:defRPr>
            </a:pPr>
            <a:r>
              <a:rPr lang="en-US" sz="1800">
                <a:solidFill>
                  <a:srgbClr val="5A5F5E"/>
                </a:solidFill>
              </a:rPr>
              <a:t>The entire description summary refers to overleaf table1</a:t>
            </a:r>
            <a:endParaRPr lang="en-US" sz="180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820009A-87A0-E7C7-11B8-36485B061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513400"/>
              </p:ext>
            </p:extLst>
          </p:nvPr>
        </p:nvGraphicFramePr>
        <p:xfrm>
          <a:off x="518179" y="2843704"/>
          <a:ext cx="11904148" cy="4725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02">
                  <a:extLst>
                    <a:ext uri="{9D8B030D-6E8A-4147-A177-3AD203B41FA5}">
                      <a16:colId xmlns:a16="http://schemas.microsoft.com/office/drawing/2014/main" val="3864429121"/>
                    </a:ext>
                  </a:extLst>
                </a:gridCol>
                <a:gridCol w="1066043">
                  <a:extLst>
                    <a:ext uri="{9D8B030D-6E8A-4147-A177-3AD203B41FA5}">
                      <a16:colId xmlns:a16="http://schemas.microsoft.com/office/drawing/2014/main" val="3186923345"/>
                    </a:ext>
                  </a:extLst>
                </a:gridCol>
                <a:gridCol w="1066043">
                  <a:extLst>
                    <a:ext uri="{9D8B030D-6E8A-4147-A177-3AD203B41FA5}">
                      <a16:colId xmlns:a16="http://schemas.microsoft.com/office/drawing/2014/main" val="563883360"/>
                    </a:ext>
                  </a:extLst>
                </a:gridCol>
                <a:gridCol w="1066043">
                  <a:extLst>
                    <a:ext uri="{9D8B030D-6E8A-4147-A177-3AD203B41FA5}">
                      <a16:colId xmlns:a16="http://schemas.microsoft.com/office/drawing/2014/main" val="2329724954"/>
                    </a:ext>
                  </a:extLst>
                </a:gridCol>
                <a:gridCol w="1066043">
                  <a:extLst>
                    <a:ext uri="{9D8B030D-6E8A-4147-A177-3AD203B41FA5}">
                      <a16:colId xmlns:a16="http://schemas.microsoft.com/office/drawing/2014/main" val="1524120135"/>
                    </a:ext>
                  </a:extLst>
                </a:gridCol>
                <a:gridCol w="1066043">
                  <a:extLst>
                    <a:ext uri="{9D8B030D-6E8A-4147-A177-3AD203B41FA5}">
                      <a16:colId xmlns:a16="http://schemas.microsoft.com/office/drawing/2014/main" val="3947041804"/>
                    </a:ext>
                  </a:extLst>
                </a:gridCol>
                <a:gridCol w="1066043">
                  <a:extLst>
                    <a:ext uri="{9D8B030D-6E8A-4147-A177-3AD203B41FA5}">
                      <a16:colId xmlns:a16="http://schemas.microsoft.com/office/drawing/2014/main" val="4277685750"/>
                    </a:ext>
                  </a:extLst>
                </a:gridCol>
                <a:gridCol w="1066043">
                  <a:extLst>
                    <a:ext uri="{9D8B030D-6E8A-4147-A177-3AD203B41FA5}">
                      <a16:colId xmlns:a16="http://schemas.microsoft.com/office/drawing/2014/main" val="3252788966"/>
                    </a:ext>
                  </a:extLst>
                </a:gridCol>
                <a:gridCol w="1145009">
                  <a:extLst>
                    <a:ext uri="{9D8B030D-6E8A-4147-A177-3AD203B41FA5}">
                      <a16:colId xmlns:a16="http://schemas.microsoft.com/office/drawing/2014/main" val="3254728530"/>
                    </a:ext>
                  </a:extLst>
                </a:gridCol>
                <a:gridCol w="1085785">
                  <a:extLst>
                    <a:ext uri="{9D8B030D-6E8A-4147-A177-3AD203B41FA5}">
                      <a16:colId xmlns:a16="http://schemas.microsoft.com/office/drawing/2014/main" val="3963793575"/>
                    </a:ext>
                  </a:extLst>
                </a:gridCol>
                <a:gridCol w="1164751">
                  <a:extLst>
                    <a:ext uri="{9D8B030D-6E8A-4147-A177-3AD203B41FA5}">
                      <a16:colId xmlns:a16="http://schemas.microsoft.com/office/drawing/2014/main" val="4027052874"/>
                    </a:ext>
                  </a:extLst>
                </a:gridCol>
              </a:tblGrid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>
                        <a:solidFill>
                          <a:schemeClr val="bg2">
                            <a:lumMod val="76000"/>
                          </a:schemeClr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mean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std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25%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50%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75%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max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skewness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kurtosis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397852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lcat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280.00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7286.79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38020.83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311448.00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6.29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40.18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225669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dvt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42636.00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156.10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835.28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-709.00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36.00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25999.00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12.40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203.35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502857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uopi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1414.00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815.65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1124.10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-3221.00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177.00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395.90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1011.00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9231.00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2.67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9.45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26764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nits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462.00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655.20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1288.71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-3090.00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23.50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144.15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848.05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7713.00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2.36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7.61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396758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artfs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2499.00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2334.35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10414.77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23.93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104.14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514.04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160673.00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8.11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80.88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008872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ialti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575.00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4833.88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14706.52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1225.19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101294.00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4.38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20.20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282410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lcabg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386.00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5304.75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32527.43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311448.00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7.44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56.90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872191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cnltbl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527.00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2877.22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8324.58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-0.01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152.32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1296.13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57646.00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4.32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19.85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801480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ppent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41529.00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1740.90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9394.63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4.06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37.59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344.87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328806.00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14.04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281.17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689967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pltbl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532.00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10105.54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34816.41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-3354.00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1942.50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308810.00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5.16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30.80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391661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idit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25643.00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291.47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4182.15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-16.00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15.00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193933.00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26.56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829.10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089861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tstk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42740.00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824.64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6587.93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-26.22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7.44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254917.00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17.37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424.41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49089"/>
                  </a:ext>
                </a:extLst>
              </a:tr>
              <a:tr h="33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>
                          <a:solidFill>
                            <a:schemeClr val="bg2">
                              <a:lumMod val="76000"/>
                            </a:schemeClr>
                          </a:solidFill>
                          <a:effectLst/>
                        </a:rPr>
                        <a:t>ptbl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568.00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13957.84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34604.84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-3354.00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453.14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1403.50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8188.25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2">
                              <a:lumMod val="76000"/>
                            </a:schemeClr>
                          </a:solidFill>
                        </a:rPr>
                        <a:t>308810.00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6000"/>
                            </a:schemeClr>
                          </a:solidFill>
                        </a:rPr>
                        <a:t>4.71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6"/>
                          </a:solidFill>
                        </a:rPr>
                        <a:t>27.43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395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2715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E1B44-8EAF-B249-EBD5-30B30B0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BA61F2E2-988A-E65F-FAB8-EABCFDDF968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5B1C7837-06C6-3402-BADB-64A745C0BC74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326AC596-09DA-6242-D205-B33B9A8187FB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1016D63D-ADA6-F86A-25DC-6EBEF0536CB9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9BF286B-BD76-935C-5779-4639F038E407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Motivate your presentation on 3-10 slides…">
            <a:extLst>
              <a:ext uri="{FF2B5EF4-FFF2-40B4-BE49-F238E27FC236}">
                <a16:creationId xmlns:a16="http://schemas.microsoft.com/office/drawing/2014/main" id="{D87E87FA-6AE7-4A45-C671-4656CAB2EF8B}"/>
              </a:ext>
            </a:extLst>
          </p:cNvPr>
          <p:cNvSpPr txBox="1">
            <a:spLocks/>
          </p:cNvSpPr>
          <p:nvPr/>
        </p:nvSpPr>
        <p:spPr>
          <a:xfrm>
            <a:off x="802298" y="1446081"/>
            <a:ext cx="11467783" cy="62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44500" indent="-444500" hangingPunct="1">
              <a:lnSpc>
                <a:spcPts val="4500"/>
              </a:lnSpc>
              <a:buClr>
                <a:srgbClr val="002060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Boxplots of selected features (after log transform)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43D26B0-EBB7-D637-517F-1220E345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40" y="2071684"/>
            <a:ext cx="10765843" cy="714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9732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DDE4-3978-24ED-515D-A7D9A82C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C0C8DF3C-0C9F-B3A6-2975-82B8FD9AE3A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0BC8360C-20FD-0834-F051-CEF4B43DDA2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D3160DEE-3C41-8A16-FE4E-7E9020FFED90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D67713C1-9963-6E3C-2FCE-3CD28810643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D129AA4-3C72-9A47-1B82-2732E57D4FF9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Motivate your presentation on 3-10 slides…">
            <a:extLst>
              <a:ext uri="{FF2B5EF4-FFF2-40B4-BE49-F238E27FC236}">
                <a16:creationId xmlns:a16="http://schemas.microsoft.com/office/drawing/2014/main" id="{B82A94BF-4CDA-ACDD-0642-F0CBE686FFEC}"/>
              </a:ext>
            </a:extLst>
          </p:cNvPr>
          <p:cNvSpPr txBox="1">
            <a:spLocks/>
          </p:cNvSpPr>
          <p:nvPr/>
        </p:nvSpPr>
        <p:spPr>
          <a:xfrm>
            <a:off x="802298" y="1446081"/>
            <a:ext cx="11467783" cy="62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44500" indent="-444500" hangingPunct="1">
              <a:lnSpc>
                <a:spcPts val="4500"/>
              </a:lnSpc>
              <a:buClr>
                <a:srgbClr val="002060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Pairplot of selected features</a:t>
            </a:r>
          </a:p>
        </p:txBody>
      </p:sp>
      <p:pic>
        <p:nvPicPr>
          <p:cNvPr id="7" name="Picture 6" descr="A grid of blue lines&#10;&#10;AI-generated content may be incorrect.">
            <a:extLst>
              <a:ext uri="{FF2B5EF4-FFF2-40B4-BE49-F238E27FC236}">
                <a16:creationId xmlns:a16="http://schemas.microsoft.com/office/drawing/2014/main" id="{D81C66C0-AD65-12F2-93F6-68CD613E4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72" y="2073405"/>
            <a:ext cx="7061136" cy="701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8924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6E30-9E03-195E-19F9-E0A0F6BC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1CD41821-949C-F1FF-B4B2-D6BAD98079B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00F729B6-5EA4-C68E-FA5B-EE346382DB26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C73A68F8-B50E-6FF7-B0B1-3C7C7C69CF82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16DE7ACA-6D69-A1B5-841B-6D12A4881A2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E5A8B8C-AB4F-093A-9ED8-DC5E8CDBC602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" name="Picture 2" descr="A grid of blue lines&#10;&#10;AI-generated content may be incorrect.">
            <a:extLst>
              <a:ext uri="{FF2B5EF4-FFF2-40B4-BE49-F238E27FC236}">
                <a16:creationId xmlns:a16="http://schemas.microsoft.com/office/drawing/2014/main" id="{F5DBDDA4-7593-31CB-B8B3-FD7F0483C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05" y="-9406"/>
            <a:ext cx="9744075" cy="974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4147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4E42D-441E-566F-0622-4B6B53AF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0D3C0234-58DD-624E-832C-F4F3835CDE2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E40C8DC1-1442-CEE6-3691-A2DB5046AC4C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/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3B4B5597-06FC-432B-C762-F367775AFBEA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da-DK"/>
              <a:t>Data</a:t>
            </a:r>
            <a:endParaRPr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56E9A418-197E-1FCA-FFC7-EB1D3F394DBB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D072F3A-8F5E-6563-93F3-5204B9F5D7CA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Motivate your presentation on 3-10 slides…">
            <a:extLst>
              <a:ext uri="{FF2B5EF4-FFF2-40B4-BE49-F238E27FC236}">
                <a16:creationId xmlns:a16="http://schemas.microsoft.com/office/drawing/2014/main" id="{149DAE7D-7752-9D71-8374-59768380F543}"/>
              </a:ext>
            </a:extLst>
          </p:cNvPr>
          <p:cNvSpPr txBox="1">
            <a:spLocks/>
          </p:cNvSpPr>
          <p:nvPr/>
        </p:nvSpPr>
        <p:spPr>
          <a:xfrm>
            <a:off x="802298" y="1446081"/>
            <a:ext cx="11467783" cy="62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444500" indent="-444500" hangingPunct="1">
              <a:lnSpc>
                <a:spcPts val="4500"/>
              </a:lnSpc>
              <a:buClr>
                <a:srgbClr val="002060"/>
              </a:buClr>
              <a:buSzPct val="100000"/>
              <a:buFontTx/>
              <a:buChar char="⊡"/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Heatmap of selected features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AD95B4-1170-349A-6A43-30744450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65" y="2082652"/>
            <a:ext cx="8960124" cy="768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5520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1C1ED-F6A9-6899-2466-B2A98827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403B72AF-777E-8B49-F81E-81BC86998E7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D52CFF46-382A-BD3B-281D-2EB4D2A6E0C1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err="1"/>
              <a:t>Methdology</a:t>
            </a:r>
            <a:endParaRPr lang="zh-TW" altLang="en-US" err="1"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0B8C92A8-B1C7-F98C-138B-9B1DAAB70794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/>
              <a:t>Benchmark</a:t>
            </a:r>
            <a:endParaRPr lang="zh-TW" altLang="en-US" err="1"/>
          </a:p>
        </p:txBody>
      </p:sp>
      <p:sp>
        <p:nvSpPr>
          <p:cNvPr id="73" name="Motivate your presentation on 3-10 slides…">
            <a:extLst>
              <a:ext uri="{FF2B5EF4-FFF2-40B4-BE49-F238E27FC236}">
                <a16:creationId xmlns:a16="http://schemas.microsoft.com/office/drawing/2014/main" id="{98012D6D-875F-5CF5-0062-D4BDA268A457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13492" y="1373394"/>
            <a:ext cx="11467783" cy="1199303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>
              <a:lnSpc>
                <a:spcPts val="4500"/>
              </a:lnSpc>
              <a:buClr>
                <a:srgbClr val="002060"/>
              </a:buClr>
              <a:buSzPct val="100000"/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Logistic Regression</a:t>
            </a:r>
          </a:p>
          <a:p>
            <a:pPr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endParaRPr lang="en-US" altLang="zh-TW"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D00D0FBD-6199-D80E-99C7-637D6811C0E1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C2E017A-43C6-CC15-61FE-7710CCE5CE0B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" name="Picture 4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0B2161C7-F2A4-F0B1-57FF-C8D6C9FDF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6" t="288" r="1840" b="-185"/>
          <a:stretch>
            <a:fillRect/>
          </a:stretch>
        </p:blipFill>
        <p:spPr>
          <a:xfrm>
            <a:off x="50264" y="1969856"/>
            <a:ext cx="12954802" cy="645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7280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5E6A5-8C88-8E1C-4BF1-A41C117D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CA5BDC93-5A60-708E-70C8-2B4D4B34180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A6294926-9907-EC8C-71A8-D591845845FD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err="1"/>
              <a:t>Methdology</a:t>
            </a:r>
            <a:endParaRPr lang="zh-TW" altLang="en-US" err="1"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48E8CE93-E629-672A-DC59-3FF18ACF9AED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 altLang="zh-TW"/>
              <a:t>Machine Learning Model</a:t>
            </a:r>
          </a:p>
        </p:txBody>
      </p:sp>
      <p:sp>
        <p:nvSpPr>
          <p:cNvPr id="73" name="Motivate your presentation on 3-10 slides…">
            <a:extLst>
              <a:ext uri="{FF2B5EF4-FFF2-40B4-BE49-F238E27FC236}">
                <a16:creationId xmlns:a16="http://schemas.microsoft.com/office/drawing/2014/main" id="{6A3EAAEC-6892-3D17-B0E5-8E4CA8C090FE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13492" y="1373394"/>
            <a:ext cx="11467783" cy="622222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Random forest</a:t>
            </a:r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60BB99C8-5CD0-958D-327B-DE5350183582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8FE6F0A-82A9-E914-37B0-ADC2A34E70DD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" name="Picture 2" descr="A white text with black and white text&#10;&#10;AI-generated content may be incorrect.">
            <a:extLst>
              <a:ext uri="{FF2B5EF4-FFF2-40B4-BE49-F238E27FC236}">
                <a16:creationId xmlns:a16="http://schemas.microsoft.com/office/drawing/2014/main" id="{F0025A2D-728F-0D85-4F6D-AD4A6F42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4" t="-747" r="5729" b="-1244"/>
          <a:stretch>
            <a:fillRect/>
          </a:stretch>
        </p:blipFill>
        <p:spPr>
          <a:xfrm>
            <a:off x="2099" y="1997815"/>
            <a:ext cx="12996556" cy="64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9392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BAF32-718C-4F65-BFD2-1A214A10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584A83D0-0461-9B7B-39EC-FDCEF484D81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94F72CF7-872E-D2A0-BFA3-57E7CA0497BF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err="1"/>
              <a:t>Methdology</a:t>
            </a:r>
            <a:endParaRPr lang="zh-TW" altLang="en-US" err="1"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10C5B2AD-A45E-33A7-CB17-78A171954A54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 altLang="zh-TW"/>
              <a:t>Machine Learning Model</a:t>
            </a:r>
          </a:p>
        </p:txBody>
      </p:sp>
      <p:sp>
        <p:nvSpPr>
          <p:cNvPr id="73" name="Motivate your presentation on 3-10 slides…">
            <a:extLst>
              <a:ext uri="{FF2B5EF4-FFF2-40B4-BE49-F238E27FC236}">
                <a16:creationId xmlns:a16="http://schemas.microsoft.com/office/drawing/2014/main" id="{524030D8-E751-4BBC-54FC-37811B2A076A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13492" y="1373394"/>
            <a:ext cx="11467783" cy="622222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r>
              <a:rPr lang="en-US" altLang="zh-TW" sz="3000" err="1">
                <a:solidFill>
                  <a:srgbClr val="5A5F5E"/>
                </a:solidFill>
              </a:rPr>
              <a:t>XGBoost</a:t>
            </a:r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78D63B8D-BE5D-2614-050E-4D1036EFA63B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418BA54-D3ED-F049-2A13-17C8B0FBBD78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6" name="Picture 5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72EDEB44-FB00-DC24-0385-FAED896ACF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1" t="325" r="3065" b="-650"/>
          <a:stretch>
            <a:fillRect/>
          </a:stretch>
        </p:blipFill>
        <p:spPr>
          <a:xfrm>
            <a:off x="4679" y="1991514"/>
            <a:ext cx="13005539" cy="581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6646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BB16-9385-2530-2945-25ACEB73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2C8CD8E9-759B-E5DC-5F33-DCF3652CB7C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B4899E9F-C9C1-DC79-1D5B-558AB9FE986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err="1"/>
              <a:t>Methdology</a:t>
            </a:r>
            <a:endParaRPr lang="zh-TW" altLang="en-US" err="1"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961A88AB-8805-B04D-2EE6-9AD1B48DDC25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 altLang="zh-TW"/>
              <a:t>Machine Learning Model</a:t>
            </a:r>
          </a:p>
        </p:txBody>
      </p:sp>
      <p:sp>
        <p:nvSpPr>
          <p:cNvPr id="73" name="Motivate your presentation on 3-10 slides…">
            <a:extLst>
              <a:ext uri="{FF2B5EF4-FFF2-40B4-BE49-F238E27FC236}">
                <a16:creationId xmlns:a16="http://schemas.microsoft.com/office/drawing/2014/main" id="{A90A962F-DBE9-2AE9-FF7C-9B879185AAFE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13492" y="1373394"/>
            <a:ext cx="11467783" cy="622222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SVM</a:t>
            </a:r>
          </a:p>
        </p:txBody>
      </p:sp>
      <p:pic>
        <p:nvPicPr>
          <p:cNvPr id="3" name="Picture 2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B77FB8D3-0FE8-D426-F397-C476F90371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7" t="-146" r="5245" b="-46"/>
          <a:stretch>
            <a:fillRect/>
          </a:stretch>
        </p:blipFill>
        <p:spPr>
          <a:xfrm>
            <a:off x="4426" y="1997178"/>
            <a:ext cx="13022560" cy="6412448"/>
          </a:xfrm>
          <a:prstGeom prst="rect">
            <a:avLst/>
          </a:prstGeom>
        </p:spPr>
      </p:pic>
      <p:sp>
        <p:nvSpPr>
          <p:cNvPr id="74" name="IDA Template">
            <a:extLst>
              <a:ext uri="{FF2B5EF4-FFF2-40B4-BE49-F238E27FC236}">
                <a16:creationId xmlns:a16="http://schemas.microsoft.com/office/drawing/2014/main" id="{93904AAE-967B-7AEB-6074-77DD8815129B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24BB9DF-3E34-C607-03AB-32C01AEF8F1D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" name="Motivate your presentation on 3-10 slides…">
            <a:extLst>
              <a:ext uri="{FF2B5EF4-FFF2-40B4-BE49-F238E27FC236}">
                <a16:creationId xmlns:a16="http://schemas.microsoft.com/office/drawing/2014/main" id="{7812A651-41C7-570B-9AC3-9C4EC62A87B6}"/>
              </a:ext>
            </a:extLst>
          </p:cNvPr>
          <p:cNvSpPr txBox="1">
            <a:spLocks/>
          </p:cNvSpPr>
          <p:nvPr/>
        </p:nvSpPr>
        <p:spPr>
          <a:xfrm>
            <a:off x="8042351" y="6228585"/>
            <a:ext cx="4409381" cy="1170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r>
              <a:rPr lang="en-US" sz="1600"/>
              <a:t>Apply the sigmoid transformation to convert the score into probability</a:t>
            </a:r>
          </a:p>
        </p:txBody>
      </p:sp>
    </p:spTree>
    <p:extLst>
      <p:ext uri="{BB962C8B-B14F-4D97-AF65-F5344CB8AC3E}">
        <p14:creationId xmlns:p14="http://schemas.microsoft.com/office/powerpoint/2010/main" val="15448727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994F-92A6-1031-8FD2-FA00566A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970A8F24-E764-C8B9-8151-B30E791E1FE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F2AF7D23-59D5-AFFA-5246-DB0D5A1D2206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err="1"/>
              <a:t>Methdology</a:t>
            </a:r>
            <a:endParaRPr lang="zh-TW" altLang="en-US" err="1"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F19E2DDA-9402-1750-9B4A-937BA851E29C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 altLang="zh-TW"/>
              <a:t>Feature </a:t>
            </a:r>
            <a:r>
              <a:rPr lang="da-DK" altLang="zh-TW" err="1"/>
              <a:t>Selection</a:t>
            </a:r>
            <a:r>
              <a:rPr lang="da-DK" altLang="zh-TW"/>
              <a:t> Model</a:t>
            </a:r>
          </a:p>
        </p:txBody>
      </p:sp>
      <p:sp>
        <p:nvSpPr>
          <p:cNvPr id="73" name="Motivate your presentation on 3-10 slides…">
            <a:extLst>
              <a:ext uri="{FF2B5EF4-FFF2-40B4-BE49-F238E27FC236}">
                <a16:creationId xmlns:a16="http://schemas.microsoft.com/office/drawing/2014/main" id="{A97A58D2-C059-B4F0-D6E7-FD3972DC2F3F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13492" y="1373394"/>
            <a:ext cx="11467783" cy="622222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LASSO</a:t>
            </a:r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5D804754-3D3F-33A8-B25B-A8B661FA2B39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846BE4C-073F-F849-085E-3DD086D735A8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4" name="Picture 3" descr="A screenshot of a white page with black text&#10;&#10;AI-generated content may be incorrect.">
            <a:extLst>
              <a:ext uri="{FF2B5EF4-FFF2-40B4-BE49-F238E27FC236}">
                <a16:creationId xmlns:a16="http://schemas.microsoft.com/office/drawing/2014/main" id="{B9700697-1363-2C3D-32C6-58A267516A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13" r="11883" b="-321"/>
          <a:stretch>
            <a:fillRect/>
          </a:stretch>
        </p:blipFill>
        <p:spPr>
          <a:xfrm>
            <a:off x="2948" y="1992650"/>
            <a:ext cx="12989786" cy="590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9185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92F4-76D1-86E7-7174-8BB9A293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A5DFFFDB-576D-9E1F-CDDE-0EBA577B25A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92AD3A79-D5EF-9C75-7D0B-4936C4B0EDF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err="1"/>
              <a:t>Methdology</a:t>
            </a:r>
            <a:endParaRPr lang="zh-TW" altLang="en-US" err="1"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D53E826A-E48D-C5B9-CA43-BAF143629563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 altLang="zh-TW"/>
              <a:t>Feature </a:t>
            </a:r>
            <a:r>
              <a:rPr lang="da-DK" altLang="zh-TW" err="1"/>
              <a:t>Selection</a:t>
            </a:r>
            <a:r>
              <a:rPr lang="da-DK" altLang="zh-TW"/>
              <a:t> Model</a:t>
            </a:r>
          </a:p>
        </p:txBody>
      </p:sp>
      <p:sp>
        <p:nvSpPr>
          <p:cNvPr id="73" name="Motivate your presentation on 3-10 slides…">
            <a:extLst>
              <a:ext uri="{FF2B5EF4-FFF2-40B4-BE49-F238E27FC236}">
                <a16:creationId xmlns:a16="http://schemas.microsoft.com/office/drawing/2014/main" id="{73D77C11-2B68-8AEF-DEB9-CED376297295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713492" y="1373394"/>
            <a:ext cx="11467783" cy="622222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XGBoost</a:t>
            </a:r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96D12482-6047-3984-6CC0-373FC8A78FC7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9BE9643-02C0-AFF1-6C25-744D54752AA4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E2BF890D-0138-3A45-0104-2424A1576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34" r="12321" b="399"/>
          <a:stretch>
            <a:fillRect/>
          </a:stretch>
        </p:blipFill>
        <p:spPr>
          <a:xfrm>
            <a:off x="-8094" y="2166149"/>
            <a:ext cx="13037674" cy="469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969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AD7A-CFBA-6EF5-FFB5-0EAB696D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39C99C84-670F-AF8B-CFBE-2521C57A4DE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BCD7BB65-643E-7FDE-A150-806BDE5AE707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altLang="zh-TW"/>
              <a:t>Result</a:t>
            </a:r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348C7B21-1AD6-F883-35D7-E388F31FBE30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 err="1"/>
              <a:t>Results</a:t>
            </a:r>
            <a:endParaRPr lang="zh-TW" altLang="en-US" err="1"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A49B46DB-4D1B-F61F-8238-F63D09AE8C3E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73C4FCB-5F2E-BC16-5CC9-B40D741D64FD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7" name="Picture 6" descr="A black screen with numbers and text&#10;&#10;AI-generated content may be incorrect.">
            <a:extLst>
              <a:ext uri="{FF2B5EF4-FFF2-40B4-BE49-F238E27FC236}">
                <a16:creationId xmlns:a16="http://schemas.microsoft.com/office/drawing/2014/main" id="{61BB71E6-2FEF-1232-EB23-538CACBC1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37" t="14760" r="-61" b="1916"/>
          <a:stretch>
            <a:fillRect/>
          </a:stretch>
        </p:blipFill>
        <p:spPr>
          <a:xfrm>
            <a:off x="1640264" y="1644095"/>
            <a:ext cx="10105094" cy="2252773"/>
          </a:xfrm>
          <a:prstGeom prst="rect">
            <a:avLst/>
          </a:prstGeom>
        </p:spPr>
      </p:pic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BC56B93-01EB-1FC5-761F-C20495595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220" y="3908913"/>
            <a:ext cx="9882358" cy="493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5247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2106-79A9-09B8-CB71-4CA1D5BC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0670E784-D19B-E9A3-CD22-FD71E1BDD1D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415C989F-096E-A06A-1818-D637C137B4A3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altLang="zh-TW"/>
              <a:t>Result</a:t>
            </a:r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232E3C31-2282-249F-D393-9A7AE9F21BE2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 altLang="zh-TW" err="1"/>
              <a:t>Conclusion</a:t>
            </a:r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78BA4EFA-1C5F-EC55-65B0-3C1D93F916AF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5" name="Motivate your presentation on 3-10 slides…">
            <a:extLst>
              <a:ext uri="{FF2B5EF4-FFF2-40B4-BE49-F238E27FC236}">
                <a16:creationId xmlns:a16="http://schemas.microsoft.com/office/drawing/2014/main" id="{02308655-CFB5-F17A-6D2B-BA88D24B3D16}"/>
              </a:ext>
            </a:extLst>
          </p:cNvPr>
          <p:cNvSpPr txBox="1">
            <a:spLocks noGrp="1"/>
          </p:cNvSpPr>
          <p:nvPr>
            <p:ph type="body" sz="quarter" idx="23"/>
          </p:nvPr>
        </p:nvSpPr>
        <p:spPr>
          <a:xfrm>
            <a:off x="761999" y="1581811"/>
            <a:ext cx="11467783" cy="4084708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" altLang="zh-TW" err="1"/>
              <a:t>XGBoost</a:t>
            </a:r>
            <a:r>
              <a:rPr lang="en" altLang="zh-TW"/>
              <a:t> performs more stable under feature selection and no selection</a:t>
            </a:r>
          </a:p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" altLang="zh-TW"/>
              <a:t>SVM has higher recall but lower precision, and with little improvement after feature selection</a:t>
            </a:r>
          </a:p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/>
              <a:t>RF and XGB perform better with feature selection</a:t>
            </a:r>
            <a:endParaRPr lang="en" altLang="zh-TW"/>
          </a:p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/>
              <a:t>LR has higher AP without feature selections</a:t>
            </a:r>
          </a:p>
          <a:p>
            <a:pPr marL="444500" indent="-444500">
              <a:lnSpc>
                <a:spcPts val="4500"/>
              </a:lnSpc>
              <a:buClr>
                <a:srgbClr val="002060"/>
              </a:buClr>
              <a:buSzPct val="100000"/>
              <a:buFont typeface="Arial"/>
              <a:buChar char="⊡"/>
              <a:defRPr sz="3000">
                <a:solidFill>
                  <a:srgbClr val="5A5F5E"/>
                </a:solidFill>
              </a:defRPr>
            </a:pPr>
            <a:r>
              <a:rPr lang="en-US"/>
              <a:t>Missing-value indicators disclosure as a distress signal</a:t>
            </a:r>
          </a:p>
        </p:txBody>
      </p:sp>
    </p:spTree>
    <p:extLst>
      <p:ext uri="{BB962C8B-B14F-4D97-AF65-F5344CB8AC3E}">
        <p14:creationId xmlns:p14="http://schemas.microsoft.com/office/powerpoint/2010/main" val="403734297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7E0E-8D46-BC05-0965-12F79891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燈片編號">
            <a:extLst>
              <a:ext uri="{FF2B5EF4-FFF2-40B4-BE49-F238E27FC236}">
                <a16:creationId xmlns:a16="http://schemas.microsoft.com/office/drawing/2014/main" id="{DA5F5502-57F7-67A5-018C-2FF6928C999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71" name="Motivation">
            <a:extLst>
              <a:ext uri="{FF2B5EF4-FFF2-40B4-BE49-F238E27FC236}">
                <a16:creationId xmlns:a16="http://schemas.microsoft.com/office/drawing/2014/main" id="{DEE99DF8-DB31-0F70-798A-51A8D8262383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55809" y="213147"/>
            <a:ext cx="9502858" cy="410369"/>
          </a:xfrm>
          <a:prstGeom prst="rect">
            <a:avLst/>
          </a:prstGeom>
        </p:spPr>
        <p:txBody>
          <a:bodyPr lIns="50800" tIns="50800" rIns="50800" bIns="50800" anchor="t">
            <a:spAutoFit/>
          </a:bodyPr>
          <a:lstStyle/>
          <a:p>
            <a:r>
              <a:rPr lang="da-DK" err="1"/>
              <a:t>Methdology</a:t>
            </a:r>
            <a:endParaRPr lang="zh-TW" altLang="en-US" err="1"/>
          </a:p>
        </p:txBody>
      </p:sp>
      <p:sp>
        <p:nvSpPr>
          <p:cNvPr id="72" name="Motivation">
            <a:extLst>
              <a:ext uri="{FF2B5EF4-FFF2-40B4-BE49-F238E27FC236}">
                <a16:creationId xmlns:a16="http://schemas.microsoft.com/office/drawing/2014/main" id="{5E4350B8-830E-B296-45D1-218CFCDAE26B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da-DK"/>
              <a:t>Model input and output</a:t>
            </a:r>
            <a:endParaRPr lang="zh-TW" altLang="en-US" err="1"/>
          </a:p>
        </p:txBody>
      </p:sp>
      <p:sp>
        <p:nvSpPr>
          <p:cNvPr id="74" name="IDA Template">
            <a:extLst>
              <a:ext uri="{FF2B5EF4-FFF2-40B4-BE49-F238E27FC236}">
                <a16:creationId xmlns:a16="http://schemas.microsoft.com/office/drawing/2014/main" id="{5EB64130-0E57-A17B-83A9-A9D4FCFA2C88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715409" y="9224143"/>
            <a:ext cx="5479247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5A5F5E"/>
                </a:solidFill>
              </a:rPr>
              <a:t>U.S. Corporate Bankruptcy Prediction</a:t>
            </a:r>
            <a:endParaRPr 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B141897-5910-A964-0CD8-FF23E57409A0}"/>
              </a:ext>
            </a:extLst>
          </p:cNvPr>
          <p:cNvSpPr txBox="1"/>
          <p:nvPr/>
        </p:nvSpPr>
        <p:spPr>
          <a:xfrm>
            <a:off x="1509382" y="8409214"/>
            <a:ext cx="9927772" cy="582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normAutofit fontScale="65000" lnSpcReduction="20000"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TW" altLang="en-US" sz="5500" b="0" i="0" u="none" strike="noStrike" cap="none" spc="0" normalizeH="0" baseline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FillTx/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" name="Picture 2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A55D88E1-189B-5F61-C596-55B97F597C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" t="7846" r="95" b="-109"/>
          <a:stretch>
            <a:fillRect/>
          </a:stretch>
        </p:blipFill>
        <p:spPr>
          <a:xfrm>
            <a:off x="710792" y="1986673"/>
            <a:ext cx="10602729" cy="7010735"/>
          </a:xfrm>
          <a:prstGeom prst="rect">
            <a:avLst/>
          </a:prstGeom>
        </p:spPr>
      </p:pic>
      <p:sp>
        <p:nvSpPr>
          <p:cNvPr id="7" name="Motivate your presentation on 3-10 slides…">
            <a:extLst>
              <a:ext uri="{FF2B5EF4-FFF2-40B4-BE49-F238E27FC236}">
                <a16:creationId xmlns:a16="http://schemas.microsoft.com/office/drawing/2014/main" id="{70FF6C00-A5B0-1A72-ABB3-ECC05C35BFF3}"/>
              </a:ext>
            </a:extLst>
          </p:cNvPr>
          <p:cNvSpPr txBox="1">
            <a:spLocks/>
          </p:cNvSpPr>
          <p:nvPr/>
        </p:nvSpPr>
        <p:spPr>
          <a:xfrm>
            <a:off x="713492" y="1373394"/>
            <a:ext cx="11467783" cy="622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spAutoFit/>
          </a:bodyPr>
          <a:lstStyle>
            <a:lvl1pPr marL="0" marR="0" indent="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indent="457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indent="685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indent="9144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indent="1143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indent="13716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indent="16002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indent="18288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solidFill>
                  <a:srgbClr val="D30F11"/>
                </a:solidFill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hangingPunct="1">
              <a:lnSpc>
                <a:spcPts val="4500"/>
              </a:lnSpc>
              <a:defRPr sz="3000">
                <a:solidFill>
                  <a:srgbClr val="5A5F5E"/>
                </a:solidFill>
              </a:defRPr>
            </a:pPr>
            <a:r>
              <a:rPr lang="en-US" altLang="zh-TW" sz="3000">
                <a:solidFill>
                  <a:srgbClr val="5A5F5E"/>
                </a:solidFill>
              </a:rPr>
              <a:t>LASSO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29179900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ACC0-BCFB-E1C3-92D9-1249A283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Map, Food, &amp; Smiles…">
            <a:extLst>
              <a:ext uri="{FF2B5EF4-FFF2-40B4-BE49-F238E27FC236}">
                <a16:creationId xmlns:a16="http://schemas.microsoft.com/office/drawing/2014/main" id="{2B67AB4B-60B4-95E1-54EB-EED4459CC00F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73350" y="2649953"/>
            <a:ext cx="10672979" cy="1760787"/>
          </a:xfrm>
          <a:prstGeom prst="rect">
            <a:avLst/>
          </a:prstGeom>
        </p:spPr>
        <p:txBody>
          <a:bodyPr lIns="50800" tIns="50800" rIns="50800" bIns="50800" anchor="t">
            <a:normAutofit fontScale="70000" lnSpcReduction="20000"/>
          </a:bodyPr>
          <a:lstStyle/>
          <a:p>
            <a:r>
              <a:rPr lang="en" altLang="zh-TW"/>
              <a:t>Imbalance-Aware Feature Selection and Machine</a:t>
            </a:r>
          </a:p>
          <a:p>
            <a:r>
              <a:rPr lang="en" altLang="zh-TW"/>
              <a:t>Learning for U.S. Corporate Bankruptcy Prediction</a:t>
            </a:r>
          </a:p>
          <a:p>
            <a:endParaRPr lang="en"/>
          </a:p>
        </p:txBody>
      </p:sp>
      <p:sp>
        <p:nvSpPr>
          <p:cNvPr id="52" name="Your name">
            <a:extLst>
              <a:ext uri="{FF2B5EF4-FFF2-40B4-BE49-F238E27FC236}">
                <a16:creationId xmlns:a16="http://schemas.microsoft.com/office/drawing/2014/main" id="{A404A760-2157-6530-BEB7-2A0BFED8C74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773350" y="4659408"/>
            <a:ext cx="9121764" cy="717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4" y="18306"/>
                  <a:pt x="5" y="15012"/>
                  <a:pt x="6" y="11718"/>
                </a:cubicBezTo>
                <a:cubicBezTo>
                  <a:pt x="6" y="7811"/>
                  <a:pt x="4" y="3905"/>
                  <a:pt x="0" y="0"/>
                </a:cubicBezTo>
                <a:close/>
              </a:path>
            </a:pathLst>
          </a:cu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>
            <a:normAutofit/>
          </a:bodyPr>
          <a:lstStyle/>
          <a:p>
            <a:r>
              <a:rPr lang="en"/>
              <a:t>Yun-Chen Li, Rou-Rou Yu, Yi-An Chen, Huei-Wen Tung</a:t>
            </a:r>
            <a:endParaRPr/>
          </a:p>
        </p:txBody>
      </p:sp>
      <p:sp>
        <p:nvSpPr>
          <p:cNvPr id="53" name="Your affiliation">
            <a:extLst>
              <a:ext uri="{FF2B5EF4-FFF2-40B4-BE49-F238E27FC236}">
                <a16:creationId xmlns:a16="http://schemas.microsoft.com/office/drawing/2014/main" id="{6EDF2D12-44C6-F68D-48AE-4867B1FB1641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4" y="18306"/>
                  <a:pt x="5" y="15012"/>
                  <a:pt x="6" y="11718"/>
                </a:cubicBezTo>
                <a:cubicBezTo>
                  <a:pt x="6" y="7811"/>
                  <a:pt x="4" y="3905"/>
                  <a:pt x="0" y="0"/>
                </a:cubicBezTo>
                <a:close/>
              </a:path>
            </a:pathLst>
          </a:cu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r>
              <a:t> </a:t>
            </a:r>
          </a:p>
        </p:txBody>
      </p:sp>
      <p:sp>
        <p:nvSpPr>
          <p:cNvPr id="54" name="20240419 TEN MFS.key">
            <a:extLst>
              <a:ext uri="{FF2B5EF4-FFF2-40B4-BE49-F238E27FC236}">
                <a16:creationId xmlns:a16="http://schemas.microsoft.com/office/drawing/2014/main" id="{8F407C30-8D85-61AA-1274-353A88F03891}"/>
              </a:ext>
            </a:extLst>
          </p:cNvPr>
          <p:cNvSpPr txBox="1"/>
          <p:nvPr/>
        </p:nvSpPr>
        <p:spPr>
          <a:xfrm>
            <a:off x="9519751" y="9237870"/>
            <a:ext cx="2134553" cy="32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>
            <a:normAutofit lnSpcReduction="10000"/>
          </a:bodyPr>
          <a:lstStyle>
            <a:lvl1pPr>
              <a:defRPr sz="1500"/>
            </a:lvl1pPr>
          </a:lstStyle>
          <a:p>
            <a:r>
              <a:rPr lang="da-DK"/>
              <a:t>20251013</a:t>
            </a:r>
            <a:r>
              <a:t> </a:t>
            </a:r>
            <a:r>
              <a:rPr lang="da-DK"/>
              <a:t>BP</a:t>
            </a:r>
            <a:r>
              <a:t>.key</a:t>
            </a:r>
          </a:p>
        </p:txBody>
      </p:sp>
    </p:spTree>
    <p:extLst>
      <p:ext uri="{BB962C8B-B14F-4D97-AF65-F5344CB8AC3E}">
        <p14:creationId xmlns:p14="http://schemas.microsoft.com/office/powerpoint/2010/main" val="252505830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norm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500" b="0" i="0" u="none" strike="noStrike" cap="none" spc="0" normalizeH="0" baseline="0">
            <a:ln>
              <a:noFill/>
            </a:ln>
            <a:solidFill>
              <a:srgbClr val="D30F11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自訂</PresentationFormat>
  <Slides>23</Slides>
  <Notes>2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4" baseType="lpstr">
      <vt:lpstr>Showroom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Hampus Fink Gärdström</dc:creator>
  <cp:revision>2</cp:revision>
  <dcterms:modified xsi:type="dcterms:W3CDTF">2025-12-08T01:23:19Z</dcterms:modified>
</cp:coreProperties>
</file>