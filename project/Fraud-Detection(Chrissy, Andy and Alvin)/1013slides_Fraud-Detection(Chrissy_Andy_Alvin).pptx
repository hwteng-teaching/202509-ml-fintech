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9753600" cx="13004800"/>
  <p:notesSz cx="6858000" cy="9144000"/>
  <p:embeddedFontLst>
    <p:embeddedFont>
      <p:font typeface="Helvetica Neue"/>
      <p:regular r:id="rId56"/>
      <p:bold r:id="rId57"/>
      <p:italic r:id="rId58"/>
      <p:boldItalic r:id="rId59"/>
    </p:embeddedFont>
    <p:embeddedFont>
      <p:font typeface="Helvetica Neue Light"/>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jbrR/foE3TnTvmdTCHY6oP0Japb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陳葳芃"/>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7A1B16-A7F4-4D7C-BB96-01B651C9B684}">
  <a:tblStyle styleId="{907A1B16-A7F4-4D7C-BB96-01B651C9B68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AE0FA90-5911-4907-B5CD-781FDEEBBC4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Light-italic.fntdata"/><Relationship Id="rId61" Type="http://schemas.openxmlformats.org/officeDocument/2006/relationships/font" Target="fonts/HelveticaNeueLight-bold.fntdata"/><Relationship Id="rId20" Type="http://schemas.openxmlformats.org/officeDocument/2006/relationships/slide" Target="slides/slide14.xml"/><Relationship Id="rId64" Type="http://customschemas.google.com/relationships/presentationmetadata" Target="metadata"/><Relationship Id="rId63" Type="http://schemas.openxmlformats.org/officeDocument/2006/relationships/font" Target="fonts/HelveticaNeueLight-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HelveticaNeueLight-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HelveticaNeue-bold.fntdata"/><Relationship Id="rId12" Type="http://schemas.openxmlformats.org/officeDocument/2006/relationships/slide" Target="slides/slide6.xml"/><Relationship Id="rId56" Type="http://schemas.openxmlformats.org/officeDocument/2006/relationships/font" Target="fonts/HelveticaNeue-regular.fntdata"/><Relationship Id="rId15" Type="http://schemas.openxmlformats.org/officeDocument/2006/relationships/slide" Target="slides/slide9.xml"/><Relationship Id="rId59" Type="http://schemas.openxmlformats.org/officeDocument/2006/relationships/font" Target="fonts/HelveticaNeue-boldItalic.fntdata"/><Relationship Id="rId14" Type="http://schemas.openxmlformats.org/officeDocument/2006/relationships/slide" Target="slides/slide8.xml"/><Relationship Id="rId58" Type="http://schemas.openxmlformats.org/officeDocument/2006/relationships/font" Target="fonts/HelveticaNeue-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0-09T10:19:13.085">
    <p:pos x="6000" y="0"/>
    <p:text>留下最後使用的variables</p:text>
    <p:extLst>
      <p:ext uri="{C676402C-5697-4E1C-873F-D02D1690AC5C}">
        <p15:threadingInfo timeZoneBias="0"/>
      </p:ext>
      <p:ext uri="http://customooxmlschemas.google.com/">
        <go:slidesCustomData xmlns:go="http://customooxmlschemas.google.com/" commentPostId="AAABsJ8Dt38"/>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25000"/>
              </a:lnSpc>
              <a:spcBef>
                <a:spcPts val="0"/>
              </a:spcBef>
              <a:spcAft>
                <a:spcPts val="0"/>
              </a:spcAft>
              <a:buSzPts val="1400"/>
              <a:buNone/>
              <a:defRPr b="0" i="0" sz="2400" u="none" cap="none" strike="noStrike">
                <a:latin typeface="Avenir"/>
                <a:ea typeface="Avenir"/>
                <a:cs typeface="Avenir"/>
                <a:sym typeface="Avenir"/>
              </a:defRPr>
            </a:lvl1pPr>
            <a:lvl2pPr indent="-228600" lvl="1" marL="914400" marR="0" rtl="0" algn="l">
              <a:lnSpc>
                <a:spcPct val="125000"/>
              </a:lnSpc>
              <a:spcBef>
                <a:spcPts val="0"/>
              </a:spcBef>
              <a:spcAft>
                <a:spcPts val="0"/>
              </a:spcAft>
              <a:buSzPts val="1400"/>
              <a:buNone/>
              <a:defRPr b="0" i="0" sz="2400" u="none" cap="none" strike="noStrike">
                <a:latin typeface="Avenir"/>
                <a:ea typeface="Avenir"/>
                <a:cs typeface="Avenir"/>
                <a:sym typeface="Avenir"/>
              </a:defRPr>
            </a:lvl2pPr>
            <a:lvl3pPr indent="-228600" lvl="2" marL="1371600" marR="0" rtl="0" algn="l">
              <a:lnSpc>
                <a:spcPct val="125000"/>
              </a:lnSpc>
              <a:spcBef>
                <a:spcPts val="0"/>
              </a:spcBef>
              <a:spcAft>
                <a:spcPts val="0"/>
              </a:spcAft>
              <a:buSzPts val="1400"/>
              <a:buNone/>
              <a:defRPr b="0" i="0" sz="2400" u="none" cap="none" strike="noStrike">
                <a:latin typeface="Avenir"/>
                <a:ea typeface="Avenir"/>
                <a:cs typeface="Avenir"/>
                <a:sym typeface="Avenir"/>
              </a:defRPr>
            </a:lvl3pPr>
            <a:lvl4pPr indent="-228600" lvl="3" marL="1828800" marR="0" rtl="0" algn="l">
              <a:lnSpc>
                <a:spcPct val="125000"/>
              </a:lnSpc>
              <a:spcBef>
                <a:spcPts val="0"/>
              </a:spcBef>
              <a:spcAft>
                <a:spcPts val="0"/>
              </a:spcAft>
              <a:buSzPts val="1400"/>
              <a:buNone/>
              <a:defRPr b="0" i="0" sz="2400" u="none" cap="none" strike="noStrike">
                <a:latin typeface="Avenir"/>
                <a:ea typeface="Avenir"/>
                <a:cs typeface="Avenir"/>
                <a:sym typeface="Avenir"/>
              </a:defRPr>
            </a:lvl4pPr>
            <a:lvl5pPr indent="-228600" lvl="4" marL="2286000" marR="0" rtl="0" algn="l">
              <a:lnSpc>
                <a:spcPct val="125000"/>
              </a:lnSpc>
              <a:spcBef>
                <a:spcPts val="0"/>
              </a:spcBef>
              <a:spcAft>
                <a:spcPts val="0"/>
              </a:spcAft>
              <a:buSzPts val="1400"/>
              <a:buNone/>
              <a:defRPr b="0" i="0" sz="2400" u="none" cap="none" strike="noStrike">
                <a:latin typeface="Avenir"/>
                <a:ea typeface="Avenir"/>
                <a:cs typeface="Avenir"/>
                <a:sym typeface="Avenir"/>
              </a:defRPr>
            </a:lvl5pPr>
            <a:lvl6pPr indent="-228600" lvl="5" marL="2743200" marR="0" rtl="0" algn="l">
              <a:lnSpc>
                <a:spcPct val="125000"/>
              </a:lnSpc>
              <a:spcBef>
                <a:spcPts val="0"/>
              </a:spcBef>
              <a:spcAft>
                <a:spcPts val="0"/>
              </a:spcAft>
              <a:buSzPts val="1400"/>
              <a:buNone/>
              <a:defRPr b="0" i="0" sz="2400" u="none" cap="none" strike="noStrike">
                <a:latin typeface="Avenir"/>
                <a:ea typeface="Avenir"/>
                <a:cs typeface="Avenir"/>
                <a:sym typeface="Avenir"/>
              </a:defRPr>
            </a:lvl6pPr>
            <a:lvl7pPr indent="-228600" lvl="6" marL="3200400" marR="0" rtl="0" algn="l">
              <a:lnSpc>
                <a:spcPct val="125000"/>
              </a:lnSpc>
              <a:spcBef>
                <a:spcPts val="0"/>
              </a:spcBef>
              <a:spcAft>
                <a:spcPts val="0"/>
              </a:spcAft>
              <a:buSzPts val="1400"/>
              <a:buNone/>
              <a:defRPr b="0" i="0" sz="2400" u="none" cap="none" strike="noStrike">
                <a:latin typeface="Avenir"/>
                <a:ea typeface="Avenir"/>
                <a:cs typeface="Avenir"/>
                <a:sym typeface="Avenir"/>
              </a:defRPr>
            </a:lvl7pPr>
            <a:lvl8pPr indent="-228600" lvl="7" marL="3657600" marR="0" rtl="0" algn="l">
              <a:lnSpc>
                <a:spcPct val="125000"/>
              </a:lnSpc>
              <a:spcBef>
                <a:spcPts val="0"/>
              </a:spcBef>
              <a:spcAft>
                <a:spcPts val="0"/>
              </a:spcAft>
              <a:buSzPts val="1400"/>
              <a:buNone/>
              <a:defRPr b="0" i="0" sz="2400" u="none" cap="none" strike="noStrike">
                <a:latin typeface="Avenir"/>
                <a:ea typeface="Avenir"/>
                <a:cs typeface="Avenir"/>
                <a:sym typeface="Avenir"/>
              </a:defRPr>
            </a:lvl8pPr>
            <a:lvl9pPr indent="-228600" lvl="8" marL="4114800" marR="0" rtl="0" algn="l">
              <a:lnSpc>
                <a:spcPct val="125000"/>
              </a:lnSpc>
              <a:spcBef>
                <a:spcPts val="0"/>
              </a:spcBef>
              <a:spcAft>
                <a:spcPts val="0"/>
              </a:spcAft>
              <a:buSzPts val="1400"/>
              <a:buNone/>
              <a:defRPr b="0" i="0" sz="2400" u="none" cap="none" strike="noStrike">
                <a:latin typeface="Avenir"/>
                <a:ea typeface="Avenir"/>
                <a:cs typeface="Avenir"/>
                <a:sym typeface="Avenir"/>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 name="Google Shape;44;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rPr lang="en-US"/>
              <a:t>Let’s start with why this topic is important.</a:t>
            </a:r>
            <a:br>
              <a:rPr lang="en-US"/>
            </a:br>
            <a:r>
              <a:rPr lang="en-US"/>
              <a:t>In recent years, fraud losses have posed serious challenges across various regions. </a:t>
            </a:r>
            <a:endParaRPr/>
          </a:p>
          <a:p>
            <a:pPr indent="0" lvl="0" marL="0" marR="0" rtl="0" algn="l">
              <a:lnSpc>
                <a:spcPct val="125000"/>
              </a:lnSpc>
              <a:spcBef>
                <a:spcPts val="0"/>
              </a:spcBef>
              <a:spcAft>
                <a:spcPts val="0"/>
              </a:spcAft>
              <a:buSzPts val="2400"/>
              <a:buFont typeface="Avenir"/>
              <a:buNone/>
            </a:pPr>
            <a:r>
              <a:rPr lang="en-US"/>
              <a:t>In Taiwan specifically, both the number of cases and the total amount of losses have increased year by year and we reached 110 million US dollars in 2023,  which is the highest in the past decade.</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8f1a016ca8_0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8f1a016ca8_0_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rPr lang="en-US"/>
              <a:t>Let’s start with why this topic is important.</a:t>
            </a:r>
            <a:br>
              <a:rPr lang="en-US"/>
            </a:br>
            <a:r>
              <a:rPr lang="en-US"/>
              <a:t>In recent years, fraud losses have posed serious challenges across various regions. </a:t>
            </a:r>
            <a:endParaRPr/>
          </a:p>
          <a:p>
            <a:pPr indent="0" lvl="0" marL="0" marR="0" rtl="0" algn="l">
              <a:lnSpc>
                <a:spcPct val="125000"/>
              </a:lnSpc>
              <a:spcBef>
                <a:spcPts val="0"/>
              </a:spcBef>
              <a:spcAft>
                <a:spcPts val="0"/>
              </a:spcAft>
              <a:buSzPts val="2400"/>
              <a:buFont typeface="Avenir"/>
              <a:buNone/>
            </a:pPr>
            <a:r>
              <a:rPr lang="en-US"/>
              <a:t>In Taiwan specifically, both the number of cases and the total amount of losses have increased year by year and we reached 110 million US dollars in 2023,  which is the highest in the past decade.</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a13136ea8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8a13136ea8_0_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8a13136ea8_2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g38a13136ea8_2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rPr lang="en-US"/>
              <a:t>Let’s start with why this topic is important.</a:t>
            </a:r>
            <a:br>
              <a:rPr lang="en-US"/>
            </a:br>
            <a:r>
              <a:rPr lang="en-US"/>
              <a:t>In recent years, fraud losses have posed serious challenges across various regions. </a:t>
            </a:r>
            <a:endParaRPr/>
          </a:p>
          <a:p>
            <a:pPr indent="0" lvl="0" marL="0" marR="0" rtl="0" algn="l">
              <a:lnSpc>
                <a:spcPct val="125000"/>
              </a:lnSpc>
              <a:spcBef>
                <a:spcPts val="0"/>
              </a:spcBef>
              <a:spcAft>
                <a:spcPts val="0"/>
              </a:spcAft>
              <a:buSzPts val="2400"/>
              <a:buFont typeface="Avenir"/>
              <a:buNone/>
            </a:pPr>
            <a:r>
              <a:rPr lang="en-US"/>
              <a:t>In Taiwan specifically, both the number of cases and the total amount of losses have increased year by year and we reached 110 million US dollars in 2023,  which is the highest in the past decade.</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af740ff7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g38af740ff76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a13136ea8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a13136ea8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91d88df84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891d88df84_0_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5acfb22e7_1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g385acfb22e7_1_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5acfb22e7_1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g385acfb22e7_1_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5acfb22e7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g385acfb22e7_1_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5acfb22e7_1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385acfb22e7_1_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beb34be7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8beb34be7a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5acfb22e7_1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g385acfb22e7_1_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89d7be5379_3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g389d7be5379_3_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9d7be5379_5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89d7be5379_5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9d7be5379_5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g389d7be5379_5_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89d7be5379_5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g389d7be5379_5_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9d7be5379_5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g389d7be5379_5_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9d7be5379_5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g389d7be5379_5_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a0dc5367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38a0dc5367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9d7be5379_5_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g389d7be5379_5_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89d7be5379_5_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g389d7be5379_5_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8a05f03469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g38a05f03469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8f1a016ca8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g38f1a016ca8_0_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8a05f03469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g38a05f03469_0_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5da086721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385da086721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5da086721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g385da086721_0_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85da086721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g385da086721_0_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a0dc53679_0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g38a0dc53679_0_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8a0dc53679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g38a0dc53679_0_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8a0dc53679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g38a0dc53679_0_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85deb733bc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g385deb733bc_0_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8f1a016ca8_0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g38f1a016ca8_0_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8b22d785db_0_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g38b22d785db_0_1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9d0f2d245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g389d0f2d245_0_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89d0f2d245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g389d0f2d245_0_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85deb733bc_0_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g385deb733bc_0_10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89d7be5379_4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g389d7be5379_4_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85deb733bc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g385deb733bc_0_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85deb733bc_0_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g385deb733bc_0_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8b22d785db_0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g38b22d785db_0_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85deb733bc_0_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g385deb733bc_0_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8b22d785db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g38b22d785db_0_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8f1a016ca8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g38f1a016ca8_0_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89d7be5379_4_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g389d7be5379_4_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8f1a016ca8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g38f1a016ca8_0_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SzPts val="2400"/>
              <a:buFont typeface="Avenir"/>
              <a:buNone/>
            </a:pPr>
            <a:r>
              <a:t/>
            </a:r>
            <a:endParaRPr b="0" i="0" sz="2400" u="none" cap="none" strike="noStrike">
              <a:solidFill>
                <a:schemeClr val="lt2"/>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copy" type="title">
  <p:cSld name="TITLE">
    <p:spTree>
      <p:nvGrpSpPr>
        <p:cNvPr id="8" name="Shape 8"/>
        <p:cNvGrpSpPr/>
        <p:nvPr/>
      </p:nvGrpSpPr>
      <p:grpSpPr>
        <a:xfrm>
          <a:off x="0" y="0"/>
          <a:ext cx="0" cy="0"/>
          <a:chOff x="0" y="0"/>
          <a:chExt cx="0" cy="0"/>
        </a:xfrm>
      </p:grpSpPr>
      <p:sp>
        <p:nvSpPr>
          <p:cNvPr id="9" name="Google Shape;9;p8"/>
          <p:cNvSpPr txBox="1"/>
          <p:nvPr>
            <p:ph idx="1" type="body"/>
          </p:nvPr>
        </p:nvSpPr>
        <p:spPr>
          <a:xfrm>
            <a:off x="773350" y="2345153"/>
            <a:ext cx="11458100" cy="17607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2"/>
              </a:buClr>
              <a:buSzPts val="5500"/>
              <a:buFont typeface="Helvetica Neue Light"/>
              <a:buNone/>
              <a:defRPr b="0" i="0" sz="5500" u="none" cap="none" strike="noStrike">
                <a:solidFill>
                  <a:schemeClr val="dk2"/>
                </a:solidFill>
                <a:latin typeface="Helvetica Neue Light"/>
                <a:ea typeface="Helvetica Neue Light"/>
                <a:cs typeface="Helvetica Neue Light"/>
                <a:sym typeface="Helvetica Neue Light"/>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sp>
        <p:nvSpPr>
          <p:cNvPr id="10" name="Google Shape;10;p8"/>
          <p:cNvSpPr txBox="1"/>
          <p:nvPr>
            <p:ph idx="12" type="sldNum"/>
          </p:nvPr>
        </p:nvSpPr>
        <p:spPr>
          <a:xfrm>
            <a:off x="6325920" y="9271000"/>
            <a:ext cx="340260" cy="324511"/>
          </a:xfrm>
          <a:prstGeom prst="rect">
            <a:avLst/>
          </a:prstGeom>
          <a:noFill/>
          <a:ln>
            <a:noFill/>
          </a:ln>
        </p:spPr>
        <p:txBody>
          <a:bodyPr anchorCtr="0" anchor="t" bIns="50800" lIns="50800" spcFirstLastPara="1" rIns="50800" wrap="square" tIns="50800">
            <a:normAutofit/>
          </a:bodyPr>
          <a:lstStyle>
            <a:lvl1pPr indent="0" lvl="0"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1pPr>
            <a:lvl2pPr indent="0" lvl="1"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2pPr>
            <a:lvl3pPr indent="0" lvl="2"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3pPr>
            <a:lvl4pPr indent="0" lvl="3"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4pPr>
            <a:lvl5pPr indent="0" lvl="4"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5pPr>
            <a:lvl6pPr indent="0" lvl="5"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6pPr>
            <a:lvl7pPr indent="0" lvl="6"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7pPr>
            <a:lvl8pPr indent="0" lvl="7"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8pPr>
            <a:lvl9pPr indent="0" lvl="8" marL="0" algn="ctr">
              <a:lnSpc>
                <a:spcPct val="100000"/>
              </a:lnSpc>
              <a:spcBef>
                <a:spcPts val="0"/>
              </a:spcBef>
              <a:spcAft>
                <a:spcPts val="0"/>
              </a:spcAft>
              <a:buClr>
                <a:srgbClr val="535353"/>
              </a:buClr>
              <a:buSzPts val="1600"/>
              <a:buFont typeface="Helvetica Neue"/>
              <a:buNone/>
              <a:defRPr sz="1600">
                <a:solidFill>
                  <a:srgbClr val="535353"/>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ine" showMasterSp="0">
  <p:cSld name="Outline">
    <p:bg>
      <p:bgPr>
        <a:noFill/>
      </p:bgPr>
    </p:bg>
    <p:spTree>
      <p:nvGrpSpPr>
        <p:cNvPr id="11" name="Shape 11"/>
        <p:cNvGrpSpPr/>
        <p:nvPr/>
      </p:nvGrpSpPr>
      <p:grpSpPr>
        <a:xfrm>
          <a:off x="0" y="0"/>
          <a:ext cx="0" cy="0"/>
          <a:chOff x="0" y="0"/>
          <a:chExt cx="0" cy="0"/>
        </a:xfrm>
      </p:grpSpPr>
      <p:sp>
        <p:nvSpPr>
          <p:cNvPr id="12" name="Google Shape;12;p9"/>
          <p:cNvSpPr txBox="1"/>
          <p:nvPr>
            <p:ph idx="1" type="body"/>
          </p:nvPr>
        </p:nvSpPr>
        <p:spPr>
          <a:xfrm>
            <a:off x="768509" y="9159279"/>
            <a:ext cx="5733892" cy="399033"/>
          </a:xfrm>
          <a:prstGeom prst="rect">
            <a:avLst/>
          </a:prstGeom>
          <a:noFill/>
          <a:ln>
            <a:noFill/>
          </a:ln>
        </p:spPr>
        <p:txBody>
          <a:bodyPr anchorCtr="0" anchor="b" bIns="45700" lIns="91425" spcFirstLastPara="1" rIns="91425" wrap="square" tIns="45700">
            <a:spAutoFit/>
          </a:bodyPr>
          <a:lstStyle>
            <a:lvl1pPr indent="-228600" lvl="0" marL="457200" marR="0" rtl="0" algn="l">
              <a:lnSpc>
                <a:spcPct val="100000"/>
              </a:lnSpc>
              <a:spcBef>
                <a:spcPts val="1200"/>
              </a:spcBef>
              <a:spcAft>
                <a:spcPts val="0"/>
              </a:spcAft>
              <a:buClr>
                <a:srgbClr val="5A5F5E"/>
              </a:buClr>
              <a:buSzPts val="2000"/>
              <a:buFont typeface="Helvetica Neue Light"/>
              <a:buNone/>
              <a:defRPr b="0" i="0" sz="2000" u="none" cap="none" strike="noStrike">
                <a:solidFill>
                  <a:srgbClr val="5A5F5E"/>
                </a:solidFill>
                <a:latin typeface="Helvetica Neue Light"/>
                <a:ea typeface="Helvetica Neue Light"/>
                <a:cs typeface="Helvetica Neue Light"/>
                <a:sym typeface="Helvetica Neue Light"/>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sp>
        <p:nvSpPr>
          <p:cNvPr id="13" name="Google Shape;13;p9"/>
          <p:cNvSpPr txBox="1"/>
          <p:nvPr/>
        </p:nvSpPr>
        <p:spPr>
          <a:xfrm>
            <a:off x="762000" y="762000"/>
            <a:ext cx="11467783" cy="609855"/>
          </a:xfrm>
          <a:prstGeom prst="rect">
            <a:avLst/>
          </a:prstGeom>
          <a:noFill/>
          <a:ln>
            <a:noFill/>
          </a:ln>
        </p:spPr>
        <p:txBody>
          <a:bodyPr anchorCtr="0" anchor="t" bIns="50800" lIns="50800" spcFirstLastPara="1" rIns="50800" wrap="square" tIns="50800">
            <a:normAutofit lnSpcReduction="10000"/>
          </a:bodyPr>
          <a:lstStyle/>
          <a:p>
            <a:pPr indent="0" lvl="0" marL="0" marR="0" rtl="0" algn="l">
              <a:lnSpc>
                <a:spcPct val="100000"/>
              </a:lnSpc>
              <a:spcBef>
                <a:spcPts val="0"/>
              </a:spcBef>
              <a:spcAft>
                <a:spcPts val="0"/>
              </a:spcAft>
              <a:buClr>
                <a:srgbClr val="D30F11"/>
              </a:buClr>
              <a:buSzPts val="3600"/>
              <a:buFont typeface="Helvetica Neue"/>
              <a:buNone/>
            </a:pPr>
            <a:r>
              <a:rPr b="0" i="0" lang="en-US" sz="3600" u="none" cap="none" strike="noStrike">
                <a:solidFill>
                  <a:srgbClr val="D30F11"/>
                </a:solidFill>
                <a:latin typeface="Helvetica Neue"/>
                <a:ea typeface="Helvetica Neue"/>
                <a:cs typeface="Helvetica Neue"/>
                <a:sym typeface="Helvetica Neue"/>
              </a:rPr>
              <a:t>Outline</a:t>
            </a:r>
            <a:endParaRPr/>
          </a:p>
        </p:txBody>
      </p:sp>
      <p:sp>
        <p:nvSpPr>
          <p:cNvPr id="14" name="Google Shape;14;p9"/>
          <p:cNvSpPr txBox="1"/>
          <p:nvPr>
            <p:ph idx="2" type="body"/>
          </p:nvPr>
        </p:nvSpPr>
        <p:spPr>
          <a:xfrm>
            <a:off x="761999" y="1581811"/>
            <a:ext cx="11467783" cy="63500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100000"/>
              </a:lnSpc>
              <a:spcBef>
                <a:spcPts val="0"/>
              </a:spcBef>
              <a:spcAft>
                <a:spcPts val="0"/>
              </a:spcAft>
              <a:buClr>
                <a:schemeClr val="dk2"/>
              </a:buClr>
              <a:buSzPts val="3000"/>
              <a:buFont typeface="Helvetica Neue Light"/>
              <a:buNone/>
              <a:defRPr b="0" i="0" sz="3000" u="none" cap="none" strike="noStrike">
                <a:solidFill>
                  <a:schemeClr val="dk2"/>
                </a:solidFill>
                <a:latin typeface="Helvetica Neue Light"/>
                <a:ea typeface="Helvetica Neue Light"/>
                <a:cs typeface="Helvetica Neue Light"/>
                <a:sym typeface="Helvetica Neue Light"/>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cxnSp>
        <p:nvCxnSpPr>
          <p:cNvPr id="15" name="Google Shape;15;p9"/>
          <p:cNvCxnSpPr/>
          <p:nvPr/>
        </p:nvCxnSpPr>
        <p:spPr>
          <a:xfrm>
            <a:off x="700892" y="9159279"/>
            <a:ext cx="10543492" cy="1"/>
          </a:xfrm>
          <a:prstGeom prst="straightConnector1">
            <a:avLst/>
          </a:prstGeom>
          <a:noFill/>
          <a:ln cap="flat" cmpd="sng" w="25400">
            <a:solidFill>
              <a:srgbClr val="5A5F5E">
                <a:alpha val="15686"/>
              </a:srgbClr>
            </a:solidFill>
            <a:prstDash val="solid"/>
            <a:miter lim="400000"/>
            <a:headEnd len="sm" w="sm" type="none"/>
            <a:tailEnd len="sm" w="sm" type="none"/>
          </a:ln>
        </p:spPr>
      </p:cxnSp>
      <p:pic>
        <p:nvPicPr>
          <p:cNvPr descr="norm_quant.jpg" id="16" name="Google Shape;16;p9"/>
          <p:cNvPicPr preferRelativeResize="0"/>
          <p:nvPr/>
        </p:nvPicPr>
        <p:blipFill rotWithShape="1">
          <a:blip r:embed="rId2">
            <a:alphaModFix/>
          </a:blip>
          <a:srcRect b="13992" l="7684" r="6266" t="12299"/>
          <a:stretch/>
        </p:blipFill>
        <p:spPr>
          <a:xfrm>
            <a:off x="11456784" y="8603504"/>
            <a:ext cx="1259216" cy="763127"/>
          </a:xfrm>
          <a:custGeom>
            <a:rect b="b" l="l" r="r" t="t"/>
            <a:pathLst>
              <a:path extrusionOk="0" h="21575" w="21588">
                <a:moveTo>
                  <a:pt x="10967" y="0"/>
                </a:moveTo>
                <a:cubicBezTo>
                  <a:pt x="10620" y="33"/>
                  <a:pt x="10344" y="274"/>
                  <a:pt x="10014" y="819"/>
                </a:cubicBezTo>
                <a:cubicBezTo>
                  <a:pt x="9987" y="865"/>
                  <a:pt x="9960" y="917"/>
                  <a:pt x="9933" y="965"/>
                </a:cubicBezTo>
                <a:cubicBezTo>
                  <a:pt x="9318" y="2043"/>
                  <a:pt x="8762" y="3752"/>
                  <a:pt x="7544" y="8281"/>
                </a:cubicBezTo>
                <a:cubicBezTo>
                  <a:pt x="7443" y="8658"/>
                  <a:pt x="7392" y="8837"/>
                  <a:pt x="7306" y="9156"/>
                </a:cubicBezTo>
                <a:cubicBezTo>
                  <a:pt x="7307" y="9189"/>
                  <a:pt x="7299" y="9214"/>
                  <a:pt x="7286" y="9223"/>
                </a:cubicBezTo>
                <a:cubicBezTo>
                  <a:pt x="7153" y="9714"/>
                  <a:pt x="7023" y="10202"/>
                  <a:pt x="6918" y="10581"/>
                </a:cubicBezTo>
                <a:cubicBezTo>
                  <a:pt x="6916" y="10589"/>
                  <a:pt x="6915" y="10608"/>
                  <a:pt x="6912" y="10614"/>
                </a:cubicBezTo>
                <a:cubicBezTo>
                  <a:pt x="6699" y="11385"/>
                  <a:pt x="6514" y="12030"/>
                  <a:pt x="6354" y="12567"/>
                </a:cubicBezTo>
                <a:cubicBezTo>
                  <a:pt x="6353" y="12580"/>
                  <a:pt x="6344" y="12593"/>
                  <a:pt x="6340" y="12600"/>
                </a:cubicBezTo>
                <a:cubicBezTo>
                  <a:pt x="6308" y="12707"/>
                  <a:pt x="6270" y="12843"/>
                  <a:pt x="6238" y="12948"/>
                </a:cubicBezTo>
                <a:cubicBezTo>
                  <a:pt x="6194" y="13093"/>
                  <a:pt x="6152" y="13213"/>
                  <a:pt x="6109" y="13352"/>
                </a:cubicBezTo>
                <a:cubicBezTo>
                  <a:pt x="6109" y="13372"/>
                  <a:pt x="6110" y="13379"/>
                  <a:pt x="6102" y="13386"/>
                </a:cubicBezTo>
                <a:cubicBezTo>
                  <a:pt x="6074" y="13476"/>
                  <a:pt x="6041" y="13567"/>
                  <a:pt x="6013" y="13655"/>
                </a:cubicBezTo>
                <a:cubicBezTo>
                  <a:pt x="6009" y="13667"/>
                  <a:pt x="6011" y="13664"/>
                  <a:pt x="6007" y="13678"/>
                </a:cubicBezTo>
                <a:cubicBezTo>
                  <a:pt x="6005" y="13683"/>
                  <a:pt x="6002" y="13684"/>
                  <a:pt x="6000" y="13689"/>
                </a:cubicBezTo>
                <a:cubicBezTo>
                  <a:pt x="5386" y="15618"/>
                  <a:pt x="4805" y="17096"/>
                  <a:pt x="4197" y="18177"/>
                </a:cubicBezTo>
                <a:cubicBezTo>
                  <a:pt x="4193" y="18190"/>
                  <a:pt x="4197" y="18196"/>
                  <a:pt x="4190" y="18211"/>
                </a:cubicBezTo>
                <a:cubicBezTo>
                  <a:pt x="4177" y="18236"/>
                  <a:pt x="4160" y="18264"/>
                  <a:pt x="4142" y="18278"/>
                </a:cubicBezTo>
                <a:cubicBezTo>
                  <a:pt x="4111" y="18331"/>
                  <a:pt x="4078" y="18383"/>
                  <a:pt x="4047" y="18435"/>
                </a:cubicBezTo>
                <a:cubicBezTo>
                  <a:pt x="4033" y="18470"/>
                  <a:pt x="4019" y="18495"/>
                  <a:pt x="3999" y="18525"/>
                </a:cubicBezTo>
                <a:cubicBezTo>
                  <a:pt x="3988" y="18543"/>
                  <a:pt x="3981" y="18547"/>
                  <a:pt x="3972" y="18558"/>
                </a:cubicBezTo>
                <a:cubicBezTo>
                  <a:pt x="3371" y="19526"/>
                  <a:pt x="2740" y="20155"/>
                  <a:pt x="2013" y="20556"/>
                </a:cubicBezTo>
                <a:cubicBezTo>
                  <a:pt x="1944" y="20594"/>
                  <a:pt x="1865" y="20631"/>
                  <a:pt x="1788" y="20668"/>
                </a:cubicBezTo>
                <a:cubicBezTo>
                  <a:pt x="1784" y="20671"/>
                  <a:pt x="1777" y="20679"/>
                  <a:pt x="1775" y="20679"/>
                </a:cubicBezTo>
                <a:cubicBezTo>
                  <a:pt x="1442" y="20836"/>
                  <a:pt x="1063" y="20965"/>
                  <a:pt x="795" y="21016"/>
                </a:cubicBezTo>
                <a:cubicBezTo>
                  <a:pt x="633" y="21046"/>
                  <a:pt x="600" y="21072"/>
                  <a:pt x="577" y="21173"/>
                </a:cubicBezTo>
                <a:cubicBezTo>
                  <a:pt x="551" y="21285"/>
                  <a:pt x="537" y="21296"/>
                  <a:pt x="284" y="21296"/>
                </a:cubicBezTo>
                <a:cubicBezTo>
                  <a:pt x="56" y="21296"/>
                  <a:pt x="17" y="21301"/>
                  <a:pt x="5" y="21375"/>
                </a:cubicBezTo>
                <a:cubicBezTo>
                  <a:pt x="-2" y="21422"/>
                  <a:pt x="-1" y="21487"/>
                  <a:pt x="5" y="21521"/>
                </a:cubicBezTo>
                <a:cubicBezTo>
                  <a:pt x="22" y="21600"/>
                  <a:pt x="21568" y="21589"/>
                  <a:pt x="21561" y="21509"/>
                </a:cubicBezTo>
                <a:cubicBezTo>
                  <a:pt x="21558" y="21482"/>
                  <a:pt x="21567" y="21428"/>
                  <a:pt x="21581" y="21386"/>
                </a:cubicBezTo>
                <a:cubicBezTo>
                  <a:pt x="21598" y="21334"/>
                  <a:pt x="21584" y="21269"/>
                  <a:pt x="21540" y="21184"/>
                </a:cubicBezTo>
                <a:cubicBezTo>
                  <a:pt x="21484" y="21076"/>
                  <a:pt x="21424" y="21043"/>
                  <a:pt x="21146" y="20971"/>
                </a:cubicBezTo>
                <a:cubicBezTo>
                  <a:pt x="21141" y="20972"/>
                  <a:pt x="21142" y="20972"/>
                  <a:pt x="21139" y="20971"/>
                </a:cubicBezTo>
                <a:cubicBezTo>
                  <a:pt x="21006" y="20936"/>
                  <a:pt x="20876" y="20891"/>
                  <a:pt x="20751" y="20847"/>
                </a:cubicBezTo>
                <a:cubicBezTo>
                  <a:pt x="20709" y="20840"/>
                  <a:pt x="20670" y="20832"/>
                  <a:pt x="20656" y="20814"/>
                </a:cubicBezTo>
                <a:cubicBezTo>
                  <a:pt x="20474" y="20746"/>
                  <a:pt x="20298" y="20667"/>
                  <a:pt x="20132" y="20578"/>
                </a:cubicBezTo>
                <a:cubicBezTo>
                  <a:pt x="20125" y="20578"/>
                  <a:pt x="20118" y="20574"/>
                  <a:pt x="20111" y="20567"/>
                </a:cubicBezTo>
                <a:cubicBezTo>
                  <a:pt x="19679" y="20332"/>
                  <a:pt x="19291" y="20019"/>
                  <a:pt x="18928" y="19613"/>
                </a:cubicBezTo>
                <a:cubicBezTo>
                  <a:pt x="18919" y="19605"/>
                  <a:pt x="18916" y="19600"/>
                  <a:pt x="18907" y="19591"/>
                </a:cubicBezTo>
                <a:cubicBezTo>
                  <a:pt x="18900" y="19583"/>
                  <a:pt x="18893" y="19576"/>
                  <a:pt x="18887" y="19568"/>
                </a:cubicBezTo>
                <a:cubicBezTo>
                  <a:pt x="18830" y="19503"/>
                  <a:pt x="18779" y="19436"/>
                  <a:pt x="18723" y="19366"/>
                </a:cubicBezTo>
                <a:cubicBezTo>
                  <a:pt x="18720" y="19367"/>
                  <a:pt x="18714" y="19365"/>
                  <a:pt x="18710" y="19366"/>
                </a:cubicBezTo>
                <a:cubicBezTo>
                  <a:pt x="18686" y="19371"/>
                  <a:pt x="18627" y="19281"/>
                  <a:pt x="18587" y="19198"/>
                </a:cubicBezTo>
                <a:cubicBezTo>
                  <a:pt x="18510" y="19095"/>
                  <a:pt x="18432" y="18985"/>
                  <a:pt x="18356" y="18873"/>
                </a:cubicBezTo>
                <a:cubicBezTo>
                  <a:pt x="18353" y="18871"/>
                  <a:pt x="18351" y="18864"/>
                  <a:pt x="18349" y="18861"/>
                </a:cubicBezTo>
                <a:cubicBezTo>
                  <a:pt x="18294" y="18780"/>
                  <a:pt x="18240" y="18702"/>
                  <a:pt x="18186" y="18614"/>
                </a:cubicBezTo>
                <a:cubicBezTo>
                  <a:pt x="17775" y="17959"/>
                  <a:pt x="17463" y="17349"/>
                  <a:pt x="17104" y="16483"/>
                </a:cubicBezTo>
                <a:cubicBezTo>
                  <a:pt x="17087" y="16455"/>
                  <a:pt x="17076" y="16412"/>
                  <a:pt x="17063" y="16370"/>
                </a:cubicBezTo>
                <a:cubicBezTo>
                  <a:pt x="17061" y="16363"/>
                  <a:pt x="17058" y="16366"/>
                  <a:pt x="17056" y="16359"/>
                </a:cubicBezTo>
                <a:cubicBezTo>
                  <a:pt x="17037" y="16312"/>
                  <a:pt x="17022" y="16274"/>
                  <a:pt x="17002" y="16225"/>
                </a:cubicBezTo>
                <a:cubicBezTo>
                  <a:pt x="16863" y="15881"/>
                  <a:pt x="16729" y="15535"/>
                  <a:pt x="16601" y="15181"/>
                </a:cubicBezTo>
                <a:cubicBezTo>
                  <a:pt x="16592" y="15163"/>
                  <a:pt x="16592" y="15152"/>
                  <a:pt x="16587" y="15136"/>
                </a:cubicBezTo>
                <a:cubicBezTo>
                  <a:pt x="16315" y="14383"/>
                  <a:pt x="16029" y="13464"/>
                  <a:pt x="15696" y="12320"/>
                </a:cubicBezTo>
                <a:cubicBezTo>
                  <a:pt x="15679" y="12291"/>
                  <a:pt x="15664" y="12242"/>
                  <a:pt x="15648" y="12163"/>
                </a:cubicBezTo>
                <a:cubicBezTo>
                  <a:pt x="15514" y="11699"/>
                  <a:pt x="15366" y="11192"/>
                  <a:pt x="15206" y="10614"/>
                </a:cubicBezTo>
                <a:cubicBezTo>
                  <a:pt x="15192" y="10579"/>
                  <a:pt x="15181" y="10530"/>
                  <a:pt x="15172" y="10480"/>
                </a:cubicBezTo>
                <a:cubicBezTo>
                  <a:pt x="15085" y="10167"/>
                  <a:pt x="14989" y="9822"/>
                  <a:pt x="14893" y="9470"/>
                </a:cubicBezTo>
                <a:cubicBezTo>
                  <a:pt x="14885" y="9463"/>
                  <a:pt x="14879" y="9447"/>
                  <a:pt x="14879" y="9425"/>
                </a:cubicBezTo>
                <a:cubicBezTo>
                  <a:pt x="14786" y="9084"/>
                  <a:pt x="14717" y="8830"/>
                  <a:pt x="14614" y="8449"/>
                </a:cubicBezTo>
                <a:cubicBezTo>
                  <a:pt x="14560" y="8250"/>
                  <a:pt x="14541" y="8183"/>
                  <a:pt x="14491" y="8000"/>
                </a:cubicBezTo>
                <a:cubicBezTo>
                  <a:pt x="13853" y="5643"/>
                  <a:pt x="13510" y="4430"/>
                  <a:pt x="13233" y="3579"/>
                </a:cubicBezTo>
                <a:cubicBezTo>
                  <a:pt x="12600" y="1643"/>
                  <a:pt x="12102" y="617"/>
                  <a:pt x="11593" y="202"/>
                </a:cubicBezTo>
                <a:cubicBezTo>
                  <a:pt x="11414" y="56"/>
                  <a:pt x="11335" y="16"/>
                  <a:pt x="11157" y="0"/>
                </a:cubicBezTo>
                <a:lnTo>
                  <a:pt x="11008" y="0"/>
                </a:lnTo>
                <a:lnTo>
                  <a:pt x="10967" y="0"/>
                </a:lnTo>
                <a:close/>
                <a:moveTo>
                  <a:pt x="16988" y="17190"/>
                </a:moveTo>
                <a:cubicBezTo>
                  <a:pt x="17071" y="17171"/>
                  <a:pt x="17192" y="17226"/>
                  <a:pt x="17192" y="17313"/>
                </a:cubicBezTo>
                <a:cubicBezTo>
                  <a:pt x="17192" y="17341"/>
                  <a:pt x="17221" y="17424"/>
                  <a:pt x="17254" y="17492"/>
                </a:cubicBezTo>
                <a:cubicBezTo>
                  <a:pt x="17286" y="17561"/>
                  <a:pt x="17304" y="17636"/>
                  <a:pt x="17295" y="17661"/>
                </a:cubicBezTo>
                <a:cubicBezTo>
                  <a:pt x="17285" y="17685"/>
                  <a:pt x="17273" y="17771"/>
                  <a:pt x="17267" y="17852"/>
                </a:cubicBezTo>
                <a:cubicBezTo>
                  <a:pt x="17255" y="18013"/>
                  <a:pt x="17313" y="18045"/>
                  <a:pt x="17376" y="17919"/>
                </a:cubicBezTo>
                <a:cubicBezTo>
                  <a:pt x="17419" y="17833"/>
                  <a:pt x="17474" y="17875"/>
                  <a:pt x="17451" y="17975"/>
                </a:cubicBezTo>
                <a:cubicBezTo>
                  <a:pt x="17441" y="18018"/>
                  <a:pt x="17458" y="18042"/>
                  <a:pt x="17492" y="18042"/>
                </a:cubicBezTo>
                <a:cubicBezTo>
                  <a:pt x="17571" y="18042"/>
                  <a:pt x="17588" y="18100"/>
                  <a:pt x="17539" y="18188"/>
                </a:cubicBezTo>
                <a:cubicBezTo>
                  <a:pt x="17501" y="18258"/>
                  <a:pt x="17509" y="18267"/>
                  <a:pt x="17594" y="18267"/>
                </a:cubicBezTo>
                <a:cubicBezTo>
                  <a:pt x="17687" y="18266"/>
                  <a:pt x="17689" y="18275"/>
                  <a:pt x="17689" y="18491"/>
                </a:cubicBezTo>
                <a:cubicBezTo>
                  <a:pt x="17689" y="18679"/>
                  <a:pt x="17701" y="18747"/>
                  <a:pt x="17737" y="18727"/>
                </a:cubicBezTo>
                <a:cubicBezTo>
                  <a:pt x="17858" y="18660"/>
                  <a:pt x="17941" y="18760"/>
                  <a:pt x="17921" y="18951"/>
                </a:cubicBezTo>
                <a:cubicBezTo>
                  <a:pt x="17904" y="19108"/>
                  <a:pt x="17935" y="19195"/>
                  <a:pt x="17982" y="19131"/>
                </a:cubicBezTo>
                <a:cubicBezTo>
                  <a:pt x="18004" y="19101"/>
                  <a:pt x="18026" y="19091"/>
                  <a:pt x="18036" y="19108"/>
                </a:cubicBezTo>
                <a:cubicBezTo>
                  <a:pt x="18047" y="19125"/>
                  <a:pt x="18074" y="19118"/>
                  <a:pt x="18097" y="19086"/>
                </a:cubicBezTo>
                <a:cubicBezTo>
                  <a:pt x="18143" y="19023"/>
                  <a:pt x="18196" y="19093"/>
                  <a:pt x="18165" y="19176"/>
                </a:cubicBezTo>
                <a:cubicBezTo>
                  <a:pt x="18156" y="19200"/>
                  <a:pt x="18172" y="19226"/>
                  <a:pt x="18199" y="19243"/>
                </a:cubicBezTo>
                <a:cubicBezTo>
                  <a:pt x="18237" y="19267"/>
                  <a:pt x="18240" y="19289"/>
                  <a:pt x="18213" y="19333"/>
                </a:cubicBezTo>
                <a:cubicBezTo>
                  <a:pt x="18165" y="19412"/>
                  <a:pt x="18168" y="19477"/>
                  <a:pt x="18220" y="19445"/>
                </a:cubicBezTo>
                <a:cubicBezTo>
                  <a:pt x="18283" y="19405"/>
                  <a:pt x="18455" y="19617"/>
                  <a:pt x="18417" y="19692"/>
                </a:cubicBezTo>
                <a:cubicBezTo>
                  <a:pt x="18388" y="19750"/>
                  <a:pt x="18407" y="19910"/>
                  <a:pt x="18444" y="19916"/>
                </a:cubicBezTo>
                <a:cubicBezTo>
                  <a:pt x="18455" y="19918"/>
                  <a:pt x="18504" y="19927"/>
                  <a:pt x="18560" y="19938"/>
                </a:cubicBezTo>
                <a:cubicBezTo>
                  <a:pt x="18616" y="19950"/>
                  <a:pt x="18683" y="19944"/>
                  <a:pt x="18703" y="19916"/>
                </a:cubicBezTo>
                <a:cubicBezTo>
                  <a:pt x="18786" y="19803"/>
                  <a:pt x="18895" y="19993"/>
                  <a:pt x="18880" y="20219"/>
                </a:cubicBezTo>
                <a:cubicBezTo>
                  <a:pt x="18872" y="20332"/>
                  <a:pt x="18886" y="20343"/>
                  <a:pt x="18975" y="20331"/>
                </a:cubicBezTo>
                <a:cubicBezTo>
                  <a:pt x="19073" y="20318"/>
                  <a:pt x="19157" y="20413"/>
                  <a:pt x="19125" y="20499"/>
                </a:cubicBezTo>
                <a:cubicBezTo>
                  <a:pt x="19116" y="20524"/>
                  <a:pt x="19132" y="20584"/>
                  <a:pt x="19166" y="20634"/>
                </a:cubicBezTo>
                <a:cubicBezTo>
                  <a:pt x="19214" y="20707"/>
                  <a:pt x="19282" y="20726"/>
                  <a:pt x="19485" y="20735"/>
                </a:cubicBezTo>
                <a:cubicBezTo>
                  <a:pt x="19821" y="20750"/>
                  <a:pt x="19863" y="20769"/>
                  <a:pt x="19866" y="20881"/>
                </a:cubicBezTo>
                <a:cubicBezTo>
                  <a:pt x="19875" y="21141"/>
                  <a:pt x="20018" y="21220"/>
                  <a:pt x="20173" y="21061"/>
                </a:cubicBezTo>
                <a:cubicBezTo>
                  <a:pt x="20222" y="21009"/>
                  <a:pt x="20252" y="21011"/>
                  <a:pt x="20295" y="21049"/>
                </a:cubicBezTo>
                <a:cubicBezTo>
                  <a:pt x="20327" y="21078"/>
                  <a:pt x="20364" y="21088"/>
                  <a:pt x="20377" y="21083"/>
                </a:cubicBezTo>
                <a:cubicBezTo>
                  <a:pt x="20426" y="21065"/>
                  <a:pt x="20564" y="21193"/>
                  <a:pt x="20547" y="21240"/>
                </a:cubicBezTo>
                <a:cubicBezTo>
                  <a:pt x="20525" y="21298"/>
                  <a:pt x="16894" y="21309"/>
                  <a:pt x="16893" y="21251"/>
                </a:cubicBezTo>
                <a:cubicBezTo>
                  <a:pt x="16879" y="20452"/>
                  <a:pt x="16907" y="17275"/>
                  <a:pt x="16927" y="17234"/>
                </a:cubicBezTo>
                <a:cubicBezTo>
                  <a:pt x="16940" y="17209"/>
                  <a:pt x="16961" y="17196"/>
                  <a:pt x="16988" y="17190"/>
                </a:cubicBezTo>
                <a:close/>
              </a:path>
            </a:pathLst>
          </a:custGeom>
          <a:noFill/>
          <a:ln>
            <a:noFill/>
          </a:ln>
        </p:spPr>
      </p:pic>
      <p:sp>
        <p:nvSpPr>
          <p:cNvPr id="17" name="Google Shape;17;p9"/>
          <p:cNvSpPr txBox="1"/>
          <p:nvPr>
            <p:ph idx="12" type="sldNum"/>
          </p:nvPr>
        </p:nvSpPr>
        <p:spPr>
          <a:xfrm>
            <a:off x="11741879" y="213147"/>
            <a:ext cx="494413" cy="399033"/>
          </a:xfrm>
          <a:prstGeom prst="rect">
            <a:avLst/>
          </a:prstGeom>
          <a:noFill/>
          <a:ln>
            <a:noFill/>
          </a:ln>
        </p:spPr>
        <p:txBody>
          <a:bodyPr anchorCtr="0" anchor="t" bIns="50800" lIns="50800" spcFirstLastPara="1" rIns="50800" wrap="square" tIns="50800">
            <a:normAutofit/>
          </a:bodyPr>
          <a:lstStyle>
            <a:lvl1pPr indent="0" lvl="0"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1pPr>
            <a:lvl2pPr indent="0" lvl="1"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2pPr>
            <a:lvl3pPr indent="0" lvl="2"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3pPr>
            <a:lvl4pPr indent="0" lvl="3"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4pPr>
            <a:lvl5pPr indent="0" lvl="4"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5pPr>
            <a:lvl6pPr indent="0" lvl="5"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6pPr>
            <a:lvl7pPr indent="0" lvl="6"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7pPr>
            <a:lvl8pPr indent="0" lvl="7"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8pPr>
            <a:lvl9pPr indent="0" lvl="8"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b="0" i="0" u="none" cap="none" strike="noStrik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 showMasterSp="0">
  <p:cSld name="Conten">
    <p:bg>
      <p:bgPr>
        <a:noFill/>
      </p:bgPr>
    </p:bg>
    <p:spTree>
      <p:nvGrpSpPr>
        <p:cNvPr id="18" name="Shape 18"/>
        <p:cNvGrpSpPr/>
        <p:nvPr/>
      </p:nvGrpSpPr>
      <p:grpSpPr>
        <a:xfrm>
          <a:off x="0" y="0"/>
          <a:ext cx="0" cy="0"/>
          <a:chOff x="0" y="0"/>
          <a:chExt cx="0" cy="0"/>
        </a:xfrm>
      </p:grpSpPr>
      <p:sp>
        <p:nvSpPr>
          <p:cNvPr id="19" name="Google Shape;19;p10"/>
          <p:cNvSpPr txBox="1"/>
          <p:nvPr>
            <p:ph idx="12" type="sldNum"/>
          </p:nvPr>
        </p:nvSpPr>
        <p:spPr>
          <a:xfrm>
            <a:off x="11741879" y="213147"/>
            <a:ext cx="494413" cy="399033"/>
          </a:xfrm>
          <a:prstGeom prst="rect">
            <a:avLst/>
          </a:prstGeom>
          <a:noFill/>
          <a:ln>
            <a:noFill/>
          </a:ln>
        </p:spPr>
        <p:txBody>
          <a:bodyPr anchorCtr="0" anchor="t" bIns="50800" lIns="50800" spcFirstLastPara="1" rIns="50800" wrap="square" tIns="50800">
            <a:normAutofit/>
          </a:bodyPr>
          <a:lstStyle>
            <a:lvl1pPr indent="0" lvl="0"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1pPr>
            <a:lvl2pPr indent="0" lvl="1"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2pPr>
            <a:lvl3pPr indent="0" lvl="2"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3pPr>
            <a:lvl4pPr indent="0" lvl="3"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4pPr>
            <a:lvl5pPr indent="0" lvl="4"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5pPr>
            <a:lvl6pPr indent="0" lvl="5"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6pPr>
            <a:lvl7pPr indent="0" lvl="6"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7pPr>
            <a:lvl8pPr indent="0" lvl="7"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8pPr>
            <a:lvl9pPr indent="0" lvl="8" marL="0" algn="r">
              <a:lnSpc>
                <a:spcPct val="100000"/>
              </a:lnSpc>
              <a:spcBef>
                <a:spcPts val="0"/>
              </a:spcBef>
              <a:spcAft>
                <a:spcPts val="0"/>
              </a:spcAft>
              <a:buClr>
                <a:srgbClr val="5A5F5E"/>
              </a:buClr>
              <a:buSzPts val="2000"/>
              <a:buFont typeface="Helvetica Neue Light"/>
              <a:buNone/>
              <a:defRPr sz="2000">
                <a:solidFill>
                  <a:srgbClr val="5A5F5E"/>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b="0" i="0" u="none" cap="none" strike="noStrike"/>
          </a:p>
        </p:txBody>
      </p:sp>
      <p:cxnSp>
        <p:nvCxnSpPr>
          <p:cNvPr id="20" name="Google Shape;20;p10"/>
          <p:cNvCxnSpPr/>
          <p:nvPr/>
        </p:nvCxnSpPr>
        <p:spPr>
          <a:xfrm>
            <a:off x="761999" y="624879"/>
            <a:ext cx="11474292" cy="1"/>
          </a:xfrm>
          <a:prstGeom prst="straightConnector1">
            <a:avLst/>
          </a:prstGeom>
          <a:noFill/>
          <a:ln cap="flat" cmpd="sng" w="25400">
            <a:solidFill>
              <a:srgbClr val="5A5F5E">
                <a:alpha val="15686"/>
              </a:srgbClr>
            </a:solidFill>
            <a:prstDash val="solid"/>
            <a:miter lim="400000"/>
            <a:headEnd len="sm" w="sm" type="none"/>
            <a:tailEnd len="sm" w="sm" type="none"/>
          </a:ln>
        </p:spPr>
      </p:cxnSp>
      <p:sp>
        <p:nvSpPr>
          <p:cNvPr id="21" name="Google Shape;21;p10"/>
          <p:cNvSpPr txBox="1"/>
          <p:nvPr>
            <p:ph idx="1" type="body"/>
          </p:nvPr>
        </p:nvSpPr>
        <p:spPr>
          <a:xfrm>
            <a:off x="755809" y="213147"/>
            <a:ext cx="9502858" cy="399033"/>
          </a:xfrm>
          <a:prstGeom prst="rect">
            <a:avLst/>
          </a:prstGeom>
          <a:noFill/>
          <a:ln>
            <a:noFill/>
          </a:ln>
        </p:spPr>
        <p:txBody>
          <a:bodyPr anchorCtr="0" anchor="t" bIns="45700" lIns="91425" spcFirstLastPara="1" rIns="91425" wrap="square" tIns="45700">
            <a:spAutoFit/>
          </a:bodyPr>
          <a:lstStyle>
            <a:lvl1pPr indent="-228600" lvl="0" marL="457200" marR="0" rtl="0" algn="l">
              <a:lnSpc>
                <a:spcPct val="100000"/>
              </a:lnSpc>
              <a:spcBef>
                <a:spcPts val="1200"/>
              </a:spcBef>
              <a:spcAft>
                <a:spcPts val="0"/>
              </a:spcAft>
              <a:buClr>
                <a:srgbClr val="5A5F5E"/>
              </a:buClr>
              <a:buSzPts val="2000"/>
              <a:buFont typeface="Helvetica Neue Light"/>
              <a:buNone/>
              <a:defRPr b="0" i="0" sz="2000" u="none" cap="none" strike="noStrike">
                <a:solidFill>
                  <a:srgbClr val="5A5F5E"/>
                </a:solidFill>
                <a:latin typeface="Helvetica Neue Light"/>
                <a:ea typeface="Helvetica Neue Light"/>
                <a:cs typeface="Helvetica Neue Light"/>
                <a:sym typeface="Helvetica Neue Light"/>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sp>
        <p:nvSpPr>
          <p:cNvPr id="22" name="Google Shape;22;p10"/>
          <p:cNvSpPr txBox="1"/>
          <p:nvPr>
            <p:ph idx="2" type="body"/>
          </p:nvPr>
        </p:nvSpPr>
        <p:spPr>
          <a:xfrm>
            <a:off x="762000" y="762000"/>
            <a:ext cx="11467783" cy="6098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chemeClr val="dk2"/>
              </a:buClr>
              <a:buSzPts val="3600"/>
              <a:buFont typeface="Helvetica Neue"/>
              <a:buNone/>
              <a:defRPr b="0" i="0" sz="3600" u="none" cap="none" strike="noStrike">
                <a:solidFill>
                  <a:schemeClr val="dk2"/>
                </a:solidFill>
                <a:latin typeface="Helvetica Neue"/>
                <a:ea typeface="Helvetica Neue"/>
                <a:cs typeface="Helvetica Neue"/>
                <a:sym typeface="Helvetica Neue"/>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sp>
        <p:nvSpPr>
          <p:cNvPr id="23" name="Google Shape;23;p10"/>
          <p:cNvSpPr txBox="1"/>
          <p:nvPr>
            <p:ph idx="3" type="body"/>
          </p:nvPr>
        </p:nvSpPr>
        <p:spPr>
          <a:xfrm>
            <a:off x="761999" y="1581811"/>
            <a:ext cx="11467783" cy="68834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100000"/>
              </a:lnSpc>
              <a:spcBef>
                <a:spcPts val="0"/>
              </a:spcBef>
              <a:spcAft>
                <a:spcPts val="0"/>
              </a:spcAft>
              <a:buClr>
                <a:schemeClr val="dk2"/>
              </a:buClr>
              <a:buSzPts val="3000"/>
              <a:buFont typeface="Helvetica Neue Light"/>
              <a:buNone/>
              <a:defRPr b="0" i="0" sz="3000" u="none" cap="none" strike="noStrike">
                <a:solidFill>
                  <a:schemeClr val="dk2"/>
                </a:solidFill>
                <a:latin typeface="Helvetica Neue Light"/>
                <a:ea typeface="Helvetica Neue Light"/>
                <a:cs typeface="Helvetica Neue Light"/>
                <a:sym typeface="Helvetica Neue Light"/>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sp>
        <p:nvSpPr>
          <p:cNvPr id="24" name="Google Shape;24;p10"/>
          <p:cNvSpPr txBox="1"/>
          <p:nvPr>
            <p:ph idx="4" type="body"/>
          </p:nvPr>
        </p:nvSpPr>
        <p:spPr>
          <a:xfrm>
            <a:off x="715409" y="9235479"/>
            <a:ext cx="5479247" cy="399033"/>
          </a:xfrm>
          <a:prstGeom prst="rect">
            <a:avLst/>
          </a:prstGeom>
          <a:noFill/>
          <a:ln>
            <a:noFill/>
          </a:ln>
        </p:spPr>
        <p:txBody>
          <a:bodyPr anchorCtr="0" anchor="b" bIns="45700" lIns="91425" spcFirstLastPara="1" rIns="91425" wrap="square" tIns="45700">
            <a:spAutoFit/>
          </a:bodyPr>
          <a:lstStyle>
            <a:lvl1pPr indent="-228600" lvl="0" marL="457200" marR="0" rtl="0" algn="l">
              <a:lnSpc>
                <a:spcPct val="100000"/>
              </a:lnSpc>
              <a:spcBef>
                <a:spcPts val="1200"/>
              </a:spcBef>
              <a:spcAft>
                <a:spcPts val="0"/>
              </a:spcAft>
              <a:buClr>
                <a:srgbClr val="000000"/>
              </a:buClr>
              <a:buSzPts val="2000"/>
              <a:buFont typeface="Helvetica Neue Light"/>
              <a:buNone/>
              <a:defRPr b="0" i="0" sz="2000" u="none" cap="none" strike="noStrike">
                <a:solidFill>
                  <a:srgbClr val="000000"/>
                </a:solidFill>
                <a:latin typeface="Helvetica Neue Light"/>
                <a:ea typeface="Helvetica Neue Light"/>
                <a:cs typeface="Helvetica Neue Light"/>
                <a:sym typeface="Helvetica Neue Light"/>
              </a:defRPr>
            </a:lvl1pPr>
            <a:lvl2pPr indent="-228600" lvl="1" marL="914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2pPr>
            <a:lvl3pPr indent="-228600" lvl="2" marL="1371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3pPr>
            <a:lvl4pPr indent="-228600" lvl="3" marL="1828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4pPr>
            <a:lvl5pPr indent="-228600" lvl="4" marL="22860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5pPr>
            <a:lvl6pPr indent="-228600" lvl="5" marL="27432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6pPr>
            <a:lvl7pPr indent="-228600" lvl="6" marL="32004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7pPr>
            <a:lvl8pPr indent="-228600" lvl="7" marL="36576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8pPr>
            <a:lvl9pPr indent="-228600" lvl="8" marL="4114800" marR="0" rtl="0" algn="l">
              <a:lnSpc>
                <a:spcPct val="100000"/>
              </a:lnSpc>
              <a:spcBef>
                <a:spcPts val="0"/>
              </a:spcBef>
              <a:spcAft>
                <a:spcPts val="0"/>
              </a:spcAft>
              <a:buClr>
                <a:srgbClr val="D30F11"/>
              </a:buClr>
              <a:buSzPts val="5400"/>
              <a:buFont typeface="Helvetica Neue Light"/>
              <a:buNone/>
              <a:defRPr b="0" i="0" sz="5400" u="none" cap="none" strike="noStrike">
                <a:solidFill>
                  <a:srgbClr val="D30F11"/>
                </a:solidFill>
                <a:latin typeface="Helvetica Neue Light"/>
                <a:ea typeface="Helvetica Neue Light"/>
                <a:cs typeface="Helvetica Neue Light"/>
                <a:sym typeface="Helvetica Neue Light"/>
              </a:defRPr>
            </a:lvl9pPr>
          </a:lstStyle>
          <a:p/>
        </p:txBody>
      </p:sp>
      <p:cxnSp>
        <p:nvCxnSpPr>
          <p:cNvPr id="25" name="Google Shape;25;p10"/>
          <p:cNvCxnSpPr/>
          <p:nvPr/>
        </p:nvCxnSpPr>
        <p:spPr>
          <a:xfrm>
            <a:off x="700892" y="9159279"/>
            <a:ext cx="10543492" cy="1"/>
          </a:xfrm>
          <a:prstGeom prst="straightConnector1">
            <a:avLst/>
          </a:prstGeom>
          <a:noFill/>
          <a:ln cap="flat" cmpd="sng" w="25400">
            <a:solidFill>
              <a:srgbClr val="5A5F5E">
                <a:alpha val="15686"/>
              </a:srgbClr>
            </a:solidFill>
            <a:prstDash val="solid"/>
            <a:miter lim="400000"/>
            <a:headEnd len="sm" w="sm" type="none"/>
            <a:tailEnd len="sm" w="sm" type="none"/>
          </a:ln>
        </p:spPr>
      </p:cxnSp>
      <p:pic>
        <p:nvPicPr>
          <p:cNvPr descr="norm_quant.jpg" id="26" name="Google Shape;26;p10"/>
          <p:cNvPicPr preferRelativeResize="0"/>
          <p:nvPr/>
        </p:nvPicPr>
        <p:blipFill rotWithShape="1">
          <a:blip r:embed="rId2">
            <a:alphaModFix/>
          </a:blip>
          <a:srcRect b="13992" l="7684" r="6266" t="12299"/>
          <a:stretch/>
        </p:blipFill>
        <p:spPr>
          <a:xfrm>
            <a:off x="11456784" y="8603504"/>
            <a:ext cx="1259216" cy="763127"/>
          </a:xfrm>
          <a:custGeom>
            <a:rect b="b" l="l" r="r" t="t"/>
            <a:pathLst>
              <a:path extrusionOk="0" h="21575" w="21588">
                <a:moveTo>
                  <a:pt x="10967" y="0"/>
                </a:moveTo>
                <a:cubicBezTo>
                  <a:pt x="10620" y="33"/>
                  <a:pt x="10344" y="274"/>
                  <a:pt x="10014" y="819"/>
                </a:cubicBezTo>
                <a:cubicBezTo>
                  <a:pt x="9987" y="865"/>
                  <a:pt x="9960" y="917"/>
                  <a:pt x="9933" y="965"/>
                </a:cubicBezTo>
                <a:cubicBezTo>
                  <a:pt x="9318" y="2043"/>
                  <a:pt x="8762" y="3752"/>
                  <a:pt x="7544" y="8281"/>
                </a:cubicBezTo>
                <a:cubicBezTo>
                  <a:pt x="7443" y="8658"/>
                  <a:pt x="7392" y="8837"/>
                  <a:pt x="7306" y="9156"/>
                </a:cubicBezTo>
                <a:cubicBezTo>
                  <a:pt x="7307" y="9189"/>
                  <a:pt x="7299" y="9214"/>
                  <a:pt x="7286" y="9223"/>
                </a:cubicBezTo>
                <a:cubicBezTo>
                  <a:pt x="7153" y="9714"/>
                  <a:pt x="7023" y="10202"/>
                  <a:pt x="6918" y="10581"/>
                </a:cubicBezTo>
                <a:cubicBezTo>
                  <a:pt x="6916" y="10589"/>
                  <a:pt x="6915" y="10608"/>
                  <a:pt x="6912" y="10614"/>
                </a:cubicBezTo>
                <a:cubicBezTo>
                  <a:pt x="6699" y="11385"/>
                  <a:pt x="6514" y="12030"/>
                  <a:pt x="6354" y="12567"/>
                </a:cubicBezTo>
                <a:cubicBezTo>
                  <a:pt x="6353" y="12580"/>
                  <a:pt x="6344" y="12593"/>
                  <a:pt x="6340" y="12600"/>
                </a:cubicBezTo>
                <a:cubicBezTo>
                  <a:pt x="6308" y="12707"/>
                  <a:pt x="6270" y="12843"/>
                  <a:pt x="6238" y="12948"/>
                </a:cubicBezTo>
                <a:cubicBezTo>
                  <a:pt x="6194" y="13093"/>
                  <a:pt x="6152" y="13213"/>
                  <a:pt x="6109" y="13352"/>
                </a:cubicBezTo>
                <a:cubicBezTo>
                  <a:pt x="6109" y="13372"/>
                  <a:pt x="6110" y="13379"/>
                  <a:pt x="6102" y="13386"/>
                </a:cubicBezTo>
                <a:cubicBezTo>
                  <a:pt x="6074" y="13476"/>
                  <a:pt x="6041" y="13567"/>
                  <a:pt x="6013" y="13655"/>
                </a:cubicBezTo>
                <a:cubicBezTo>
                  <a:pt x="6009" y="13667"/>
                  <a:pt x="6011" y="13664"/>
                  <a:pt x="6007" y="13678"/>
                </a:cubicBezTo>
                <a:cubicBezTo>
                  <a:pt x="6005" y="13683"/>
                  <a:pt x="6002" y="13684"/>
                  <a:pt x="6000" y="13689"/>
                </a:cubicBezTo>
                <a:cubicBezTo>
                  <a:pt x="5386" y="15618"/>
                  <a:pt x="4805" y="17096"/>
                  <a:pt x="4197" y="18177"/>
                </a:cubicBezTo>
                <a:cubicBezTo>
                  <a:pt x="4193" y="18190"/>
                  <a:pt x="4197" y="18196"/>
                  <a:pt x="4190" y="18211"/>
                </a:cubicBezTo>
                <a:cubicBezTo>
                  <a:pt x="4177" y="18236"/>
                  <a:pt x="4160" y="18264"/>
                  <a:pt x="4142" y="18278"/>
                </a:cubicBezTo>
                <a:cubicBezTo>
                  <a:pt x="4111" y="18331"/>
                  <a:pt x="4078" y="18383"/>
                  <a:pt x="4047" y="18435"/>
                </a:cubicBezTo>
                <a:cubicBezTo>
                  <a:pt x="4033" y="18470"/>
                  <a:pt x="4019" y="18495"/>
                  <a:pt x="3999" y="18525"/>
                </a:cubicBezTo>
                <a:cubicBezTo>
                  <a:pt x="3988" y="18543"/>
                  <a:pt x="3981" y="18547"/>
                  <a:pt x="3972" y="18558"/>
                </a:cubicBezTo>
                <a:cubicBezTo>
                  <a:pt x="3371" y="19526"/>
                  <a:pt x="2740" y="20155"/>
                  <a:pt x="2013" y="20556"/>
                </a:cubicBezTo>
                <a:cubicBezTo>
                  <a:pt x="1944" y="20594"/>
                  <a:pt x="1865" y="20631"/>
                  <a:pt x="1788" y="20668"/>
                </a:cubicBezTo>
                <a:cubicBezTo>
                  <a:pt x="1784" y="20671"/>
                  <a:pt x="1777" y="20679"/>
                  <a:pt x="1775" y="20679"/>
                </a:cubicBezTo>
                <a:cubicBezTo>
                  <a:pt x="1442" y="20836"/>
                  <a:pt x="1063" y="20965"/>
                  <a:pt x="795" y="21016"/>
                </a:cubicBezTo>
                <a:cubicBezTo>
                  <a:pt x="633" y="21046"/>
                  <a:pt x="600" y="21072"/>
                  <a:pt x="577" y="21173"/>
                </a:cubicBezTo>
                <a:cubicBezTo>
                  <a:pt x="551" y="21285"/>
                  <a:pt x="537" y="21296"/>
                  <a:pt x="284" y="21296"/>
                </a:cubicBezTo>
                <a:cubicBezTo>
                  <a:pt x="56" y="21296"/>
                  <a:pt x="17" y="21301"/>
                  <a:pt x="5" y="21375"/>
                </a:cubicBezTo>
                <a:cubicBezTo>
                  <a:pt x="-2" y="21422"/>
                  <a:pt x="-1" y="21487"/>
                  <a:pt x="5" y="21521"/>
                </a:cubicBezTo>
                <a:cubicBezTo>
                  <a:pt x="22" y="21600"/>
                  <a:pt x="21568" y="21589"/>
                  <a:pt x="21561" y="21509"/>
                </a:cubicBezTo>
                <a:cubicBezTo>
                  <a:pt x="21558" y="21482"/>
                  <a:pt x="21567" y="21428"/>
                  <a:pt x="21581" y="21386"/>
                </a:cubicBezTo>
                <a:cubicBezTo>
                  <a:pt x="21598" y="21334"/>
                  <a:pt x="21584" y="21269"/>
                  <a:pt x="21540" y="21184"/>
                </a:cubicBezTo>
                <a:cubicBezTo>
                  <a:pt x="21484" y="21076"/>
                  <a:pt x="21424" y="21043"/>
                  <a:pt x="21146" y="20971"/>
                </a:cubicBezTo>
                <a:cubicBezTo>
                  <a:pt x="21141" y="20972"/>
                  <a:pt x="21142" y="20972"/>
                  <a:pt x="21139" y="20971"/>
                </a:cubicBezTo>
                <a:cubicBezTo>
                  <a:pt x="21006" y="20936"/>
                  <a:pt x="20876" y="20891"/>
                  <a:pt x="20751" y="20847"/>
                </a:cubicBezTo>
                <a:cubicBezTo>
                  <a:pt x="20709" y="20840"/>
                  <a:pt x="20670" y="20832"/>
                  <a:pt x="20656" y="20814"/>
                </a:cubicBezTo>
                <a:cubicBezTo>
                  <a:pt x="20474" y="20746"/>
                  <a:pt x="20298" y="20667"/>
                  <a:pt x="20132" y="20578"/>
                </a:cubicBezTo>
                <a:cubicBezTo>
                  <a:pt x="20125" y="20578"/>
                  <a:pt x="20118" y="20574"/>
                  <a:pt x="20111" y="20567"/>
                </a:cubicBezTo>
                <a:cubicBezTo>
                  <a:pt x="19679" y="20332"/>
                  <a:pt x="19291" y="20019"/>
                  <a:pt x="18928" y="19613"/>
                </a:cubicBezTo>
                <a:cubicBezTo>
                  <a:pt x="18919" y="19605"/>
                  <a:pt x="18916" y="19600"/>
                  <a:pt x="18907" y="19591"/>
                </a:cubicBezTo>
                <a:cubicBezTo>
                  <a:pt x="18900" y="19583"/>
                  <a:pt x="18893" y="19576"/>
                  <a:pt x="18887" y="19568"/>
                </a:cubicBezTo>
                <a:cubicBezTo>
                  <a:pt x="18830" y="19503"/>
                  <a:pt x="18779" y="19436"/>
                  <a:pt x="18723" y="19366"/>
                </a:cubicBezTo>
                <a:cubicBezTo>
                  <a:pt x="18720" y="19367"/>
                  <a:pt x="18714" y="19365"/>
                  <a:pt x="18710" y="19366"/>
                </a:cubicBezTo>
                <a:cubicBezTo>
                  <a:pt x="18686" y="19371"/>
                  <a:pt x="18627" y="19281"/>
                  <a:pt x="18587" y="19198"/>
                </a:cubicBezTo>
                <a:cubicBezTo>
                  <a:pt x="18510" y="19095"/>
                  <a:pt x="18432" y="18985"/>
                  <a:pt x="18356" y="18873"/>
                </a:cubicBezTo>
                <a:cubicBezTo>
                  <a:pt x="18353" y="18871"/>
                  <a:pt x="18351" y="18864"/>
                  <a:pt x="18349" y="18861"/>
                </a:cubicBezTo>
                <a:cubicBezTo>
                  <a:pt x="18294" y="18780"/>
                  <a:pt x="18240" y="18702"/>
                  <a:pt x="18186" y="18614"/>
                </a:cubicBezTo>
                <a:cubicBezTo>
                  <a:pt x="17775" y="17959"/>
                  <a:pt x="17463" y="17349"/>
                  <a:pt x="17104" y="16483"/>
                </a:cubicBezTo>
                <a:cubicBezTo>
                  <a:pt x="17087" y="16455"/>
                  <a:pt x="17076" y="16412"/>
                  <a:pt x="17063" y="16370"/>
                </a:cubicBezTo>
                <a:cubicBezTo>
                  <a:pt x="17061" y="16363"/>
                  <a:pt x="17058" y="16366"/>
                  <a:pt x="17056" y="16359"/>
                </a:cubicBezTo>
                <a:cubicBezTo>
                  <a:pt x="17037" y="16312"/>
                  <a:pt x="17022" y="16274"/>
                  <a:pt x="17002" y="16225"/>
                </a:cubicBezTo>
                <a:cubicBezTo>
                  <a:pt x="16863" y="15881"/>
                  <a:pt x="16729" y="15535"/>
                  <a:pt x="16601" y="15181"/>
                </a:cubicBezTo>
                <a:cubicBezTo>
                  <a:pt x="16592" y="15163"/>
                  <a:pt x="16592" y="15152"/>
                  <a:pt x="16587" y="15136"/>
                </a:cubicBezTo>
                <a:cubicBezTo>
                  <a:pt x="16315" y="14383"/>
                  <a:pt x="16029" y="13464"/>
                  <a:pt x="15696" y="12320"/>
                </a:cubicBezTo>
                <a:cubicBezTo>
                  <a:pt x="15679" y="12291"/>
                  <a:pt x="15664" y="12242"/>
                  <a:pt x="15648" y="12163"/>
                </a:cubicBezTo>
                <a:cubicBezTo>
                  <a:pt x="15514" y="11699"/>
                  <a:pt x="15366" y="11192"/>
                  <a:pt x="15206" y="10614"/>
                </a:cubicBezTo>
                <a:cubicBezTo>
                  <a:pt x="15192" y="10579"/>
                  <a:pt x="15181" y="10530"/>
                  <a:pt x="15172" y="10480"/>
                </a:cubicBezTo>
                <a:cubicBezTo>
                  <a:pt x="15085" y="10167"/>
                  <a:pt x="14989" y="9822"/>
                  <a:pt x="14893" y="9470"/>
                </a:cubicBezTo>
                <a:cubicBezTo>
                  <a:pt x="14885" y="9463"/>
                  <a:pt x="14879" y="9447"/>
                  <a:pt x="14879" y="9425"/>
                </a:cubicBezTo>
                <a:cubicBezTo>
                  <a:pt x="14786" y="9084"/>
                  <a:pt x="14717" y="8830"/>
                  <a:pt x="14614" y="8449"/>
                </a:cubicBezTo>
                <a:cubicBezTo>
                  <a:pt x="14560" y="8250"/>
                  <a:pt x="14541" y="8183"/>
                  <a:pt x="14491" y="8000"/>
                </a:cubicBezTo>
                <a:cubicBezTo>
                  <a:pt x="13853" y="5643"/>
                  <a:pt x="13510" y="4430"/>
                  <a:pt x="13233" y="3579"/>
                </a:cubicBezTo>
                <a:cubicBezTo>
                  <a:pt x="12600" y="1643"/>
                  <a:pt x="12102" y="617"/>
                  <a:pt x="11593" y="202"/>
                </a:cubicBezTo>
                <a:cubicBezTo>
                  <a:pt x="11414" y="56"/>
                  <a:pt x="11335" y="16"/>
                  <a:pt x="11157" y="0"/>
                </a:cubicBezTo>
                <a:lnTo>
                  <a:pt x="11008" y="0"/>
                </a:lnTo>
                <a:lnTo>
                  <a:pt x="10967" y="0"/>
                </a:lnTo>
                <a:close/>
                <a:moveTo>
                  <a:pt x="16988" y="17190"/>
                </a:moveTo>
                <a:cubicBezTo>
                  <a:pt x="17071" y="17171"/>
                  <a:pt x="17192" y="17226"/>
                  <a:pt x="17192" y="17313"/>
                </a:cubicBezTo>
                <a:cubicBezTo>
                  <a:pt x="17192" y="17341"/>
                  <a:pt x="17221" y="17424"/>
                  <a:pt x="17254" y="17492"/>
                </a:cubicBezTo>
                <a:cubicBezTo>
                  <a:pt x="17286" y="17561"/>
                  <a:pt x="17304" y="17636"/>
                  <a:pt x="17295" y="17661"/>
                </a:cubicBezTo>
                <a:cubicBezTo>
                  <a:pt x="17285" y="17685"/>
                  <a:pt x="17273" y="17771"/>
                  <a:pt x="17267" y="17852"/>
                </a:cubicBezTo>
                <a:cubicBezTo>
                  <a:pt x="17255" y="18013"/>
                  <a:pt x="17313" y="18045"/>
                  <a:pt x="17376" y="17919"/>
                </a:cubicBezTo>
                <a:cubicBezTo>
                  <a:pt x="17419" y="17833"/>
                  <a:pt x="17474" y="17875"/>
                  <a:pt x="17451" y="17975"/>
                </a:cubicBezTo>
                <a:cubicBezTo>
                  <a:pt x="17441" y="18018"/>
                  <a:pt x="17458" y="18042"/>
                  <a:pt x="17492" y="18042"/>
                </a:cubicBezTo>
                <a:cubicBezTo>
                  <a:pt x="17571" y="18042"/>
                  <a:pt x="17588" y="18100"/>
                  <a:pt x="17539" y="18188"/>
                </a:cubicBezTo>
                <a:cubicBezTo>
                  <a:pt x="17501" y="18258"/>
                  <a:pt x="17509" y="18267"/>
                  <a:pt x="17594" y="18267"/>
                </a:cubicBezTo>
                <a:cubicBezTo>
                  <a:pt x="17687" y="18266"/>
                  <a:pt x="17689" y="18275"/>
                  <a:pt x="17689" y="18491"/>
                </a:cubicBezTo>
                <a:cubicBezTo>
                  <a:pt x="17689" y="18679"/>
                  <a:pt x="17701" y="18747"/>
                  <a:pt x="17737" y="18727"/>
                </a:cubicBezTo>
                <a:cubicBezTo>
                  <a:pt x="17858" y="18660"/>
                  <a:pt x="17941" y="18760"/>
                  <a:pt x="17921" y="18951"/>
                </a:cubicBezTo>
                <a:cubicBezTo>
                  <a:pt x="17904" y="19108"/>
                  <a:pt x="17935" y="19195"/>
                  <a:pt x="17982" y="19131"/>
                </a:cubicBezTo>
                <a:cubicBezTo>
                  <a:pt x="18004" y="19101"/>
                  <a:pt x="18026" y="19091"/>
                  <a:pt x="18036" y="19108"/>
                </a:cubicBezTo>
                <a:cubicBezTo>
                  <a:pt x="18047" y="19125"/>
                  <a:pt x="18074" y="19118"/>
                  <a:pt x="18097" y="19086"/>
                </a:cubicBezTo>
                <a:cubicBezTo>
                  <a:pt x="18143" y="19023"/>
                  <a:pt x="18196" y="19093"/>
                  <a:pt x="18165" y="19176"/>
                </a:cubicBezTo>
                <a:cubicBezTo>
                  <a:pt x="18156" y="19200"/>
                  <a:pt x="18172" y="19226"/>
                  <a:pt x="18199" y="19243"/>
                </a:cubicBezTo>
                <a:cubicBezTo>
                  <a:pt x="18237" y="19267"/>
                  <a:pt x="18240" y="19289"/>
                  <a:pt x="18213" y="19333"/>
                </a:cubicBezTo>
                <a:cubicBezTo>
                  <a:pt x="18165" y="19412"/>
                  <a:pt x="18168" y="19477"/>
                  <a:pt x="18220" y="19445"/>
                </a:cubicBezTo>
                <a:cubicBezTo>
                  <a:pt x="18283" y="19405"/>
                  <a:pt x="18455" y="19617"/>
                  <a:pt x="18417" y="19692"/>
                </a:cubicBezTo>
                <a:cubicBezTo>
                  <a:pt x="18388" y="19750"/>
                  <a:pt x="18407" y="19910"/>
                  <a:pt x="18444" y="19916"/>
                </a:cubicBezTo>
                <a:cubicBezTo>
                  <a:pt x="18455" y="19918"/>
                  <a:pt x="18504" y="19927"/>
                  <a:pt x="18560" y="19938"/>
                </a:cubicBezTo>
                <a:cubicBezTo>
                  <a:pt x="18616" y="19950"/>
                  <a:pt x="18683" y="19944"/>
                  <a:pt x="18703" y="19916"/>
                </a:cubicBezTo>
                <a:cubicBezTo>
                  <a:pt x="18786" y="19803"/>
                  <a:pt x="18895" y="19993"/>
                  <a:pt x="18880" y="20219"/>
                </a:cubicBezTo>
                <a:cubicBezTo>
                  <a:pt x="18872" y="20332"/>
                  <a:pt x="18886" y="20343"/>
                  <a:pt x="18975" y="20331"/>
                </a:cubicBezTo>
                <a:cubicBezTo>
                  <a:pt x="19073" y="20318"/>
                  <a:pt x="19157" y="20413"/>
                  <a:pt x="19125" y="20499"/>
                </a:cubicBezTo>
                <a:cubicBezTo>
                  <a:pt x="19116" y="20524"/>
                  <a:pt x="19132" y="20584"/>
                  <a:pt x="19166" y="20634"/>
                </a:cubicBezTo>
                <a:cubicBezTo>
                  <a:pt x="19214" y="20707"/>
                  <a:pt x="19282" y="20726"/>
                  <a:pt x="19485" y="20735"/>
                </a:cubicBezTo>
                <a:cubicBezTo>
                  <a:pt x="19821" y="20750"/>
                  <a:pt x="19863" y="20769"/>
                  <a:pt x="19866" y="20881"/>
                </a:cubicBezTo>
                <a:cubicBezTo>
                  <a:pt x="19875" y="21141"/>
                  <a:pt x="20018" y="21220"/>
                  <a:pt x="20173" y="21061"/>
                </a:cubicBezTo>
                <a:cubicBezTo>
                  <a:pt x="20222" y="21009"/>
                  <a:pt x="20252" y="21011"/>
                  <a:pt x="20295" y="21049"/>
                </a:cubicBezTo>
                <a:cubicBezTo>
                  <a:pt x="20327" y="21078"/>
                  <a:pt x="20364" y="21088"/>
                  <a:pt x="20377" y="21083"/>
                </a:cubicBezTo>
                <a:cubicBezTo>
                  <a:pt x="20426" y="21065"/>
                  <a:pt x="20564" y="21193"/>
                  <a:pt x="20547" y="21240"/>
                </a:cubicBezTo>
                <a:cubicBezTo>
                  <a:pt x="20525" y="21298"/>
                  <a:pt x="16894" y="21309"/>
                  <a:pt x="16893" y="21251"/>
                </a:cubicBezTo>
                <a:cubicBezTo>
                  <a:pt x="16879" y="20452"/>
                  <a:pt x="16907" y="17275"/>
                  <a:pt x="16927" y="17234"/>
                </a:cubicBezTo>
                <a:cubicBezTo>
                  <a:pt x="16940" y="17209"/>
                  <a:pt x="16961" y="17196"/>
                  <a:pt x="16988" y="17190"/>
                </a:cubicBezTo>
                <a:close/>
              </a:path>
            </a:pathLst>
          </a:cu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 name="Shape 5"/>
        <p:cNvGrpSpPr/>
        <p:nvPr/>
      </p:nvGrpSpPr>
      <p:grpSpPr>
        <a:xfrm>
          <a:off x="0" y="0"/>
          <a:ext cx="0" cy="0"/>
          <a:chOff x="0" y="0"/>
          <a:chExt cx="0" cy="0"/>
        </a:xfrm>
      </p:grpSpPr>
      <p:pic>
        <p:nvPicPr>
          <p:cNvPr descr="pasted-image.png" id="6" name="Google Shape;6;p7"/>
          <p:cNvPicPr preferRelativeResize="0"/>
          <p:nvPr/>
        </p:nvPicPr>
        <p:blipFill rotWithShape="1">
          <a:blip r:embed="rId1">
            <a:alphaModFix/>
          </a:blip>
          <a:srcRect b="0" l="0" r="0" t="0"/>
          <a:stretch/>
        </p:blipFill>
        <p:spPr>
          <a:xfrm>
            <a:off x="687950" y="230380"/>
            <a:ext cx="2370215" cy="2298980"/>
          </a:xfrm>
          <a:prstGeom prst="rect">
            <a:avLst/>
          </a:prstGeom>
          <a:noFill/>
          <a:ln>
            <a:noFill/>
          </a:ln>
        </p:spPr>
      </p:pic>
      <p:sp>
        <p:nvSpPr>
          <p:cNvPr id="7" name="Google Shape;7;p7"/>
          <p:cNvSpPr txBox="1"/>
          <p:nvPr>
            <p:ph idx="12" type="sldNum"/>
          </p:nvPr>
        </p:nvSpPr>
        <p:spPr>
          <a:xfrm>
            <a:off x="6325920" y="9271000"/>
            <a:ext cx="340260" cy="324511"/>
          </a:xfrm>
          <a:prstGeom prst="rect">
            <a:avLst/>
          </a:prstGeom>
          <a:noFill/>
          <a:ln>
            <a:noFill/>
          </a:ln>
        </p:spPr>
        <p:txBody>
          <a:bodyPr anchorCtr="0" anchor="t" bIns="50800" lIns="50800" spcFirstLastPara="1" rIns="50800" wrap="square" tIns="50800">
            <a:normAutofit/>
          </a:bodyPr>
          <a:lstStyle>
            <a:lvl1pPr indent="0" lvl="0"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535353"/>
              </a:buClr>
              <a:buSzPts val="1600"/>
              <a:buFont typeface="Helvetica Neue"/>
              <a:buNone/>
              <a:defRPr b="0" i="0" sz="1600" u="none" cap="none" strike="noStrike">
                <a:solidFill>
                  <a:srgbClr val="535353"/>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2.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1.png"/><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comments" Target="../comments/commen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
          <p:cNvSpPr txBox="1"/>
          <p:nvPr>
            <p:ph idx="1" type="body"/>
          </p:nvPr>
        </p:nvSpPr>
        <p:spPr>
          <a:xfrm>
            <a:off x="773350" y="3116013"/>
            <a:ext cx="11458100" cy="2117336"/>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20000"/>
              </a:lnSpc>
              <a:spcBef>
                <a:spcPts val="0"/>
              </a:spcBef>
              <a:spcAft>
                <a:spcPts val="0"/>
              </a:spcAft>
              <a:buClr>
                <a:srgbClr val="C00000"/>
              </a:buClr>
              <a:buSzPct val="100000"/>
              <a:buFont typeface="Helvetica Neue Light"/>
              <a:buNone/>
            </a:pPr>
            <a:r>
              <a:rPr lang="en-US">
                <a:solidFill>
                  <a:srgbClr val="C00000"/>
                </a:solidFill>
              </a:rPr>
              <a:t>Integrating Data-Level Balancing and Enhanced RFM-Based Feature engineering for Credit Card Fraud Detection</a:t>
            </a:r>
            <a:endParaRPr/>
          </a:p>
        </p:txBody>
      </p:sp>
      <p:sp>
        <p:nvSpPr>
          <p:cNvPr id="32" name="Google Shape;32;p1"/>
          <p:cNvSpPr txBox="1"/>
          <p:nvPr/>
        </p:nvSpPr>
        <p:spPr>
          <a:xfrm>
            <a:off x="9519751" y="9237870"/>
            <a:ext cx="3163634" cy="324675"/>
          </a:xfrm>
          <a:prstGeom prst="rect">
            <a:avLst/>
          </a:prstGeom>
          <a:noFill/>
          <a:ln>
            <a:noFill/>
          </a:ln>
        </p:spPr>
        <p:txBody>
          <a:bodyPr anchorCtr="0" anchor="t" bIns="50800" lIns="50800" spcFirstLastPara="1" rIns="50800" wrap="square" tIns="50800">
            <a:normAutofit lnSpcReduction="10000"/>
          </a:bodyPr>
          <a:lstStyle/>
          <a:p>
            <a:pPr indent="0" lvl="0" marL="0" marR="0" rtl="0" algn="r">
              <a:lnSpc>
                <a:spcPct val="100000"/>
              </a:lnSpc>
              <a:spcBef>
                <a:spcPts val="0"/>
              </a:spcBef>
              <a:spcAft>
                <a:spcPts val="0"/>
              </a:spcAft>
              <a:buClr>
                <a:srgbClr val="D30F11"/>
              </a:buClr>
              <a:buSzPts val="1500"/>
              <a:buFont typeface="Helvetica Neue Light"/>
              <a:buNone/>
            </a:pPr>
            <a:r>
              <a:rPr b="0" i="0" lang="en-US" sz="1500" u="none" cap="none" strike="noStrike">
                <a:solidFill>
                  <a:srgbClr val="D30F11"/>
                </a:solidFill>
                <a:latin typeface="Helvetica Neue Light"/>
                <a:ea typeface="Helvetica Neue Light"/>
                <a:cs typeface="Helvetica Neue Light"/>
                <a:sym typeface="Helvetica Neue Light"/>
              </a:rPr>
              <a:t>2025 Machine Learning &amp; Fintech</a:t>
            </a:r>
            <a:endParaRPr b="0" i="0" sz="1500" u="none" cap="none" strike="noStrike">
              <a:solidFill>
                <a:srgbClr val="D30F11"/>
              </a:solidFill>
              <a:latin typeface="Helvetica Neue Light"/>
              <a:ea typeface="Helvetica Neue Light"/>
              <a:cs typeface="Helvetica Neue Light"/>
              <a:sym typeface="Helvetica Neue Light"/>
            </a:endParaRPr>
          </a:p>
        </p:txBody>
      </p:sp>
      <p:sp>
        <p:nvSpPr>
          <p:cNvPr id="33" name="Google Shape;33;p1"/>
          <p:cNvSpPr txBox="1"/>
          <p:nvPr>
            <p:ph idx="12" type="sldNum"/>
          </p:nvPr>
        </p:nvSpPr>
        <p:spPr>
          <a:xfrm>
            <a:off x="6325920" y="9271000"/>
            <a:ext cx="340260" cy="324511"/>
          </a:xfrm>
          <a:prstGeom prst="rect">
            <a:avLst/>
          </a:prstGeom>
          <a:noFill/>
          <a:ln>
            <a:noFill/>
          </a:ln>
        </p:spPr>
        <p:txBody>
          <a:bodyPr anchorCtr="0" anchor="t" bIns="50800" lIns="50800" spcFirstLastPara="1" rIns="50800" wrap="square" tIns="50800">
            <a:normAutofit lnSpcReduction="10000"/>
          </a:bodyPr>
          <a:lstStyle/>
          <a:p>
            <a:pPr indent="0" lvl="0" marL="0" rtl="0" algn="ctr">
              <a:lnSpc>
                <a:spcPct val="100000"/>
              </a:lnSpc>
              <a:spcBef>
                <a:spcPts val="0"/>
              </a:spcBef>
              <a:spcAft>
                <a:spcPts val="0"/>
              </a:spcAft>
              <a:buClr>
                <a:srgbClr val="535353"/>
              </a:buClr>
              <a:buSzPts val="1600"/>
              <a:buFont typeface="Helvetica Neue"/>
              <a:buNone/>
            </a:pPr>
            <a:fld id="{00000000-1234-1234-1234-123412341234}" type="slidenum">
              <a:rPr lang="en-US"/>
              <a:t>‹#›</a:t>
            </a:fld>
            <a:endParaRPr/>
          </a:p>
        </p:txBody>
      </p:sp>
      <p:sp>
        <p:nvSpPr>
          <p:cNvPr id="34" name="Google Shape;34;p1"/>
          <p:cNvSpPr txBox="1"/>
          <p:nvPr/>
        </p:nvSpPr>
        <p:spPr>
          <a:xfrm>
            <a:off x="773448" y="5361937"/>
            <a:ext cx="11458002" cy="3027363"/>
          </a:xfrm>
          <a:prstGeom prst="rect">
            <a:avLst/>
          </a:prstGeom>
          <a:noFill/>
          <a:ln>
            <a:noFill/>
          </a:ln>
        </p:spPr>
        <p:txBody>
          <a:bodyPr anchorCtr="0" anchor="t" bIns="50800" lIns="50800" spcFirstLastPara="1" rIns="50800" wrap="square" tIns="50800">
            <a:noAutofit/>
          </a:bodyPr>
          <a:lstStyle/>
          <a:p>
            <a:pPr indent="0" lvl="0" marL="0" marR="0" rtl="0" algn="l">
              <a:lnSpc>
                <a:spcPct val="130000"/>
              </a:lnSpc>
              <a:spcBef>
                <a:spcPts val="0"/>
              </a:spcBef>
              <a:spcAft>
                <a:spcPts val="0"/>
              </a:spcAft>
              <a:buClr>
                <a:srgbClr val="5A5F5E"/>
              </a:buClr>
              <a:buSzPts val="3000"/>
              <a:buFont typeface="Helvetica Neue"/>
              <a:buNone/>
            </a:pPr>
            <a:r>
              <a:rPr b="0" i="0" lang="en-US" sz="3000" u="none" cap="none" strike="noStrike">
                <a:solidFill>
                  <a:srgbClr val="5A5F5E"/>
                </a:solidFill>
                <a:latin typeface="Helvetica Neue"/>
                <a:ea typeface="Helvetica Neue"/>
                <a:cs typeface="Helvetica Neue"/>
                <a:sym typeface="Helvetica Neue"/>
              </a:rPr>
              <a:t>Student Name: Andy Chen, Alvin Lin, Chrissy Wang </a:t>
            </a:r>
            <a:endParaRPr/>
          </a:p>
          <a:p>
            <a:pPr indent="0" lvl="0" marL="0" marR="0" rtl="0" algn="l">
              <a:lnSpc>
                <a:spcPct val="130000"/>
              </a:lnSpc>
              <a:spcBef>
                <a:spcPts val="0"/>
              </a:spcBef>
              <a:spcAft>
                <a:spcPts val="0"/>
              </a:spcAft>
              <a:buClr>
                <a:srgbClr val="5A5F5E"/>
              </a:buClr>
              <a:buSzPts val="3000"/>
              <a:buFont typeface="Helvetica Neue"/>
              <a:buNone/>
            </a:pPr>
            <a:r>
              <a:rPr b="0" i="0" lang="en-US" sz="3000" u="none" cap="none" strike="noStrike">
                <a:solidFill>
                  <a:srgbClr val="5A5F5E"/>
                </a:solidFill>
                <a:latin typeface="Helvetica Neue"/>
                <a:ea typeface="Helvetica Neue"/>
                <a:cs typeface="Helvetica Neue"/>
                <a:sym typeface="Helvetica Neue"/>
              </a:rPr>
              <a:t>Advisor Name: Hui Wen Teng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ph idx="2" type="body"/>
          </p:nvPr>
        </p:nvSpPr>
        <p:spPr>
          <a:xfrm>
            <a:off x="761999" y="1581811"/>
            <a:ext cx="11467800" cy="3324600"/>
          </a:xfrm>
          <a:prstGeom prst="rect">
            <a:avLst/>
          </a:prstGeom>
          <a:noFill/>
          <a:ln>
            <a:noFill/>
          </a:ln>
        </p:spPr>
        <p:txBody>
          <a:bodyPr anchorCtr="0" anchor="t" bIns="45700" lIns="91425" spcFirstLastPara="1" rIns="91425" wrap="square" tIns="45700">
            <a:spAutoFit/>
          </a:bodyPr>
          <a:lstStyle/>
          <a:p>
            <a:pPr indent="-444500" lvl="0" marL="444500" rtl="0" algn="l">
              <a:lnSpc>
                <a:spcPct val="150000"/>
              </a:lnSpc>
              <a:spcBef>
                <a:spcPts val="0"/>
              </a:spcBef>
              <a:spcAft>
                <a:spcPts val="0"/>
              </a:spcAft>
              <a:buClr>
                <a:srgbClr val="5A5F5E"/>
              </a:buClr>
              <a:buSzPts val="3000"/>
              <a:buFont typeface="Helvetica Neue Light"/>
              <a:buAutoNum type="arabicPeriod"/>
            </a:pPr>
            <a:r>
              <a:rPr lang="en-US">
                <a:solidFill>
                  <a:srgbClr val="5A5F5E"/>
                </a:solidFill>
              </a:rPr>
              <a:t>Introduction</a:t>
            </a:r>
            <a:endParaRPr/>
          </a:p>
          <a:p>
            <a:pPr indent="-444500" lvl="0" marL="444500" rtl="0" algn="l">
              <a:lnSpc>
                <a:spcPct val="150000"/>
              </a:lnSpc>
              <a:spcBef>
                <a:spcPts val="0"/>
              </a:spcBef>
              <a:spcAft>
                <a:spcPts val="0"/>
              </a:spcAft>
              <a:buClr>
                <a:srgbClr val="5A5F5E"/>
              </a:buClr>
              <a:buSzPts val="3000"/>
              <a:buFont typeface="Helvetica Neue Light"/>
              <a:buAutoNum type="arabicPeriod"/>
            </a:pPr>
            <a:r>
              <a:rPr lang="en-US">
                <a:solidFill>
                  <a:srgbClr val="5A5F5E"/>
                </a:solidFill>
              </a:rPr>
              <a:t>Data</a:t>
            </a:r>
            <a:endParaRPr>
              <a:solidFill>
                <a:srgbClr val="5A5F5E"/>
              </a:solidFill>
            </a:endParaRPr>
          </a:p>
          <a:p>
            <a:pPr indent="-444500" lvl="0" marL="444500" rtl="0" algn="l">
              <a:lnSpc>
                <a:spcPct val="150000"/>
              </a:lnSpc>
              <a:spcBef>
                <a:spcPts val="0"/>
              </a:spcBef>
              <a:spcAft>
                <a:spcPts val="0"/>
              </a:spcAft>
              <a:buClr>
                <a:srgbClr val="5A5F5E"/>
              </a:buClr>
              <a:buSzPts val="3000"/>
              <a:buFont typeface="Helvetica Neue Light"/>
              <a:buAutoNum type="arabicPeriod"/>
            </a:pPr>
            <a:r>
              <a:rPr lang="en-US">
                <a:solidFill>
                  <a:srgbClr val="5A5F5E"/>
                </a:solidFill>
              </a:rPr>
              <a:t>Methodology</a:t>
            </a:r>
            <a:endParaRPr>
              <a:solidFill>
                <a:srgbClr val="5A5F5E"/>
              </a:solidFill>
            </a:endParaRPr>
          </a:p>
          <a:p>
            <a:pPr indent="-444500" lvl="0" marL="444500" rtl="0" algn="l">
              <a:lnSpc>
                <a:spcPct val="150000"/>
              </a:lnSpc>
              <a:spcBef>
                <a:spcPts val="0"/>
              </a:spcBef>
              <a:spcAft>
                <a:spcPts val="0"/>
              </a:spcAft>
              <a:buClr>
                <a:srgbClr val="5A5F5E"/>
              </a:buClr>
              <a:buSzPts val="3000"/>
              <a:buAutoNum type="arabicPeriod"/>
            </a:pPr>
            <a:r>
              <a:rPr lang="en-US">
                <a:solidFill>
                  <a:srgbClr val="5A5F5E"/>
                </a:solidFill>
              </a:rPr>
              <a:t>Results</a:t>
            </a:r>
            <a:endParaRPr>
              <a:solidFill>
                <a:srgbClr val="5A5F5E"/>
              </a:solidFill>
            </a:endParaRPr>
          </a:p>
          <a:p>
            <a:pPr indent="-444500" lvl="0" marL="444500" rtl="0" algn="l">
              <a:lnSpc>
                <a:spcPct val="150000"/>
              </a:lnSpc>
              <a:spcBef>
                <a:spcPts val="0"/>
              </a:spcBef>
              <a:spcAft>
                <a:spcPts val="0"/>
              </a:spcAft>
              <a:buClr>
                <a:srgbClr val="5A5F5E"/>
              </a:buClr>
              <a:buSzPts val="3000"/>
              <a:buAutoNum type="arabicPeriod"/>
            </a:pPr>
            <a:r>
              <a:rPr lang="en-US">
                <a:solidFill>
                  <a:srgbClr val="5A5F5E"/>
                </a:solidFill>
              </a:rPr>
              <a:t>Conclusion</a:t>
            </a:r>
            <a:endParaRPr>
              <a:solidFill>
                <a:srgbClr val="5A5F5E"/>
              </a:solidFill>
            </a:endParaRPr>
          </a:p>
        </p:txBody>
      </p:sp>
      <p:sp>
        <p:nvSpPr>
          <p:cNvPr id="40" name="Google Shape;40;p2"/>
          <p:cNvSpPr txBox="1"/>
          <p:nvPr>
            <p:ph idx="1" type="body"/>
          </p:nvPr>
        </p:nvSpPr>
        <p:spPr>
          <a:xfrm>
            <a:off x="768508" y="9219758"/>
            <a:ext cx="10559892" cy="338554"/>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Clr>
                <a:srgbClr val="5A5F5E"/>
              </a:buClr>
              <a:buSzPts val="1600"/>
              <a:buFont typeface="Helvetica Neue Light"/>
              <a:buNone/>
            </a:pPr>
            <a:r>
              <a:rPr lang="en-US" sz="1600"/>
              <a:t>Integrating Data-Level Balancing and Enhanced RFM-Based Feature engineering for Credit Card Fraud Detection</a:t>
            </a:r>
            <a:endParaRPr/>
          </a:p>
        </p:txBody>
      </p:sp>
      <p:sp>
        <p:nvSpPr>
          <p:cNvPr id="41" name="Google Shape;41;p2"/>
          <p:cNvSpPr txBox="1"/>
          <p:nvPr>
            <p:ph idx="12" type="sldNum"/>
          </p:nvPr>
        </p:nvSpPr>
        <p:spPr>
          <a:xfrm>
            <a:off x="11741879" y="213147"/>
            <a:ext cx="494413" cy="399033"/>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4"/>
          <p:cNvSpPr/>
          <p:nvPr/>
        </p:nvSpPr>
        <p:spPr>
          <a:xfrm>
            <a:off x="762200" y="1801588"/>
            <a:ext cx="11480400" cy="6173400"/>
          </a:xfrm>
          <a:prstGeom prst="rect">
            <a:avLst/>
          </a:prstGeom>
          <a:noFill/>
          <a:ln>
            <a:noFill/>
          </a:ln>
        </p:spPr>
        <p:txBody>
          <a:bodyPr anchorCtr="0" anchor="t" bIns="45700" lIns="91425" spcFirstLastPara="1" rIns="91425" wrap="square" tIns="108000">
            <a:noAutofit/>
          </a:bodyPr>
          <a:lstStyle/>
          <a:p>
            <a:pPr indent="0" lvl="0" marL="0" rtl="0" algn="l">
              <a:lnSpc>
                <a:spcPct val="115000"/>
              </a:lnSpc>
              <a:spcBef>
                <a:spcPts val="0"/>
              </a:spcBef>
              <a:spcAft>
                <a:spcPts val="0"/>
              </a:spcAft>
              <a:buNone/>
            </a:pPr>
            <a:r>
              <a:rPr b="1" lang="en-US" sz="2000">
                <a:solidFill>
                  <a:srgbClr val="A61702"/>
                </a:solidFill>
              </a:rPr>
              <a:t>World: </a:t>
            </a:r>
            <a:r>
              <a:rPr lang="en-US" sz="2000">
                <a:solidFill>
                  <a:srgbClr val="5A5F5E"/>
                </a:solidFill>
              </a:rPr>
              <a:t>Fraud losses reached US$ 33.83 billion in 2023 and US$33.45 billion in 2022.</a:t>
            </a:r>
            <a:endParaRPr sz="2000">
              <a:solidFill>
                <a:srgbClr val="5A5F5E"/>
              </a:solidFill>
            </a:endParaRPr>
          </a:p>
          <a:p>
            <a:pPr indent="0" lvl="0" marL="0" rtl="0" algn="l">
              <a:lnSpc>
                <a:spcPct val="115000"/>
              </a:lnSpc>
              <a:spcBef>
                <a:spcPts val="600"/>
              </a:spcBef>
              <a:spcAft>
                <a:spcPts val="0"/>
              </a:spcAft>
              <a:buNone/>
            </a:pPr>
            <a:r>
              <a:rPr b="1" lang="en-US" sz="2000">
                <a:solidFill>
                  <a:srgbClr val="A61702"/>
                </a:solidFill>
              </a:rPr>
              <a:t>United States: </a:t>
            </a:r>
            <a:r>
              <a:rPr lang="en-US" sz="2000">
                <a:solidFill>
                  <a:srgbClr val="5A5F5E"/>
                </a:solidFill>
              </a:rPr>
              <a:t>Losing over US$10 billion to fraud in 2023 with a 14% increase from 2022.</a:t>
            </a:r>
            <a:endParaRPr sz="2000">
              <a:solidFill>
                <a:srgbClr val="5A5F5E"/>
              </a:solidFill>
            </a:endParaRPr>
          </a:p>
          <a:p>
            <a:pPr indent="0" lvl="0" marL="0" rtl="0" algn="l">
              <a:lnSpc>
                <a:spcPct val="115000"/>
              </a:lnSpc>
              <a:spcBef>
                <a:spcPts val="600"/>
              </a:spcBef>
              <a:spcAft>
                <a:spcPts val="0"/>
              </a:spcAft>
              <a:buNone/>
            </a:pPr>
            <a:r>
              <a:rPr b="1" lang="en-US" sz="2000">
                <a:solidFill>
                  <a:srgbClr val="A61702"/>
                </a:solidFill>
              </a:rPr>
              <a:t>Europe: </a:t>
            </a:r>
            <a:r>
              <a:rPr lang="en-US" sz="2000">
                <a:solidFill>
                  <a:srgbClr val="5A5F5E"/>
                </a:solidFill>
              </a:rPr>
              <a:t>Fraud totaled US$4.9 billion in 2022.</a:t>
            </a:r>
            <a:endParaRPr sz="2000">
              <a:solidFill>
                <a:srgbClr val="5A5F5E"/>
              </a:solidFill>
            </a:endParaRPr>
          </a:p>
          <a:p>
            <a:pPr indent="0" lvl="0" marL="0" rtl="0" algn="l">
              <a:lnSpc>
                <a:spcPct val="115000"/>
              </a:lnSpc>
              <a:spcBef>
                <a:spcPts val="600"/>
              </a:spcBef>
              <a:spcAft>
                <a:spcPts val="600"/>
              </a:spcAft>
              <a:buNone/>
            </a:pPr>
            <a:r>
              <a:rPr b="1" lang="en-US" sz="2000">
                <a:solidFill>
                  <a:srgbClr val="A61702"/>
                </a:solidFill>
              </a:rPr>
              <a:t>Taiwan: </a:t>
            </a:r>
            <a:r>
              <a:rPr lang="en-US" sz="2000">
                <a:solidFill>
                  <a:srgbClr val="5A5F5E"/>
                </a:solidFill>
              </a:rPr>
              <a:t>Fraud losses hit US$110 million in 2023, the highest in a decade. </a:t>
            </a:r>
            <a:endParaRPr b="1" sz="2000">
              <a:solidFill>
                <a:schemeClr val="accent5"/>
              </a:solidFill>
            </a:endParaRPr>
          </a:p>
        </p:txBody>
      </p:sp>
      <p:sp>
        <p:nvSpPr>
          <p:cNvPr id="47" name="Google Shape;47;p4"/>
          <p:cNvSpPr txBox="1"/>
          <p:nvPr>
            <p:ph idx="12" type="sldNum"/>
          </p:nvPr>
        </p:nvSpPr>
        <p:spPr>
          <a:xfrm>
            <a:off x="11741879" y="213147"/>
            <a:ext cx="494413" cy="399033"/>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8" name="Google Shape;48;p4"/>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1. Introduction</a:t>
            </a:r>
            <a:endParaRPr/>
          </a:p>
        </p:txBody>
      </p:sp>
      <p:sp>
        <p:nvSpPr>
          <p:cNvPr id="49" name="Google Shape;49;p4"/>
          <p:cNvSpPr txBox="1"/>
          <p:nvPr>
            <p:ph idx="2" type="body"/>
          </p:nvPr>
        </p:nvSpPr>
        <p:spPr>
          <a:xfrm>
            <a:off x="762000" y="762000"/>
            <a:ext cx="11467783" cy="609855"/>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en-US" sz="3000">
                <a:solidFill>
                  <a:srgbClr val="5A5F5E"/>
                </a:solidFill>
                <a:latin typeface="Arial"/>
                <a:ea typeface="Arial"/>
                <a:cs typeface="Arial"/>
                <a:sym typeface="Arial"/>
              </a:rPr>
              <a:t>Importance</a:t>
            </a:r>
            <a:r>
              <a:rPr lang="en-US" sz="3000">
                <a:solidFill>
                  <a:srgbClr val="5A5F5E"/>
                </a:solidFill>
                <a:latin typeface="Arial"/>
                <a:ea typeface="Arial"/>
                <a:cs typeface="Arial"/>
                <a:sym typeface="Arial"/>
              </a:rPr>
              <a:t> of Credit Card Fraud Detection</a:t>
            </a:r>
            <a:endParaRPr sz="3000"/>
          </a:p>
        </p:txBody>
      </p:sp>
      <p:sp>
        <p:nvSpPr>
          <p:cNvPr id="50" name="Google Shape;50;p4"/>
          <p:cNvSpPr txBox="1"/>
          <p:nvPr/>
        </p:nvSpPr>
        <p:spPr>
          <a:xfrm>
            <a:off x="768508" y="9219758"/>
            <a:ext cx="105598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51" name="Google Shape;51;p4"/>
          <p:cNvPicPr preferRelativeResize="0"/>
          <p:nvPr/>
        </p:nvPicPr>
        <p:blipFill>
          <a:blip r:embed="rId3">
            <a:alphaModFix/>
          </a:blip>
          <a:stretch>
            <a:fillRect/>
          </a:stretch>
        </p:blipFill>
        <p:spPr>
          <a:xfrm>
            <a:off x="755687" y="3930967"/>
            <a:ext cx="11480399" cy="40440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g38f1a016ca8_0_72"/>
          <p:cNvSpPr/>
          <p:nvPr/>
        </p:nvSpPr>
        <p:spPr>
          <a:xfrm>
            <a:off x="755700" y="1520553"/>
            <a:ext cx="11480400" cy="7475100"/>
          </a:xfrm>
          <a:prstGeom prst="rect">
            <a:avLst/>
          </a:prstGeom>
          <a:noFill/>
          <a:ln>
            <a:noFill/>
          </a:ln>
        </p:spPr>
        <p:txBody>
          <a:bodyPr anchorCtr="0" anchor="t" bIns="45700" lIns="91425" spcFirstLastPara="1" rIns="91425" wrap="square" tIns="108000">
            <a:noAutofit/>
          </a:bodyPr>
          <a:lstStyle/>
          <a:p>
            <a:pPr indent="0" lvl="0" marL="0" rtl="0" algn="l">
              <a:lnSpc>
                <a:spcPct val="115000"/>
              </a:lnSpc>
              <a:spcBef>
                <a:spcPts val="0"/>
              </a:spcBef>
              <a:spcAft>
                <a:spcPts val="0"/>
              </a:spcAft>
              <a:buNone/>
            </a:pPr>
            <a:r>
              <a:rPr lang="en-US" sz="2000">
                <a:solidFill>
                  <a:srgbClr val="5A5F5E"/>
                </a:solidFill>
              </a:rPr>
              <a:t>(Bart Baesens et al., 2021)</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00000"/>
              </a:lnSpc>
              <a:spcBef>
                <a:spcPts val="600"/>
              </a:spcBef>
              <a:spcAft>
                <a:spcPts val="0"/>
              </a:spcAft>
              <a:buNone/>
            </a:pPr>
            <a:r>
              <a:t/>
            </a:r>
            <a:endParaRPr sz="2000">
              <a:solidFill>
                <a:srgbClr val="5A5F5E"/>
              </a:solidFill>
            </a:endParaRPr>
          </a:p>
          <a:p>
            <a:pPr indent="0" lvl="0" marL="0" rtl="0" algn="l">
              <a:lnSpc>
                <a:spcPct val="100000"/>
              </a:lnSpc>
              <a:spcBef>
                <a:spcPts val="600"/>
              </a:spcBef>
              <a:spcAft>
                <a:spcPts val="600"/>
              </a:spcAft>
              <a:buNone/>
            </a:pPr>
            <a:r>
              <a:t/>
            </a:r>
            <a:endParaRPr sz="1800">
              <a:solidFill>
                <a:srgbClr val="5A5F5E"/>
              </a:solidFill>
            </a:endParaRPr>
          </a:p>
        </p:txBody>
      </p:sp>
      <p:sp>
        <p:nvSpPr>
          <p:cNvPr id="57" name="Google Shape;57;g38f1a016ca8_0_72"/>
          <p:cNvSpPr/>
          <p:nvPr/>
        </p:nvSpPr>
        <p:spPr>
          <a:xfrm>
            <a:off x="8586300" y="2885350"/>
            <a:ext cx="2942100" cy="2391900"/>
          </a:xfrm>
          <a:prstGeom prst="roundRect">
            <a:avLst>
              <a:gd fmla="val 16667" name="adj"/>
            </a:avLst>
          </a:prstGeom>
          <a:solidFill>
            <a:srgbClr val="EFEFEF"/>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2000">
                <a:solidFill>
                  <a:srgbClr val="434343"/>
                </a:solidFill>
              </a:rPr>
              <a:t>Evolving</a:t>
            </a:r>
            <a:endParaRPr b="1" sz="2000">
              <a:solidFill>
                <a:srgbClr val="434343"/>
              </a:solidFill>
            </a:endParaRPr>
          </a:p>
          <a:p>
            <a:pPr indent="0" lvl="0" marL="0" rtl="0" algn="l">
              <a:lnSpc>
                <a:spcPct val="115000"/>
              </a:lnSpc>
              <a:spcBef>
                <a:spcPts val="600"/>
              </a:spcBef>
              <a:spcAft>
                <a:spcPts val="600"/>
              </a:spcAft>
              <a:buNone/>
            </a:pPr>
            <a:r>
              <a:rPr lang="en-US" sz="2000">
                <a:solidFill>
                  <a:schemeClr val="dk2"/>
                </a:solidFill>
              </a:rPr>
              <a:t>Continuously changing, requiring model adaptability.</a:t>
            </a:r>
            <a:endParaRPr b="1" sz="2000">
              <a:solidFill>
                <a:schemeClr val="accent5"/>
              </a:solidFill>
            </a:endParaRPr>
          </a:p>
        </p:txBody>
      </p:sp>
      <p:sp>
        <p:nvSpPr>
          <p:cNvPr id="58" name="Google Shape;58;g38f1a016ca8_0_72"/>
          <p:cNvSpPr/>
          <p:nvPr/>
        </p:nvSpPr>
        <p:spPr>
          <a:xfrm>
            <a:off x="5024850" y="2885350"/>
            <a:ext cx="2942100" cy="2391900"/>
          </a:xfrm>
          <a:prstGeom prst="roundRect">
            <a:avLst>
              <a:gd fmla="val 16667" name="adj"/>
            </a:avLst>
          </a:prstGeom>
          <a:solidFill>
            <a:srgbClr val="F4CCCC"/>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2000">
                <a:solidFill>
                  <a:schemeClr val="accent5"/>
                </a:solidFill>
              </a:rPr>
              <a:t>Rare</a:t>
            </a:r>
            <a:endParaRPr b="1" sz="2000">
              <a:solidFill>
                <a:schemeClr val="accent5"/>
              </a:solidFill>
            </a:endParaRPr>
          </a:p>
          <a:p>
            <a:pPr indent="0" lvl="0" marL="0" rtl="0" algn="l">
              <a:lnSpc>
                <a:spcPct val="115000"/>
              </a:lnSpc>
              <a:spcBef>
                <a:spcPts val="600"/>
              </a:spcBef>
              <a:spcAft>
                <a:spcPts val="600"/>
              </a:spcAft>
              <a:buNone/>
            </a:pPr>
            <a:r>
              <a:rPr lang="en-US" sz="2000">
                <a:solidFill>
                  <a:schemeClr val="dk2"/>
                </a:solidFill>
              </a:rPr>
              <a:t>Low occurrence causes class imbalance and weak learning.</a:t>
            </a:r>
            <a:endParaRPr b="1" sz="2000">
              <a:solidFill>
                <a:schemeClr val="accent5"/>
              </a:solidFill>
            </a:endParaRPr>
          </a:p>
        </p:txBody>
      </p:sp>
      <p:sp>
        <p:nvSpPr>
          <p:cNvPr id="59" name="Google Shape;59;g38f1a016ca8_0_72"/>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60" name="Google Shape;60;g38f1a016ca8_0_72"/>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1. </a:t>
            </a:r>
            <a:r>
              <a:rPr lang="en-US"/>
              <a:t>Introduction</a:t>
            </a:r>
            <a:endParaRPr/>
          </a:p>
        </p:txBody>
      </p:sp>
      <p:sp>
        <p:nvSpPr>
          <p:cNvPr id="61" name="Google Shape;61;g38f1a016ca8_0_72"/>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en-US" sz="3000">
                <a:solidFill>
                  <a:srgbClr val="5A5F5E"/>
                </a:solidFill>
                <a:latin typeface="Arial"/>
                <a:ea typeface="Arial"/>
                <a:cs typeface="Arial"/>
                <a:sym typeface="Arial"/>
              </a:rPr>
              <a:t>Characteristics of Fraud Detection</a:t>
            </a:r>
            <a:endParaRPr sz="3000">
              <a:solidFill>
                <a:srgbClr val="5A5F5E"/>
              </a:solidFill>
              <a:latin typeface="Arial"/>
              <a:ea typeface="Arial"/>
              <a:cs typeface="Arial"/>
              <a:sym typeface="Arial"/>
            </a:endParaRPr>
          </a:p>
        </p:txBody>
      </p:sp>
      <p:sp>
        <p:nvSpPr>
          <p:cNvPr id="62" name="Google Shape;62;g38f1a016ca8_0_72"/>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63" name="Google Shape;63;g38f1a016ca8_0_72"/>
          <p:cNvSpPr/>
          <p:nvPr/>
        </p:nvSpPr>
        <p:spPr>
          <a:xfrm>
            <a:off x="1463400" y="2885350"/>
            <a:ext cx="2942100" cy="2391900"/>
          </a:xfrm>
          <a:prstGeom prst="roundRect">
            <a:avLst>
              <a:gd fmla="val 16667" name="adj"/>
            </a:avLst>
          </a:prstGeom>
          <a:solidFill>
            <a:srgbClr val="F4CCCC"/>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2000">
                <a:solidFill>
                  <a:schemeClr val="accent5"/>
                </a:solidFill>
              </a:rPr>
              <a:t>Concealed</a:t>
            </a:r>
            <a:endParaRPr b="1" sz="2000">
              <a:solidFill>
                <a:schemeClr val="accent5"/>
              </a:solidFill>
            </a:endParaRPr>
          </a:p>
          <a:p>
            <a:pPr indent="0" lvl="0" marL="0" rtl="0" algn="l">
              <a:lnSpc>
                <a:spcPct val="115000"/>
              </a:lnSpc>
              <a:spcBef>
                <a:spcPts val="600"/>
              </a:spcBef>
              <a:spcAft>
                <a:spcPts val="600"/>
              </a:spcAft>
              <a:buNone/>
            </a:pPr>
            <a:r>
              <a:rPr lang="en-US" sz="2000">
                <a:solidFill>
                  <a:schemeClr val="dk2"/>
                </a:solidFill>
              </a:rPr>
              <a:t>Carefully planned and hard to capture by fixed rules.</a:t>
            </a:r>
            <a:endParaRPr b="1" sz="2000">
              <a:solidFill>
                <a:schemeClr val="accent5"/>
              </a:solidFill>
            </a:endParaRPr>
          </a:p>
        </p:txBody>
      </p:sp>
      <p:sp>
        <p:nvSpPr>
          <p:cNvPr id="64" name="Google Shape;64;g38f1a016ca8_0_72"/>
          <p:cNvSpPr/>
          <p:nvPr/>
        </p:nvSpPr>
        <p:spPr>
          <a:xfrm>
            <a:off x="1463400" y="5622900"/>
            <a:ext cx="2942100" cy="698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Feature</a:t>
            </a:r>
            <a:r>
              <a:rPr lang="en-US" sz="1800">
                <a:solidFill>
                  <a:srgbClr val="FFFFFF"/>
                </a:solidFill>
              </a:rPr>
              <a:t> Engineering</a:t>
            </a:r>
            <a:endParaRPr sz="1800">
              <a:solidFill>
                <a:srgbClr val="FFFFFF"/>
              </a:solidFill>
            </a:endParaRPr>
          </a:p>
        </p:txBody>
      </p:sp>
      <p:sp>
        <p:nvSpPr>
          <p:cNvPr id="65" name="Google Shape;65;g38f1a016ca8_0_72"/>
          <p:cNvSpPr/>
          <p:nvPr/>
        </p:nvSpPr>
        <p:spPr>
          <a:xfrm>
            <a:off x="5024850" y="5622900"/>
            <a:ext cx="2942100" cy="6987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solidFill>
                  <a:srgbClr val="FFFFFF"/>
                </a:solidFill>
              </a:rPr>
              <a:t>Imbalanced Learning Techniques</a:t>
            </a:r>
            <a:endParaRPr sz="18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8a13136ea8_0_8"/>
          <p:cNvSpPr/>
          <p:nvPr/>
        </p:nvSpPr>
        <p:spPr>
          <a:xfrm>
            <a:off x="755700" y="1520553"/>
            <a:ext cx="11480400" cy="7475100"/>
          </a:xfrm>
          <a:prstGeom prst="rect">
            <a:avLst/>
          </a:prstGeom>
          <a:noFill/>
          <a:ln>
            <a:noFill/>
          </a:ln>
        </p:spPr>
        <p:txBody>
          <a:bodyPr anchorCtr="0" anchor="t" bIns="45700" lIns="91425" spcFirstLastPara="1" rIns="91425" wrap="square" tIns="108000">
            <a:noAutofit/>
          </a:bodyPr>
          <a:lstStyle/>
          <a:p>
            <a:pPr indent="0" lvl="0" marL="0" rtl="0" algn="l">
              <a:lnSpc>
                <a:spcPct val="115000"/>
              </a:lnSpc>
              <a:spcBef>
                <a:spcPts val="0"/>
              </a:spcBef>
              <a:spcAft>
                <a:spcPts val="0"/>
              </a:spcAft>
              <a:buNone/>
            </a:pPr>
            <a:r>
              <a:rPr b="1" lang="en-US" sz="2000">
                <a:solidFill>
                  <a:schemeClr val="accent5"/>
                </a:solidFill>
              </a:rPr>
              <a:t>RFM framework</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15000"/>
              </a:lnSpc>
              <a:spcBef>
                <a:spcPts val="600"/>
              </a:spcBef>
              <a:spcAft>
                <a:spcPts val="0"/>
              </a:spcAft>
              <a:buNone/>
            </a:pPr>
            <a:r>
              <a:t/>
            </a:r>
            <a:endParaRPr b="1" sz="2000">
              <a:solidFill>
                <a:schemeClr val="accent5"/>
              </a:solidFill>
            </a:endParaRPr>
          </a:p>
          <a:p>
            <a:pPr indent="0" lvl="0" marL="0" rtl="0" algn="l">
              <a:lnSpc>
                <a:spcPct val="100000"/>
              </a:lnSpc>
              <a:spcBef>
                <a:spcPts val="600"/>
              </a:spcBef>
              <a:spcAft>
                <a:spcPts val="0"/>
              </a:spcAft>
              <a:buNone/>
            </a:pPr>
            <a:r>
              <a:t/>
            </a:r>
            <a:endParaRPr sz="2000">
              <a:solidFill>
                <a:srgbClr val="5A5F5E"/>
              </a:solidFill>
            </a:endParaRPr>
          </a:p>
          <a:p>
            <a:pPr indent="0" lvl="0" marL="0" rtl="0" algn="l">
              <a:lnSpc>
                <a:spcPct val="100000"/>
              </a:lnSpc>
              <a:spcBef>
                <a:spcPts val="600"/>
              </a:spcBef>
              <a:spcAft>
                <a:spcPts val="0"/>
              </a:spcAft>
              <a:buNone/>
            </a:pPr>
            <a:r>
              <a:t/>
            </a:r>
            <a:endParaRPr sz="1800">
              <a:solidFill>
                <a:srgbClr val="5A5F5E"/>
              </a:solidFill>
            </a:endParaRPr>
          </a:p>
          <a:p>
            <a:pPr indent="0" lvl="0" marL="0" rtl="0" algn="l">
              <a:lnSpc>
                <a:spcPct val="100000"/>
              </a:lnSpc>
              <a:spcBef>
                <a:spcPts val="600"/>
              </a:spcBef>
              <a:spcAft>
                <a:spcPts val="600"/>
              </a:spcAft>
              <a:buNone/>
            </a:pPr>
            <a:r>
              <a:rPr lang="en-US" sz="1800">
                <a:solidFill>
                  <a:srgbClr val="5A5F5E"/>
                </a:solidFill>
              </a:rPr>
              <a:t>(Bart Baesens et al., 2021)  (Xinwei Zhang et al., 2019)</a:t>
            </a:r>
            <a:endParaRPr sz="1800">
              <a:solidFill>
                <a:srgbClr val="5A5F5E"/>
              </a:solidFill>
            </a:endParaRPr>
          </a:p>
        </p:txBody>
      </p:sp>
      <p:sp>
        <p:nvSpPr>
          <p:cNvPr id="71" name="Google Shape;71;g38a13136ea8_0_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72" name="Google Shape;72;g38a13136ea8_0_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1. Introduction</a:t>
            </a:r>
            <a:endParaRPr/>
          </a:p>
        </p:txBody>
      </p:sp>
      <p:sp>
        <p:nvSpPr>
          <p:cNvPr id="73" name="Google Shape;73;g38a13136ea8_0_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en-US" sz="3000">
                <a:solidFill>
                  <a:srgbClr val="5A5F5E"/>
                </a:solidFill>
                <a:latin typeface="Arial"/>
                <a:ea typeface="Arial"/>
                <a:cs typeface="Arial"/>
                <a:sym typeface="Arial"/>
              </a:rPr>
              <a:t>Feature engineering frameworks in fraud detection</a:t>
            </a:r>
            <a:endParaRPr sz="3000">
              <a:solidFill>
                <a:srgbClr val="5A5F5E"/>
              </a:solidFill>
              <a:latin typeface="Arial"/>
              <a:ea typeface="Arial"/>
              <a:cs typeface="Arial"/>
              <a:sym typeface="Arial"/>
            </a:endParaRPr>
          </a:p>
        </p:txBody>
      </p:sp>
      <p:sp>
        <p:nvSpPr>
          <p:cNvPr id="74" name="Google Shape;74;g38a13136ea8_0_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75" name="Google Shape;75;g38a13136ea8_0_8"/>
          <p:cNvGraphicFramePr/>
          <p:nvPr/>
        </p:nvGraphicFramePr>
        <p:xfrm>
          <a:off x="757375" y="2490200"/>
          <a:ext cx="3000000" cy="3000000"/>
        </p:xfrm>
        <a:graphic>
          <a:graphicData uri="http://schemas.openxmlformats.org/drawingml/2006/table">
            <a:tbl>
              <a:tblPr>
                <a:noFill/>
                <a:tableStyleId>{907A1B16-A7F4-4D7C-BB96-01B651C9B684}</a:tableStyleId>
              </a:tblPr>
              <a:tblGrid>
                <a:gridCol w="1555950"/>
                <a:gridCol w="4850000"/>
                <a:gridCol w="5061850"/>
              </a:tblGrid>
              <a:tr h="333375">
                <a:tc>
                  <a:txBody>
                    <a:bodyPr/>
                    <a:lstStyle/>
                    <a:p>
                      <a:pPr indent="0" lvl="0" marL="0" rtl="0" algn="ctr">
                        <a:lnSpc>
                          <a:spcPct val="115000"/>
                        </a:lnSpc>
                        <a:spcBef>
                          <a:spcPts val="0"/>
                        </a:spcBef>
                        <a:spcAft>
                          <a:spcPts val="0"/>
                        </a:spcAft>
                        <a:buNone/>
                      </a:pPr>
                      <a:r>
                        <a:rPr b="1" lang="en-US" sz="1800">
                          <a:solidFill>
                            <a:srgbClr val="5A5F5E"/>
                          </a:solidFill>
                        </a:rPr>
                        <a:t>Component</a:t>
                      </a:r>
                      <a:endParaRPr b="1" sz="18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1800">
                          <a:solidFill>
                            <a:srgbClr val="5A5F5E"/>
                          </a:solidFill>
                        </a:rPr>
                        <a:t>What It Measures</a:t>
                      </a:r>
                      <a:endParaRPr b="1" sz="18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1800">
                          <a:solidFill>
                            <a:srgbClr val="5A5F5E"/>
                          </a:solidFill>
                        </a:rPr>
                        <a:t>Fraud Detection Insight</a:t>
                      </a:r>
                      <a:endParaRPr b="1" sz="1800">
                        <a:solidFill>
                          <a:srgbClr val="5A5F5E"/>
                        </a:solidFill>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EFEFEF"/>
                    </a:solidFill>
                  </a:tcPr>
                </a:tc>
              </a:tr>
              <a:tr h="466725">
                <a:tc>
                  <a:txBody>
                    <a:bodyPr/>
                    <a:lstStyle/>
                    <a:p>
                      <a:pPr indent="0" lvl="0" marL="0" rtl="0" algn="ctr">
                        <a:lnSpc>
                          <a:spcPct val="115000"/>
                        </a:lnSpc>
                        <a:spcBef>
                          <a:spcPts val="0"/>
                        </a:spcBef>
                        <a:spcAft>
                          <a:spcPts val="0"/>
                        </a:spcAft>
                        <a:buNone/>
                      </a:pPr>
                      <a:r>
                        <a:rPr b="1" lang="en-US" sz="1800">
                          <a:solidFill>
                            <a:srgbClr val="5A5F5E"/>
                          </a:solidFill>
                        </a:rPr>
                        <a:t>Recency</a:t>
                      </a:r>
                      <a:endParaRPr b="1" sz="18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600">
                          <a:solidFill>
                            <a:srgbClr val="5A5F5E"/>
                          </a:solidFill>
                        </a:rPr>
                        <a:t>How recently a customer performed a specific type of transaction.</a:t>
                      </a:r>
                      <a:endParaRPr sz="16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solidFill>
                            <a:srgbClr val="5A5F5E"/>
                          </a:solidFill>
                        </a:rPr>
                        <a:t>Long gaps in expected behavior may indicate suspicious activity.</a:t>
                      </a:r>
                      <a:endParaRPr sz="1600">
                        <a:solidFill>
                          <a:srgbClr val="5A5F5E"/>
                        </a:solidFill>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66725">
                <a:tc>
                  <a:txBody>
                    <a:bodyPr/>
                    <a:lstStyle/>
                    <a:p>
                      <a:pPr indent="0" lvl="0" marL="0" rtl="0" algn="ctr">
                        <a:lnSpc>
                          <a:spcPct val="115000"/>
                        </a:lnSpc>
                        <a:spcBef>
                          <a:spcPts val="0"/>
                        </a:spcBef>
                        <a:spcAft>
                          <a:spcPts val="0"/>
                        </a:spcAft>
                        <a:buNone/>
                      </a:pPr>
                      <a:r>
                        <a:rPr b="1" lang="en-US" sz="1800">
                          <a:solidFill>
                            <a:srgbClr val="5A5F5E"/>
                          </a:solidFill>
                        </a:rPr>
                        <a:t>Frequency</a:t>
                      </a:r>
                      <a:endParaRPr b="1" sz="18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600">
                          <a:solidFill>
                            <a:srgbClr val="5A5F5E"/>
                          </a:solidFill>
                        </a:rPr>
                        <a:t>How often a customer makes certain types of transactions within a time window (e.g., 90/180 days).</a:t>
                      </a:r>
                      <a:endParaRPr sz="16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solidFill>
                            <a:srgbClr val="5A5F5E"/>
                          </a:solidFill>
                        </a:rPr>
                        <a:t>Sudden surge or drop to zero may signal abnormal or fraudulent activity.</a:t>
                      </a:r>
                      <a:endParaRPr sz="1600">
                        <a:solidFill>
                          <a:srgbClr val="5A5F5E"/>
                        </a:solidFill>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819150">
                <a:tc>
                  <a:txBody>
                    <a:bodyPr/>
                    <a:lstStyle/>
                    <a:p>
                      <a:pPr indent="0" lvl="0" marL="0" rtl="0" algn="ctr">
                        <a:lnSpc>
                          <a:spcPct val="115000"/>
                        </a:lnSpc>
                        <a:spcBef>
                          <a:spcPts val="0"/>
                        </a:spcBef>
                        <a:spcAft>
                          <a:spcPts val="0"/>
                        </a:spcAft>
                        <a:buNone/>
                      </a:pPr>
                      <a:r>
                        <a:rPr b="1" lang="en-US" sz="1800">
                          <a:solidFill>
                            <a:srgbClr val="5A5F5E"/>
                          </a:solidFill>
                        </a:rPr>
                        <a:t>Monetary</a:t>
                      </a:r>
                      <a:endParaRPr b="1" sz="18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1600">
                          <a:solidFill>
                            <a:srgbClr val="5A5F5E"/>
                          </a:solidFill>
                        </a:rPr>
                        <a:t>The total or average amount of money spent in transactions over a given period.</a:t>
                      </a:r>
                      <a:endParaRPr sz="1600">
                        <a:solidFill>
                          <a:srgbClr val="5A5F5E"/>
                        </a:solidFill>
                      </a:endParaRPr>
                    </a:p>
                  </a:txBody>
                  <a:tcPr marT="91425" marB="91425" marR="91425" marL="91425" anchor="ctr">
                    <a:lnL cap="flat" cmpd="sng" w="9525">
                      <a:solidFill>
                        <a:srgbClr val="EFEFEF"/>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600">
                          <a:solidFill>
                            <a:srgbClr val="5A5F5E"/>
                          </a:solidFill>
                        </a:rPr>
                        <a:t>Unusually high amounts can be a strong fraud indicator.</a:t>
                      </a:r>
                      <a:endParaRPr sz="1600">
                        <a:solidFill>
                          <a:srgbClr val="5A5F5E"/>
                        </a:solidFill>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8a13136ea8_2_0"/>
          <p:cNvSpPr/>
          <p:nvPr/>
        </p:nvSpPr>
        <p:spPr>
          <a:xfrm>
            <a:off x="755700" y="1371903"/>
            <a:ext cx="11480400" cy="7475100"/>
          </a:xfrm>
          <a:prstGeom prst="rect">
            <a:avLst/>
          </a:prstGeom>
          <a:noFill/>
          <a:ln>
            <a:noFill/>
          </a:ln>
        </p:spPr>
        <p:txBody>
          <a:bodyPr anchorCtr="0" anchor="t" bIns="45700" lIns="91425" spcFirstLastPara="1" rIns="91425" wrap="square" tIns="108000">
            <a:noAutofit/>
          </a:bodyPr>
          <a:lstStyle/>
          <a:p>
            <a:pPr indent="0" lvl="0" marL="0" rtl="0" algn="l">
              <a:spcBef>
                <a:spcPts val="0"/>
              </a:spcBef>
              <a:spcAft>
                <a:spcPts val="600"/>
              </a:spcAft>
              <a:buNone/>
            </a:pPr>
            <a:r>
              <a:rPr lang="en-US" sz="1800">
                <a:solidFill>
                  <a:schemeClr val="dk2"/>
                </a:solidFill>
              </a:rPr>
              <a:t>(Spelmen et al., 2018)</a:t>
            </a:r>
            <a:endParaRPr b="1" sz="2000">
              <a:solidFill>
                <a:srgbClr val="A61702"/>
              </a:solidFill>
            </a:endParaRPr>
          </a:p>
        </p:txBody>
      </p:sp>
      <p:sp>
        <p:nvSpPr>
          <p:cNvPr id="81" name="Google Shape;81;g38a13136ea8_2_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82" name="Google Shape;82;g38a13136ea8_2_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1. Introduction</a:t>
            </a:r>
            <a:endParaRPr/>
          </a:p>
        </p:txBody>
      </p:sp>
      <p:sp>
        <p:nvSpPr>
          <p:cNvPr id="83" name="Google Shape;83;g38a13136ea8_2_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en-US" sz="3000">
                <a:solidFill>
                  <a:srgbClr val="5A5F5E"/>
                </a:solidFill>
                <a:latin typeface="Arial"/>
                <a:ea typeface="Arial"/>
                <a:cs typeface="Arial"/>
                <a:sym typeface="Arial"/>
              </a:rPr>
              <a:t>Imbalanced Learning Techniques</a:t>
            </a:r>
            <a:endParaRPr sz="3000">
              <a:solidFill>
                <a:srgbClr val="5A5F5E"/>
              </a:solidFill>
              <a:latin typeface="Arial"/>
              <a:ea typeface="Arial"/>
              <a:cs typeface="Arial"/>
              <a:sym typeface="Arial"/>
            </a:endParaRPr>
          </a:p>
        </p:txBody>
      </p:sp>
      <p:sp>
        <p:nvSpPr>
          <p:cNvPr id="84" name="Google Shape;84;g38a13136ea8_2_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pSp>
        <p:nvGrpSpPr>
          <p:cNvPr id="85" name="Google Shape;85;g38a13136ea8_2_0"/>
          <p:cNvGrpSpPr/>
          <p:nvPr/>
        </p:nvGrpSpPr>
        <p:grpSpPr>
          <a:xfrm>
            <a:off x="1430375" y="2638125"/>
            <a:ext cx="10144050" cy="4942650"/>
            <a:chOff x="1788626" y="1912225"/>
            <a:chExt cx="9427556" cy="5520664"/>
          </a:xfrm>
        </p:grpSpPr>
        <p:sp>
          <p:nvSpPr>
            <p:cNvPr id="86" name="Google Shape;86;g38a13136ea8_2_0"/>
            <p:cNvSpPr/>
            <p:nvPr/>
          </p:nvSpPr>
          <p:spPr>
            <a:xfrm>
              <a:off x="1788626" y="1912225"/>
              <a:ext cx="9427500" cy="1176000"/>
            </a:xfrm>
            <a:prstGeom prst="roundRect">
              <a:avLst>
                <a:gd fmla="val 16667" name="adj"/>
              </a:avLst>
            </a:prstGeom>
            <a:solidFill>
              <a:srgbClr val="535353"/>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600"/>
                </a:spcAft>
                <a:buNone/>
              </a:pPr>
              <a:r>
                <a:rPr b="1" lang="en-US" sz="2000">
                  <a:solidFill>
                    <a:srgbClr val="FFFFFF"/>
                  </a:solidFill>
                </a:rPr>
                <a:t>Imbalanced Data</a:t>
              </a:r>
              <a:endParaRPr b="1" sz="2000">
                <a:solidFill>
                  <a:srgbClr val="FFFFFF"/>
                </a:solidFill>
              </a:endParaRPr>
            </a:p>
          </p:txBody>
        </p:sp>
        <p:sp>
          <p:nvSpPr>
            <p:cNvPr id="87" name="Google Shape;87;g38a13136ea8_2_0"/>
            <p:cNvSpPr/>
            <p:nvPr/>
          </p:nvSpPr>
          <p:spPr>
            <a:xfrm>
              <a:off x="1788626" y="3391627"/>
              <a:ext cx="2942100" cy="1279200"/>
            </a:xfrm>
            <a:prstGeom prst="roundRect">
              <a:avLst>
                <a:gd fmla="val 16667" name="adj"/>
              </a:avLst>
            </a:prstGeom>
            <a:solidFill>
              <a:srgbClr val="A61702"/>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600"/>
                </a:spcAft>
                <a:buNone/>
              </a:pPr>
              <a:r>
                <a:rPr b="1" lang="en-US" sz="2000">
                  <a:solidFill>
                    <a:srgbClr val="FFFFFF"/>
                  </a:solidFill>
                </a:rPr>
                <a:t>Data Level</a:t>
              </a:r>
              <a:endParaRPr b="1" sz="2000">
                <a:solidFill>
                  <a:srgbClr val="FFFFFF"/>
                </a:solidFill>
              </a:endParaRPr>
            </a:p>
          </p:txBody>
        </p:sp>
        <p:sp>
          <p:nvSpPr>
            <p:cNvPr id="88" name="Google Shape;88;g38a13136ea8_2_0"/>
            <p:cNvSpPr/>
            <p:nvPr/>
          </p:nvSpPr>
          <p:spPr>
            <a:xfrm>
              <a:off x="5031354" y="3391627"/>
              <a:ext cx="2942100" cy="1279200"/>
            </a:xfrm>
            <a:prstGeom prst="roundRect">
              <a:avLst>
                <a:gd fmla="val 16667" name="adj"/>
              </a:avLst>
            </a:prstGeom>
            <a:solidFill>
              <a:srgbClr val="B7B7B7"/>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600"/>
                </a:spcAft>
                <a:buNone/>
              </a:pPr>
              <a:r>
                <a:rPr b="1" lang="en-US" sz="2000">
                  <a:solidFill>
                    <a:srgbClr val="FFFFFF"/>
                  </a:solidFill>
                </a:rPr>
                <a:t>Algorithm Level</a:t>
              </a:r>
              <a:endParaRPr b="1" sz="2000">
                <a:solidFill>
                  <a:srgbClr val="FFFFFF"/>
                </a:solidFill>
              </a:endParaRPr>
            </a:p>
          </p:txBody>
        </p:sp>
        <p:sp>
          <p:nvSpPr>
            <p:cNvPr id="89" name="Google Shape;89;g38a13136ea8_2_0"/>
            <p:cNvSpPr/>
            <p:nvPr/>
          </p:nvSpPr>
          <p:spPr>
            <a:xfrm>
              <a:off x="8274082" y="3391627"/>
              <a:ext cx="2942100" cy="1279200"/>
            </a:xfrm>
            <a:prstGeom prst="roundRect">
              <a:avLst>
                <a:gd fmla="val 16667" name="adj"/>
              </a:avLst>
            </a:prstGeom>
            <a:solidFill>
              <a:srgbClr val="B7B7B7"/>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600"/>
                </a:spcAft>
                <a:buNone/>
              </a:pPr>
              <a:r>
                <a:rPr b="1" lang="en-US" sz="2000">
                  <a:solidFill>
                    <a:srgbClr val="FFFFFF"/>
                  </a:solidFill>
                </a:rPr>
                <a:t>Hybrid</a:t>
              </a:r>
              <a:endParaRPr b="1" sz="2000">
                <a:solidFill>
                  <a:srgbClr val="FFFFFF"/>
                </a:solidFill>
              </a:endParaRPr>
            </a:p>
          </p:txBody>
        </p:sp>
        <p:sp>
          <p:nvSpPr>
            <p:cNvPr id="90" name="Google Shape;90;g38a13136ea8_2_0"/>
            <p:cNvSpPr/>
            <p:nvPr/>
          </p:nvSpPr>
          <p:spPr>
            <a:xfrm>
              <a:off x="1788626" y="5007988"/>
              <a:ext cx="2942100" cy="24249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355600" lvl="0" marL="457200" rtl="0" algn="l">
                <a:lnSpc>
                  <a:spcPct val="115000"/>
                </a:lnSpc>
                <a:spcBef>
                  <a:spcPts val="0"/>
                </a:spcBef>
                <a:spcAft>
                  <a:spcPts val="0"/>
                </a:spcAft>
                <a:buClr>
                  <a:srgbClr val="535353"/>
                </a:buClr>
                <a:buSzPts val="2000"/>
                <a:buChar char="●"/>
              </a:pPr>
              <a:r>
                <a:rPr lang="en-US" sz="2000">
                  <a:solidFill>
                    <a:srgbClr val="535353"/>
                  </a:solidFill>
                </a:rPr>
                <a:t>Oversampling</a:t>
              </a:r>
              <a:endParaRPr sz="2000">
                <a:solidFill>
                  <a:srgbClr val="535353"/>
                </a:solidFill>
              </a:endParaRPr>
            </a:p>
            <a:p>
              <a:pPr indent="-355600" lvl="0" marL="457200" rtl="0" algn="l">
                <a:lnSpc>
                  <a:spcPct val="115000"/>
                </a:lnSpc>
                <a:spcBef>
                  <a:spcPts val="0"/>
                </a:spcBef>
                <a:spcAft>
                  <a:spcPts val="0"/>
                </a:spcAft>
                <a:buClr>
                  <a:srgbClr val="535353"/>
                </a:buClr>
                <a:buSzPts val="2000"/>
                <a:buChar char="●"/>
              </a:pPr>
              <a:r>
                <a:rPr lang="en-US" sz="2000">
                  <a:solidFill>
                    <a:srgbClr val="535353"/>
                  </a:solidFill>
                </a:rPr>
                <a:t>Under-sampling</a:t>
              </a:r>
              <a:endParaRPr sz="2000">
                <a:solidFill>
                  <a:srgbClr val="535353"/>
                </a:solidFill>
              </a:endParaRPr>
            </a:p>
            <a:p>
              <a:pPr indent="-355600" lvl="0" marL="457200" rtl="0" algn="l">
                <a:lnSpc>
                  <a:spcPct val="115000"/>
                </a:lnSpc>
                <a:spcBef>
                  <a:spcPts val="0"/>
                </a:spcBef>
                <a:spcAft>
                  <a:spcPts val="0"/>
                </a:spcAft>
                <a:buClr>
                  <a:srgbClr val="535353"/>
                </a:buClr>
                <a:buSzPts val="2000"/>
                <a:buChar char="●"/>
              </a:pPr>
              <a:r>
                <a:rPr lang="en-US" sz="2000">
                  <a:solidFill>
                    <a:srgbClr val="535353"/>
                  </a:solidFill>
                </a:rPr>
                <a:t>Feature Selection</a:t>
              </a:r>
              <a:endParaRPr sz="2000">
                <a:solidFill>
                  <a:srgbClr val="535353"/>
                </a:solidFill>
              </a:endParaRPr>
            </a:p>
          </p:txBody>
        </p:sp>
        <p:sp>
          <p:nvSpPr>
            <p:cNvPr id="91" name="Google Shape;91;g38a13136ea8_2_0"/>
            <p:cNvSpPr/>
            <p:nvPr/>
          </p:nvSpPr>
          <p:spPr>
            <a:xfrm>
              <a:off x="5031354" y="5007988"/>
              <a:ext cx="2942100" cy="24249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355600" lvl="0" marL="457200" rtl="0" algn="l">
                <a:lnSpc>
                  <a:spcPct val="115000"/>
                </a:lnSpc>
                <a:spcBef>
                  <a:spcPts val="0"/>
                </a:spcBef>
                <a:spcAft>
                  <a:spcPts val="0"/>
                </a:spcAft>
                <a:buClr>
                  <a:srgbClr val="535353"/>
                </a:buClr>
                <a:buSzPts val="2000"/>
                <a:buChar char="●"/>
              </a:pPr>
              <a:r>
                <a:rPr lang="en-US" sz="2000">
                  <a:solidFill>
                    <a:srgbClr val="535353"/>
                  </a:solidFill>
                </a:rPr>
                <a:t>One Class Learning</a:t>
              </a:r>
              <a:endParaRPr sz="2000">
                <a:solidFill>
                  <a:srgbClr val="535353"/>
                </a:solidFill>
              </a:endParaRPr>
            </a:p>
            <a:p>
              <a:pPr indent="-355600" lvl="0" marL="457200" rtl="0" algn="l">
                <a:lnSpc>
                  <a:spcPct val="115000"/>
                </a:lnSpc>
                <a:spcBef>
                  <a:spcPts val="0"/>
                </a:spcBef>
                <a:spcAft>
                  <a:spcPts val="0"/>
                </a:spcAft>
                <a:buClr>
                  <a:srgbClr val="535353"/>
                </a:buClr>
                <a:buSzPts val="2000"/>
                <a:buChar char="●"/>
              </a:pPr>
              <a:r>
                <a:rPr lang="en-US" sz="2000">
                  <a:solidFill>
                    <a:srgbClr val="535353"/>
                  </a:solidFill>
                </a:rPr>
                <a:t>Cost Sensitive Learning</a:t>
              </a:r>
              <a:endParaRPr sz="2000">
                <a:solidFill>
                  <a:srgbClr val="535353"/>
                </a:solidFill>
              </a:endParaRPr>
            </a:p>
            <a:p>
              <a:pPr indent="-355600" lvl="0" marL="457200" rtl="0" algn="l">
                <a:lnSpc>
                  <a:spcPct val="115000"/>
                </a:lnSpc>
                <a:spcBef>
                  <a:spcPts val="0"/>
                </a:spcBef>
                <a:spcAft>
                  <a:spcPts val="0"/>
                </a:spcAft>
                <a:buClr>
                  <a:srgbClr val="535353"/>
                </a:buClr>
                <a:buSzPts val="2000"/>
                <a:buChar char="●"/>
              </a:pPr>
              <a:r>
                <a:rPr lang="en-US" sz="2000">
                  <a:solidFill>
                    <a:srgbClr val="535353"/>
                  </a:solidFill>
                </a:rPr>
                <a:t>Ensemble Methods</a:t>
              </a:r>
              <a:endParaRPr sz="2000">
                <a:solidFill>
                  <a:srgbClr val="535353"/>
                </a:solidFill>
              </a:endParaRPr>
            </a:p>
          </p:txBody>
        </p:sp>
        <p:sp>
          <p:nvSpPr>
            <p:cNvPr id="92" name="Google Shape;92;g38a13136ea8_2_0"/>
            <p:cNvSpPr/>
            <p:nvPr/>
          </p:nvSpPr>
          <p:spPr>
            <a:xfrm>
              <a:off x="8274081" y="5007988"/>
              <a:ext cx="2942100" cy="24249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355600" lvl="0" marL="457200" rtl="0" algn="l">
                <a:lnSpc>
                  <a:spcPct val="115000"/>
                </a:lnSpc>
                <a:spcBef>
                  <a:spcPts val="0"/>
                </a:spcBef>
                <a:spcAft>
                  <a:spcPts val="0"/>
                </a:spcAft>
                <a:buClr>
                  <a:srgbClr val="535353"/>
                </a:buClr>
                <a:buSzPts val="2000"/>
                <a:buChar char="●"/>
              </a:pPr>
              <a:r>
                <a:rPr lang="en-US" sz="2000">
                  <a:solidFill>
                    <a:srgbClr val="535353"/>
                  </a:solidFill>
                </a:rPr>
                <a:t>Mixture of Experts Algorithms</a:t>
              </a:r>
              <a:endParaRPr sz="2000">
                <a:solidFill>
                  <a:srgbClr val="535353"/>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8af740ff76_0_0"/>
          <p:cNvSpPr/>
          <p:nvPr/>
        </p:nvSpPr>
        <p:spPr>
          <a:xfrm>
            <a:off x="755700" y="1520553"/>
            <a:ext cx="11480400" cy="7475100"/>
          </a:xfrm>
          <a:prstGeom prst="rect">
            <a:avLst/>
          </a:prstGeom>
          <a:noFill/>
          <a:ln>
            <a:noFill/>
          </a:ln>
        </p:spPr>
        <p:txBody>
          <a:bodyPr anchorCtr="0" anchor="t" bIns="45700" lIns="91425" spcFirstLastPara="1" rIns="91425" wrap="square" tIns="108000">
            <a:noAutofit/>
          </a:bodyPr>
          <a:lstStyle/>
          <a:p>
            <a:pPr indent="0" lvl="0" marL="0" rtl="0" algn="l">
              <a:lnSpc>
                <a:spcPct val="115000"/>
              </a:lnSpc>
              <a:spcBef>
                <a:spcPts val="0"/>
              </a:spcBef>
              <a:spcAft>
                <a:spcPts val="0"/>
              </a:spcAft>
              <a:buNone/>
            </a:pPr>
            <a:r>
              <a:rPr b="1" lang="en-US" sz="2000">
                <a:solidFill>
                  <a:srgbClr val="A61702"/>
                </a:solidFill>
              </a:rPr>
              <a:t>Dataset Overview</a:t>
            </a:r>
            <a:endParaRPr b="1" sz="2000">
              <a:solidFill>
                <a:srgbClr val="A61702"/>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Source: Kaggle</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Duration: 2010/01/01~2019/10/31</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Size: 13,305,915 Observations (Only 8,914,963 have labels)</a:t>
            </a:r>
            <a:endParaRPr sz="2000">
              <a:solidFill>
                <a:srgbClr val="5A5F5E"/>
              </a:solidFill>
            </a:endParaRPr>
          </a:p>
          <a:p>
            <a:pPr indent="0" lvl="0" marL="0" rtl="0" algn="l">
              <a:lnSpc>
                <a:spcPct val="115000"/>
              </a:lnSpc>
              <a:spcBef>
                <a:spcPts val="0"/>
              </a:spcBef>
              <a:spcAft>
                <a:spcPts val="0"/>
              </a:spcAft>
              <a:buNone/>
            </a:pPr>
            <a:r>
              <a:t/>
            </a:r>
            <a:endParaRPr sz="2000">
              <a:solidFill>
                <a:srgbClr val="5A5F5E"/>
              </a:solidFill>
            </a:endParaRPr>
          </a:p>
          <a:p>
            <a:pPr indent="0" lvl="0" marL="0" rtl="0" algn="l">
              <a:lnSpc>
                <a:spcPct val="115000"/>
              </a:lnSpc>
              <a:spcBef>
                <a:spcPts val="0"/>
              </a:spcBef>
              <a:spcAft>
                <a:spcPts val="0"/>
              </a:spcAft>
              <a:buNone/>
            </a:pPr>
            <a:r>
              <a:rPr b="1" lang="en-US" sz="2000">
                <a:solidFill>
                  <a:srgbClr val="A61702"/>
                </a:solidFill>
              </a:rPr>
              <a:t>Composition</a:t>
            </a:r>
            <a:endParaRPr b="1" sz="2000">
              <a:solidFill>
                <a:srgbClr val="A61702"/>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Source datasets (5): </a:t>
            </a:r>
            <a:endParaRPr sz="2000">
              <a:solidFill>
                <a:srgbClr val="5A5F5E"/>
              </a:solidFill>
            </a:endParaRPr>
          </a:p>
          <a:p>
            <a:pPr indent="-355600" lvl="1" marL="914400" rtl="0" algn="l">
              <a:lnSpc>
                <a:spcPct val="115000"/>
              </a:lnSpc>
              <a:spcBef>
                <a:spcPts val="0"/>
              </a:spcBef>
              <a:spcAft>
                <a:spcPts val="0"/>
              </a:spcAft>
              <a:buClr>
                <a:srgbClr val="5A5F5E"/>
              </a:buClr>
              <a:buSzPts val="2000"/>
              <a:buChar char="○"/>
            </a:pPr>
            <a:r>
              <a:rPr lang="en-US" sz="2000">
                <a:solidFill>
                  <a:srgbClr val="5A5F5E"/>
                </a:solidFill>
              </a:rPr>
              <a:t>Transaction</a:t>
            </a:r>
            <a:endParaRPr sz="2000">
              <a:solidFill>
                <a:srgbClr val="5A5F5E"/>
              </a:solidFill>
            </a:endParaRPr>
          </a:p>
          <a:p>
            <a:pPr indent="-355600" lvl="1" marL="914400" rtl="0" algn="l">
              <a:lnSpc>
                <a:spcPct val="115000"/>
              </a:lnSpc>
              <a:spcBef>
                <a:spcPts val="0"/>
              </a:spcBef>
              <a:spcAft>
                <a:spcPts val="0"/>
              </a:spcAft>
              <a:buClr>
                <a:srgbClr val="5A5F5E"/>
              </a:buClr>
              <a:buSzPts val="2000"/>
              <a:buChar char="○"/>
            </a:pPr>
            <a:r>
              <a:rPr lang="en-US" sz="2000">
                <a:solidFill>
                  <a:srgbClr val="5A5F5E"/>
                </a:solidFill>
              </a:rPr>
              <a:t>User</a:t>
            </a:r>
            <a:endParaRPr sz="2000">
              <a:solidFill>
                <a:srgbClr val="5A5F5E"/>
              </a:solidFill>
            </a:endParaRPr>
          </a:p>
          <a:p>
            <a:pPr indent="-355600" lvl="1" marL="914400" rtl="0" algn="l">
              <a:lnSpc>
                <a:spcPct val="115000"/>
              </a:lnSpc>
              <a:spcBef>
                <a:spcPts val="0"/>
              </a:spcBef>
              <a:spcAft>
                <a:spcPts val="0"/>
              </a:spcAft>
              <a:buClr>
                <a:srgbClr val="5A5F5E"/>
              </a:buClr>
              <a:buSzPts val="2000"/>
              <a:buChar char="○"/>
            </a:pPr>
            <a:r>
              <a:rPr lang="en-US" sz="2000">
                <a:solidFill>
                  <a:srgbClr val="5A5F5E"/>
                </a:solidFill>
              </a:rPr>
              <a:t>Credit Card</a:t>
            </a:r>
            <a:endParaRPr sz="2000">
              <a:solidFill>
                <a:srgbClr val="5A5F5E"/>
              </a:solidFill>
            </a:endParaRPr>
          </a:p>
          <a:p>
            <a:pPr indent="-355600" lvl="1" marL="914400" rtl="0" algn="l">
              <a:lnSpc>
                <a:spcPct val="115000"/>
              </a:lnSpc>
              <a:spcBef>
                <a:spcPts val="0"/>
              </a:spcBef>
              <a:spcAft>
                <a:spcPts val="0"/>
              </a:spcAft>
              <a:buClr>
                <a:srgbClr val="5A5F5E"/>
              </a:buClr>
              <a:buSzPts val="2000"/>
              <a:buChar char="○"/>
            </a:pPr>
            <a:r>
              <a:rPr lang="en-US" sz="2000">
                <a:solidFill>
                  <a:srgbClr val="5A5F5E"/>
                </a:solidFill>
              </a:rPr>
              <a:t>Train_Fraud_Labels </a:t>
            </a:r>
            <a:endParaRPr sz="2000">
              <a:solidFill>
                <a:srgbClr val="5A5F5E"/>
              </a:solidFill>
            </a:endParaRPr>
          </a:p>
          <a:p>
            <a:pPr indent="-355600" lvl="1" marL="914400" rtl="0" algn="l">
              <a:lnSpc>
                <a:spcPct val="115000"/>
              </a:lnSpc>
              <a:spcBef>
                <a:spcPts val="0"/>
              </a:spcBef>
              <a:spcAft>
                <a:spcPts val="0"/>
              </a:spcAft>
              <a:buClr>
                <a:srgbClr val="5A5F5E"/>
              </a:buClr>
              <a:buSzPts val="2000"/>
              <a:buChar char="○"/>
            </a:pPr>
            <a:r>
              <a:rPr lang="en-US" sz="2000">
                <a:solidFill>
                  <a:srgbClr val="5A5F5E"/>
                </a:solidFill>
              </a:rPr>
              <a:t>MCC_Codes</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Columns: 37 (expanded to 51 after one-hot encoding and missing value imputation)</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Target labels: fraud_label</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Overall Fraud Rate: 0.100% (0.149% among labeled samples)</a:t>
            </a:r>
            <a:endParaRPr b="1" sz="2000">
              <a:solidFill>
                <a:schemeClr val="accent5"/>
              </a:solidFill>
            </a:endParaRPr>
          </a:p>
        </p:txBody>
      </p:sp>
      <p:sp>
        <p:nvSpPr>
          <p:cNvPr id="98" name="Google Shape;98;g38af740ff76_0_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99" name="Google Shape;99;g38af740ff76_0_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2.1 Data</a:t>
            </a:r>
            <a:endParaRPr/>
          </a:p>
        </p:txBody>
      </p:sp>
      <p:sp>
        <p:nvSpPr>
          <p:cNvPr id="100" name="Google Shape;100;g38af740ff76_0_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en-US" sz="3000">
                <a:solidFill>
                  <a:srgbClr val="5A5F5E"/>
                </a:solidFill>
                <a:latin typeface="Arial"/>
                <a:ea typeface="Arial"/>
                <a:cs typeface="Arial"/>
                <a:sym typeface="Arial"/>
              </a:rPr>
              <a:t>Financial Transactions Dataset: Analytics</a:t>
            </a:r>
            <a:endParaRPr sz="3000">
              <a:solidFill>
                <a:srgbClr val="5A5F5E"/>
              </a:solidFill>
              <a:latin typeface="Arial"/>
              <a:ea typeface="Arial"/>
              <a:cs typeface="Arial"/>
              <a:sym typeface="Arial"/>
            </a:endParaRPr>
          </a:p>
        </p:txBody>
      </p:sp>
      <p:sp>
        <p:nvSpPr>
          <p:cNvPr id="101" name="Google Shape;101;g38af740ff76_0_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8a13136ea8_0_18"/>
          <p:cNvSpPr txBox="1"/>
          <p:nvPr>
            <p:ph idx="12" type="sldNum"/>
          </p:nvPr>
        </p:nvSpPr>
        <p:spPr>
          <a:xfrm>
            <a:off x="11741879" y="213147"/>
            <a:ext cx="494400" cy="399000"/>
          </a:xfrm>
          <a:prstGeom prst="rect">
            <a:avLst/>
          </a:prstGeom>
        </p:spPr>
        <p:txBody>
          <a:bodyPr anchorCtr="0" anchor="t" bIns="50800" lIns="50800" spcFirstLastPara="1" rIns="50800" wrap="square" tIns="50800">
            <a:normAutofit lnSpcReduction="10000"/>
          </a:bodyPr>
          <a:lstStyle/>
          <a:p>
            <a:pPr indent="0" lvl="0" marL="0" rtl="0" algn="r">
              <a:spcBef>
                <a:spcPts val="0"/>
              </a:spcBef>
              <a:spcAft>
                <a:spcPts val="0"/>
              </a:spcAft>
              <a:buClr>
                <a:srgbClr val="5A5F5E"/>
              </a:buClr>
              <a:buSzPts val="2000"/>
              <a:buFont typeface="Helvetica Neue Light"/>
              <a:buNone/>
            </a:pPr>
            <a:fld id="{00000000-1234-1234-1234-123412341234}" type="slidenum">
              <a:rPr lang="en-US"/>
              <a:t>‹#›</a:t>
            </a:fld>
            <a:endParaRPr/>
          </a:p>
        </p:txBody>
      </p:sp>
      <p:sp>
        <p:nvSpPr>
          <p:cNvPr id="107" name="Google Shape;107;g38a13136ea8_0_18"/>
          <p:cNvSpPr txBox="1"/>
          <p:nvPr>
            <p:ph idx="1" type="body"/>
          </p:nvPr>
        </p:nvSpPr>
        <p:spPr>
          <a:xfrm>
            <a:off x="755809" y="213147"/>
            <a:ext cx="9502800" cy="400200"/>
          </a:xfrm>
          <a:prstGeom prst="rect">
            <a:avLst/>
          </a:prstGeom>
        </p:spPr>
        <p:txBody>
          <a:bodyPr anchorCtr="0" anchor="t" bIns="45700" lIns="91425" spcFirstLastPara="1" rIns="91425" wrap="square" tIns="45700">
            <a:spAutoFit/>
          </a:bodyPr>
          <a:lstStyle/>
          <a:p>
            <a:pPr indent="0" lvl="0" marL="0" rtl="0" algn="l">
              <a:spcBef>
                <a:spcPts val="1200"/>
              </a:spcBef>
              <a:spcAft>
                <a:spcPts val="0"/>
              </a:spcAft>
              <a:buNone/>
            </a:pPr>
            <a:r>
              <a:rPr lang="en-US"/>
              <a:t>2.1 Data</a:t>
            </a:r>
            <a:endParaRPr/>
          </a:p>
        </p:txBody>
      </p:sp>
      <p:sp>
        <p:nvSpPr>
          <p:cNvPr id="108" name="Google Shape;108;g38a13136ea8_0_18"/>
          <p:cNvSpPr txBox="1"/>
          <p:nvPr>
            <p:ph idx="2" type="body"/>
          </p:nvPr>
        </p:nvSpPr>
        <p:spPr>
          <a:xfrm>
            <a:off x="762000" y="762000"/>
            <a:ext cx="11467800" cy="6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3000"/>
              <a:t>Source columns</a:t>
            </a:r>
            <a:endParaRPr sz="3000"/>
          </a:p>
        </p:txBody>
      </p:sp>
      <p:sp>
        <p:nvSpPr>
          <p:cNvPr id="109" name="Google Shape;109;g38a13136ea8_0_18"/>
          <p:cNvSpPr txBox="1"/>
          <p:nvPr>
            <p:ph idx="3" type="body"/>
          </p:nvPr>
        </p:nvSpPr>
        <p:spPr>
          <a:xfrm>
            <a:off x="761999" y="1581811"/>
            <a:ext cx="11467800" cy="369300"/>
          </a:xfrm>
          <a:prstGeom prst="rect">
            <a:avLst/>
          </a:prstGeom>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US" sz="1800">
                <a:solidFill>
                  <a:srgbClr val="D30F11"/>
                </a:solidFill>
                <a:latin typeface="Arial"/>
                <a:ea typeface="Arial"/>
                <a:cs typeface="Arial"/>
                <a:sym typeface="Arial"/>
              </a:rPr>
              <a:t>Red: join Key  |  </a:t>
            </a:r>
            <a:r>
              <a:rPr b="1" lang="en-US" sz="1800">
                <a:solidFill>
                  <a:srgbClr val="00B050"/>
                </a:solidFill>
                <a:latin typeface="Arial"/>
                <a:ea typeface="Arial"/>
                <a:cs typeface="Arial"/>
                <a:sym typeface="Arial"/>
              </a:rPr>
              <a:t>Green: missing_flag  |  </a:t>
            </a:r>
            <a:r>
              <a:rPr b="1" lang="en-US" sz="1800">
                <a:solidFill>
                  <a:srgbClr val="0070C0"/>
                </a:solidFill>
                <a:latin typeface="Arial"/>
                <a:ea typeface="Arial"/>
                <a:cs typeface="Arial"/>
                <a:sym typeface="Arial"/>
              </a:rPr>
              <a:t>Blue: one hot encoding</a:t>
            </a:r>
            <a:endParaRPr/>
          </a:p>
        </p:txBody>
      </p:sp>
      <p:pic>
        <p:nvPicPr>
          <p:cNvPr id="110" name="Google Shape;110;g38a13136ea8_0_18"/>
          <p:cNvPicPr preferRelativeResize="0"/>
          <p:nvPr/>
        </p:nvPicPr>
        <p:blipFill>
          <a:blip r:embed="rId3">
            <a:alphaModFix/>
          </a:blip>
          <a:stretch>
            <a:fillRect/>
          </a:stretch>
        </p:blipFill>
        <p:spPr>
          <a:xfrm>
            <a:off x="752563" y="2071836"/>
            <a:ext cx="11486683" cy="6794768"/>
          </a:xfrm>
          <a:prstGeom prst="rect">
            <a:avLst/>
          </a:prstGeom>
          <a:noFill/>
          <a:ln>
            <a:noFill/>
          </a:ln>
        </p:spPr>
      </p:pic>
      <p:sp>
        <p:nvSpPr>
          <p:cNvPr id="111" name="Google Shape;111;g38a13136ea8_0_1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891d88df84_0_16"/>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17" name="Google Shape;117;g3891d88df84_0_16"/>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2.2 Data Exploration</a:t>
            </a:r>
            <a:endParaRPr/>
          </a:p>
        </p:txBody>
      </p:sp>
      <p:sp>
        <p:nvSpPr>
          <p:cNvPr id="118" name="Google Shape;118;g3891d88df84_0_16"/>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Categorical Variables—Consumers’ Gender</a:t>
            </a:r>
            <a:endParaRPr sz="3000"/>
          </a:p>
        </p:txBody>
      </p:sp>
      <p:sp>
        <p:nvSpPr>
          <p:cNvPr id="119" name="Google Shape;119;g3891d88df84_0_16"/>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120" name="Google Shape;120;g3891d88df84_0_16" title="pie_chart_gender.png"/>
          <p:cNvPicPr preferRelativeResize="0"/>
          <p:nvPr/>
        </p:nvPicPr>
        <p:blipFill rotWithShape="1">
          <a:blip r:embed="rId3">
            <a:alphaModFix/>
          </a:blip>
          <a:srcRect b="0" l="0" r="0" t="0"/>
          <a:stretch/>
        </p:blipFill>
        <p:spPr>
          <a:xfrm>
            <a:off x="422425" y="1387750"/>
            <a:ext cx="6298449" cy="7057600"/>
          </a:xfrm>
          <a:prstGeom prst="rect">
            <a:avLst/>
          </a:prstGeom>
          <a:noFill/>
          <a:ln>
            <a:noFill/>
          </a:ln>
        </p:spPr>
      </p:pic>
      <p:graphicFrame>
        <p:nvGraphicFramePr>
          <p:cNvPr id="121" name="Google Shape;121;g3891d88df84_0_16"/>
          <p:cNvGraphicFramePr/>
          <p:nvPr/>
        </p:nvGraphicFramePr>
        <p:xfrm>
          <a:off x="6788300" y="647977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Gender</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Female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6,815,916 (51.22%)</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Male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6,489,999 (48.78%)</a:t>
                      </a:r>
                      <a:endParaRPr sz="18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85acfb22e7_1_46"/>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27" name="Google Shape;127;g385acfb22e7_1_46"/>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128" name="Google Shape;128;g385acfb22e7_1_46"/>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Categorical Variables—Card Information</a:t>
            </a:r>
            <a:endParaRPr sz="3000"/>
          </a:p>
        </p:txBody>
      </p:sp>
      <p:sp>
        <p:nvSpPr>
          <p:cNvPr id="129" name="Google Shape;129;g385acfb22e7_1_46"/>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130" name="Google Shape;130;g385acfb22e7_1_46" title="pie_chart_card_type.png"/>
          <p:cNvPicPr preferRelativeResize="0"/>
          <p:nvPr/>
        </p:nvPicPr>
        <p:blipFill>
          <a:blip r:embed="rId3">
            <a:alphaModFix/>
          </a:blip>
          <a:stretch>
            <a:fillRect/>
          </a:stretch>
        </p:blipFill>
        <p:spPr>
          <a:xfrm>
            <a:off x="1129575" y="1371925"/>
            <a:ext cx="4619588" cy="5176401"/>
          </a:xfrm>
          <a:prstGeom prst="rect">
            <a:avLst/>
          </a:prstGeom>
          <a:noFill/>
          <a:ln>
            <a:noFill/>
          </a:ln>
        </p:spPr>
      </p:pic>
      <p:pic>
        <p:nvPicPr>
          <p:cNvPr id="131" name="Google Shape;131;g385acfb22e7_1_46" title="pie_chart_card_brand.png"/>
          <p:cNvPicPr preferRelativeResize="0"/>
          <p:nvPr/>
        </p:nvPicPr>
        <p:blipFill>
          <a:blip r:embed="rId4">
            <a:alphaModFix/>
          </a:blip>
          <a:stretch>
            <a:fillRect/>
          </a:stretch>
        </p:blipFill>
        <p:spPr>
          <a:xfrm>
            <a:off x="6899400" y="1371900"/>
            <a:ext cx="4619600" cy="5176453"/>
          </a:xfrm>
          <a:prstGeom prst="rect">
            <a:avLst/>
          </a:prstGeom>
          <a:noFill/>
          <a:ln>
            <a:noFill/>
          </a:ln>
        </p:spPr>
      </p:pic>
      <p:graphicFrame>
        <p:nvGraphicFramePr>
          <p:cNvPr id="132" name="Google Shape;132;g385acfb22e7_1_46"/>
          <p:cNvGraphicFramePr/>
          <p:nvPr/>
        </p:nvGraphicFramePr>
        <p:xfrm>
          <a:off x="755800"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Card Type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Debit</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8,280,996 (62.24%)</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Credit</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4,109,189 (30.88%)</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Debit (Prepaid)</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 915,730 ( 6.88%)</a:t>
                      </a:r>
                      <a:endParaRPr sz="1800"/>
                    </a:p>
                  </a:txBody>
                  <a:tcPr marT="91425" marB="91425" marR="91425" marL="91425"/>
                </a:tc>
              </a:tr>
            </a:tbl>
          </a:graphicData>
        </a:graphic>
      </p:graphicFrame>
      <p:graphicFrame>
        <p:nvGraphicFramePr>
          <p:cNvPr id="133" name="Google Shape;133;g385acfb22e7_1_46"/>
          <p:cNvGraphicFramePr/>
          <p:nvPr/>
        </p:nvGraphicFramePr>
        <p:xfrm>
          <a:off x="6361325"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Card Brand</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Mastercard</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7,157,399 (53.79%)</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Visa</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4,957,563 (37.26%)</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Amex</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 854,490 (6.42%)</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Discover</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336,463 (2.53%)</a:t>
                      </a:r>
                      <a:endParaRPr sz="18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85acfb22e7_1_13"/>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39" name="Google Shape;139;g385acfb22e7_1_13"/>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140" name="Google Shape;140;g385acfb22e7_1_13"/>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Categorical Variables—Chip</a:t>
            </a:r>
            <a:endParaRPr sz="3000"/>
          </a:p>
        </p:txBody>
      </p:sp>
      <p:sp>
        <p:nvSpPr>
          <p:cNvPr id="141" name="Google Shape;141;g385acfb22e7_1_13"/>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142" name="Google Shape;142;g385acfb22e7_1_13" title="pie_chart_has_chip.png"/>
          <p:cNvPicPr preferRelativeResize="0"/>
          <p:nvPr/>
        </p:nvPicPr>
        <p:blipFill rotWithShape="1">
          <a:blip r:embed="rId3">
            <a:alphaModFix/>
          </a:blip>
          <a:srcRect b="0" l="0" r="0" t="0"/>
          <a:stretch/>
        </p:blipFill>
        <p:spPr>
          <a:xfrm>
            <a:off x="1129575" y="1371925"/>
            <a:ext cx="4619588" cy="5176401"/>
          </a:xfrm>
          <a:prstGeom prst="rect">
            <a:avLst/>
          </a:prstGeom>
          <a:noFill/>
          <a:ln>
            <a:noFill/>
          </a:ln>
        </p:spPr>
      </p:pic>
      <p:pic>
        <p:nvPicPr>
          <p:cNvPr id="143" name="Google Shape;143;g385acfb22e7_1_13" title="pie_chart_use_chip.png"/>
          <p:cNvPicPr preferRelativeResize="0"/>
          <p:nvPr/>
        </p:nvPicPr>
        <p:blipFill rotWithShape="1">
          <a:blip r:embed="rId4">
            <a:alphaModFix/>
          </a:blip>
          <a:srcRect b="0" l="0" r="0" t="0"/>
          <a:stretch/>
        </p:blipFill>
        <p:spPr>
          <a:xfrm>
            <a:off x="6899400" y="1371900"/>
            <a:ext cx="4619600" cy="5176453"/>
          </a:xfrm>
          <a:prstGeom prst="rect">
            <a:avLst/>
          </a:prstGeom>
          <a:noFill/>
          <a:ln>
            <a:noFill/>
          </a:ln>
        </p:spPr>
      </p:pic>
      <p:graphicFrame>
        <p:nvGraphicFramePr>
          <p:cNvPr id="144" name="Google Shape;144;g385acfb22e7_1_13"/>
          <p:cNvGraphicFramePr/>
          <p:nvPr/>
        </p:nvGraphicFramePr>
        <p:xfrm>
          <a:off x="755800"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Has Chip</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Yes (1)</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11,974,795</a:t>
                      </a:r>
                      <a:r>
                        <a:rPr lang="en-US" sz="1800"/>
                        <a:t> (90.00%)</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No (0)</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1,331,120</a:t>
                      </a:r>
                      <a:r>
                        <a:rPr lang="en-US" sz="1800"/>
                        <a:t> (10.00%)</a:t>
                      </a:r>
                      <a:endParaRPr sz="1800"/>
                    </a:p>
                  </a:txBody>
                  <a:tcPr marT="91425" marB="91425" marR="91425" marL="91425"/>
                </a:tc>
              </a:tr>
            </a:tbl>
          </a:graphicData>
        </a:graphic>
      </p:graphicFrame>
      <p:graphicFrame>
        <p:nvGraphicFramePr>
          <p:cNvPr id="145" name="Google Shape;145;g385acfb22e7_1_13"/>
          <p:cNvGraphicFramePr/>
          <p:nvPr/>
        </p:nvGraphicFramePr>
        <p:xfrm>
          <a:off x="6361325"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Use Chip</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Swipe Transaction</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6,967,185</a:t>
                      </a:r>
                      <a:r>
                        <a:rPr lang="en-US" sz="1800"/>
                        <a:t> (52.36%)</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Chip Transaction</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4,780,818</a:t>
                      </a:r>
                      <a:r>
                        <a:rPr lang="en-US" sz="1800"/>
                        <a:t> (35.93%)</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Online Transaction</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1,557,912 (11.71%)</a:t>
                      </a:r>
                      <a:endParaRPr sz="1800"/>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85acfb22e7_1_24"/>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51" name="Google Shape;151;g385acfb22e7_1_24"/>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152" name="Google Shape;152;g385acfb22e7_1_24"/>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Categorical Variables—Merchant Location/Online</a:t>
            </a:r>
            <a:endParaRPr sz="3000"/>
          </a:p>
        </p:txBody>
      </p:sp>
      <p:sp>
        <p:nvSpPr>
          <p:cNvPr id="153" name="Google Shape;153;g385acfb22e7_1_24"/>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154" name="Google Shape;154;g385acfb22e7_1_24" title="pie_chart_merchant_state.png"/>
          <p:cNvPicPr preferRelativeResize="0"/>
          <p:nvPr/>
        </p:nvPicPr>
        <p:blipFill rotWithShape="1">
          <a:blip r:embed="rId3">
            <a:alphaModFix/>
          </a:blip>
          <a:srcRect b="0" l="0" r="0" t="0"/>
          <a:stretch/>
        </p:blipFill>
        <p:spPr>
          <a:xfrm>
            <a:off x="1129575" y="1371925"/>
            <a:ext cx="4619588" cy="5176401"/>
          </a:xfrm>
          <a:prstGeom prst="rect">
            <a:avLst/>
          </a:prstGeom>
          <a:noFill/>
          <a:ln>
            <a:noFill/>
          </a:ln>
        </p:spPr>
      </p:pic>
      <p:pic>
        <p:nvPicPr>
          <p:cNvPr id="155" name="Google Shape;155;g385acfb22e7_1_24" title="pie_chart_merchant_city.png"/>
          <p:cNvPicPr preferRelativeResize="0"/>
          <p:nvPr/>
        </p:nvPicPr>
        <p:blipFill rotWithShape="1">
          <a:blip r:embed="rId4">
            <a:alphaModFix/>
          </a:blip>
          <a:srcRect b="0" l="0" r="0" t="0"/>
          <a:stretch/>
        </p:blipFill>
        <p:spPr>
          <a:xfrm>
            <a:off x="6899400" y="1371900"/>
            <a:ext cx="4619600" cy="5176453"/>
          </a:xfrm>
          <a:prstGeom prst="rect">
            <a:avLst/>
          </a:prstGeom>
          <a:noFill/>
          <a:ln>
            <a:noFill/>
          </a:ln>
        </p:spPr>
      </p:pic>
      <p:graphicFrame>
        <p:nvGraphicFramePr>
          <p:cNvPr id="156" name="Google Shape;156;g385acfb22e7_1_24"/>
          <p:cNvGraphicFramePr/>
          <p:nvPr/>
        </p:nvGraphicFramePr>
        <p:xfrm>
          <a:off x="755800"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Merchant State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Online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1,563,700</a:t>
                      </a:r>
                      <a:r>
                        <a:rPr lang="en-US" sz="1800"/>
                        <a:t> (11.75%)</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CA</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1,427,087 (10.73%)</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TX</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1,010,207 (7.59%)</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NY</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 857,510 (6.44%)</a:t>
                      </a:r>
                      <a:endParaRPr sz="1800"/>
                    </a:p>
                  </a:txBody>
                  <a:tcPr marT="91425" marB="91425" marR="91425" marL="91425"/>
                </a:tc>
              </a:tr>
            </a:tbl>
          </a:graphicData>
        </a:graphic>
      </p:graphicFrame>
      <p:graphicFrame>
        <p:nvGraphicFramePr>
          <p:cNvPr id="157" name="Google Shape;157;g385acfb22e7_1_24"/>
          <p:cNvGraphicFramePr/>
          <p:nvPr/>
        </p:nvGraphicFramePr>
        <p:xfrm>
          <a:off x="6361325"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Merchant City</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Online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1,563,700</a:t>
                      </a:r>
                      <a:r>
                        <a:rPr lang="en-US" sz="1800"/>
                        <a:t> (11.75%)</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Houston</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146,917</a:t>
                      </a:r>
                      <a:r>
                        <a:rPr lang="en-US" sz="1800"/>
                        <a:t> (1.10%)</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Miami</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87,388</a:t>
                      </a:r>
                      <a:r>
                        <a:rPr lang="en-US" sz="1800"/>
                        <a:t> (0.66%)</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Brooklyn</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84,020 (0.63%)</a:t>
                      </a:r>
                      <a:endParaRPr sz="18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1" name="Shape 161"/>
        <p:cNvGrpSpPr/>
        <p:nvPr/>
      </p:nvGrpSpPr>
      <p:grpSpPr>
        <a:xfrm>
          <a:off x="0" y="0"/>
          <a:ext cx="0" cy="0"/>
          <a:chOff x="0" y="0"/>
          <a:chExt cx="0" cy="0"/>
        </a:xfrm>
      </p:grpSpPr>
      <p:sp>
        <p:nvSpPr>
          <p:cNvPr id="162" name="Google Shape;162;g385acfb22e7_1_35"/>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63" name="Google Shape;163;g385acfb22e7_1_35"/>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164" name="Google Shape;164;g385acfb22e7_1_35"/>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Categorical Variables—Abnormal Transaction</a:t>
            </a:r>
            <a:endParaRPr sz="3000"/>
          </a:p>
        </p:txBody>
      </p:sp>
      <p:sp>
        <p:nvSpPr>
          <p:cNvPr id="165" name="Google Shape;165;g385acfb22e7_1_35"/>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166" name="Google Shape;166;g385acfb22e7_1_35" title="pie_chart_errors.png"/>
          <p:cNvPicPr preferRelativeResize="0"/>
          <p:nvPr/>
        </p:nvPicPr>
        <p:blipFill rotWithShape="1">
          <a:blip r:embed="rId3">
            <a:alphaModFix/>
          </a:blip>
          <a:srcRect b="0" l="0" r="0" t="0"/>
          <a:stretch/>
        </p:blipFill>
        <p:spPr>
          <a:xfrm>
            <a:off x="1129575" y="1371925"/>
            <a:ext cx="4619588" cy="5176401"/>
          </a:xfrm>
          <a:prstGeom prst="rect">
            <a:avLst/>
          </a:prstGeom>
          <a:noFill/>
          <a:ln>
            <a:noFill/>
          </a:ln>
        </p:spPr>
      </p:pic>
      <p:pic>
        <p:nvPicPr>
          <p:cNvPr id="167" name="Google Shape;167;g385acfb22e7_1_35" title="pie_chart_card_on_dark_web.png"/>
          <p:cNvPicPr preferRelativeResize="0"/>
          <p:nvPr/>
        </p:nvPicPr>
        <p:blipFill rotWithShape="1">
          <a:blip r:embed="rId4">
            <a:alphaModFix/>
          </a:blip>
          <a:srcRect b="0" l="0" r="0" t="0"/>
          <a:stretch/>
        </p:blipFill>
        <p:spPr>
          <a:xfrm>
            <a:off x="6899400" y="1371900"/>
            <a:ext cx="4619600" cy="5176453"/>
          </a:xfrm>
          <a:prstGeom prst="rect">
            <a:avLst/>
          </a:prstGeom>
          <a:noFill/>
          <a:ln>
            <a:noFill/>
          </a:ln>
        </p:spPr>
      </p:pic>
      <p:graphicFrame>
        <p:nvGraphicFramePr>
          <p:cNvPr id="168" name="Google Shape;168;g385acfb22e7_1_35"/>
          <p:cNvGraphicFramePr/>
          <p:nvPr/>
        </p:nvGraphicFramePr>
        <p:xfrm>
          <a:off x="755800"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Errors</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No Error</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13,094,522 (98.41%)</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Insufficient Balance</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130,902 (0.98%)</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Bad Pin</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32,119</a:t>
                      </a:r>
                      <a:r>
                        <a:rPr lang="en-US" sz="1800"/>
                        <a:t> (0.24%)</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Technical Glitch</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 26,271 (0.20%)</a:t>
                      </a:r>
                      <a:endParaRPr sz="1800"/>
                    </a:p>
                  </a:txBody>
                  <a:tcPr marT="91425" marB="91425" marR="91425" marL="91425"/>
                </a:tc>
              </a:tr>
            </a:tbl>
          </a:graphicData>
        </a:graphic>
      </p:graphicFrame>
      <p:graphicFrame>
        <p:nvGraphicFramePr>
          <p:cNvPr id="169" name="Google Shape;169;g385acfb22e7_1_35"/>
          <p:cNvGraphicFramePr/>
          <p:nvPr/>
        </p:nvGraphicFramePr>
        <p:xfrm>
          <a:off x="6361325"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Card on Dark Web</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No (0)</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13,305,915 (100%)</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Yes (1)</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0 (0%)</a:t>
                      </a:r>
                      <a:endParaRPr sz="18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73" name="Shape 173"/>
        <p:cNvGrpSpPr/>
        <p:nvPr/>
      </p:nvGrpSpPr>
      <p:grpSpPr>
        <a:xfrm>
          <a:off x="0" y="0"/>
          <a:ext cx="0" cy="0"/>
          <a:chOff x="0" y="0"/>
          <a:chExt cx="0" cy="0"/>
        </a:xfrm>
      </p:grpSpPr>
      <p:sp>
        <p:nvSpPr>
          <p:cNvPr id="174" name="Google Shape;174;g38beb34be7a_0_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75" name="Google Shape;175;g38beb34be7a_0_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176" name="Google Shape;176;g38beb34be7a_0_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Categorical Variables—Fraud Label</a:t>
            </a:r>
            <a:endParaRPr sz="3000"/>
          </a:p>
        </p:txBody>
      </p:sp>
      <p:sp>
        <p:nvSpPr>
          <p:cNvPr id="177" name="Google Shape;177;g38beb34be7a_0_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178" name="Google Shape;178;g38beb34be7a_0_0" title="pie_chart_fraud_label.png"/>
          <p:cNvPicPr preferRelativeResize="0"/>
          <p:nvPr/>
        </p:nvPicPr>
        <p:blipFill rotWithShape="1">
          <a:blip r:embed="rId3">
            <a:alphaModFix/>
          </a:blip>
          <a:srcRect b="0" l="0" r="0" t="0"/>
          <a:stretch/>
        </p:blipFill>
        <p:spPr>
          <a:xfrm>
            <a:off x="1129575" y="1371925"/>
            <a:ext cx="4619588" cy="5176401"/>
          </a:xfrm>
          <a:prstGeom prst="rect">
            <a:avLst/>
          </a:prstGeom>
          <a:noFill/>
          <a:ln>
            <a:noFill/>
          </a:ln>
        </p:spPr>
      </p:pic>
      <p:graphicFrame>
        <p:nvGraphicFramePr>
          <p:cNvPr id="179" name="Google Shape;179;g38beb34be7a_0_0"/>
          <p:cNvGraphicFramePr/>
          <p:nvPr/>
        </p:nvGraphicFramePr>
        <p:xfrm>
          <a:off x="755800"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Fraud Label</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No</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8,901,631 </a:t>
                      </a:r>
                      <a:r>
                        <a:rPr lang="en-US" sz="1800"/>
                        <a:t>(66.90%)</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Missing</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4,390,952</a:t>
                      </a:r>
                      <a:r>
                        <a:rPr lang="en-US" sz="1800"/>
                        <a:t> (33.00%)</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yes</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13,332</a:t>
                      </a:r>
                      <a:r>
                        <a:rPr lang="en-US" sz="1800"/>
                        <a:t> (0.10%)</a:t>
                      </a:r>
                      <a:endParaRPr sz="1800"/>
                    </a:p>
                  </a:txBody>
                  <a:tcPr marT="91425" marB="91425" marR="91425" marL="91425"/>
                </a:tc>
              </a:tr>
            </a:tbl>
          </a:graphicData>
        </a:graphic>
      </p:graphicFrame>
      <p:graphicFrame>
        <p:nvGraphicFramePr>
          <p:cNvPr id="180" name="Google Shape;180;g38beb34be7a_0_0"/>
          <p:cNvGraphicFramePr/>
          <p:nvPr/>
        </p:nvGraphicFramePr>
        <p:xfrm>
          <a:off x="6361325" y="6702025"/>
          <a:ext cx="3000000" cy="3000000"/>
        </p:xfrm>
        <a:graphic>
          <a:graphicData uri="http://schemas.openxmlformats.org/drawingml/2006/table">
            <a:tbl>
              <a:tblPr>
                <a:noFill/>
                <a:tableStyleId>{4AE0FA90-5911-4907-B5CD-781FDEEBBC44}</a:tableStyleId>
              </a:tblPr>
              <a:tblGrid>
                <a:gridCol w="2472250"/>
                <a:gridCol w="2895600"/>
              </a:tblGrid>
              <a:tr h="458825">
                <a:tc>
                  <a:txBody>
                    <a:bodyPr/>
                    <a:lstStyle/>
                    <a:p>
                      <a:pPr indent="0" lvl="0" marL="0" rtl="0" algn="ctr">
                        <a:spcBef>
                          <a:spcPts val="0"/>
                        </a:spcBef>
                        <a:spcAft>
                          <a:spcPts val="0"/>
                        </a:spcAft>
                        <a:buNone/>
                      </a:pPr>
                      <a:r>
                        <a:rPr lang="en-US" sz="1800">
                          <a:solidFill>
                            <a:srgbClr val="FFFFFF"/>
                          </a:solidFill>
                        </a:rPr>
                        <a:t>Fraud w/o Missing</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solidFill>
                            <a:srgbClr val="FFFFFF"/>
                          </a:solidFill>
                        </a:rPr>
                        <a:t>Frequency</a:t>
                      </a:r>
                      <a:endParaRPr sz="1800">
                        <a:solidFill>
                          <a:srgbClr val="FFFFFF"/>
                        </a:solidFill>
                      </a:endParaRPr>
                    </a:p>
                  </a:txBody>
                  <a:tcPr marT="91425" marB="91425" marR="91425" marL="91425">
                    <a:solidFill>
                      <a:srgbClr val="666666"/>
                    </a:solidFill>
                  </a:tcPr>
                </a:tc>
              </a:tr>
              <a:tr h="441225">
                <a:tc>
                  <a:txBody>
                    <a:bodyPr/>
                    <a:lstStyle/>
                    <a:p>
                      <a:pPr indent="0" lvl="0" marL="0" rtl="0" algn="ctr">
                        <a:spcBef>
                          <a:spcPts val="0"/>
                        </a:spcBef>
                        <a:spcAft>
                          <a:spcPts val="0"/>
                        </a:spcAft>
                        <a:buNone/>
                      </a:pPr>
                      <a:r>
                        <a:rPr lang="en-US" sz="1800">
                          <a:solidFill>
                            <a:srgbClr val="FFFFFF"/>
                          </a:solidFill>
                        </a:rPr>
                        <a:t>No</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8,901,631</a:t>
                      </a:r>
                      <a:r>
                        <a:rPr lang="en-US" sz="1800"/>
                        <a:t> (99.85%)</a:t>
                      </a:r>
                      <a:endParaRPr sz="1800"/>
                    </a:p>
                  </a:txBody>
                  <a:tcPr marT="91425" marB="91425" marR="91425" marL="91425"/>
                </a:tc>
              </a:tr>
              <a:tr h="441225">
                <a:tc>
                  <a:txBody>
                    <a:bodyPr/>
                    <a:lstStyle/>
                    <a:p>
                      <a:pPr indent="0" lvl="0" marL="0" rtl="0" algn="ctr">
                        <a:spcBef>
                          <a:spcPts val="0"/>
                        </a:spcBef>
                        <a:spcAft>
                          <a:spcPts val="0"/>
                        </a:spcAft>
                        <a:buNone/>
                      </a:pPr>
                      <a:r>
                        <a:rPr lang="en-US" sz="1800">
                          <a:solidFill>
                            <a:srgbClr val="FFFFFF"/>
                          </a:solidFill>
                        </a:rPr>
                        <a:t>Yes</a:t>
                      </a:r>
                      <a:endParaRPr sz="18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800"/>
                        <a:t>13,332</a:t>
                      </a:r>
                      <a:r>
                        <a:rPr lang="en-US" sz="1800"/>
                        <a:t> (0.15%)</a:t>
                      </a:r>
                      <a:endParaRPr sz="1800"/>
                    </a:p>
                  </a:txBody>
                  <a:tcPr marT="91425" marB="91425" marR="91425" marL="91425"/>
                </a:tc>
              </a:tr>
            </a:tbl>
          </a:graphicData>
        </a:graphic>
      </p:graphicFrame>
      <p:pic>
        <p:nvPicPr>
          <p:cNvPr id="181" name="Google Shape;181;g38beb34be7a_0_0" title="image11.png"/>
          <p:cNvPicPr preferRelativeResize="0"/>
          <p:nvPr/>
        </p:nvPicPr>
        <p:blipFill>
          <a:blip r:embed="rId4">
            <a:alphaModFix/>
          </a:blip>
          <a:stretch>
            <a:fillRect/>
          </a:stretch>
        </p:blipFill>
        <p:spPr>
          <a:xfrm>
            <a:off x="5532403" y="1524300"/>
            <a:ext cx="6950836" cy="48353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85acfb22e7_1_72"/>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87" name="Google Shape;187;g385acfb22e7_1_72"/>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188" name="Google Shape;188;g385acfb22e7_1_72"/>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a:t>
            </a:r>
            <a:r>
              <a:rPr lang="en-US" sz="3000"/>
              <a:t> Variables—Client Age</a:t>
            </a:r>
            <a:endParaRPr sz="3000"/>
          </a:p>
        </p:txBody>
      </p:sp>
      <p:sp>
        <p:nvSpPr>
          <p:cNvPr id="189" name="Google Shape;189;g385acfb22e7_1_72"/>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190" name="Google Shape;190;g385acfb22e7_1_72"/>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71900"/>
                <a:gridCol w="3075325"/>
                <a:gridCol w="3075325"/>
                <a:gridCol w="30753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birth_year</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current_age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retirement_age</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1965.16</a:t>
                      </a:r>
                      <a:endParaRPr sz="1300"/>
                    </a:p>
                  </a:txBody>
                  <a:tcPr marT="91425" marB="91425" marR="91425" marL="91425"/>
                </a:tc>
                <a:tc>
                  <a:txBody>
                    <a:bodyPr/>
                    <a:lstStyle/>
                    <a:p>
                      <a:pPr indent="0" lvl="0" marL="0" rtl="0" algn="ctr">
                        <a:spcBef>
                          <a:spcPts val="0"/>
                        </a:spcBef>
                        <a:spcAft>
                          <a:spcPts val="0"/>
                        </a:spcAft>
                        <a:buNone/>
                      </a:pPr>
                      <a:r>
                        <a:rPr lang="en-US" sz="1300"/>
                        <a:t>54.03</a:t>
                      </a:r>
                      <a:endParaRPr sz="1300"/>
                    </a:p>
                  </a:txBody>
                  <a:tcPr marT="91425" marB="91425" marR="91425" marL="91425"/>
                </a:tc>
                <a:tc>
                  <a:txBody>
                    <a:bodyPr/>
                    <a:lstStyle/>
                    <a:p>
                      <a:pPr indent="0" lvl="0" marL="0" rtl="0" algn="ctr">
                        <a:spcBef>
                          <a:spcPts val="0"/>
                        </a:spcBef>
                        <a:spcAft>
                          <a:spcPts val="0"/>
                        </a:spcAft>
                        <a:buNone/>
                      </a:pPr>
                      <a:r>
                        <a:rPr lang="en-US" sz="1300"/>
                        <a:t>66.49</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15.72</a:t>
                      </a:r>
                      <a:endParaRPr sz="1300"/>
                    </a:p>
                  </a:txBody>
                  <a:tcPr marT="91425" marB="91425" marR="91425" marL="91425"/>
                </a:tc>
                <a:tc>
                  <a:txBody>
                    <a:bodyPr/>
                    <a:lstStyle/>
                    <a:p>
                      <a:pPr indent="0" lvl="0" marL="0" rtl="0" algn="ctr">
                        <a:spcBef>
                          <a:spcPts val="0"/>
                        </a:spcBef>
                        <a:spcAft>
                          <a:spcPts val="0"/>
                        </a:spcAft>
                        <a:buNone/>
                      </a:pPr>
                      <a:r>
                        <a:rPr lang="en-US" sz="1300"/>
                        <a:t>15.73</a:t>
                      </a:r>
                      <a:endParaRPr sz="1300"/>
                    </a:p>
                  </a:txBody>
                  <a:tcPr marT="91425" marB="91425" marR="91425" marL="91425"/>
                </a:tc>
                <a:tc>
                  <a:txBody>
                    <a:bodyPr/>
                    <a:lstStyle/>
                    <a:p>
                      <a:pPr indent="0" lvl="0" marL="0" rtl="0" algn="ctr">
                        <a:spcBef>
                          <a:spcPts val="0"/>
                        </a:spcBef>
                        <a:spcAft>
                          <a:spcPts val="0"/>
                        </a:spcAft>
                        <a:buNone/>
                      </a:pPr>
                      <a:r>
                        <a:rPr lang="en-US" sz="1300"/>
                        <a:t>3.59</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1918</a:t>
                      </a:r>
                      <a:endParaRPr sz="1300"/>
                    </a:p>
                  </a:txBody>
                  <a:tcPr marT="91425" marB="91425" marR="91425" marL="91425"/>
                </a:tc>
                <a:tc>
                  <a:txBody>
                    <a:bodyPr/>
                    <a:lstStyle/>
                    <a:p>
                      <a:pPr indent="0" lvl="0" marL="0" rtl="0" algn="ctr">
                        <a:spcBef>
                          <a:spcPts val="0"/>
                        </a:spcBef>
                        <a:spcAft>
                          <a:spcPts val="0"/>
                        </a:spcAft>
                        <a:buNone/>
                      </a:pPr>
                      <a:r>
                        <a:rPr lang="en-US" sz="1300"/>
                        <a:t>23</a:t>
                      </a:r>
                      <a:endParaRPr sz="1300"/>
                    </a:p>
                  </a:txBody>
                  <a:tcPr marT="91425" marB="91425" marR="91425" marL="91425"/>
                </a:tc>
                <a:tc>
                  <a:txBody>
                    <a:bodyPr/>
                    <a:lstStyle/>
                    <a:p>
                      <a:pPr indent="0" lvl="0" marL="0" rtl="0" algn="ctr">
                        <a:spcBef>
                          <a:spcPts val="0"/>
                        </a:spcBef>
                        <a:spcAft>
                          <a:spcPts val="0"/>
                        </a:spcAft>
                        <a:buNone/>
                      </a:pPr>
                      <a:r>
                        <a:rPr lang="en-US" sz="1300"/>
                        <a:t>53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1956</a:t>
                      </a:r>
                      <a:endParaRPr sz="1300"/>
                    </a:p>
                  </a:txBody>
                  <a:tcPr marT="91425" marB="91425" marR="91425" marL="91425"/>
                </a:tc>
                <a:tc>
                  <a:txBody>
                    <a:bodyPr/>
                    <a:lstStyle/>
                    <a:p>
                      <a:pPr indent="0" lvl="0" marL="0" rtl="0" algn="ctr">
                        <a:spcBef>
                          <a:spcPts val="0"/>
                        </a:spcBef>
                        <a:spcAft>
                          <a:spcPts val="0"/>
                        </a:spcAft>
                        <a:buNone/>
                      </a:pPr>
                      <a:r>
                        <a:rPr lang="en-US" sz="1300"/>
                        <a:t>42</a:t>
                      </a:r>
                      <a:endParaRPr sz="1300"/>
                    </a:p>
                  </a:txBody>
                  <a:tcPr marT="91425" marB="91425" marR="91425" marL="91425"/>
                </a:tc>
                <a:tc>
                  <a:txBody>
                    <a:bodyPr/>
                    <a:lstStyle/>
                    <a:p>
                      <a:pPr indent="0" lvl="0" marL="0" rtl="0" algn="ctr">
                        <a:spcBef>
                          <a:spcPts val="0"/>
                        </a:spcBef>
                        <a:spcAft>
                          <a:spcPts val="0"/>
                        </a:spcAft>
                        <a:buNone/>
                      </a:pPr>
                      <a:r>
                        <a:rPr lang="en-US" sz="1300"/>
                        <a:t>65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1968</a:t>
                      </a:r>
                      <a:endParaRPr sz="1300"/>
                    </a:p>
                  </a:txBody>
                  <a:tcPr marT="91425" marB="91425" marR="91425" marL="91425"/>
                </a:tc>
                <a:tc>
                  <a:txBody>
                    <a:bodyPr/>
                    <a:lstStyle/>
                    <a:p>
                      <a:pPr indent="0" lvl="0" marL="0" rtl="0" algn="ctr">
                        <a:spcBef>
                          <a:spcPts val="0"/>
                        </a:spcBef>
                        <a:spcAft>
                          <a:spcPts val="0"/>
                        </a:spcAft>
                        <a:buNone/>
                      </a:pPr>
                      <a:r>
                        <a:rPr lang="en-US" sz="1300"/>
                        <a:t>52</a:t>
                      </a:r>
                      <a:endParaRPr sz="1300"/>
                    </a:p>
                  </a:txBody>
                  <a:tcPr marT="91425" marB="91425" marR="91425" marL="91425"/>
                </a:tc>
                <a:tc>
                  <a:txBody>
                    <a:bodyPr/>
                    <a:lstStyle/>
                    <a:p>
                      <a:pPr indent="0" lvl="0" marL="0" rtl="0" algn="ctr">
                        <a:spcBef>
                          <a:spcPts val="0"/>
                        </a:spcBef>
                        <a:spcAft>
                          <a:spcPts val="0"/>
                        </a:spcAft>
                        <a:buNone/>
                      </a:pPr>
                      <a:r>
                        <a:rPr lang="en-US" sz="1300"/>
                        <a:t>66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1977</a:t>
                      </a:r>
                      <a:endParaRPr sz="1300"/>
                    </a:p>
                  </a:txBody>
                  <a:tcPr marT="91425" marB="91425" marR="91425" marL="91425"/>
                </a:tc>
                <a:tc>
                  <a:txBody>
                    <a:bodyPr/>
                    <a:lstStyle/>
                    <a:p>
                      <a:pPr indent="0" lvl="0" marL="0" rtl="0" algn="ctr">
                        <a:spcBef>
                          <a:spcPts val="0"/>
                        </a:spcBef>
                        <a:spcAft>
                          <a:spcPts val="0"/>
                        </a:spcAft>
                        <a:buNone/>
                      </a:pPr>
                      <a:r>
                        <a:rPr lang="en-US" sz="1300"/>
                        <a:t>63</a:t>
                      </a:r>
                      <a:endParaRPr sz="1300"/>
                    </a:p>
                  </a:txBody>
                  <a:tcPr marT="91425" marB="91425" marR="91425" marL="91425"/>
                </a:tc>
                <a:tc>
                  <a:txBody>
                    <a:bodyPr/>
                    <a:lstStyle/>
                    <a:p>
                      <a:pPr indent="0" lvl="0" marL="0" rtl="0" algn="ctr">
                        <a:spcBef>
                          <a:spcPts val="0"/>
                        </a:spcBef>
                        <a:spcAft>
                          <a:spcPts val="0"/>
                        </a:spcAft>
                        <a:buNone/>
                      </a:pPr>
                      <a:r>
                        <a:rPr lang="en-US" sz="1300"/>
                        <a:t>68</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1996</a:t>
                      </a:r>
                      <a:endParaRPr sz="1300"/>
                    </a:p>
                  </a:txBody>
                  <a:tcPr marT="91425" marB="91425" marR="91425" marL="91425"/>
                </a:tc>
                <a:tc>
                  <a:txBody>
                    <a:bodyPr/>
                    <a:lstStyle/>
                    <a:p>
                      <a:pPr indent="0" lvl="0" marL="0" rtl="0" algn="ctr">
                        <a:spcBef>
                          <a:spcPts val="0"/>
                        </a:spcBef>
                        <a:spcAft>
                          <a:spcPts val="0"/>
                        </a:spcAft>
                        <a:buNone/>
                      </a:pPr>
                      <a:r>
                        <a:rPr lang="en-US" sz="1300"/>
                        <a:t>101</a:t>
                      </a:r>
                      <a:endParaRPr sz="1300"/>
                    </a:p>
                  </a:txBody>
                  <a:tcPr marT="91425" marB="91425" marR="91425" marL="91425"/>
                </a:tc>
                <a:tc>
                  <a:txBody>
                    <a:bodyPr/>
                    <a:lstStyle/>
                    <a:p>
                      <a:pPr indent="0" lvl="0" marL="0" rtl="0" algn="ctr">
                        <a:spcBef>
                          <a:spcPts val="0"/>
                        </a:spcBef>
                        <a:spcAft>
                          <a:spcPts val="0"/>
                        </a:spcAft>
                        <a:buNone/>
                      </a:pPr>
                      <a:r>
                        <a:rPr lang="en-US" sz="1300"/>
                        <a:t>79</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-0.55</a:t>
                      </a:r>
                      <a:endParaRPr sz="1300"/>
                    </a:p>
                  </a:txBody>
                  <a:tcPr marT="91425" marB="91425" marR="91425" marL="91425"/>
                </a:tc>
                <a:tc>
                  <a:txBody>
                    <a:bodyPr/>
                    <a:lstStyle/>
                    <a:p>
                      <a:pPr indent="0" lvl="0" marL="0" rtl="0" algn="ctr">
                        <a:spcBef>
                          <a:spcPts val="0"/>
                        </a:spcBef>
                        <a:spcAft>
                          <a:spcPts val="0"/>
                        </a:spcAft>
                        <a:buNone/>
                      </a:pPr>
                      <a:r>
                        <a:rPr lang="en-US" sz="1300"/>
                        <a:t>0.55</a:t>
                      </a:r>
                      <a:endParaRPr sz="1300"/>
                    </a:p>
                  </a:txBody>
                  <a:tcPr marT="91425" marB="91425" marR="91425" marL="91425"/>
                </a:tc>
                <a:tc>
                  <a:txBody>
                    <a:bodyPr/>
                    <a:lstStyle/>
                    <a:p>
                      <a:pPr indent="0" lvl="0" marL="0" rtl="0" algn="ctr">
                        <a:spcBef>
                          <a:spcPts val="0"/>
                        </a:spcBef>
                        <a:spcAft>
                          <a:spcPts val="0"/>
                        </a:spcAft>
                        <a:buNone/>
                      </a:pPr>
                      <a:r>
                        <a:rPr lang="en-US" sz="1300"/>
                        <a:t>-0.32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-0.27</a:t>
                      </a:r>
                      <a:endParaRPr sz="1300"/>
                    </a:p>
                  </a:txBody>
                  <a:tcPr marT="91425" marB="91425" marR="91425" marL="91425"/>
                </a:tc>
                <a:tc>
                  <a:txBody>
                    <a:bodyPr/>
                    <a:lstStyle/>
                    <a:p>
                      <a:pPr indent="0" lvl="0" marL="0" rtl="0" algn="ctr">
                        <a:spcBef>
                          <a:spcPts val="0"/>
                        </a:spcBef>
                        <a:spcAft>
                          <a:spcPts val="0"/>
                        </a:spcAft>
                        <a:buNone/>
                      </a:pPr>
                      <a:r>
                        <a:rPr lang="en-US" sz="1300"/>
                        <a:t>-0.28</a:t>
                      </a:r>
                      <a:endParaRPr sz="1300"/>
                    </a:p>
                  </a:txBody>
                  <a:tcPr marT="91425" marB="91425" marR="91425" marL="91425"/>
                </a:tc>
                <a:tc>
                  <a:txBody>
                    <a:bodyPr/>
                    <a:lstStyle/>
                    <a:p>
                      <a:pPr indent="0" lvl="0" marL="0" rtl="0" algn="ctr">
                        <a:spcBef>
                          <a:spcPts val="0"/>
                        </a:spcBef>
                        <a:spcAft>
                          <a:spcPts val="0"/>
                        </a:spcAft>
                        <a:buNone/>
                      </a:pPr>
                      <a:r>
                        <a:rPr lang="en-US" sz="1300"/>
                        <a:t>1.38</a:t>
                      </a:r>
                      <a:endParaRPr sz="1300"/>
                    </a:p>
                  </a:txBody>
                  <a:tcPr marT="91425" marB="91425" marR="91425" marL="91425"/>
                </a:tc>
              </a:tr>
            </a:tbl>
          </a:graphicData>
        </a:graphic>
      </p:graphicFrame>
      <p:pic>
        <p:nvPicPr>
          <p:cNvPr id="191" name="Google Shape;191;g385acfb22e7_1_72" title="distribution_retirement_age_final_background_grid.png"/>
          <p:cNvPicPr preferRelativeResize="0"/>
          <p:nvPr/>
        </p:nvPicPr>
        <p:blipFill rotWithShape="1">
          <a:blip r:embed="rId3">
            <a:alphaModFix/>
          </a:blip>
          <a:srcRect b="3619" l="6740" r="9423" t="7015"/>
          <a:stretch/>
        </p:blipFill>
        <p:spPr>
          <a:xfrm>
            <a:off x="8754275" y="1259025"/>
            <a:ext cx="4063100" cy="3488650"/>
          </a:xfrm>
          <a:prstGeom prst="rect">
            <a:avLst/>
          </a:prstGeom>
          <a:noFill/>
          <a:ln>
            <a:noFill/>
          </a:ln>
        </p:spPr>
      </p:pic>
      <p:pic>
        <p:nvPicPr>
          <p:cNvPr id="192" name="Google Shape;192;g385acfb22e7_1_72" title="distribution_current_age_final_background_grid.png"/>
          <p:cNvPicPr preferRelativeResize="0"/>
          <p:nvPr/>
        </p:nvPicPr>
        <p:blipFill rotWithShape="1">
          <a:blip r:embed="rId4">
            <a:alphaModFix/>
          </a:blip>
          <a:srcRect b="3847" l="6416" r="9380" t="7914"/>
          <a:stretch/>
        </p:blipFill>
        <p:spPr>
          <a:xfrm>
            <a:off x="4265600" y="1303970"/>
            <a:ext cx="4573875" cy="3426350"/>
          </a:xfrm>
          <a:prstGeom prst="rect">
            <a:avLst/>
          </a:prstGeom>
          <a:noFill/>
          <a:ln>
            <a:noFill/>
          </a:ln>
        </p:spPr>
      </p:pic>
      <p:pic>
        <p:nvPicPr>
          <p:cNvPr id="193" name="Google Shape;193;g385acfb22e7_1_72" title="distribution_birth_year_final_background_grid.png"/>
          <p:cNvPicPr preferRelativeResize="0"/>
          <p:nvPr/>
        </p:nvPicPr>
        <p:blipFill rotWithShape="1">
          <a:blip r:embed="rId5">
            <a:alphaModFix/>
          </a:blip>
          <a:srcRect b="3853" l="5439" r="9309" t="8172"/>
          <a:stretch/>
        </p:blipFill>
        <p:spPr>
          <a:xfrm>
            <a:off x="105825" y="1303982"/>
            <a:ext cx="4159775" cy="3426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89d7be5379_3_5"/>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199" name="Google Shape;199;g389d7be5379_3_5"/>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200" name="Google Shape;200;g389d7be5379_3_5"/>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Variables—Income</a:t>
            </a:r>
            <a:endParaRPr sz="3000"/>
          </a:p>
        </p:txBody>
      </p:sp>
      <p:sp>
        <p:nvSpPr>
          <p:cNvPr id="201" name="Google Shape;201;g389d7be5379_3_5"/>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02" name="Google Shape;202;g389d7be5379_3_5"/>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yearly_income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log_yearly_income</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46,683.69</a:t>
                      </a:r>
                      <a:endParaRPr sz="1300"/>
                    </a:p>
                  </a:txBody>
                  <a:tcPr marT="91425" marB="91425" marR="91425" marL="91425"/>
                </a:tc>
                <a:tc>
                  <a:txBody>
                    <a:bodyPr/>
                    <a:lstStyle/>
                    <a:p>
                      <a:pPr indent="0" lvl="0" marL="0" rtl="0" algn="ctr">
                        <a:spcBef>
                          <a:spcPts val="0"/>
                        </a:spcBef>
                        <a:spcAft>
                          <a:spcPts val="0"/>
                        </a:spcAft>
                        <a:buNone/>
                      </a:pPr>
                      <a:r>
                        <a:rPr lang="en-US" sz="1300"/>
                        <a:t>10.63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24,445.09</a:t>
                      </a:r>
                      <a:endParaRPr sz="1300"/>
                    </a:p>
                  </a:txBody>
                  <a:tcPr marT="91425" marB="91425" marR="91425" marL="91425"/>
                </a:tc>
                <a:tc>
                  <a:txBody>
                    <a:bodyPr/>
                    <a:lstStyle/>
                    <a:p>
                      <a:pPr indent="0" lvl="0" marL="0" rtl="0" algn="ctr">
                        <a:spcBef>
                          <a:spcPts val="0"/>
                        </a:spcBef>
                        <a:spcAft>
                          <a:spcPts val="0"/>
                        </a:spcAft>
                        <a:buNone/>
                      </a:pPr>
                      <a:r>
                        <a:rPr lang="en-US" sz="1300"/>
                        <a:t>0.65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a:t>
                      </a:r>
                      <a:endParaRPr sz="1300"/>
                    </a:p>
                  </a:txBody>
                  <a:tcPr marT="91425" marB="91425" marR="91425" marL="91425"/>
                </a:tc>
                <a:tc>
                  <a:txBody>
                    <a:bodyPr/>
                    <a:lstStyle/>
                    <a:p>
                      <a:pPr indent="0" lvl="0" marL="0" rtl="0" algn="ctr">
                        <a:spcBef>
                          <a:spcPts val="0"/>
                        </a:spcBef>
                        <a:spcAft>
                          <a:spcPts val="0"/>
                        </a:spcAft>
                        <a:buNone/>
                      </a:pPr>
                      <a:r>
                        <a:rPr lang="en-US" sz="1300"/>
                        <a:t>0.69</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32,817</a:t>
                      </a:r>
                      <a:endParaRPr sz="1300"/>
                    </a:p>
                  </a:txBody>
                  <a:tcPr marT="91425" marB="91425" marR="91425" marL="91425"/>
                </a:tc>
                <a:tc>
                  <a:txBody>
                    <a:bodyPr/>
                    <a:lstStyle/>
                    <a:p>
                      <a:pPr indent="0" lvl="0" marL="0" rtl="0" algn="ctr">
                        <a:spcBef>
                          <a:spcPts val="0"/>
                        </a:spcBef>
                        <a:spcAft>
                          <a:spcPts val="0"/>
                        </a:spcAft>
                        <a:buNone/>
                      </a:pPr>
                      <a:r>
                        <a:rPr lang="en-US" sz="1300"/>
                        <a:t>10.40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41,069</a:t>
                      </a:r>
                      <a:endParaRPr sz="1300"/>
                    </a:p>
                  </a:txBody>
                  <a:tcPr marT="91425" marB="91425" marR="91425" marL="91425"/>
                </a:tc>
                <a:tc>
                  <a:txBody>
                    <a:bodyPr/>
                    <a:lstStyle/>
                    <a:p>
                      <a:pPr indent="0" lvl="0" marL="0" rtl="0" algn="ctr">
                        <a:spcBef>
                          <a:spcPts val="0"/>
                        </a:spcBef>
                        <a:spcAft>
                          <a:spcPts val="0"/>
                        </a:spcAft>
                        <a:buNone/>
                      </a:pPr>
                      <a:r>
                        <a:rPr lang="en-US" sz="1300"/>
                        <a:t>10.62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54,013</a:t>
                      </a:r>
                      <a:endParaRPr sz="1300"/>
                    </a:p>
                  </a:txBody>
                  <a:tcPr marT="91425" marB="91425" marR="91425" marL="91425"/>
                </a:tc>
                <a:tc>
                  <a:txBody>
                    <a:bodyPr/>
                    <a:lstStyle/>
                    <a:p>
                      <a:pPr indent="0" lvl="0" marL="0" rtl="0" algn="ctr">
                        <a:spcBef>
                          <a:spcPts val="0"/>
                        </a:spcBef>
                        <a:spcAft>
                          <a:spcPts val="0"/>
                        </a:spcAft>
                        <a:buNone/>
                      </a:pPr>
                      <a:r>
                        <a:rPr lang="en-US" sz="1300"/>
                        <a:t>10.90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280,199</a:t>
                      </a:r>
                      <a:endParaRPr sz="1300"/>
                    </a:p>
                  </a:txBody>
                  <a:tcPr marT="91425" marB="91425" marR="91425" marL="91425"/>
                </a:tc>
                <a:tc>
                  <a:txBody>
                    <a:bodyPr/>
                    <a:lstStyle/>
                    <a:p>
                      <a:pPr indent="0" lvl="0" marL="0" rtl="0" algn="ctr">
                        <a:spcBef>
                          <a:spcPts val="0"/>
                        </a:spcBef>
                        <a:spcAft>
                          <a:spcPts val="0"/>
                        </a:spcAft>
                        <a:buNone/>
                      </a:pPr>
                      <a:r>
                        <a:rPr lang="en-US" sz="1300"/>
                        <a:t>12.54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0000"/>
                          </a:solidFill>
                        </a:rPr>
                        <a:t>3.11</a:t>
                      </a:r>
                      <a:endParaRPr sz="1300">
                        <a:solidFill>
                          <a:srgbClr val="FF0000"/>
                        </a:solidFill>
                      </a:endParaRPr>
                    </a:p>
                  </a:txBody>
                  <a:tcPr marT="91425" marB="91425" marR="91425" marL="91425"/>
                </a:tc>
                <a:tc>
                  <a:txBody>
                    <a:bodyPr/>
                    <a:lstStyle/>
                    <a:p>
                      <a:pPr indent="0" lvl="0" marL="0" rtl="0" algn="ctr">
                        <a:spcBef>
                          <a:spcPts val="0"/>
                        </a:spcBef>
                        <a:spcAft>
                          <a:spcPts val="0"/>
                        </a:spcAft>
                        <a:buNone/>
                      </a:pPr>
                      <a:r>
                        <a:rPr lang="en-US" sz="1300"/>
                        <a:t>-7.16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0000"/>
                          </a:solidFill>
                        </a:rPr>
                        <a:t>18.07</a:t>
                      </a:r>
                      <a:endParaRPr sz="1300">
                        <a:solidFill>
                          <a:srgbClr val="FF0000"/>
                        </a:solidFill>
                      </a:endParaRPr>
                    </a:p>
                  </a:txBody>
                  <a:tcPr marT="91425" marB="91425" marR="91425" marL="91425"/>
                </a:tc>
                <a:tc>
                  <a:txBody>
                    <a:bodyPr/>
                    <a:lstStyle/>
                    <a:p>
                      <a:pPr indent="0" lvl="0" marL="0" rtl="0" algn="ctr">
                        <a:spcBef>
                          <a:spcPts val="0"/>
                        </a:spcBef>
                        <a:spcAft>
                          <a:spcPts val="0"/>
                        </a:spcAft>
                        <a:buNone/>
                      </a:pPr>
                      <a:r>
                        <a:rPr lang="en-US" sz="1300"/>
                        <a:t>98.51</a:t>
                      </a:r>
                      <a:endParaRPr sz="1300"/>
                    </a:p>
                  </a:txBody>
                  <a:tcPr marT="91425" marB="91425" marR="91425" marL="91425"/>
                </a:tc>
              </a:tr>
            </a:tbl>
          </a:graphicData>
        </a:graphic>
      </p:graphicFrame>
      <p:pic>
        <p:nvPicPr>
          <p:cNvPr id="203" name="Google Shape;203;g389d7be5379_3_5" title="distribution_yearly_income_final_background_grid.png"/>
          <p:cNvPicPr preferRelativeResize="0"/>
          <p:nvPr/>
        </p:nvPicPr>
        <p:blipFill>
          <a:blip r:embed="rId3">
            <a:alphaModFix/>
          </a:blip>
          <a:stretch>
            <a:fillRect/>
          </a:stretch>
        </p:blipFill>
        <p:spPr>
          <a:xfrm>
            <a:off x="1434250" y="1281200"/>
            <a:ext cx="4914235" cy="3439964"/>
          </a:xfrm>
          <a:prstGeom prst="rect">
            <a:avLst/>
          </a:prstGeom>
          <a:noFill/>
          <a:ln>
            <a:noFill/>
          </a:ln>
        </p:spPr>
      </p:pic>
      <p:pic>
        <p:nvPicPr>
          <p:cNvPr id="204" name="Google Shape;204;g389d7be5379_3_5" title="distribution_log_yearly_income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89d7be5379_5_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10" name="Google Shape;210;g389d7be5379_5_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211" name="Google Shape;211;g389d7be5379_5_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Variables—Income</a:t>
            </a:r>
            <a:endParaRPr sz="3000"/>
          </a:p>
        </p:txBody>
      </p:sp>
      <p:sp>
        <p:nvSpPr>
          <p:cNvPr id="212" name="Google Shape;212;g389d7be5379_5_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13" name="Google Shape;213;g389d7be5379_5_0"/>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per_capita</a:t>
                      </a:r>
                      <a:r>
                        <a:rPr lang="en-US" sz="1300">
                          <a:solidFill>
                            <a:srgbClr val="FFFFFF"/>
                          </a:solidFill>
                        </a:rPr>
                        <a:t>_income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log_per_capita_income</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23,979.65</a:t>
                      </a:r>
                      <a:endParaRPr sz="1300"/>
                    </a:p>
                  </a:txBody>
                  <a:tcPr marT="91425" marB="91425" marR="91425" marL="91425"/>
                </a:tc>
                <a:tc>
                  <a:txBody>
                    <a:bodyPr/>
                    <a:lstStyle/>
                    <a:p>
                      <a:pPr indent="0" lvl="0" marL="0" rtl="0" algn="ctr">
                        <a:spcBef>
                          <a:spcPts val="0"/>
                        </a:spcBef>
                        <a:spcAft>
                          <a:spcPts val="0"/>
                        </a:spcAft>
                        <a:buNone/>
                      </a:pPr>
                      <a:r>
                        <a:rPr lang="en-US" sz="1300"/>
                        <a:t>9.96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11,967.12</a:t>
                      </a:r>
                      <a:endParaRPr sz="1300"/>
                    </a:p>
                  </a:txBody>
                  <a:tcPr marT="91425" marB="91425" marR="91425" marL="91425"/>
                </a:tc>
                <a:tc>
                  <a:txBody>
                    <a:bodyPr/>
                    <a:lstStyle/>
                    <a:p>
                      <a:pPr indent="0" lvl="0" marL="0" rtl="0" algn="ctr">
                        <a:spcBef>
                          <a:spcPts val="0"/>
                        </a:spcBef>
                        <a:spcAft>
                          <a:spcPts val="0"/>
                        </a:spcAft>
                        <a:buNone/>
                      </a:pPr>
                      <a:r>
                        <a:rPr lang="en-US" sz="1300"/>
                        <a:t>0.83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a:t>
                      </a:r>
                      <a:endParaRPr sz="1300"/>
                    </a:p>
                  </a:txBody>
                  <a:tcPr marT="91425" marB="91425" marR="91425" marL="91425"/>
                </a:tc>
                <a:tc>
                  <a:txBody>
                    <a:bodyPr/>
                    <a:lstStyle/>
                    <a:p>
                      <a:pPr indent="0" lvl="0" marL="0" rtl="0" algn="ctr">
                        <a:spcBef>
                          <a:spcPts val="0"/>
                        </a:spcBef>
                        <a:spcAft>
                          <a:spcPts val="0"/>
                        </a:spcAft>
                        <a:buNone/>
                      </a:pPr>
                      <a:r>
                        <a:rPr lang="en-US" sz="1300"/>
                        <a:t>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17,113</a:t>
                      </a:r>
                      <a:endParaRPr sz="1300"/>
                    </a:p>
                  </a:txBody>
                  <a:tcPr marT="91425" marB="91425" marR="91425" marL="91425"/>
                </a:tc>
                <a:tc>
                  <a:txBody>
                    <a:bodyPr/>
                    <a:lstStyle/>
                    <a:p>
                      <a:pPr indent="0" lvl="0" marL="0" rtl="0" algn="ctr">
                        <a:spcBef>
                          <a:spcPts val="0"/>
                        </a:spcBef>
                        <a:spcAft>
                          <a:spcPts val="0"/>
                        </a:spcAft>
                        <a:buNone/>
                      </a:pPr>
                      <a:r>
                        <a:rPr lang="en-US" sz="1300"/>
                        <a:t>9.75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21,156</a:t>
                      </a:r>
                      <a:endParaRPr sz="1300"/>
                    </a:p>
                  </a:txBody>
                  <a:tcPr marT="91425" marB="91425" marR="91425" marL="91425"/>
                </a:tc>
                <a:tc>
                  <a:txBody>
                    <a:bodyPr/>
                    <a:lstStyle/>
                    <a:p>
                      <a:pPr indent="0" lvl="0" marL="0" rtl="0" algn="ctr">
                        <a:spcBef>
                          <a:spcPts val="0"/>
                        </a:spcBef>
                        <a:spcAft>
                          <a:spcPts val="0"/>
                        </a:spcAft>
                        <a:buNone/>
                      </a:pPr>
                      <a:r>
                        <a:rPr lang="en-US" sz="1300"/>
                        <a:t>9.96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27,308</a:t>
                      </a:r>
                      <a:endParaRPr sz="1300"/>
                    </a:p>
                  </a:txBody>
                  <a:tcPr marT="91425" marB="91425" marR="91425" marL="91425"/>
                </a:tc>
                <a:tc>
                  <a:txBody>
                    <a:bodyPr/>
                    <a:lstStyle/>
                    <a:p>
                      <a:pPr indent="0" lvl="0" marL="0" rtl="0" algn="ctr">
                        <a:spcBef>
                          <a:spcPts val="0"/>
                        </a:spcBef>
                        <a:spcAft>
                          <a:spcPts val="0"/>
                        </a:spcAft>
                        <a:buNone/>
                      </a:pPr>
                      <a:r>
                        <a:rPr lang="en-US" sz="1300"/>
                        <a:t>10.21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163,145</a:t>
                      </a:r>
                      <a:endParaRPr sz="1300"/>
                    </a:p>
                  </a:txBody>
                  <a:tcPr marT="91425" marB="91425" marR="91425" marL="91425"/>
                </a:tc>
                <a:tc>
                  <a:txBody>
                    <a:bodyPr/>
                    <a:lstStyle/>
                    <a:p>
                      <a:pPr indent="0" lvl="0" marL="0" rtl="0" algn="ctr">
                        <a:spcBef>
                          <a:spcPts val="0"/>
                        </a:spcBef>
                        <a:spcAft>
                          <a:spcPts val="0"/>
                        </a:spcAft>
                        <a:buNone/>
                      </a:pPr>
                      <a:r>
                        <a:rPr lang="en-US" sz="1300"/>
                        <a:t>12.00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0000"/>
                          </a:solidFill>
                        </a:rPr>
                        <a:t>3.72</a:t>
                      </a:r>
                      <a:endParaRPr sz="1300">
                        <a:solidFill>
                          <a:srgbClr val="FF0000"/>
                        </a:solidFill>
                      </a:endParaRPr>
                    </a:p>
                  </a:txBody>
                  <a:tcPr marT="91425" marB="91425" marR="91425" marL="91425"/>
                </a:tc>
                <a:tc>
                  <a:txBody>
                    <a:bodyPr/>
                    <a:lstStyle/>
                    <a:p>
                      <a:pPr indent="0" lvl="0" marL="0" rtl="0" algn="ctr">
                        <a:spcBef>
                          <a:spcPts val="0"/>
                        </a:spcBef>
                        <a:spcAft>
                          <a:spcPts val="0"/>
                        </a:spcAft>
                        <a:buNone/>
                      </a:pPr>
                      <a:r>
                        <a:rPr lang="en-US" sz="1300"/>
                        <a:t>-9.38</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0000"/>
                          </a:solidFill>
                        </a:rPr>
                        <a:t>26.21</a:t>
                      </a:r>
                      <a:endParaRPr sz="1300">
                        <a:solidFill>
                          <a:srgbClr val="FF0000"/>
                        </a:solidFill>
                      </a:endParaRPr>
                    </a:p>
                  </a:txBody>
                  <a:tcPr marT="91425" marB="91425" marR="91425" marL="91425"/>
                </a:tc>
                <a:tc>
                  <a:txBody>
                    <a:bodyPr/>
                    <a:lstStyle/>
                    <a:p>
                      <a:pPr indent="0" lvl="0" marL="0" rtl="0" algn="ctr">
                        <a:spcBef>
                          <a:spcPts val="0"/>
                        </a:spcBef>
                        <a:spcAft>
                          <a:spcPts val="0"/>
                        </a:spcAft>
                        <a:buNone/>
                      </a:pPr>
                      <a:r>
                        <a:rPr lang="en-US" sz="1300"/>
                        <a:t>110.55</a:t>
                      </a:r>
                      <a:endParaRPr sz="1300"/>
                    </a:p>
                  </a:txBody>
                  <a:tcPr marT="91425" marB="91425" marR="91425" marL="91425"/>
                </a:tc>
              </a:tr>
            </a:tbl>
          </a:graphicData>
        </a:graphic>
      </p:graphicFrame>
      <p:pic>
        <p:nvPicPr>
          <p:cNvPr id="214" name="Google Shape;214;g389d7be5379_5_0" title="distribution_per_capita_income_final_background_grid.png"/>
          <p:cNvPicPr preferRelativeResize="0"/>
          <p:nvPr/>
        </p:nvPicPr>
        <p:blipFill rotWithShape="1">
          <a:blip r:embed="rId3">
            <a:alphaModFix/>
          </a:blip>
          <a:srcRect b="0" l="0" r="0" t="0"/>
          <a:stretch/>
        </p:blipFill>
        <p:spPr>
          <a:xfrm>
            <a:off x="1434250" y="1281200"/>
            <a:ext cx="4914235" cy="3439964"/>
          </a:xfrm>
          <a:prstGeom prst="rect">
            <a:avLst/>
          </a:prstGeom>
          <a:noFill/>
          <a:ln>
            <a:noFill/>
          </a:ln>
        </p:spPr>
      </p:pic>
      <p:pic>
        <p:nvPicPr>
          <p:cNvPr id="215" name="Google Shape;215;g389d7be5379_5_0" title="distribution_log_per_capita_income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89d7be5379_5_1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21" name="Google Shape;221;g389d7be5379_5_1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2.2 Data Exploration</a:t>
            </a:r>
            <a:endParaRPr/>
          </a:p>
        </p:txBody>
      </p:sp>
      <p:sp>
        <p:nvSpPr>
          <p:cNvPr id="222" name="Google Shape;222;g389d7be5379_5_1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Variables—Credit Limit</a:t>
            </a:r>
            <a:endParaRPr sz="3000"/>
          </a:p>
        </p:txBody>
      </p:sp>
      <p:sp>
        <p:nvSpPr>
          <p:cNvPr id="223" name="Google Shape;223;g389d7be5379_5_1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24" name="Google Shape;224;g389d7be5379_5_10"/>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credit_limit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log_credit_limit</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15,549.83</a:t>
                      </a:r>
                      <a:endParaRPr sz="1300"/>
                    </a:p>
                  </a:txBody>
                  <a:tcPr marT="91425" marB="91425" marR="91425" marL="91425"/>
                </a:tc>
                <a:tc>
                  <a:txBody>
                    <a:bodyPr/>
                    <a:lstStyle/>
                    <a:p>
                      <a:pPr indent="0" lvl="0" marL="0" rtl="0" algn="ctr">
                        <a:spcBef>
                          <a:spcPts val="0"/>
                        </a:spcBef>
                        <a:spcAft>
                          <a:spcPts val="0"/>
                        </a:spcAft>
                        <a:buNone/>
                      </a:pPr>
                      <a:r>
                        <a:rPr lang="en-US" sz="1300"/>
                        <a:t>9.08</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12,181.06</a:t>
                      </a:r>
                      <a:endParaRPr sz="1300"/>
                    </a:p>
                  </a:txBody>
                  <a:tcPr marT="91425" marB="91425" marR="91425" marL="91425"/>
                </a:tc>
                <a:tc>
                  <a:txBody>
                    <a:bodyPr/>
                    <a:lstStyle/>
                    <a:p>
                      <a:pPr indent="0" lvl="0" marL="0" rtl="0" algn="ctr">
                        <a:spcBef>
                          <a:spcPts val="0"/>
                        </a:spcBef>
                        <a:spcAft>
                          <a:spcPts val="0"/>
                        </a:spcAft>
                        <a:buNone/>
                      </a:pPr>
                      <a:r>
                        <a:rPr lang="en-US" sz="1300"/>
                        <a:t>1.66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a:t>
                      </a:r>
                      <a:endParaRPr sz="1300"/>
                    </a:p>
                  </a:txBody>
                  <a:tcPr marT="91425" marB="91425" marR="91425" marL="91425"/>
                </a:tc>
                <a:tc>
                  <a:txBody>
                    <a:bodyPr/>
                    <a:lstStyle/>
                    <a:p>
                      <a:pPr indent="0" lvl="0" marL="0" rtl="0" algn="ctr">
                        <a:spcBef>
                          <a:spcPts val="0"/>
                        </a:spcBef>
                        <a:spcAft>
                          <a:spcPts val="0"/>
                        </a:spcAft>
                        <a:buNone/>
                      </a:pPr>
                      <a:r>
                        <a:rPr lang="en-US" sz="1300"/>
                        <a:t>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8,100</a:t>
                      </a:r>
                      <a:endParaRPr sz="1300"/>
                    </a:p>
                  </a:txBody>
                  <a:tcPr marT="91425" marB="91425" marR="91425" marL="91425"/>
                </a:tc>
                <a:tc>
                  <a:txBody>
                    <a:bodyPr/>
                    <a:lstStyle/>
                    <a:p>
                      <a:pPr indent="0" lvl="0" marL="0" rtl="0" algn="ctr">
                        <a:spcBef>
                          <a:spcPts val="0"/>
                        </a:spcBef>
                        <a:spcAft>
                          <a:spcPts val="0"/>
                        </a:spcAft>
                        <a:buNone/>
                      </a:pPr>
                      <a:r>
                        <a:rPr lang="en-US" sz="1300"/>
                        <a:t>9.00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13,455</a:t>
                      </a:r>
                      <a:endParaRPr sz="1300"/>
                    </a:p>
                  </a:txBody>
                  <a:tcPr marT="91425" marB="91425" marR="91425" marL="91425"/>
                </a:tc>
                <a:tc>
                  <a:txBody>
                    <a:bodyPr/>
                    <a:lstStyle/>
                    <a:p>
                      <a:pPr indent="0" lvl="0" marL="0" rtl="0" algn="ctr">
                        <a:spcBef>
                          <a:spcPts val="0"/>
                        </a:spcBef>
                        <a:spcAft>
                          <a:spcPts val="0"/>
                        </a:spcAft>
                        <a:buNone/>
                      </a:pPr>
                      <a:r>
                        <a:rPr lang="en-US" sz="1300"/>
                        <a:t>9.51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20,839</a:t>
                      </a:r>
                      <a:endParaRPr sz="1300"/>
                    </a:p>
                  </a:txBody>
                  <a:tcPr marT="91425" marB="91425" marR="91425" marL="91425"/>
                </a:tc>
                <a:tc>
                  <a:txBody>
                    <a:bodyPr/>
                    <a:lstStyle/>
                    <a:p>
                      <a:pPr indent="0" lvl="0" marL="0" rtl="0" algn="ctr">
                        <a:spcBef>
                          <a:spcPts val="0"/>
                        </a:spcBef>
                        <a:spcAft>
                          <a:spcPts val="0"/>
                        </a:spcAft>
                        <a:buNone/>
                      </a:pPr>
                      <a:r>
                        <a:rPr lang="en-US" sz="1300"/>
                        <a:t>9.94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141,391</a:t>
                      </a:r>
                      <a:endParaRPr sz="1300"/>
                    </a:p>
                  </a:txBody>
                  <a:tcPr marT="91425" marB="91425" marR="91425" marL="91425"/>
                </a:tc>
                <a:tc>
                  <a:txBody>
                    <a:bodyPr/>
                    <a:lstStyle/>
                    <a:p>
                      <a:pPr indent="0" lvl="0" marL="0" rtl="0" algn="ctr">
                        <a:spcBef>
                          <a:spcPts val="0"/>
                        </a:spcBef>
                        <a:spcAft>
                          <a:spcPts val="0"/>
                        </a:spcAft>
                        <a:buNone/>
                      </a:pPr>
                      <a:r>
                        <a:rPr lang="en-US" sz="1300"/>
                        <a:t>11.86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2.42</a:t>
                      </a:r>
                      <a:endParaRPr sz="1300"/>
                    </a:p>
                  </a:txBody>
                  <a:tcPr marT="91425" marB="91425" marR="91425" marL="91425"/>
                </a:tc>
                <a:tc>
                  <a:txBody>
                    <a:bodyPr/>
                    <a:lstStyle/>
                    <a:p>
                      <a:pPr indent="0" lvl="0" marL="0" rtl="0" algn="ctr">
                        <a:spcBef>
                          <a:spcPts val="0"/>
                        </a:spcBef>
                        <a:spcAft>
                          <a:spcPts val="0"/>
                        </a:spcAft>
                        <a:buNone/>
                      </a:pPr>
                      <a:r>
                        <a:rPr lang="en-US" sz="1300"/>
                        <a:t>-2.49</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14.52</a:t>
                      </a:r>
                      <a:endParaRPr sz="1300"/>
                    </a:p>
                  </a:txBody>
                  <a:tcPr marT="91425" marB="91425" marR="91425" marL="91425"/>
                </a:tc>
                <a:tc>
                  <a:txBody>
                    <a:bodyPr/>
                    <a:lstStyle/>
                    <a:p>
                      <a:pPr indent="0" lvl="0" marL="0" rtl="0" algn="ctr">
                        <a:spcBef>
                          <a:spcPts val="0"/>
                        </a:spcBef>
                        <a:spcAft>
                          <a:spcPts val="0"/>
                        </a:spcAft>
                        <a:buNone/>
                      </a:pPr>
                      <a:r>
                        <a:rPr lang="en-US" sz="1300"/>
                        <a:t>6.61</a:t>
                      </a:r>
                      <a:endParaRPr sz="1300"/>
                    </a:p>
                  </a:txBody>
                  <a:tcPr marT="91425" marB="91425" marR="91425" marL="91425"/>
                </a:tc>
              </a:tr>
            </a:tbl>
          </a:graphicData>
        </a:graphic>
      </p:graphicFrame>
      <p:pic>
        <p:nvPicPr>
          <p:cNvPr id="225" name="Google Shape;225;g389d7be5379_5_10" title="distribution_credit_limit_final_background_grid.png"/>
          <p:cNvPicPr preferRelativeResize="0"/>
          <p:nvPr/>
        </p:nvPicPr>
        <p:blipFill rotWithShape="1">
          <a:blip r:embed="rId3">
            <a:alphaModFix/>
          </a:blip>
          <a:srcRect b="0" l="0" r="0" t="0"/>
          <a:stretch/>
        </p:blipFill>
        <p:spPr>
          <a:xfrm>
            <a:off x="1434250" y="1281200"/>
            <a:ext cx="4914235" cy="3439964"/>
          </a:xfrm>
          <a:prstGeom prst="rect">
            <a:avLst/>
          </a:prstGeom>
          <a:noFill/>
          <a:ln>
            <a:noFill/>
          </a:ln>
        </p:spPr>
      </p:pic>
      <p:pic>
        <p:nvPicPr>
          <p:cNvPr id="226" name="Google Shape;226;g389d7be5379_5_10" title="distribution_log_credit_limit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89d7be5379_5_2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32" name="Google Shape;232;g389d7be5379_5_2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2.3 Cross-sectional Data</a:t>
            </a:r>
            <a:endParaRPr/>
          </a:p>
        </p:txBody>
      </p:sp>
      <p:sp>
        <p:nvSpPr>
          <p:cNvPr id="233" name="Google Shape;233;g389d7be5379_5_2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Variables—Debt</a:t>
            </a:r>
            <a:endParaRPr sz="3000"/>
          </a:p>
        </p:txBody>
      </p:sp>
      <p:sp>
        <p:nvSpPr>
          <p:cNvPr id="234" name="Google Shape;234;g389d7be5379_5_2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35" name="Google Shape;235;g389d7be5379_5_20"/>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total_debt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log_total_debt</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58,022.07</a:t>
                      </a:r>
                      <a:endParaRPr sz="1300"/>
                    </a:p>
                  </a:txBody>
                  <a:tcPr marT="91425" marB="91425" marR="91425" marL="91425"/>
                </a:tc>
                <a:tc>
                  <a:txBody>
                    <a:bodyPr/>
                    <a:lstStyle/>
                    <a:p>
                      <a:pPr indent="0" lvl="0" marL="0" rtl="0" algn="ctr">
                        <a:spcBef>
                          <a:spcPts val="0"/>
                        </a:spcBef>
                        <a:spcAft>
                          <a:spcPts val="0"/>
                        </a:spcAft>
                        <a:buNone/>
                      </a:pPr>
                      <a:r>
                        <a:rPr lang="en-US" sz="1300"/>
                        <a:t>9.88</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52,100.96</a:t>
                      </a:r>
                      <a:endParaRPr sz="1300"/>
                    </a:p>
                  </a:txBody>
                  <a:tcPr marT="91425" marB="91425" marR="91425" marL="91425"/>
                </a:tc>
                <a:tc>
                  <a:txBody>
                    <a:bodyPr/>
                    <a:lstStyle/>
                    <a:p>
                      <a:pPr indent="0" lvl="0" marL="0" rtl="0" algn="ctr">
                        <a:spcBef>
                          <a:spcPts val="0"/>
                        </a:spcBef>
                        <a:spcAft>
                          <a:spcPts val="0"/>
                        </a:spcAft>
                        <a:buNone/>
                      </a:pPr>
                      <a:r>
                        <a:rPr lang="en-US" sz="1300"/>
                        <a:t>2.73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a:t>
                      </a:r>
                      <a:endParaRPr sz="1300"/>
                    </a:p>
                  </a:txBody>
                  <a:tcPr marT="91425" marB="91425" marR="91425" marL="91425"/>
                </a:tc>
                <a:tc>
                  <a:txBody>
                    <a:bodyPr/>
                    <a:lstStyle/>
                    <a:p>
                      <a:pPr indent="0" lvl="0" marL="0" rtl="0" algn="ctr">
                        <a:spcBef>
                          <a:spcPts val="0"/>
                        </a:spcBef>
                        <a:spcAft>
                          <a:spcPts val="0"/>
                        </a:spcAft>
                        <a:buNone/>
                      </a:pPr>
                      <a:r>
                        <a:rPr lang="en-US" sz="1300"/>
                        <a:t>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16,437</a:t>
                      </a:r>
                      <a:endParaRPr sz="1300"/>
                    </a:p>
                  </a:txBody>
                  <a:tcPr marT="91425" marB="91425" marR="91425" marL="91425"/>
                </a:tc>
                <a:tc>
                  <a:txBody>
                    <a:bodyPr/>
                    <a:lstStyle/>
                    <a:p>
                      <a:pPr indent="0" lvl="0" marL="0" rtl="0" algn="ctr">
                        <a:spcBef>
                          <a:spcPts val="0"/>
                        </a:spcBef>
                        <a:spcAft>
                          <a:spcPts val="0"/>
                        </a:spcAft>
                        <a:buNone/>
                      </a:pPr>
                      <a:r>
                        <a:rPr lang="en-US" sz="1300"/>
                        <a:t>9.71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51,679</a:t>
                      </a:r>
                      <a:endParaRPr sz="1300"/>
                    </a:p>
                  </a:txBody>
                  <a:tcPr marT="91425" marB="91425" marR="91425" marL="91425"/>
                </a:tc>
                <a:tc>
                  <a:txBody>
                    <a:bodyPr/>
                    <a:lstStyle/>
                    <a:p>
                      <a:pPr indent="0" lvl="0" marL="0" rtl="0" algn="ctr">
                        <a:spcBef>
                          <a:spcPts val="0"/>
                        </a:spcBef>
                        <a:spcAft>
                          <a:spcPts val="0"/>
                        </a:spcAft>
                        <a:buNone/>
                      </a:pPr>
                      <a:r>
                        <a:rPr lang="en-US" sz="1300"/>
                        <a:t>10.85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85,160</a:t>
                      </a:r>
                      <a:endParaRPr sz="1300"/>
                    </a:p>
                  </a:txBody>
                  <a:tcPr marT="91425" marB="91425" marR="91425" marL="91425"/>
                </a:tc>
                <a:tc>
                  <a:txBody>
                    <a:bodyPr/>
                    <a:lstStyle/>
                    <a:p>
                      <a:pPr indent="0" lvl="0" marL="0" rtl="0" algn="ctr">
                        <a:spcBef>
                          <a:spcPts val="0"/>
                        </a:spcBef>
                        <a:spcAft>
                          <a:spcPts val="0"/>
                        </a:spcAft>
                        <a:buNone/>
                      </a:pPr>
                      <a:r>
                        <a:rPr lang="en-US" sz="1300"/>
                        <a:t>11.35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461,854</a:t>
                      </a:r>
                      <a:endParaRPr sz="1300"/>
                    </a:p>
                  </a:txBody>
                  <a:tcPr marT="91425" marB="91425" marR="91425" marL="91425"/>
                </a:tc>
                <a:tc>
                  <a:txBody>
                    <a:bodyPr/>
                    <a:lstStyle/>
                    <a:p>
                      <a:pPr indent="0" lvl="0" marL="0" rtl="0" algn="ctr">
                        <a:spcBef>
                          <a:spcPts val="0"/>
                        </a:spcBef>
                        <a:spcAft>
                          <a:spcPts val="0"/>
                        </a:spcAft>
                        <a:buNone/>
                      </a:pPr>
                      <a:r>
                        <a:rPr lang="en-US" sz="1300"/>
                        <a:t>13.04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980000"/>
                          </a:solidFill>
                        </a:rPr>
                        <a:t>1.74</a:t>
                      </a:r>
                      <a:endParaRPr sz="1300">
                        <a:solidFill>
                          <a:srgbClr val="980000"/>
                        </a:solidFill>
                      </a:endParaRPr>
                    </a:p>
                  </a:txBody>
                  <a:tcPr marT="91425" marB="91425" marR="91425" marL="91425"/>
                </a:tc>
                <a:tc>
                  <a:txBody>
                    <a:bodyPr/>
                    <a:lstStyle/>
                    <a:p>
                      <a:pPr indent="0" lvl="0" marL="0" rtl="0" algn="ctr">
                        <a:spcBef>
                          <a:spcPts val="0"/>
                        </a:spcBef>
                        <a:spcAft>
                          <a:spcPts val="0"/>
                        </a:spcAft>
                        <a:buNone/>
                      </a:pPr>
                      <a:r>
                        <a:rPr lang="en-US" sz="1300"/>
                        <a:t>-2.56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980000"/>
                          </a:solidFill>
                        </a:rPr>
                        <a:t>7.05</a:t>
                      </a:r>
                      <a:endParaRPr sz="1300">
                        <a:solidFill>
                          <a:srgbClr val="980000"/>
                        </a:solidFill>
                      </a:endParaRPr>
                    </a:p>
                  </a:txBody>
                  <a:tcPr marT="91425" marB="91425" marR="91425" marL="91425"/>
                </a:tc>
                <a:tc>
                  <a:txBody>
                    <a:bodyPr/>
                    <a:lstStyle/>
                    <a:p>
                      <a:pPr indent="0" lvl="0" marL="0" rtl="0" algn="ctr">
                        <a:spcBef>
                          <a:spcPts val="0"/>
                        </a:spcBef>
                        <a:spcAft>
                          <a:spcPts val="0"/>
                        </a:spcAft>
                        <a:buNone/>
                      </a:pPr>
                      <a:r>
                        <a:rPr lang="en-US" sz="1300"/>
                        <a:t>6.39</a:t>
                      </a:r>
                      <a:endParaRPr sz="1300"/>
                    </a:p>
                  </a:txBody>
                  <a:tcPr marT="91425" marB="91425" marR="91425" marL="91425"/>
                </a:tc>
              </a:tr>
            </a:tbl>
          </a:graphicData>
        </a:graphic>
      </p:graphicFrame>
      <p:pic>
        <p:nvPicPr>
          <p:cNvPr id="236" name="Google Shape;236;g389d7be5379_5_20" title="distribution_total_debt_final_background_grid.png"/>
          <p:cNvPicPr preferRelativeResize="0"/>
          <p:nvPr/>
        </p:nvPicPr>
        <p:blipFill rotWithShape="1">
          <a:blip r:embed="rId3">
            <a:alphaModFix/>
          </a:blip>
          <a:srcRect b="0" l="0" r="0" t="0"/>
          <a:stretch/>
        </p:blipFill>
        <p:spPr>
          <a:xfrm>
            <a:off x="1434250" y="1281200"/>
            <a:ext cx="4914235" cy="3439964"/>
          </a:xfrm>
          <a:prstGeom prst="rect">
            <a:avLst/>
          </a:prstGeom>
          <a:noFill/>
          <a:ln>
            <a:noFill/>
          </a:ln>
        </p:spPr>
      </p:pic>
      <p:pic>
        <p:nvPicPr>
          <p:cNvPr id="237" name="Google Shape;237;g389d7be5379_5_20" title="distribution_log_total_debt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89d7be5379_5_3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43" name="Google Shape;243;g389d7be5379_5_3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2.3 Cross-sectional Data</a:t>
            </a:r>
            <a:endParaRPr/>
          </a:p>
        </p:txBody>
      </p:sp>
      <p:sp>
        <p:nvSpPr>
          <p:cNvPr id="244" name="Google Shape;244;g389d7be5379_5_3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Variables—Credit Score</a:t>
            </a:r>
            <a:endParaRPr sz="3000"/>
          </a:p>
        </p:txBody>
      </p:sp>
      <p:sp>
        <p:nvSpPr>
          <p:cNvPr id="245" name="Google Shape;245;g389d7be5379_5_3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46" name="Google Shape;246;g389d7be5379_5_30"/>
          <p:cNvGraphicFramePr/>
          <p:nvPr/>
        </p:nvGraphicFramePr>
        <p:xfrm>
          <a:off x="700625" y="2044963"/>
          <a:ext cx="3000000" cy="3000000"/>
        </p:xfrm>
        <a:graphic>
          <a:graphicData uri="http://schemas.openxmlformats.org/drawingml/2006/table">
            <a:tbl>
              <a:tblPr>
                <a:noFill/>
                <a:tableStyleId>{4AE0FA90-5911-4907-B5CD-781FDEEBBC44}</a:tableStyleId>
              </a:tblPr>
              <a:tblGrid>
                <a:gridCol w="1650925"/>
                <a:gridCol w="48758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credit_score</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713.91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65.80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488</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684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716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756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850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-0.60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0.82</a:t>
                      </a:r>
                      <a:endParaRPr sz="1300"/>
                    </a:p>
                  </a:txBody>
                  <a:tcPr marT="91425" marB="91425" marR="91425" marL="91425"/>
                </a:tc>
              </a:tr>
            </a:tbl>
          </a:graphicData>
        </a:graphic>
      </p:graphicFrame>
      <p:pic>
        <p:nvPicPr>
          <p:cNvPr id="247" name="Google Shape;247;g389d7be5379_5_30" title="distribution_credit_score_final_background_grid.png"/>
          <p:cNvPicPr preferRelativeResize="0"/>
          <p:nvPr/>
        </p:nvPicPr>
        <p:blipFill rotWithShape="1">
          <a:blip r:embed="rId3">
            <a:alphaModFix/>
          </a:blip>
          <a:srcRect b="0" l="0" r="0" t="0"/>
          <a:stretch/>
        </p:blipFill>
        <p:spPr>
          <a:xfrm>
            <a:off x="7466750" y="1956100"/>
            <a:ext cx="5416225" cy="37913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89d7be5379_5_4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53" name="Google Shape;253;g389d7be5379_5_4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2.3 Cross-sectional Data</a:t>
            </a:r>
            <a:endParaRPr/>
          </a:p>
        </p:txBody>
      </p:sp>
      <p:sp>
        <p:nvSpPr>
          <p:cNvPr id="254" name="Google Shape;254;g389d7be5379_5_4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Variables—Amount</a:t>
            </a:r>
            <a:endParaRPr sz="3000"/>
          </a:p>
        </p:txBody>
      </p:sp>
      <p:sp>
        <p:nvSpPr>
          <p:cNvPr id="255" name="Google Shape;255;g389d7be5379_5_4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56" name="Google Shape;256;g389d7be5379_5_48"/>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amount/amount_nonnegative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log_amount*</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42.55/47.70</a:t>
                      </a:r>
                      <a:endParaRPr sz="1300"/>
                    </a:p>
                  </a:txBody>
                  <a:tcPr marT="91425" marB="91425" marR="91425" marL="91425"/>
                </a:tc>
                <a:tc>
                  <a:txBody>
                    <a:bodyPr/>
                    <a:lstStyle/>
                    <a:p>
                      <a:pPr indent="0" lvl="0" marL="0" rtl="0" algn="ctr">
                        <a:spcBef>
                          <a:spcPts val="0"/>
                        </a:spcBef>
                        <a:spcAft>
                          <a:spcPts val="0"/>
                        </a:spcAft>
                        <a:buNone/>
                      </a:pPr>
                      <a:r>
                        <a:rPr lang="en-US" sz="1300"/>
                        <a:t>3.00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81.64/72.97</a:t>
                      </a:r>
                      <a:endParaRPr sz="1300"/>
                    </a:p>
                  </a:txBody>
                  <a:tcPr marT="91425" marB="91425" marR="91425" marL="91425"/>
                </a:tc>
                <a:tc>
                  <a:txBody>
                    <a:bodyPr/>
                    <a:lstStyle/>
                    <a:p>
                      <a:pPr indent="0" lvl="0" marL="0" rtl="0" algn="ctr">
                        <a:spcBef>
                          <a:spcPts val="0"/>
                        </a:spcBef>
                        <a:spcAft>
                          <a:spcPts val="0"/>
                        </a:spcAft>
                        <a:buNone/>
                      </a:pPr>
                      <a:r>
                        <a:rPr lang="en-US" sz="1300"/>
                        <a:t>1.54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chemeClr val="accent4"/>
                          </a:solidFill>
                        </a:rPr>
                        <a:t>-500</a:t>
                      </a:r>
                      <a:r>
                        <a:rPr lang="en-US" sz="1300"/>
                        <a:t>/1</a:t>
                      </a:r>
                      <a:endParaRPr sz="1300"/>
                    </a:p>
                  </a:txBody>
                  <a:tcPr marT="91425" marB="91425" marR="91425" marL="91425"/>
                </a:tc>
                <a:tc>
                  <a:txBody>
                    <a:bodyPr/>
                    <a:lstStyle/>
                    <a:p>
                      <a:pPr indent="0" lvl="0" marL="0" rtl="0" algn="ctr">
                        <a:spcBef>
                          <a:spcPts val="0"/>
                        </a:spcBef>
                        <a:spcAft>
                          <a:spcPts val="0"/>
                        </a:spcAft>
                        <a:buNone/>
                      </a:pPr>
                      <a:r>
                        <a:rPr lang="en-US" sz="1300"/>
                        <a:t>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8</a:t>
                      </a:r>
                      <a:endParaRPr sz="1300"/>
                    </a:p>
                  </a:txBody>
                  <a:tcPr marT="91425" marB="91425" marR="91425" marL="91425"/>
                </a:tc>
                <a:tc>
                  <a:txBody>
                    <a:bodyPr/>
                    <a:lstStyle/>
                    <a:p>
                      <a:pPr indent="0" lvl="0" marL="0" rtl="0" algn="ctr">
                        <a:spcBef>
                          <a:spcPts val="0"/>
                        </a:spcBef>
                        <a:spcAft>
                          <a:spcPts val="0"/>
                        </a:spcAft>
                        <a:buNone/>
                      </a:pPr>
                      <a:r>
                        <a:rPr lang="en-US" sz="1300"/>
                        <a:t>2.08</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28</a:t>
                      </a:r>
                      <a:endParaRPr sz="1300"/>
                    </a:p>
                  </a:txBody>
                  <a:tcPr marT="91425" marB="91425" marR="91425" marL="91425"/>
                </a:tc>
                <a:tc>
                  <a:txBody>
                    <a:bodyPr/>
                    <a:lstStyle/>
                    <a:p>
                      <a:pPr indent="0" lvl="0" marL="0" rtl="0" algn="ctr">
                        <a:spcBef>
                          <a:spcPts val="0"/>
                        </a:spcBef>
                        <a:spcAft>
                          <a:spcPts val="0"/>
                        </a:spcAft>
                        <a:buNone/>
                      </a:pPr>
                      <a:r>
                        <a:rPr lang="en-US" sz="1300"/>
                        <a:t>3.33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63</a:t>
                      </a:r>
                      <a:endParaRPr sz="1300"/>
                    </a:p>
                  </a:txBody>
                  <a:tcPr marT="91425" marB="91425" marR="91425" marL="91425"/>
                </a:tc>
                <a:tc>
                  <a:txBody>
                    <a:bodyPr/>
                    <a:lstStyle/>
                    <a:p>
                      <a:pPr indent="0" lvl="0" marL="0" rtl="0" algn="ctr">
                        <a:spcBef>
                          <a:spcPts val="0"/>
                        </a:spcBef>
                        <a:spcAft>
                          <a:spcPts val="0"/>
                        </a:spcAft>
                        <a:buNone/>
                      </a:pPr>
                      <a:r>
                        <a:rPr lang="en-US" sz="1300"/>
                        <a:t>4.14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6,820</a:t>
                      </a:r>
                      <a:endParaRPr sz="1300"/>
                    </a:p>
                  </a:txBody>
                  <a:tcPr marT="91425" marB="91425" marR="91425" marL="91425"/>
                </a:tc>
                <a:tc>
                  <a:txBody>
                    <a:bodyPr/>
                    <a:lstStyle/>
                    <a:p>
                      <a:pPr indent="0" lvl="0" marL="0" rtl="0" algn="ctr">
                        <a:spcBef>
                          <a:spcPts val="0"/>
                        </a:spcBef>
                        <a:spcAft>
                          <a:spcPts val="0"/>
                        </a:spcAft>
                        <a:buNone/>
                      </a:pPr>
                      <a:r>
                        <a:rPr lang="en-US" sz="1300"/>
                        <a:t>8.83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5.27/8.13</a:t>
                      </a:r>
                      <a:endParaRPr sz="1300"/>
                    </a:p>
                  </a:txBody>
                  <a:tcPr marT="91425" marB="91425" marR="91425" marL="91425"/>
                </a:tc>
                <a:tc>
                  <a:txBody>
                    <a:bodyPr/>
                    <a:lstStyle/>
                    <a:p>
                      <a:pPr indent="0" lvl="0" marL="0" rtl="0" algn="ctr">
                        <a:spcBef>
                          <a:spcPts val="0"/>
                        </a:spcBef>
                        <a:spcAft>
                          <a:spcPts val="0"/>
                        </a:spcAft>
                        <a:buNone/>
                      </a:pPr>
                      <a:r>
                        <a:rPr lang="en-US" sz="1300">
                          <a:solidFill>
                            <a:srgbClr val="980000"/>
                          </a:solidFill>
                        </a:rPr>
                        <a:t>-0.58</a:t>
                      </a:r>
                      <a:endParaRPr sz="1300">
                        <a:solidFill>
                          <a:srgbClr val="980000"/>
                        </a:solidFill>
                      </a:endParaRPr>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111.28/168.48</a:t>
                      </a:r>
                      <a:endParaRPr sz="1300"/>
                    </a:p>
                  </a:txBody>
                  <a:tcPr marT="91425" marB="91425" marR="91425" marL="91425"/>
                </a:tc>
                <a:tc>
                  <a:txBody>
                    <a:bodyPr/>
                    <a:lstStyle/>
                    <a:p>
                      <a:pPr indent="0" lvl="0" marL="0" rtl="0" algn="ctr">
                        <a:spcBef>
                          <a:spcPts val="0"/>
                        </a:spcBef>
                        <a:spcAft>
                          <a:spcPts val="0"/>
                        </a:spcAft>
                        <a:buNone/>
                      </a:pPr>
                      <a:r>
                        <a:rPr lang="en-US" sz="1300">
                          <a:solidFill>
                            <a:srgbClr val="980000"/>
                          </a:solidFill>
                        </a:rPr>
                        <a:t>-0.49</a:t>
                      </a:r>
                      <a:endParaRPr sz="1300">
                        <a:solidFill>
                          <a:srgbClr val="980000"/>
                        </a:solidFill>
                      </a:endParaRPr>
                    </a:p>
                  </a:txBody>
                  <a:tcPr marT="91425" marB="91425" marR="91425" marL="91425"/>
                </a:tc>
              </a:tr>
            </a:tbl>
          </a:graphicData>
        </a:graphic>
      </p:graphicFrame>
      <p:pic>
        <p:nvPicPr>
          <p:cNvPr id="257" name="Google Shape;257;g389d7be5379_5_48" title="distribution_amount_nonnegative_final_background_grid.png"/>
          <p:cNvPicPr preferRelativeResize="0"/>
          <p:nvPr/>
        </p:nvPicPr>
        <p:blipFill rotWithShape="1">
          <a:blip r:embed="rId3">
            <a:alphaModFix/>
          </a:blip>
          <a:srcRect b="0" l="0" r="0" t="0"/>
          <a:stretch/>
        </p:blipFill>
        <p:spPr>
          <a:xfrm>
            <a:off x="1434250" y="1281200"/>
            <a:ext cx="4914235" cy="3439964"/>
          </a:xfrm>
          <a:prstGeom prst="rect">
            <a:avLst/>
          </a:prstGeom>
          <a:noFill/>
          <a:ln>
            <a:noFill/>
          </a:ln>
        </p:spPr>
      </p:pic>
      <p:pic>
        <p:nvPicPr>
          <p:cNvPr id="258" name="Google Shape;258;g389d7be5379_5_48" title="distribution_log_amount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8a0dc53679_0_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64" name="Google Shape;264;g38a0dc53679_0_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2.3 Cross-sectional Data</a:t>
            </a:r>
            <a:endParaRPr/>
          </a:p>
        </p:txBody>
      </p:sp>
      <p:sp>
        <p:nvSpPr>
          <p:cNvPr id="265" name="Google Shape;265;g38a0dc53679_0_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Variables—Transaction Frequency*</a:t>
            </a:r>
            <a:endParaRPr sz="3000"/>
          </a:p>
        </p:txBody>
      </p:sp>
      <p:sp>
        <p:nvSpPr>
          <p:cNvPr id="266" name="Google Shape;266;g38a0dc53679_0_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67" name="Google Shape;267;g38a0dc53679_0_0"/>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transaction_count</a:t>
                      </a:r>
                      <a:endParaRPr sz="1300">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US" sz="1300">
                          <a:solidFill>
                            <a:srgbClr val="FFFFFF"/>
                          </a:solidFill>
                        </a:rPr>
                        <a:t>log_transaction_count</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4,071</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4,071</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3,268.46</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7.70</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2,866.22</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1.03</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1</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0.69</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1,419</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7.26</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2,558</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7.85</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4,166.5</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8.34</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31,552</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10.36</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2.58</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-1.34</a:t>
                      </a:r>
                      <a:endParaRPr sz="1300"/>
                    </a:p>
                  </a:txBody>
                  <a:tcPr marT="91425" marB="91425" marR="91425" marL="91425">
                    <a:lnL cap="flat" cmpd="sng" w="9525">
                      <a:solidFill>
                        <a:srgbClr val="9E9E9E"/>
                      </a:solidFill>
                      <a:prstDash val="solid"/>
                      <a:round/>
                      <a:headEnd len="sm" w="sm" type="none"/>
                      <a:tailEnd len="sm" w="sm" type="none"/>
                    </a:lnL>
                  </a:tcPr>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666666"/>
                    </a:solidFill>
                  </a:tcPr>
                </a:tc>
                <a:tc>
                  <a:txBody>
                    <a:bodyPr/>
                    <a:lstStyle/>
                    <a:p>
                      <a:pPr indent="0" lvl="0" marL="0" rtl="0" algn="ctr">
                        <a:spcBef>
                          <a:spcPts val="0"/>
                        </a:spcBef>
                        <a:spcAft>
                          <a:spcPts val="0"/>
                        </a:spcAft>
                        <a:buNone/>
                      </a:pPr>
                      <a:r>
                        <a:rPr lang="en-US" sz="1300"/>
                        <a:t>12.59</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1300"/>
                        <a:t>3.47</a:t>
                      </a:r>
                      <a:endParaRPr sz="1300"/>
                    </a:p>
                  </a:txBody>
                  <a:tcPr marT="91425" marB="91425" marR="91425" marL="91425">
                    <a:lnL cap="flat" cmpd="sng" w="9525">
                      <a:solidFill>
                        <a:srgbClr val="9E9E9E"/>
                      </a:solidFill>
                      <a:prstDash val="solid"/>
                      <a:round/>
                      <a:headEnd len="sm" w="sm" type="none"/>
                      <a:tailEnd len="sm" w="sm" type="none"/>
                    </a:lnL>
                  </a:tcPr>
                </a:tc>
              </a:tr>
            </a:tbl>
          </a:graphicData>
        </a:graphic>
      </p:graphicFrame>
      <p:pic>
        <p:nvPicPr>
          <p:cNvPr id="268" name="Google Shape;268;g38a0dc53679_0_0" title="distribution_transaction_count_final_background_grid.png"/>
          <p:cNvPicPr preferRelativeResize="0"/>
          <p:nvPr/>
        </p:nvPicPr>
        <p:blipFill rotWithShape="1">
          <a:blip r:embed="rId3">
            <a:alphaModFix/>
          </a:blip>
          <a:srcRect b="0" l="0" r="0" t="0"/>
          <a:stretch/>
        </p:blipFill>
        <p:spPr>
          <a:xfrm>
            <a:off x="1434250" y="1281200"/>
            <a:ext cx="4914235" cy="3439964"/>
          </a:xfrm>
          <a:prstGeom prst="rect">
            <a:avLst/>
          </a:prstGeom>
          <a:noFill/>
          <a:ln>
            <a:noFill/>
          </a:ln>
        </p:spPr>
      </p:pic>
      <p:pic>
        <p:nvPicPr>
          <p:cNvPr id="269" name="Google Shape;269;g38a0dc53679_0_0" title="distribution_log_transaction_count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89d7be5379_5_5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75" name="Google Shape;275;g389d7be5379_5_5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2.3 Cross-sectional Data</a:t>
            </a:r>
            <a:endParaRPr/>
          </a:p>
        </p:txBody>
      </p:sp>
      <p:sp>
        <p:nvSpPr>
          <p:cNvPr id="276" name="Google Shape;276;g389d7be5379_5_5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Variables—Number of Cards</a:t>
            </a:r>
            <a:endParaRPr sz="3000"/>
          </a:p>
        </p:txBody>
      </p:sp>
      <p:sp>
        <p:nvSpPr>
          <p:cNvPr id="277" name="Google Shape;277;g389d7be5379_5_5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78" name="Google Shape;278;g389d7be5379_5_58"/>
          <p:cNvGraphicFramePr/>
          <p:nvPr/>
        </p:nvGraphicFramePr>
        <p:xfrm>
          <a:off x="573625" y="4784675"/>
          <a:ext cx="3000000" cy="3000000"/>
        </p:xfrm>
        <a:graphic>
          <a:graphicData uri="http://schemas.openxmlformats.org/drawingml/2006/table">
            <a:tbl>
              <a:tblPr>
                <a:noFill/>
                <a:tableStyleId>{4AE0FA90-5911-4907-B5CD-781FDEEBBC44}</a:tableStyleId>
              </a:tblPr>
              <a:tblGrid>
                <a:gridCol w="1650925"/>
                <a:gridCol w="4875825"/>
                <a:gridCol w="42281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num_credit_cards*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num_card_issued</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3.84</a:t>
                      </a:r>
                      <a:endParaRPr sz="1300"/>
                    </a:p>
                  </a:txBody>
                  <a:tcPr marT="91425" marB="91425" marR="91425" marL="91425"/>
                </a:tc>
                <a:tc>
                  <a:txBody>
                    <a:bodyPr/>
                    <a:lstStyle/>
                    <a:p>
                      <a:pPr indent="0" lvl="0" marL="0" rtl="0" algn="ctr">
                        <a:spcBef>
                          <a:spcPts val="0"/>
                        </a:spcBef>
                        <a:spcAft>
                          <a:spcPts val="0"/>
                        </a:spcAft>
                        <a:buNone/>
                      </a:pPr>
                      <a:r>
                        <a:rPr lang="en-US" sz="1300"/>
                        <a:t>1.52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1.57</a:t>
                      </a:r>
                      <a:endParaRPr sz="1300"/>
                    </a:p>
                  </a:txBody>
                  <a:tcPr marT="91425" marB="91425" marR="91425" marL="91425"/>
                </a:tc>
                <a:tc>
                  <a:txBody>
                    <a:bodyPr/>
                    <a:lstStyle/>
                    <a:p>
                      <a:pPr indent="0" lvl="0" marL="0" rtl="0" algn="ctr">
                        <a:spcBef>
                          <a:spcPts val="0"/>
                        </a:spcBef>
                        <a:spcAft>
                          <a:spcPts val="0"/>
                        </a:spcAft>
                        <a:buNone/>
                      </a:pPr>
                      <a:r>
                        <a:rPr lang="en-US" sz="1300"/>
                        <a:t>0.52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a:t>
                      </a:r>
                      <a:endParaRPr sz="1300"/>
                    </a:p>
                  </a:txBody>
                  <a:tcPr marT="91425" marB="91425" marR="91425" marL="91425"/>
                </a:tc>
                <a:tc>
                  <a:txBody>
                    <a:bodyPr/>
                    <a:lstStyle/>
                    <a:p>
                      <a:pPr indent="0" lvl="0" marL="0" rtl="0" algn="ctr">
                        <a:spcBef>
                          <a:spcPts val="0"/>
                        </a:spcBef>
                        <a:spcAft>
                          <a:spcPts val="0"/>
                        </a:spcAft>
                        <a:buNone/>
                      </a:pPr>
                      <a:r>
                        <a:rPr lang="en-US" sz="1300"/>
                        <a:t>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3</a:t>
                      </a:r>
                      <a:endParaRPr sz="1300"/>
                    </a:p>
                  </a:txBody>
                  <a:tcPr marT="91425" marB="91425" marR="91425" marL="91425"/>
                </a:tc>
                <a:tc>
                  <a:txBody>
                    <a:bodyPr/>
                    <a:lstStyle/>
                    <a:p>
                      <a:pPr indent="0" lvl="0" marL="0" rtl="0" algn="ctr">
                        <a:spcBef>
                          <a:spcPts val="0"/>
                        </a:spcBef>
                        <a:spcAft>
                          <a:spcPts val="0"/>
                        </a:spcAft>
                        <a:buNone/>
                      </a:pPr>
                      <a:r>
                        <a:rPr lang="en-US" sz="1300"/>
                        <a:t>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4</a:t>
                      </a:r>
                      <a:endParaRPr sz="1300"/>
                    </a:p>
                  </a:txBody>
                  <a:tcPr marT="91425" marB="91425" marR="91425" marL="91425"/>
                </a:tc>
                <a:tc>
                  <a:txBody>
                    <a:bodyPr/>
                    <a:lstStyle/>
                    <a:p>
                      <a:pPr indent="0" lvl="0" marL="0" rtl="0" algn="ctr">
                        <a:spcBef>
                          <a:spcPts val="0"/>
                        </a:spcBef>
                        <a:spcAft>
                          <a:spcPts val="0"/>
                        </a:spcAft>
                        <a:buNone/>
                      </a:pPr>
                      <a:r>
                        <a:rPr lang="en-US" sz="1300"/>
                        <a:t>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5</a:t>
                      </a:r>
                      <a:endParaRPr sz="1300"/>
                    </a:p>
                  </a:txBody>
                  <a:tcPr marT="91425" marB="91425" marR="91425" marL="91425"/>
                </a:tc>
                <a:tc>
                  <a:txBody>
                    <a:bodyPr/>
                    <a:lstStyle/>
                    <a:p>
                      <a:pPr indent="0" lvl="0" marL="0" rtl="0" algn="ctr">
                        <a:spcBef>
                          <a:spcPts val="0"/>
                        </a:spcBef>
                        <a:spcAft>
                          <a:spcPts val="0"/>
                        </a:spcAft>
                        <a:buNone/>
                      </a:pPr>
                      <a:r>
                        <a:rPr lang="en-US" sz="1300"/>
                        <a:t>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9</a:t>
                      </a:r>
                      <a:endParaRPr sz="1300"/>
                    </a:p>
                  </a:txBody>
                  <a:tcPr marT="91425" marB="91425" marR="91425" marL="91425"/>
                </a:tc>
                <a:tc>
                  <a:txBody>
                    <a:bodyPr/>
                    <a:lstStyle/>
                    <a:p>
                      <a:pPr indent="0" lvl="0" marL="0" rtl="0" algn="ctr">
                        <a:spcBef>
                          <a:spcPts val="0"/>
                        </a:spcBef>
                        <a:spcAft>
                          <a:spcPts val="0"/>
                        </a:spcAft>
                        <a:buNone/>
                      </a:pPr>
                      <a:r>
                        <a:rPr lang="en-US" sz="1300"/>
                        <a:t>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0.31</a:t>
                      </a:r>
                      <a:endParaRPr sz="1300"/>
                    </a:p>
                  </a:txBody>
                  <a:tcPr marT="91425" marB="91425" marR="91425" marL="91425"/>
                </a:tc>
                <a:tc>
                  <a:txBody>
                    <a:bodyPr/>
                    <a:lstStyle/>
                    <a:p>
                      <a:pPr indent="0" lvl="0" marL="0" rtl="0" algn="ctr">
                        <a:spcBef>
                          <a:spcPts val="0"/>
                        </a:spcBef>
                        <a:spcAft>
                          <a:spcPts val="0"/>
                        </a:spcAft>
                        <a:buNone/>
                      </a:pPr>
                      <a:r>
                        <a:rPr lang="en-US" sz="1300">
                          <a:solidFill>
                            <a:srgbClr val="FF0000"/>
                          </a:solidFill>
                        </a:rPr>
                        <a:t>0.08</a:t>
                      </a:r>
                      <a:endParaRPr sz="1300">
                        <a:solidFill>
                          <a:srgbClr val="FF0000"/>
                        </a:solidFill>
                      </a:endParaRPr>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0000"/>
                          </a:solidFill>
                        </a:rPr>
                        <a:t>-0.08</a:t>
                      </a:r>
                      <a:endParaRPr sz="1300">
                        <a:solidFill>
                          <a:srgbClr val="FF0000"/>
                        </a:solidFill>
                      </a:endParaRPr>
                    </a:p>
                  </a:txBody>
                  <a:tcPr marT="91425" marB="91425" marR="91425" marL="91425"/>
                </a:tc>
                <a:tc>
                  <a:txBody>
                    <a:bodyPr/>
                    <a:lstStyle/>
                    <a:p>
                      <a:pPr indent="0" lvl="0" marL="0" rtl="0" algn="ctr">
                        <a:spcBef>
                          <a:spcPts val="0"/>
                        </a:spcBef>
                        <a:spcAft>
                          <a:spcPts val="0"/>
                        </a:spcAft>
                        <a:buNone/>
                      </a:pPr>
                      <a:r>
                        <a:rPr lang="en-US" sz="1300"/>
                        <a:t>-1.57</a:t>
                      </a:r>
                      <a:endParaRPr sz="1300"/>
                    </a:p>
                  </a:txBody>
                  <a:tcPr marT="91425" marB="91425" marR="91425" marL="91425"/>
                </a:tc>
              </a:tr>
            </a:tbl>
          </a:graphicData>
        </a:graphic>
      </p:graphicFrame>
      <p:pic>
        <p:nvPicPr>
          <p:cNvPr id="279" name="Google Shape;279;g389d7be5379_5_58" title="distribution_num_credit_cards_final_background_grid.png"/>
          <p:cNvPicPr preferRelativeResize="0"/>
          <p:nvPr/>
        </p:nvPicPr>
        <p:blipFill rotWithShape="1">
          <a:blip r:embed="rId3">
            <a:alphaModFix/>
          </a:blip>
          <a:srcRect b="0" l="0" r="0" t="0"/>
          <a:stretch/>
        </p:blipFill>
        <p:spPr>
          <a:xfrm>
            <a:off x="1434250" y="1281200"/>
            <a:ext cx="4914235" cy="3439964"/>
          </a:xfrm>
          <a:prstGeom prst="rect">
            <a:avLst/>
          </a:prstGeom>
          <a:noFill/>
          <a:ln>
            <a:noFill/>
          </a:ln>
        </p:spPr>
      </p:pic>
      <p:pic>
        <p:nvPicPr>
          <p:cNvPr id="280" name="Google Shape;280;g389d7be5379_5_58" title="distribution_num_cards_issued_final_background_grid.png"/>
          <p:cNvPicPr preferRelativeResize="0"/>
          <p:nvPr/>
        </p:nvPicPr>
        <p:blipFill rotWithShape="1">
          <a:blip r:embed="rId4">
            <a:alphaModFix/>
          </a:blip>
          <a:srcRect b="0" l="0" r="0" t="0"/>
          <a:stretch/>
        </p:blipFill>
        <p:spPr>
          <a:xfrm>
            <a:off x="6517164" y="1281200"/>
            <a:ext cx="4914235" cy="34399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89d7be5379_5_6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86" name="Google Shape;286;g389d7be5379_5_6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2.3 Cross-sectional Data</a:t>
            </a:r>
            <a:endParaRPr/>
          </a:p>
        </p:txBody>
      </p:sp>
      <p:sp>
        <p:nvSpPr>
          <p:cNvPr id="287" name="Google Shape;287;g389d7be5379_5_6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Continuous Variables—Year Pin</a:t>
            </a:r>
            <a:endParaRPr sz="3000"/>
          </a:p>
        </p:txBody>
      </p:sp>
      <p:sp>
        <p:nvSpPr>
          <p:cNvPr id="288" name="Google Shape;288;g389d7be5379_5_6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289" name="Google Shape;289;g389d7be5379_5_68"/>
          <p:cNvGraphicFramePr/>
          <p:nvPr/>
        </p:nvGraphicFramePr>
        <p:xfrm>
          <a:off x="700625" y="2044963"/>
          <a:ext cx="3000000" cy="3000000"/>
        </p:xfrm>
        <a:graphic>
          <a:graphicData uri="http://schemas.openxmlformats.org/drawingml/2006/table">
            <a:tbl>
              <a:tblPr>
                <a:noFill/>
                <a:tableStyleId>{4AE0FA90-5911-4907-B5CD-781FDEEBBC44}</a:tableStyleId>
              </a:tblPr>
              <a:tblGrid>
                <a:gridCol w="1650925"/>
                <a:gridCol w="4875825"/>
              </a:tblGrid>
              <a:tr h="364750">
                <a:tc>
                  <a:txBody>
                    <a:bodyPr/>
                    <a:lstStyle/>
                    <a:p>
                      <a:pPr indent="0" lvl="0" marL="0" rtl="0" algn="ctr">
                        <a:spcBef>
                          <a:spcPts val="0"/>
                        </a:spcBef>
                        <a:spcAft>
                          <a:spcPts val="0"/>
                        </a:spcAft>
                        <a:buNone/>
                      </a:pPr>
                      <a:r>
                        <a:rPr lang="en-US" sz="1300">
                          <a:solidFill>
                            <a:srgbClr val="FFFFFF"/>
                          </a:solidFill>
                        </a:rPr>
                        <a:t>Statistics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year_pin_last_changed</a:t>
                      </a:r>
                      <a:endParaRPr sz="1300">
                        <a:solidFill>
                          <a:srgbClr val="FFFFFF"/>
                        </a:solidFill>
                      </a:endParaRPr>
                    </a:p>
                  </a:txBody>
                  <a:tcPr marT="91425" marB="91425" marR="91425" marL="91425">
                    <a:solidFill>
                      <a:srgbClr val="666666"/>
                    </a:solidFill>
                  </a:tcPr>
                </a:tc>
              </a:tr>
              <a:tr h="364750">
                <a:tc>
                  <a:txBody>
                    <a:bodyPr/>
                    <a:lstStyle/>
                    <a:p>
                      <a:pPr indent="0" lvl="0" marL="0" rtl="0" algn="ctr">
                        <a:spcBef>
                          <a:spcPts val="0"/>
                        </a:spcBef>
                        <a:spcAft>
                          <a:spcPts val="0"/>
                        </a:spcAft>
                        <a:buNone/>
                      </a:pPr>
                      <a:r>
                        <a:rPr lang="en-US" sz="1300">
                          <a:solidFill>
                            <a:srgbClr val="FFFFFF"/>
                          </a:solidFill>
                        </a:rPr>
                        <a:t>count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13,305,915</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mean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2,011.34</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std</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2.89</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min</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2002</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25%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2010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50%</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2011</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75%</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2013</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max</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2020</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skewness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0.36</a:t>
                      </a:r>
                      <a:endParaRPr sz="1300"/>
                    </a:p>
                  </a:txBody>
                  <a:tcPr marT="91425" marB="91425" marR="91425" marL="91425"/>
                </a:tc>
              </a:tr>
              <a:tr h="364750">
                <a:tc>
                  <a:txBody>
                    <a:bodyPr/>
                    <a:lstStyle/>
                    <a:p>
                      <a:pPr indent="0" lvl="0" marL="0" rtl="0" algn="ctr">
                        <a:spcBef>
                          <a:spcPts val="0"/>
                        </a:spcBef>
                        <a:spcAft>
                          <a:spcPts val="0"/>
                        </a:spcAft>
                        <a:buNone/>
                      </a:pPr>
                      <a:r>
                        <a:rPr lang="en-US" sz="1300">
                          <a:solidFill>
                            <a:srgbClr val="FFFFFF"/>
                          </a:solidFill>
                        </a:rPr>
                        <a:t>kurtosis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0.29</a:t>
                      </a:r>
                      <a:endParaRPr sz="1300"/>
                    </a:p>
                  </a:txBody>
                  <a:tcPr marT="91425" marB="91425" marR="91425" marL="91425"/>
                </a:tc>
              </a:tr>
            </a:tbl>
          </a:graphicData>
        </a:graphic>
      </p:graphicFrame>
      <p:pic>
        <p:nvPicPr>
          <p:cNvPr id="290" name="Google Shape;290;g389d7be5379_5_68" title="distribution_year_pin_last_changed_final_background_grid.png"/>
          <p:cNvPicPr preferRelativeResize="0"/>
          <p:nvPr/>
        </p:nvPicPr>
        <p:blipFill rotWithShape="1">
          <a:blip r:embed="rId3">
            <a:alphaModFix/>
          </a:blip>
          <a:srcRect b="0" l="0" r="0" t="0"/>
          <a:stretch/>
        </p:blipFill>
        <p:spPr>
          <a:xfrm>
            <a:off x="7466750" y="1956100"/>
            <a:ext cx="5416225" cy="37913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graphicFrame>
        <p:nvGraphicFramePr>
          <p:cNvPr id="295" name="Google Shape;295;g38a05f03469_0_6"/>
          <p:cNvGraphicFramePr/>
          <p:nvPr/>
        </p:nvGraphicFramePr>
        <p:xfrm>
          <a:off x="700625" y="6003352"/>
          <a:ext cx="3000000" cy="3000000"/>
        </p:xfrm>
        <a:graphic>
          <a:graphicData uri="http://schemas.openxmlformats.org/drawingml/2006/table">
            <a:tbl>
              <a:tblPr>
                <a:noFill/>
                <a:tableStyleId>{4AE0FA90-5911-4907-B5CD-781FDEEBBC44}</a:tableStyleId>
              </a:tblPr>
              <a:tblGrid>
                <a:gridCol w="2581800"/>
                <a:gridCol w="2581800"/>
                <a:gridCol w="2581800"/>
                <a:gridCol w="3722350"/>
              </a:tblGrid>
              <a:tr h="393200">
                <a:tc>
                  <a:txBody>
                    <a:bodyPr/>
                    <a:lstStyle/>
                    <a:p>
                      <a:pPr indent="0" lvl="0" marL="0" rtl="0" algn="ctr">
                        <a:spcBef>
                          <a:spcPts val="0"/>
                        </a:spcBef>
                        <a:spcAft>
                          <a:spcPts val="0"/>
                        </a:spcAft>
                        <a:buNone/>
                      </a:pPr>
                      <a:r>
                        <a:rPr lang="en-US" sz="1300">
                          <a:solidFill>
                            <a:srgbClr val="FFFFFF"/>
                          </a:solidFill>
                        </a:rPr>
                        <a:t>Original Variable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Logarithmic Variables</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Scaled Variable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Reason</a:t>
                      </a:r>
                      <a:endParaRPr sz="1300">
                        <a:solidFill>
                          <a:srgbClr val="FFFFFF"/>
                        </a:solidFill>
                      </a:endParaRPr>
                    </a:p>
                  </a:txBody>
                  <a:tcPr marT="91425" marB="91425" marR="91425" marL="91425">
                    <a:solidFill>
                      <a:srgbClr val="666666"/>
                    </a:solidFill>
                  </a:tcPr>
                </a:tc>
              </a:tr>
              <a:tr h="393200">
                <a:tc>
                  <a:txBody>
                    <a:bodyPr/>
                    <a:lstStyle/>
                    <a:p>
                      <a:pPr indent="0" lvl="0" marL="0" rtl="0" algn="ctr">
                        <a:spcBef>
                          <a:spcPts val="0"/>
                        </a:spcBef>
                        <a:spcAft>
                          <a:spcPts val="0"/>
                        </a:spcAft>
                        <a:buNone/>
                      </a:pPr>
                      <a:r>
                        <a:rPr lang="en-US" sz="1300">
                          <a:solidFill>
                            <a:srgbClr val="FFFFFF"/>
                          </a:solidFill>
                        </a:rPr>
                        <a:t>amount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log_amount</a:t>
                      </a:r>
                      <a:endParaRPr sz="1300"/>
                    </a:p>
                  </a:txBody>
                  <a:tcPr marT="91425" marB="91425" marR="91425" marL="91425"/>
                </a:tc>
                <a:tc>
                  <a:txBody>
                    <a:bodyPr/>
                    <a:lstStyle/>
                    <a:p>
                      <a:pPr indent="0" lvl="0" marL="0" rtl="0" algn="ctr">
                        <a:spcBef>
                          <a:spcPts val="0"/>
                        </a:spcBef>
                        <a:spcAft>
                          <a:spcPts val="0"/>
                        </a:spcAft>
                        <a:buNone/>
                      </a:pPr>
                      <a:r>
                        <a:rPr lang="en-US" sz="1300"/>
                        <a:t>log_amount_Z</a:t>
                      </a:r>
                      <a:endParaRPr sz="1300"/>
                    </a:p>
                  </a:txBody>
                  <a:tcPr marT="91425" marB="91425" marR="91425" marL="91425" anchor="ctr">
                    <a:lnB cap="flat" cmpd="sng" w="9525">
                      <a:solidFill>
                        <a:srgbClr val="9E9E9E"/>
                      </a:solidFill>
                      <a:prstDash val="solid"/>
                      <a:round/>
                      <a:headEnd len="sm" w="sm" type="none"/>
                      <a:tailEnd len="sm" w="sm" type="none"/>
                    </a:lnB>
                  </a:tcPr>
                </a:tc>
                <a:tc rowSpan="5">
                  <a:txBody>
                    <a:bodyPr/>
                    <a:lstStyle/>
                    <a:p>
                      <a:pPr indent="0" lvl="0" marL="0" rtl="0" algn="ctr">
                        <a:spcBef>
                          <a:spcPts val="0"/>
                        </a:spcBef>
                        <a:spcAft>
                          <a:spcPts val="0"/>
                        </a:spcAft>
                        <a:buNone/>
                      </a:pPr>
                      <a:r>
                        <a:rPr lang="en-US" sz="1300"/>
                        <a:t>log transformation</a:t>
                      </a:r>
                      <a:endParaRPr sz="1500"/>
                    </a:p>
                  </a:txBody>
                  <a:tcPr marT="91425" marB="91425" marR="91425" marL="91425" anchor="ctr"/>
                </a:tc>
              </a:tr>
              <a:tr h="393200">
                <a:tc>
                  <a:txBody>
                    <a:bodyPr/>
                    <a:lstStyle/>
                    <a:p>
                      <a:pPr indent="0" lvl="0" marL="0" rtl="0" algn="ctr">
                        <a:spcBef>
                          <a:spcPts val="0"/>
                        </a:spcBef>
                        <a:spcAft>
                          <a:spcPts val="0"/>
                        </a:spcAft>
                        <a:buNone/>
                      </a:pPr>
                      <a:r>
                        <a:rPr lang="en-US" sz="1300">
                          <a:solidFill>
                            <a:srgbClr val="FFFFFF"/>
                          </a:solidFill>
                        </a:rPr>
                        <a:t>yearly_income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log_yearly_income</a:t>
                      </a:r>
                      <a:endParaRPr sz="13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1300"/>
                        <a:t>log_yearly_income_Z</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r>
              <a:tr h="393200">
                <a:tc>
                  <a:txBody>
                    <a:bodyPr/>
                    <a:lstStyle/>
                    <a:p>
                      <a:pPr indent="0" lvl="0" marL="0" rtl="0" algn="ctr">
                        <a:spcBef>
                          <a:spcPts val="0"/>
                        </a:spcBef>
                        <a:spcAft>
                          <a:spcPts val="0"/>
                        </a:spcAft>
                        <a:buNone/>
                      </a:pPr>
                      <a:r>
                        <a:rPr lang="en-US" sz="1300">
                          <a:solidFill>
                            <a:srgbClr val="FFFFFF"/>
                          </a:solidFill>
                        </a:rPr>
                        <a:t>per_capita_income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log_per_capita_income</a:t>
                      </a:r>
                      <a:endParaRPr sz="13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1300"/>
                        <a:t>log_per_capita_income_Z</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r>
              <a:tr h="393200">
                <a:tc>
                  <a:txBody>
                    <a:bodyPr/>
                    <a:lstStyle/>
                    <a:p>
                      <a:pPr indent="0" lvl="0" marL="0" rtl="0" algn="ctr">
                        <a:spcBef>
                          <a:spcPts val="0"/>
                        </a:spcBef>
                        <a:spcAft>
                          <a:spcPts val="0"/>
                        </a:spcAft>
                        <a:buNone/>
                      </a:pPr>
                      <a:r>
                        <a:rPr lang="en-US" sz="1300">
                          <a:solidFill>
                            <a:srgbClr val="FFFFFF"/>
                          </a:solidFill>
                        </a:rPr>
                        <a:t>credit_limit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log_credit_limit</a:t>
                      </a:r>
                      <a:endParaRPr sz="13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1300"/>
                        <a:t>log_credit_limit_Z</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r>
              <a:tr h="393200">
                <a:tc>
                  <a:txBody>
                    <a:bodyPr/>
                    <a:lstStyle/>
                    <a:p>
                      <a:pPr indent="0" lvl="0" marL="0" rtl="0" algn="ctr">
                        <a:spcBef>
                          <a:spcPts val="0"/>
                        </a:spcBef>
                        <a:spcAft>
                          <a:spcPts val="0"/>
                        </a:spcAft>
                        <a:buNone/>
                      </a:pPr>
                      <a:r>
                        <a:rPr lang="en-US" sz="1300">
                          <a:solidFill>
                            <a:srgbClr val="FFFFFF"/>
                          </a:solidFill>
                        </a:rPr>
                        <a:t>total_debt</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t>log_total_debt</a:t>
                      </a:r>
                      <a:endParaRPr sz="13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1300"/>
                        <a:t>log_total_debt_Z</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r>
            </a:tbl>
          </a:graphicData>
        </a:graphic>
      </p:graphicFrame>
      <p:sp>
        <p:nvSpPr>
          <p:cNvPr id="296" name="Google Shape;296;g38a05f03469_0_6"/>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297" name="Google Shape;297;g38a05f03469_0_6"/>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298" name="Google Shape;298;g38a05f03469_0_6"/>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Scaling–Z score for Logarithm Variable</a:t>
            </a:r>
            <a:endParaRPr sz="3000"/>
          </a:p>
        </p:txBody>
      </p:sp>
      <p:sp>
        <p:nvSpPr>
          <p:cNvPr id="299" name="Google Shape;299;g38a05f03469_0_6"/>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300" name="Google Shape;300;g38a05f03469_0_6" title="distribution_log_yearly_income_final_background_grid.png"/>
          <p:cNvPicPr preferRelativeResize="0"/>
          <p:nvPr/>
        </p:nvPicPr>
        <p:blipFill rotWithShape="1">
          <a:blip r:embed="rId3">
            <a:alphaModFix/>
          </a:blip>
          <a:srcRect b="0" l="0" r="0" t="0"/>
          <a:stretch/>
        </p:blipFill>
        <p:spPr>
          <a:xfrm>
            <a:off x="465951" y="1524300"/>
            <a:ext cx="6180933" cy="4326653"/>
          </a:xfrm>
          <a:prstGeom prst="rect">
            <a:avLst/>
          </a:prstGeom>
          <a:noFill/>
          <a:ln>
            <a:noFill/>
          </a:ln>
        </p:spPr>
      </p:pic>
      <p:pic>
        <p:nvPicPr>
          <p:cNvPr id="301" name="Google Shape;301;g38a05f03469_0_6" title="distribution_log_yearly_income_Z_final_background_grid.png"/>
          <p:cNvPicPr preferRelativeResize="0"/>
          <p:nvPr/>
        </p:nvPicPr>
        <p:blipFill rotWithShape="1">
          <a:blip r:embed="rId4">
            <a:alphaModFix/>
          </a:blip>
          <a:srcRect b="0" l="0" r="0" t="0"/>
          <a:stretch/>
        </p:blipFill>
        <p:spPr>
          <a:xfrm>
            <a:off x="6623246" y="1524300"/>
            <a:ext cx="6180933" cy="432665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aphicFrame>
        <p:nvGraphicFramePr>
          <p:cNvPr id="306" name="Google Shape;306;g38f1a016ca8_0_4"/>
          <p:cNvGraphicFramePr/>
          <p:nvPr/>
        </p:nvGraphicFramePr>
        <p:xfrm>
          <a:off x="700625" y="6003352"/>
          <a:ext cx="3000000" cy="3000000"/>
        </p:xfrm>
        <a:graphic>
          <a:graphicData uri="http://schemas.openxmlformats.org/drawingml/2006/table">
            <a:tbl>
              <a:tblPr>
                <a:noFill/>
                <a:tableStyleId>{4AE0FA90-5911-4907-B5CD-781FDEEBBC44}</a:tableStyleId>
              </a:tblPr>
              <a:tblGrid>
                <a:gridCol w="2699050"/>
                <a:gridCol w="2699050"/>
                <a:gridCol w="6069675"/>
              </a:tblGrid>
              <a:tr h="364750">
                <a:tc>
                  <a:txBody>
                    <a:bodyPr/>
                    <a:lstStyle/>
                    <a:p>
                      <a:pPr indent="0" lvl="0" marL="0" rtl="0" algn="ctr">
                        <a:spcBef>
                          <a:spcPts val="0"/>
                        </a:spcBef>
                        <a:spcAft>
                          <a:spcPts val="0"/>
                        </a:spcAft>
                        <a:buNone/>
                      </a:pPr>
                      <a:r>
                        <a:rPr lang="en-US" sz="1300">
                          <a:solidFill>
                            <a:srgbClr val="FFFFFF"/>
                          </a:solidFill>
                        </a:rPr>
                        <a:t>Variable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Scaled Variable</a:t>
                      </a:r>
                      <a:endParaRPr sz="1300">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US" sz="1300">
                          <a:solidFill>
                            <a:srgbClr val="FFFFFF"/>
                          </a:solidFill>
                        </a:rPr>
                        <a:t>Reason</a:t>
                      </a:r>
                      <a:endParaRPr sz="1300">
                        <a:solidFill>
                          <a:srgbClr val="FFFFFF"/>
                        </a:solidFill>
                      </a:endParaRPr>
                    </a:p>
                  </a:txBody>
                  <a:tcPr marT="91425" marB="91425" marR="91425" marL="91425">
                    <a:solidFill>
                      <a:srgbClr val="666666"/>
                    </a:solidFill>
                  </a:tcPr>
                </a:tc>
              </a:tr>
              <a:tr h="487675">
                <a:tc rowSpan="2">
                  <a:txBody>
                    <a:bodyPr/>
                    <a:lstStyle/>
                    <a:p>
                      <a:pPr indent="0" lvl="0" marL="0" rtl="0" algn="ctr">
                        <a:spcBef>
                          <a:spcPts val="0"/>
                        </a:spcBef>
                        <a:spcAft>
                          <a:spcPts val="0"/>
                        </a:spcAft>
                        <a:buNone/>
                      </a:pPr>
                      <a:r>
                        <a:rPr lang="en-US" sz="1300">
                          <a:solidFill>
                            <a:srgbClr val="FFFFFF"/>
                          </a:solidFill>
                        </a:rPr>
                        <a:t>credit_score</a:t>
                      </a:r>
                      <a:endParaRPr sz="1300">
                        <a:solidFill>
                          <a:srgbClr val="FFFFFF"/>
                        </a:solidFill>
                      </a:endParaRPr>
                    </a:p>
                  </a:txBody>
                  <a:tcPr marT="91425" marB="91425" marR="91425" marL="91425" anchor="ctr">
                    <a:lnR cap="flat" cmpd="sng" w="9525">
                      <a:solidFill>
                        <a:srgbClr val="9E9E9E"/>
                      </a:solidFill>
                      <a:prstDash val="solid"/>
                      <a:round/>
                      <a:headEnd len="sm" w="sm" type="none"/>
                      <a:tailEnd len="sm" w="sm" type="none"/>
                    </a:lnR>
                    <a:solidFill>
                      <a:srgbClr val="666666"/>
                    </a:solidFill>
                  </a:tcPr>
                </a:tc>
                <a:tc rowSpan="2">
                  <a:txBody>
                    <a:bodyPr/>
                    <a:lstStyle/>
                    <a:p>
                      <a:pPr indent="0" lvl="0" marL="0" rtl="0" algn="ctr">
                        <a:spcBef>
                          <a:spcPts val="0"/>
                        </a:spcBef>
                        <a:spcAft>
                          <a:spcPts val="0"/>
                        </a:spcAft>
                        <a:buNone/>
                      </a:pPr>
                      <a:r>
                        <a:rPr lang="en-US" sz="1300"/>
                        <a:t>credit_score_Z</a:t>
                      </a:r>
                      <a:endParaRPr sz="13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FFF"/>
                    </a:solidFill>
                  </a:tcPr>
                </a:tc>
                <a:tc rowSpan="2">
                  <a:txBody>
                    <a:bodyPr/>
                    <a:lstStyle/>
                    <a:p>
                      <a:pPr indent="0" lvl="0" marL="0" rtl="0" algn="ctr">
                        <a:spcBef>
                          <a:spcPts val="0"/>
                        </a:spcBef>
                        <a:spcAft>
                          <a:spcPts val="0"/>
                        </a:spcAft>
                        <a:buNone/>
                      </a:pPr>
                      <a:r>
                        <a:rPr lang="en-US" sz="1300"/>
                        <a:t>highly bounded (Min 488.00, Max 850.00), close to normal, slightly left-skewed</a:t>
                      </a:r>
                      <a:endParaRPr b="1" sz="1300"/>
                    </a:p>
                  </a:txBody>
                  <a:tcPr marT="91425" marB="91425" marR="91425" marL="91425" anchor="ctr">
                    <a:lnL cap="flat" cmpd="sng" w="9525">
                      <a:solidFill>
                        <a:srgbClr val="9E9E9E"/>
                      </a:solidFill>
                      <a:prstDash val="solid"/>
                      <a:round/>
                      <a:headEnd len="sm" w="sm" type="none"/>
                      <a:tailEnd len="sm" w="sm" type="none"/>
                    </a:lnL>
                  </a:tcPr>
                </a:tc>
              </a:tr>
              <a:tr h="487675">
                <a:tc vMerge="1"/>
                <a:tc vMerge="1"/>
                <a:tc vMerge="1"/>
              </a:tr>
              <a:tr h="487675">
                <a:tc>
                  <a:txBody>
                    <a:bodyPr/>
                    <a:lstStyle/>
                    <a:p>
                      <a:pPr indent="0" lvl="0" marL="0" rtl="0" algn="ctr">
                        <a:spcBef>
                          <a:spcPts val="0"/>
                        </a:spcBef>
                        <a:spcAft>
                          <a:spcPts val="0"/>
                        </a:spcAft>
                        <a:buNone/>
                      </a:pPr>
                      <a:r>
                        <a:rPr lang="en-US" sz="1300">
                          <a:solidFill>
                            <a:srgbClr val="FFFFFF"/>
                          </a:solidFill>
                        </a:rPr>
                        <a:t>current_age</a:t>
                      </a:r>
                      <a:endParaRPr sz="1300">
                        <a:solidFill>
                          <a:srgbClr val="FFFFFF"/>
                        </a:solidFill>
                      </a:endParaRPr>
                    </a:p>
                  </a:txBody>
                  <a:tcPr marT="91425" marB="91425" marR="91425" marL="91425" anchor="ctr">
                    <a:solidFill>
                      <a:srgbClr val="666666"/>
                    </a:solidFill>
                  </a:tcPr>
                </a:tc>
                <a:tc>
                  <a:txBody>
                    <a:bodyPr/>
                    <a:lstStyle/>
                    <a:p>
                      <a:pPr indent="0" lvl="0" marL="0" rtl="0" algn="ctr">
                        <a:spcBef>
                          <a:spcPts val="0"/>
                        </a:spcBef>
                        <a:spcAft>
                          <a:spcPts val="0"/>
                        </a:spcAft>
                        <a:buNone/>
                      </a:pPr>
                      <a:r>
                        <a:rPr lang="en-US" sz="1300"/>
                        <a:t>current_age_Z</a:t>
                      </a:r>
                      <a:endParaRPr sz="1300"/>
                    </a:p>
                  </a:txBody>
                  <a:tcPr marT="91425" marB="91425" marR="91425" marL="91425" anchor="ctr">
                    <a:lnT cap="flat" cmpd="sng" w="9525">
                      <a:solidFill>
                        <a:srgbClr val="9E9E9E"/>
                      </a:solidFill>
                      <a:prstDash val="solid"/>
                      <a:round/>
                      <a:headEnd len="sm" w="sm" type="none"/>
                      <a:tailEnd len="sm" w="sm" type="none"/>
                    </a:lnT>
                  </a:tcPr>
                </a:tc>
                <a:tc rowSpan="2">
                  <a:txBody>
                    <a:bodyPr/>
                    <a:lstStyle/>
                    <a:p>
                      <a:pPr indent="0" lvl="0" marL="0" rtl="0" algn="ctr">
                        <a:spcBef>
                          <a:spcPts val="0"/>
                        </a:spcBef>
                        <a:spcAft>
                          <a:spcPts val="0"/>
                        </a:spcAft>
                        <a:buNone/>
                      </a:pPr>
                      <a:r>
                        <a:rPr lang="en-US" sz="1300"/>
                        <a:t>continuous, bounded variables, </a:t>
                      </a:r>
                      <a:r>
                        <a:rPr lang="en-US" sz="1300"/>
                        <a:t>multimodal</a:t>
                      </a:r>
                      <a:endParaRPr sz="1300"/>
                    </a:p>
                  </a:txBody>
                  <a:tcPr marT="91425" marB="91425" marR="91425" marL="91425" anchor="ctr"/>
                </a:tc>
              </a:tr>
              <a:tr h="487675">
                <a:tc>
                  <a:txBody>
                    <a:bodyPr/>
                    <a:lstStyle/>
                    <a:p>
                      <a:pPr indent="0" lvl="0" marL="0" rtl="0" algn="ctr">
                        <a:spcBef>
                          <a:spcPts val="0"/>
                        </a:spcBef>
                        <a:spcAft>
                          <a:spcPts val="0"/>
                        </a:spcAft>
                        <a:buNone/>
                      </a:pPr>
                      <a:r>
                        <a:rPr lang="en-US" sz="1300">
                          <a:solidFill>
                            <a:srgbClr val="FFFFFF"/>
                          </a:solidFill>
                        </a:rPr>
                        <a:t>retirement_age</a:t>
                      </a:r>
                      <a:endParaRPr sz="1300">
                        <a:solidFill>
                          <a:srgbClr val="FFFFFF"/>
                        </a:solidFill>
                      </a:endParaRPr>
                    </a:p>
                  </a:txBody>
                  <a:tcPr marT="91425" marB="91425" marR="91425" marL="91425" anchor="ctr">
                    <a:solidFill>
                      <a:srgbClr val="666666"/>
                    </a:solidFill>
                  </a:tcPr>
                </a:tc>
                <a:tc>
                  <a:txBody>
                    <a:bodyPr/>
                    <a:lstStyle/>
                    <a:p>
                      <a:pPr indent="0" lvl="0" marL="0" rtl="0" algn="ctr">
                        <a:spcBef>
                          <a:spcPts val="0"/>
                        </a:spcBef>
                        <a:spcAft>
                          <a:spcPts val="0"/>
                        </a:spcAft>
                        <a:buNone/>
                      </a:pPr>
                      <a:r>
                        <a:rPr lang="en-US" sz="1300"/>
                        <a:t>retirement_age_Z</a:t>
                      </a:r>
                      <a:endParaRPr sz="1300"/>
                    </a:p>
                  </a:txBody>
                  <a:tcPr marT="91425" marB="91425" marR="91425" marL="91425" anchor="ctr"/>
                </a:tc>
                <a:tc vMerge="1"/>
              </a:tr>
            </a:tbl>
          </a:graphicData>
        </a:graphic>
      </p:graphicFrame>
      <p:sp>
        <p:nvSpPr>
          <p:cNvPr id="307" name="Google Shape;307;g38f1a016ca8_0_4"/>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08" name="Google Shape;308;g38f1a016ca8_0_4"/>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09" name="Google Shape;309;g38f1a016ca8_0_4"/>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Scaling–Z score</a:t>
            </a:r>
            <a:endParaRPr sz="3000"/>
          </a:p>
        </p:txBody>
      </p:sp>
      <p:sp>
        <p:nvSpPr>
          <p:cNvPr id="310" name="Google Shape;310;g38f1a016ca8_0_4"/>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311" name="Google Shape;311;g38f1a016ca8_0_4" title="distribution_credit_score_final_background_grid.png"/>
          <p:cNvPicPr preferRelativeResize="0"/>
          <p:nvPr/>
        </p:nvPicPr>
        <p:blipFill rotWithShape="1">
          <a:blip r:embed="rId3">
            <a:alphaModFix/>
          </a:blip>
          <a:srcRect b="0" l="0" r="0" t="0"/>
          <a:stretch/>
        </p:blipFill>
        <p:spPr>
          <a:xfrm>
            <a:off x="465951" y="1524300"/>
            <a:ext cx="6180933" cy="4326653"/>
          </a:xfrm>
          <a:prstGeom prst="rect">
            <a:avLst/>
          </a:prstGeom>
          <a:noFill/>
          <a:ln>
            <a:noFill/>
          </a:ln>
        </p:spPr>
      </p:pic>
      <p:pic>
        <p:nvPicPr>
          <p:cNvPr id="312" name="Google Shape;312;g38f1a016ca8_0_4" title="distribution_credit_score_Z_final_background_grid.png"/>
          <p:cNvPicPr preferRelativeResize="0"/>
          <p:nvPr/>
        </p:nvPicPr>
        <p:blipFill rotWithShape="1">
          <a:blip r:embed="rId4">
            <a:alphaModFix/>
          </a:blip>
          <a:srcRect b="0" l="0" r="0" t="0"/>
          <a:stretch/>
        </p:blipFill>
        <p:spPr>
          <a:xfrm>
            <a:off x="6623246" y="1524300"/>
            <a:ext cx="6180933" cy="432665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graphicFrame>
        <p:nvGraphicFramePr>
          <p:cNvPr id="317" name="Google Shape;317;g38a05f03469_0_18"/>
          <p:cNvGraphicFramePr/>
          <p:nvPr/>
        </p:nvGraphicFramePr>
        <p:xfrm>
          <a:off x="700625" y="6003352"/>
          <a:ext cx="3000000" cy="3000000"/>
        </p:xfrm>
        <a:graphic>
          <a:graphicData uri="http://schemas.openxmlformats.org/drawingml/2006/table">
            <a:tbl>
              <a:tblPr>
                <a:noFill/>
                <a:tableStyleId>{4AE0FA90-5911-4907-B5CD-781FDEEBBC44}</a:tableStyleId>
              </a:tblPr>
              <a:tblGrid>
                <a:gridCol w="3907825"/>
                <a:gridCol w="7559975"/>
              </a:tblGrid>
              <a:tr h="364750">
                <a:tc>
                  <a:txBody>
                    <a:bodyPr/>
                    <a:lstStyle/>
                    <a:p>
                      <a:pPr indent="0" lvl="0" marL="0" rtl="0" algn="ctr">
                        <a:spcBef>
                          <a:spcPts val="0"/>
                        </a:spcBef>
                        <a:spcAft>
                          <a:spcPts val="0"/>
                        </a:spcAft>
                        <a:buNone/>
                      </a:pPr>
                      <a:r>
                        <a:rPr lang="en-US" sz="1300">
                          <a:solidFill>
                            <a:srgbClr val="FFFFFF"/>
                          </a:solidFill>
                        </a:rPr>
                        <a:t>Variable</a:t>
                      </a:r>
                      <a:endParaRPr sz="1300">
                        <a:solidFill>
                          <a:srgbClr val="FFFFFF"/>
                        </a:solidFill>
                      </a:endParaRPr>
                    </a:p>
                  </a:txBody>
                  <a:tcPr marT="91425" marB="91425" marR="91425" marL="91425">
                    <a:solidFill>
                      <a:srgbClr val="666666"/>
                    </a:solidFill>
                  </a:tcPr>
                </a:tc>
                <a:tc>
                  <a:txBody>
                    <a:bodyPr/>
                    <a:lstStyle/>
                    <a:p>
                      <a:pPr indent="0" lvl="0" marL="0" rtl="0" algn="ctr">
                        <a:spcBef>
                          <a:spcPts val="0"/>
                        </a:spcBef>
                        <a:spcAft>
                          <a:spcPts val="0"/>
                        </a:spcAft>
                        <a:buNone/>
                      </a:pPr>
                      <a:r>
                        <a:rPr lang="en-US" sz="1300">
                          <a:solidFill>
                            <a:srgbClr val="FFFFFF"/>
                          </a:solidFill>
                        </a:rPr>
                        <a:t>Reason</a:t>
                      </a:r>
                      <a:endParaRPr sz="1300">
                        <a:solidFill>
                          <a:srgbClr val="FFFFFF"/>
                        </a:solidFill>
                      </a:endParaRPr>
                    </a:p>
                  </a:txBody>
                  <a:tcPr marT="91425" marB="91425" marR="91425" marL="91425">
                    <a:solidFill>
                      <a:srgbClr val="666666"/>
                    </a:solidFill>
                  </a:tcPr>
                </a:tc>
              </a:tr>
              <a:tr h="380975">
                <a:tc rowSpan="2">
                  <a:txBody>
                    <a:bodyPr/>
                    <a:lstStyle/>
                    <a:p>
                      <a:pPr indent="0" lvl="0" marL="0" rtl="0" algn="ctr">
                        <a:spcBef>
                          <a:spcPts val="0"/>
                        </a:spcBef>
                        <a:spcAft>
                          <a:spcPts val="0"/>
                        </a:spcAft>
                        <a:buNone/>
                      </a:pPr>
                      <a:r>
                        <a:rPr lang="en-US" sz="1300">
                          <a:solidFill>
                            <a:srgbClr val="FFFFFF"/>
                          </a:solidFill>
                        </a:rPr>
                        <a:t>num_credit_cards</a:t>
                      </a:r>
                      <a:endParaRPr sz="1300">
                        <a:solidFill>
                          <a:srgbClr val="FFFFFF"/>
                        </a:solidFill>
                      </a:endParaRPr>
                    </a:p>
                  </a:txBody>
                  <a:tcPr marT="91425" marB="91425" marR="91425" marL="91425" anchor="ctr">
                    <a:solidFill>
                      <a:srgbClr val="666666"/>
                    </a:solidFill>
                  </a:tcPr>
                </a:tc>
                <a:tc rowSpan="2">
                  <a:txBody>
                    <a:bodyPr/>
                    <a:lstStyle/>
                    <a:p>
                      <a:pPr indent="0" lvl="0" marL="0" rtl="0" algn="ctr">
                        <a:spcBef>
                          <a:spcPts val="0"/>
                        </a:spcBef>
                        <a:spcAft>
                          <a:spcPts val="0"/>
                        </a:spcAft>
                        <a:buNone/>
                      </a:pPr>
                      <a:r>
                        <a:rPr lang="en-US" sz="1300"/>
                        <a:t>ordinal, discrete, limited ranged (Min 1.00, Max 9.00)</a:t>
                      </a:r>
                      <a:endParaRPr sz="1500"/>
                    </a:p>
                  </a:txBody>
                  <a:tcPr marT="91425" marB="91425" marR="91425" marL="91425" anchor="ctr"/>
                </a:tc>
              </a:tr>
              <a:tr h="487675">
                <a:tc vMerge="1"/>
                <a:tc vMerge="1"/>
              </a:tr>
              <a:tr h="487675">
                <a:tc rowSpan="2">
                  <a:txBody>
                    <a:bodyPr/>
                    <a:lstStyle/>
                    <a:p>
                      <a:pPr indent="0" lvl="0" marL="0" rtl="0" algn="ctr">
                        <a:spcBef>
                          <a:spcPts val="0"/>
                        </a:spcBef>
                        <a:spcAft>
                          <a:spcPts val="0"/>
                        </a:spcAft>
                        <a:buNone/>
                      </a:pPr>
                      <a:r>
                        <a:rPr lang="en-US" sz="1300">
                          <a:solidFill>
                            <a:srgbClr val="FFFFFF"/>
                          </a:solidFill>
                        </a:rPr>
                        <a:t>num_cards_issued</a:t>
                      </a:r>
                      <a:endParaRPr sz="1300">
                        <a:solidFill>
                          <a:srgbClr val="FFFFFF"/>
                        </a:solidFill>
                      </a:endParaRPr>
                    </a:p>
                  </a:txBody>
                  <a:tcPr marT="91425" marB="91425" marR="91425" marL="91425" anchor="ctr">
                    <a:solidFill>
                      <a:srgbClr val="666666"/>
                    </a:solidFill>
                  </a:tcPr>
                </a:tc>
                <a:tc rowSpan="2">
                  <a:txBody>
                    <a:bodyPr/>
                    <a:lstStyle/>
                    <a:p>
                      <a:pPr indent="0" lvl="0" marL="0" rtl="0" algn="ctr">
                        <a:spcBef>
                          <a:spcPts val="0"/>
                        </a:spcBef>
                        <a:spcAft>
                          <a:spcPts val="0"/>
                        </a:spcAft>
                        <a:buNone/>
                      </a:pPr>
                      <a:r>
                        <a:rPr lang="en-US" sz="1300"/>
                        <a:t>extremely tightly bounded (Min 1.00, Max 3.00)</a:t>
                      </a:r>
                      <a:endParaRPr sz="1300"/>
                    </a:p>
                  </a:txBody>
                  <a:tcPr marT="91425" marB="91425" marR="91425" marL="91425" anchor="ctr"/>
                </a:tc>
              </a:tr>
              <a:tr h="487675">
                <a:tc vMerge="1"/>
                <a:tc vMerge="1"/>
              </a:tr>
            </a:tbl>
          </a:graphicData>
        </a:graphic>
      </p:graphicFrame>
      <p:sp>
        <p:nvSpPr>
          <p:cNvPr id="318" name="Google Shape;318;g38a05f03469_0_1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19" name="Google Shape;319;g38a05f03469_0_1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20" name="Google Shape;320;g38a05f03469_0_1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Scaling–Min-Max Scaling</a:t>
            </a:r>
            <a:endParaRPr sz="3000"/>
          </a:p>
        </p:txBody>
      </p:sp>
      <p:sp>
        <p:nvSpPr>
          <p:cNvPr id="321" name="Google Shape;321;g38a05f03469_0_1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322" name="Google Shape;322;g38a05f03469_0_18" title="distribution_num_credit_cards_final_background_grid.png"/>
          <p:cNvPicPr preferRelativeResize="0"/>
          <p:nvPr/>
        </p:nvPicPr>
        <p:blipFill rotWithShape="1">
          <a:blip r:embed="rId3">
            <a:alphaModFix/>
          </a:blip>
          <a:srcRect b="0" l="0" r="0" t="0"/>
          <a:stretch/>
        </p:blipFill>
        <p:spPr>
          <a:xfrm>
            <a:off x="465951" y="1524300"/>
            <a:ext cx="6180933" cy="4326653"/>
          </a:xfrm>
          <a:prstGeom prst="rect">
            <a:avLst/>
          </a:prstGeom>
          <a:noFill/>
          <a:ln>
            <a:noFill/>
          </a:ln>
        </p:spPr>
      </p:pic>
      <p:pic>
        <p:nvPicPr>
          <p:cNvPr id="323" name="Google Shape;323;g38a05f03469_0_18" title="distribution_num_credit_cards_MM_final_background_grid.png"/>
          <p:cNvPicPr preferRelativeResize="0"/>
          <p:nvPr/>
        </p:nvPicPr>
        <p:blipFill rotWithShape="1">
          <a:blip r:embed="rId4">
            <a:alphaModFix/>
          </a:blip>
          <a:srcRect b="0" l="0" r="0" t="0"/>
          <a:stretch/>
        </p:blipFill>
        <p:spPr>
          <a:xfrm>
            <a:off x="6623246" y="1524300"/>
            <a:ext cx="6180933" cy="432665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g385da086721_0_0" title="numerical_sm_optimized_v4 (1).png"/>
          <p:cNvPicPr preferRelativeResize="0"/>
          <p:nvPr/>
        </p:nvPicPr>
        <p:blipFill rotWithShape="1">
          <a:blip r:embed="rId3">
            <a:alphaModFix/>
          </a:blip>
          <a:srcRect b="0" l="19" r="29" t="0"/>
          <a:stretch/>
        </p:blipFill>
        <p:spPr>
          <a:xfrm>
            <a:off x="2537450" y="1202935"/>
            <a:ext cx="7721149" cy="7886740"/>
          </a:xfrm>
          <a:prstGeom prst="rect">
            <a:avLst/>
          </a:prstGeom>
          <a:noFill/>
          <a:ln>
            <a:noFill/>
          </a:ln>
        </p:spPr>
      </p:pic>
      <p:sp>
        <p:nvSpPr>
          <p:cNvPr id="329" name="Google Shape;329;g385da086721_0_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30" name="Google Shape;330;g385da086721_0_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31" name="Google Shape;331;g385da086721_0_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Correlation–Scatter Matrix</a:t>
            </a:r>
            <a:endParaRPr sz="3000"/>
          </a:p>
        </p:txBody>
      </p:sp>
      <p:sp>
        <p:nvSpPr>
          <p:cNvPr id="332" name="Google Shape;332;g385da086721_0_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85da086721_0_9"/>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38" name="Google Shape;338;g385da086721_0_9"/>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39" name="Google Shape;339;g385da086721_0_9"/>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Correlation–Key Finding in Scatter Matrix</a:t>
            </a:r>
            <a:endParaRPr sz="3000"/>
          </a:p>
        </p:txBody>
      </p:sp>
      <p:sp>
        <p:nvSpPr>
          <p:cNvPr id="340" name="Google Shape;340;g385da086721_0_9"/>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341" name="Google Shape;341;g385da086721_0_9"/>
          <p:cNvSpPr/>
          <p:nvPr/>
        </p:nvSpPr>
        <p:spPr>
          <a:xfrm>
            <a:off x="1015000" y="2182898"/>
            <a:ext cx="5129700" cy="6819900"/>
          </a:xfrm>
          <a:prstGeom prst="rect">
            <a:avLst/>
          </a:prstGeom>
          <a:noFill/>
          <a:ln>
            <a:noFill/>
          </a:ln>
        </p:spPr>
        <p:txBody>
          <a:bodyPr anchorCtr="0" anchor="t" bIns="45700" lIns="91425" spcFirstLastPara="1" rIns="91425" wrap="square" tIns="108000">
            <a:noAutofit/>
          </a:bodyPr>
          <a:lstStyle/>
          <a:p>
            <a:pPr indent="0" lvl="0" marL="0" rtl="0" algn="l">
              <a:lnSpc>
                <a:spcPct val="115000"/>
              </a:lnSpc>
              <a:spcBef>
                <a:spcPts val="0"/>
              </a:spcBef>
              <a:spcAft>
                <a:spcPts val="0"/>
              </a:spcAft>
              <a:buNone/>
            </a:pPr>
            <a:r>
              <a:rPr b="1" lang="en-US" sz="2000">
                <a:solidFill>
                  <a:srgbClr val="A61702"/>
                </a:solidFill>
              </a:rPr>
              <a:t>What’s Special?</a:t>
            </a:r>
            <a:endParaRPr b="1" sz="2000">
              <a:solidFill>
                <a:srgbClr val="A61702"/>
              </a:solidFill>
            </a:endParaRPr>
          </a:p>
          <a:p>
            <a:pPr indent="0" lvl="0" marL="0" rtl="0" algn="l">
              <a:lnSpc>
                <a:spcPct val="115000"/>
              </a:lnSpc>
              <a:spcBef>
                <a:spcPts val="0"/>
              </a:spcBef>
              <a:spcAft>
                <a:spcPts val="0"/>
              </a:spcAft>
              <a:buNone/>
            </a:pPr>
            <a:r>
              <a:rPr lang="en-US" sz="2000">
                <a:solidFill>
                  <a:srgbClr val="5A5F5E"/>
                </a:solidFill>
              </a:rPr>
              <a:t>Potential Pattern of F</a:t>
            </a:r>
            <a:r>
              <a:rPr lang="en-US" sz="2000">
                <a:solidFill>
                  <a:srgbClr val="5A5F5E"/>
                </a:solidFill>
              </a:rPr>
              <a:t>raudulent</a:t>
            </a:r>
            <a:r>
              <a:rPr lang="en-US" sz="2000">
                <a:solidFill>
                  <a:srgbClr val="5A5F5E"/>
                </a:solidFill>
              </a:rPr>
              <a:t> Data?</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High Amount</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Low Credit Limit</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High in Credit Card Number</a:t>
            </a:r>
            <a:endParaRPr sz="2000">
              <a:solidFill>
                <a:srgbClr val="5A5F5E"/>
              </a:solidFill>
            </a:endParaRPr>
          </a:p>
          <a:p>
            <a:pPr indent="-355600" lvl="0" marL="457200" rtl="0" algn="l">
              <a:lnSpc>
                <a:spcPct val="115000"/>
              </a:lnSpc>
              <a:spcBef>
                <a:spcPts val="0"/>
              </a:spcBef>
              <a:spcAft>
                <a:spcPts val="0"/>
              </a:spcAft>
              <a:buClr>
                <a:srgbClr val="5A5F5E"/>
              </a:buClr>
              <a:buSzPts val="2000"/>
              <a:buChar char="●"/>
            </a:pPr>
            <a:r>
              <a:rPr lang="en-US" sz="2000">
                <a:solidFill>
                  <a:srgbClr val="5A5F5E"/>
                </a:solidFill>
              </a:rPr>
              <a:t>High in Number of Issued Cards</a:t>
            </a:r>
            <a:endParaRPr sz="2000">
              <a:solidFill>
                <a:srgbClr val="5A5F5E"/>
              </a:solidFill>
            </a:endParaRPr>
          </a:p>
        </p:txBody>
      </p:sp>
      <p:grpSp>
        <p:nvGrpSpPr>
          <p:cNvPr id="342" name="Google Shape;342;g385da086721_0_9"/>
          <p:cNvGrpSpPr/>
          <p:nvPr/>
        </p:nvGrpSpPr>
        <p:grpSpPr>
          <a:xfrm>
            <a:off x="3024025" y="1364218"/>
            <a:ext cx="9930761" cy="7448907"/>
            <a:chOff x="3024025" y="1364218"/>
            <a:chExt cx="9930761" cy="7448907"/>
          </a:xfrm>
        </p:grpSpPr>
        <p:grpSp>
          <p:nvGrpSpPr>
            <p:cNvPr id="343" name="Google Shape;343;g385da086721_0_9"/>
            <p:cNvGrpSpPr/>
            <p:nvPr/>
          </p:nvGrpSpPr>
          <p:grpSpPr>
            <a:xfrm>
              <a:off x="5816897" y="1364218"/>
              <a:ext cx="7137889" cy="7137889"/>
              <a:chOff x="3158463" y="1520550"/>
              <a:chExt cx="7175200" cy="7175200"/>
            </a:xfrm>
          </p:grpSpPr>
          <p:pic>
            <p:nvPicPr>
              <p:cNvPr id="344" name="Google Shape;344;g385da086721_0_9" title="log_amount_vs_credit_limit.png"/>
              <p:cNvPicPr preferRelativeResize="0"/>
              <p:nvPr/>
            </p:nvPicPr>
            <p:blipFill>
              <a:blip r:embed="rId3">
                <a:alphaModFix/>
              </a:blip>
              <a:stretch>
                <a:fillRect/>
              </a:stretch>
            </p:blipFill>
            <p:spPr>
              <a:xfrm>
                <a:off x="3158463" y="1520550"/>
                <a:ext cx="7175200" cy="7175200"/>
              </a:xfrm>
              <a:prstGeom prst="rect">
                <a:avLst/>
              </a:prstGeom>
              <a:noFill/>
              <a:ln>
                <a:noFill/>
              </a:ln>
            </p:spPr>
          </p:pic>
          <p:sp>
            <p:nvSpPr>
              <p:cNvPr id="345" name="Google Shape;345;g385da086721_0_9"/>
              <p:cNvSpPr/>
              <p:nvPr/>
            </p:nvSpPr>
            <p:spPr>
              <a:xfrm>
                <a:off x="6911155" y="6133443"/>
                <a:ext cx="2885100" cy="2015700"/>
              </a:xfrm>
              <a:prstGeom prst="rect">
                <a:avLst/>
              </a:prstGeom>
              <a:solidFill>
                <a:srgbClr val="F62179">
                  <a:alpha val="19500"/>
                </a:srgbClr>
              </a:solidFill>
              <a:ln cap="flat" cmpd="sng" w="18950">
                <a:solidFill>
                  <a:srgbClr val="000000"/>
                </a:solidFill>
                <a:prstDash val="solid"/>
                <a:round/>
                <a:headEnd len="sm" w="sm" type="none"/>
                <a:tailEnd len="sm" w="sm" type="none"/>
              </a:ln>
            </p:spPr>
            <p:txBody>
              <a:bodyPr anchorCtr="0" anchor="ctr" bIns="90950" lIns="90950" spcFirstLastPara="1" rIns="90950" wrap="square" tIns="90950">
                <a:noAutofit/>
              </a:bodyPr>
              <a:lstStyle/>
              <a:p>
                <a:pPr indent="0" lvl="0" marL="0" rtl="0" algn="ctr">
                  <a:spcBef>
                    <a:spcPts val="0"/>
                  </a:spcBef>
                  <a:spcAft>
                    <a:spcPts val="0"/>
                  </a:spcAft>
                  <a:buNone/>
                </a:pPr>
                <a:r>
                  <a:t/>
                </a:r>
                <a:endParaRPr sz="1392"/>
              </a:p>
            </p:txBody>
          </p:sp>
        </p:grpSp>
        <p:pic>
          <p:nvPicPr>
            <p:cNvPr id="346" name="Google Shape;346;g385da086721_0_9"/>
            <p:cNvPicPr preferRelativeResize="0"/>
            <p:nvPr/>
          </p:nvPicPr>
          <p:blipFill>
            <a:blip r:embed="rId4">
              <a:alphaModFix/>
            </a:blip>
            <a:stretch>
              <a:fillRect/>
            </a:stretch>
          </p:blipFill>
          <p:spPr>
            <a:xfrm>
              <a:off x="3024025" y="4614600"/>
              <a:ext cx="4842850" cy="4178351"/>
            </a:xfrm>
            <a:prstGeom prst="rect">
              <a:avLst/>
            </a:prstGeom>
            <a:noFill/>
            <a:ln cap="flat" cmpd="sng" w="28575">
              <a:solidFill>
                <a:srgbClr val="141413"/>
              </a:solidFill>
              <a:prstDash val="solid"/>
              <a:round/>
              <a:headEnd len="sm" w="sm" type="none"/>
              <a:tailEnd len="sm" w="sm" type="none"/>
            </a:ln>
            <a:effectLst>
              <a:outerShdw blurRad="128588" rotWithShape="0" algn="bl" dist="19050">
                <a:srgbClr val="434343"/>
              </a:outerShdw>
            </a:effectLst>
          </p:spPr>
        </p:pic>
        <p:cxnSp>
          <p:nvCxnSpPr>
            <p:cNvPr id="347" name="Google Shape;347;g385da086721_0_9"/>
            <p:cNvCxnSpPr/>
            <p:nvPr/>
          </p:nvCxnSpPr>
          <p:spPr>
            <a:xfrm>
              <a:off x="7885700" y="4614600"/>
              <a:ext cx="1664400" cy="1351200"/>
            </a:xfrm>
            <a:prstGeom prst="straightConnector1">
              <a:avLst/>
            </a:prstGeom>
            <a:noFill/>
            <a:ln cap="flat" cmpd="sng" w="28575">
              <a:solidFill>
                <a:srgbClr val="141413"/>
              </a:solidFill>
              <a:prstDash val="solid"/>
              <a:round/>
              <a:headEnd len="med" w="med" type="none"/>
              <a:tailEnd len="med" w="med" type="none"/>
            </a:ln>
          </p:spPr>
        </p:cxnSp>
        <p:cxnSp>
          <p:nvCxnSpPr>
            <p:cNvPr id="348" name="Google Shape;348;g385da086721_0_9"/>
            <p:cNvCxnSpPr/>
            <p:nvPr/>
          </p:nvCxnSpPr>
          <p:spPr>
            <a:xfrm flipH="1" rot="10800000">
              <a:off x="7873175" y="7947625"/>
              <a:ext cx="1676700" cy="865500"/>
            </a:xfrm>
            <a:prstGeom prst="straightConnector1">
              <a:avLst/>
            </a:prstGeom>
            <a:noFill/>
            <a:ln cap="flat" cmpd="sng" w="28575">
              <a:solidFill>
                <a:srgbClr val="141413"/>
              </a:solidFill>
              <a:prstDash val="solid"/>
              <a:round/>
              <a:headEnd len="med" w="med" type="none"/>
              <a:tailEnd len="med" w="med" type="none"/>
            </a:ln>
          </p:spPr>
        </p:cxn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85da086721_0_21"/>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54" name="Google Shape;354;g385da086721_0_21"/>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55" name="Google Shape;355;g385da086721_0_21"/>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Correlation–Key Finding in Scatter Matrix</a:t>
            </a:r>
            <a:endParaRPr sz="3000"/>
          </a:p>
        </p:txBody>
      </p:sp>
      <p:sp>
        <p:nvSpPr>
          <p:cNvPr id="356" name="Google Shape;356;g385da086721_0_21"/>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357" name="Google Shape;357;g385da086721_0_21" title="fraud_rate_vs_columns.png"/>
          <p:cNvPicPr preferRelativeResize="0"/>
          <p:nvPr/>
        </p:nvPicPr>
        <p:blipFill>
          <a:blip r:embed="rId3">
            <a:alphaModFix/>
          </a:blip>
          <a:stretch>
            <a:fillRect/>
          </a:stretch>
        </p:blipFill>
        <p:spPr>
          <a:xfrm>
            <a:off x="1773321" y="1357195"/>
            <a:ext cx="10057411" cy="754305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g38a0dc53679_0_40" title="numerical_ba_without_log.png"/>
          <p:cNvPicPr preferRelativeResize="0"/>
          <p:nvPr/>
        </p:nvPicPr>
        <p:blipFill>
          <a:blip r:embed="rId3">
            <a:alphaModFix/>
          </a:blip>
          <a:stretch>
            <a:fillRect/>
          </a:stretch>
        </p:blipFill>
        <p:spPr>
          <a:xfrm>
            <a:off x="768500" y="1223520"/>
            <a:ext cx="11772600" cy="7357862"/>
          </a:xfrm>
          <a:prstGeom prst="rect">
            <a:avLst/>
          </a:prstGeom>
          <a:noFill/>
          <a:ln>
            <a:noFill/>
          </a:ln>
        </p:spPr>
      </p:pic>
      <p:sp>
        <p:nvSpPr>
          <p:cNvPr id="363" name="Google Shape;363;g38a0dc53679_0_4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64" name="Google Shape;364;g38a0dc53679_0_4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65" name="Google Shape;365;g38a0dc53679_0_4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Correlation–Bivariate Box Plot</a:t>
            </a:r>
            <a:endParaRPr sz="3000"/>
          </a:p>
        </p:txBody>
      </p:sp>
      <p:sp>
        <p:nvSpPr>
          <p:cNvPr id="366" name="Google Shape;366;g38a0dc53679_0_4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8a0dc53679_0_31"/>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72" name="Google Shape;372;g38a0dc53679_0_31"/>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73" name="Google Shape;373;g38a0dc53679_0_31"/>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Correlation–Scatter Matrix</a:t>
            </a:r>
            <a:endParaRPr sz="3000"/>
          </a:p>
        </p:txBody>
      </p:sp>
      <p:sp>
        <p:nvSpPr>
          <p:cNvPr id="374" name="Google Shape;374;g38a0dc53679_0_31"/>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375" name="Google Shape;375;g38a0dc53679_0_31" title="numerical_heatmap (2).png"/>
          <p:cNvPicPr preferRelativeResize="0"/>
          <p:nvPr/>
        </p:nvPicPr>
        <p:blipFill>
          <a:blip r:embed="rId3">
            <a:alphaModFix/>
          </a:blip>
          <a:stretch>
            <a:fillRect/>
          </a:stretch>
        </p:blipFill>
        <p:spPr>
          <a:xfrm>
            <a:off x="1875775" y="1440750"/>
            <a:ext cx="9051669" cy="754305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8a0dc53679_0_23"/>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81" name="Google Shape;381;g38a0dc53679_0_23"/>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2"/>
              </a:buClr>
              <a:buSzPts val="2000"/>
              <a:buFont typeface="Helvetica Neue Light"/>
              <a:buNone/>
            </a:pPr>
            <a:r>
              <a:rPr lang="en-US">
                <a:solidFill>
                  <a:schemeClr val="dk2"/>
                </a:solidFill>
              </a:rPr>
              <a:t>2.3 Cross-sectional Data</a:t>
            </a:r>
            <a:endParaRPr/>
          </a:p>
        </p:txBody>
      </p:sp>
      <p:sp>
        <p:nvSpPr>
          <p:cNvPr id="382" name="Google Shape;382;g38a0dc53679_0_23"/>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Correlation–Scatter Matrix</a:t>
            </a:r>
            <a:endParaRPr sz="3000"/>
          </a:p>
        </p:txBody>
      </p:sp>
      <p:sp>
        <p:nvSpPr>
          <p:cNvPr id="383" name="Google Shape;383;g38a0dc53679_0_23"/>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pic>
        <p:nvPicPr>
          <p:cNvPr id="384" name="Google Shape;384;g38a0dc53679_0_23" title="categorical_cv_fixed (2).png"/>
          <p:cNvPicPr preferRelativeResize="0"/>
          <p:nvPr/>
        </p:nvPicPr>
        <p:blipFill>
          <a:blip r:embed="rId3">
            <a:alphaModFix/>
          </a:blip>
          <a:stretch>
            <a:fillRect/>
          </a:stretch>
        </p:blipFill>
        <p:spPr>
          <a:xfrm>
            <a:off x="2209983" y="1371900"/>
            <a:ext cx="9223350" cy="7686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85deb733bc_0_1"/>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390" name="Google Shape;390;g385deb733bc_0_1"/>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391" name="Google Shape;391;g385deb733bc_0_1"/>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For benchmark model </a:t>
            </a:r>
            <a:endParaRPr sz="3000"/>
          </a:p>
        </p:txBody>
      </p:sp>
      <p:sp>
        <p:nvSpPr>
          <p:cNvPr id="392" name="Google Shape;392;g385deb733bc_0_1"/>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 </a:t>
            </a:r>
            <a:r>
              <a:rPr lang="en-US"/>
              <a:t>Methodology</a:t>
            </a:r>
            <a:endParaRPr/>
          </a:p>
        </p:txBody>
      </p:sp>
      <p:pic>
        <p:nvPicPr>
          <p:cNvPr id="393" name="Google Shape;393;g385deb733bc_0_1" title="截圖 2025-10-11 下午6.39.49.png"/>
          <p:cNvPicPr preferRelativeResize="0"/>
          <p:nvPr/>
        </p:nvPicPr>
        <p:blipFill>
          <a:blip r:embed="rId3">
            <a:alphaModFix/>
          </a:blip>
          <a:stretch>
            <a:fillRect/>
          </a:stretch>
        </p:blipFill>
        <p:spPr>
          <a:xfrm>
            <a:off x="6790100" y="1371900"/>
            <a:ext cx="4995731" cy="7543059"/>
          </a:xfrm>
          <a:prstGeom prst="rect">
            <a:avLst/>
          </a:prstGeom>
          <a:noFill/>
          <a:ln>
            <a:noFill/>
          </a:ln>
        </p:spPr>
      </p:pic>
      <p:sp>
        <p:nvSpPr>
          <p:cNvPr id="394" name="Google Shape;394;g385deb733bc_0_1"/>
          <p:cNvSpPr/>
          <p:nvPr/>
        </p:nvSpPr>
        <p:spPr>
          <a:xfrm>
            <a:off x="768500" y="1662850"/>
            <a:ext cx="6021600" cy="3820800"/>
          </a:xfrm>
          <a:prstGeom prst="rect">
            <a:avLst/>
          </a:prstGeom>
          <a:noFill/>
          <a:ln>
            <a:noFill/>
          </a:ln>
        </p:spPr>
        <p:txBody>
          <a:bodyPr anchorCtr="0" anchor="t" bIns="45700" lIns="91425" spcFirstLastPara="1" rIns="91425" wrap="square" tIns="108000">
            <a:noAutofit/>
          </a:bodyPr>
          <a:lstStyle/>
          <a:p>
            <a:pPr indent="-355600" lvl="0" marL="457200" rtl="0" algn="l">
              <a:lnSpc>
                <a:spcPct val="150000"/>
              </a:lnSpc>
              <a:spcBef>
                <a:spcPts val="0"/>
              </a:spcBef>
              <a:spcAft>
                <a:spcPts val="0"/>
              </a:spcAft>
              <a:buClr>
                <a:srgbClr val="A61702"/>
              </a:buClr>
              <a:buSzPts val="2000"/>
              <a:buChar char="●"/>
            </a:pPr>
            <a:r>
              <a:rPr b="1" lang="en-US" sz="2000">
                <a:solidFill>
                  <a:srgbClr val="A61702"/>
                </a:solidFill>
              </a:rPr>
              <a:t>Aim: </a:t>
            </a:r>
            <a:r>
              <a:rPr lang="en-US" sz="2000">
                <a:solidFill>
                  <a:schemeClr val="dk2"/>
                </a:solidFill>
              </a:rPr>
              <a:t>handle binary classification issue</a:t>
            </a:r>
            <a:endParaRPr sz="2000">
              <a:solidFill>
                <a:schemeClr val="dk2"/>
              </a:solidFill>
            </a:endParaRPr>
          </a:p>
          <a:p>
            <a:pPr indent="-355600" lvl="0" marL="457200" rtl="0" algn="l">
              <a:lnSpc>
                <a:spcPct val="150000"/>
              </a:lnSpc>
              <a:spcBef>
                <a:spcPts val="0"/>
              </a:spcBef>
              <a:spcAft>
                <a:spcPts val="0"/>
              </a:spcAft>
              <a:buClr>
                <a:srgbClr val="A61702"/>
              </a:buClr>
              <a:buSzPts val="2000"/>
              <a:buChar char="●"/>
            </a:pPr>
            <a:r>
              <a:rPr b="1" lang="en-US" sz="2000">
                <a:solidFill>
                  <a:srgbClr val="A61702"/>
                </a:solidFill>
              </a:rPr>
              <a:t>Modeling the Logistic Regression</a:t>
            </a:r>
            <a:endParaRPr sz="2000">
              <a:solidFill>
                <a:schemeClr val="dk2"/>
              </a:solidFill>
            </a:endParaRPr>
          </a:p>
          <a:p>
            <a:pPr indent="-355600" lvl="1" marL="914400" rtl="0" algn="l">
              <a:lnSpc>
                <a:spcPct val="150000"/>
              </a:lnSpc>
              <a:spcBef>
                <a:spcPts val="0"/>
              </a:spcBef>
              <a:spcAft>
                <a:spcPts val="0"/>
              </a:spcAft>
              <a:buClr>
                <a:schemeClr val="dk2"/>
              </a:buClr>
              <a:buSzPts val="2000"/>
              <a:buChar char="○"/>
            </a:pPr>
            <a:r>
              <a:rPr lang="en-US" sz="2000">
                <a:solidFill>
                  <a:schemeClr val="dk2"/>
                </a:solidFill>
              </a:rPr>
              <a:t>numeric/ categorical variables</a:t>
            </a:r>
            <a:endParaRPr sz="2000">
              <a:solidFill>
                <a:schemeClr val="dk2"/>
              </a:solidFill>
            </a:endParaRPr>
          </a:p>
          <a:p>
            <a:pPr indent="-355600" lvl="1" marL="914400" rtl="0" algn="l">
              <a:lnSpc>
                <a:spcPct val="150000"/>
              </a:lnSpc>
              <a:spcBef>
                <a:spcPts val="0"/>
              </a:spcBef>
              <a:spcAft>
                <a:spcPts val="0"/>
              </a:spcAft>
              <a:buClr>
                <a:schemeClr val="dk2"/>
              </a:buClr>
              <a:buSzPts val="2000"/>
              <a:buChar char="○"/>
            </a:pPr>
            <a:r>
              <a:rPr lang="en-US" sz="2000">
                <a:solidFill>
                  <a:schemeClr val="dk2"/>
                </a:solidFill>
              </a:rPr>
              <a:t>assumption</a:t>
            </a:r>
            <a:r>
              <a:rPr lang="en-US" sz="2000">
                <a:solidFill>
                  <a:schemeClr val="dk2"/>
                </a:solidFill>
              </a:rPr>
              <a:t>s</a:t>
            </a:r>
            <a:endParaRPr sz="2000">
              <a:solidFill>
                <a:schemeClr val="dk2"/>
              </a:solidFill>
            </a:endParaRPr>
          </a:p>
          <a:p>
            <a:pPr indent="-355600" lvl="1" marL="914400" rtl="0" algn="l">
              <a:lnSpc>
                <a:spcPct val="150000"/>
              </a:lnSpc>
              <a:spcBef>
                <a:spcPts val="0"/>
              </a:spcBef>
              <a:spcAft>
                <a:spcPts val="0"/>
              </a:spcAft>
              <a:buClr>
                <a:schemeClr val="dk2"/>
              </a:buClr>
              <a:buSzPts val="2000"/>
              <a:buChar char="○"/>
            </a:pPr>
            <a:r>
              <a:rPr lang="en-US" sz="2000">
                <a:solidFill>
                  <a:schemeClr val="dk2"/>
                </a:solidFill>
              </a:rPr>
              <a:t>estimatio</a:t>
            </a:r>
            <a:r>
              <a:rPr lang="en-US" sz="2000">
                <a:solidFill>
                  <a:schemeClr val="dk2"/>
                </a:solidFill>
              </a:rPr>
              <a:t>n</a:t>
            </a:r>
            <a:endParaRPr sz="2000">
              <a:solidFill>
                <a:schemeClr val="dk2"/>
              </a:solidFill>
            </a:endParaRPr>
          </a:p>
          <a:p>
            <a:pPr indent="-355600" lvl="0" marL="457200" marR="0" rtl="0" algn="l">
              <a:lnSpc>
                <a:spcPct val="150000"/>
              </a:lnSpc>
              <a:spcBef>
                <a:spcPts val="0"/>
              </a:spcBef>
              <a:spcAft>
                <a:spcPts val="0"/>
              </a:spcAft>
              <a:buClr>
                <a:srgbClr val="A61702"/>
              </a:buClr>
              <a:buSzPts val="2000"/>
              <a:buChar char="●"/>
            </a:pPr>
            <a:r>
              <a:rPr b="1" lang="en-US" sz="2000">
                <a:solidFill>
                  <a:srgbClr val="A61702"/>
                </a:solidFill>
              </a:rPr>
              <a:t>Logistic Regression Assessment</a:t>
            </a:r>
            <a:endParaRPr sz="2000">
              <a:solidFill>
                <a:schemeClr val="dk2"/>
              </a:solidFill>
            </a:endParaRPr>
          </a:p>
          <a:p>
            <a:pPr indent="-355600" lvl="0" marL="457200" marR="0" rtl="0" algn="l">
              <a:lnSpc>
                <a:spcPct val="150000"/>
              </a:lnSpc>
              <a:spcBef>
                <a:spcPts val="0"/>
              </a:spcBef>
              <a:spcAft>
                <a:spcPts val="0"/>
              </a:spcAft>
              <a:buClr>
                <a:srgbClr val="A61702"/>
              </a:buClr>
              <a:buSzPts val="2000"/>
              <a:buChar char="●"/>
            </a:pPr>
            <a:r>
              <a:rPr b="1" lang="en-US" sz="2000">
                <a:solidFill>
                  <a:srgbClr val="A61702"/>
                </a:solidFill>
              </a:rPr>
              <a:t>Compare the Accuracy and F1 Score</a:t>
            </a:r>
            <a:endParaRPr sz="20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8f1a016ca8_0_28"/>
          <p:cNvSpPr/>
          <p:nvPr/>
        </p:nvSpPr>
        <p:spPr>
          <a:xfrm>
            <a:off x="762210" y="1520538"/>
            <a:ext cx="11480400" cy="6116700"/>
          </a:xfrm>
          <a:prstGeom prst="rect">
            <a:avLst/>
          </a:prstGeom>
          <a:noFill/>
          <a:ln>
            <a:noFill/>
          </a:ln>
        </p:spPr>
        <p:txBody>
          <a:bodyPr anchorCtr="0" anchor="t" bIns="45700" lIns="91425" spcFirstLastPara="1" rIns="91425" wrap="square" tIns="108000">
            <a:noAutofit/>
          </a:bodyPr>
          <a:lstStyle/>
          <a:p>
            <a:pPr indent="-355600" lvl="0" marL="457200" rtl="0" algn="l">
              <a:lnSpc>
                <a:spcPct val="150000"/>
              </a:lnSpc>
              <a:spcBef>
                <a:spcPts val="0"/>
              </a:spcBef>
              <a:spcAft>
                <a:spcPts val="0"/>
              </a:spcAft>
              <a:buClr>
                <a:schemeClr val="dk2"/>
              </a:buClr>
              <a:buSzPts val="2000"/>
              <a:buChar char="●"/>
            </a:pPr>
            <a:r>
              <a:rPr b="1" lang="en-US" sz="2000">
                <a:solidFill>
                  <a:srgbClr val="A61702"/>
                </a:solidFill>
              </a:rPr>
              <a:t>Binary classification issue</a:t>
            </a:r>
            <a:endParaRPr sz="2000">
              <a:solidFill>
                <a:schemeClr val="dk2"/>
              </a:solidFill>
            </a:endParaRPr>
          </a:p>
          <a:p>
            <a:pPr indent="-355600" lvl="0" marL="457200" marR="0" rtl="0" algn="l">
              <a:lnSpc>
                <a:spcPct val="150000"/>
              </a:lnSpc>
              <a:spcBef>
                <a:spcPts val="0"/>
              </a:spcBef>
              <a:spcAft>
                <a:spcPts val="0"/>
              </a:spcAft>
              <a:buClr>
                <a:schemeClr val="dk2"/>
              </a:buClr>
              <a:buSzPts val="2000"/>
              <a:buChar char="●"/>
            </a:pPr>
            <a:r>
              <a:rPr b="1" lang="en-US" sz="2000">
                <a:solidFill>
                  <a:srgbClr val="A61702"/>
                </a:solidFill>
              </a:rPr>
              <a:t>Few assumptions</a:t>
            </a:r>
            <a:r>
              <a:rPr lang="en-US" sz="2000">
                <a:solidFill>
                  <a:schemeClr val="dk2"/>
                </a:solidFill>
              </a:rPr>
              <a:t> </a:t>
            </a:r>
            <a:endParaRPr sz="2000">
              <a:solidFill>
                <a:schemeClr val="dk2"/>
              </a:solidFill>
            </a:endParaRPr>
          </a:p>
          <a:p>
            <a:pPr indent="-355600" lvl="1" marL="914400" marR="0" rtl="0" algn="l">
              <a:lnSpc>
                <a:spcPct val="150000"/>
              </a:lnSpc>
              <a:spcBef>
                <a:spcPts val="0"/>
              </a:spcBef>
              <a:spcAft>
                <a:spcPts val="0"/>
              </a:spcAft>
              <a:buClr>
                <a:schemeClr val="dk2"/>
              </a:buClr>
              <a:buSzPts val="2000"/>
              <a:buChar char="○"/>
            </a:pPr>
            <a:r>
              <a:rPr lang="en-US" sz="2000">
                <a:solidFill>
                  <a:schemeClr val="dk2"/>
                </a:solidFill>
              </a:rPr>
              <a:t>Independence of observations</a:t>
            </a:r>
            <a:endParaRPr sz="2000">
              <a:solidFill>
                <a:schemeClr val="dk2"/>
              </a:solidFill>
            </a:endParaRPr>
          </a:p>
          <a:p>
            <a:pPr indent="-355600" lvl="1" marL="914400" marR="0" rtl="0" algn="l">
              <a:lnSpc>
                <a:spcPct val="150000"/>
              </a:lnSpc>
              <a:spcBef>
                <a:spcPts val="0"/>
              </a:spcBef>
              <a:spcAft>
                <a:spcPts val="0"/>
              </a:spcAft>
              <a:buClr>
                <a:schemeClr val="dk2"/>
              </a:buClr>
              <a:buSzPts val="2000"/>
              <a:buChar char="○"/>
            </a:pPr>
            <a:r>
              <a:rPr lang="en-US" sz="2000">
                <a:solidFill>
                  <a:schemeClr val="dk2"/>
                </a:solidFill>
              </a:rPr>
              <a:t>Linearity of logit (Ignore)</a:t>
            </a:r>
            <a:br>
              <a:rPr lang="en-US" sz="2000">
                <a:solidFill>
                  <a:schemeClr val="dk2"/>
                </a:solidFill>
              </a:rPr>
            </a:br>
            <a:endParaRPr sz="2000">
              <a:solidFill>
                <a:schemeClr val="dk2"/>
              </a:solidFill>
            </a:endParaRPr>
          </a:p>
          <a:p>
            <a:pPr indent="-355600" lvl="0" marL="457200" marR="0" rtl="0" algn="l">
              <a:lnSpc>
                <a:spcPct val="150000"/>
              </a:lnSpc>
              <a:spcBef>
                <a:spcPts val="0"/>
              </a:spcBef>
              <a:spcAft>
                <a:spcPts val="0"/>
              </a:spcAft>
              <a:buClr>
                <a:schemeClr val="dk2"/>
              </a:buClr>
              <a:buSzPts val="2000"/>
              <a:buChar char="●"/>
            </a:pPr>
            <a:r>
              <a:rPr b="1" lang="en-US" sz="2000">
                <a:solidFill>
                  <a:srgbClr val="A61702"/>
                </a:solidFill>
              </a:rPr>
              <a:t>Sample size (RULE of THUMB)</a:t>
            </a:r>
            <a:br>
              <a:rPr lang="en-US" sz="2000">
                <a:solidFill>
                  <a:schemeClr val="dk2"/>
                </a:solidFill>
              </a:rPr>
            </a:br>
            <a:r>
              <a:rPr lang="en-US" sz="2000">
                <a:solidFill>
                  <a:srgbClr val="A61702"/>
                </a:solidFill>
              </a:rPr>
              <a:t>More than 400, 100 times of independents variables(29)</a:t>
            </a:r>
            <a:endParaRPr sz="2000">
              <a:solidFill>
                <a:schemeClr val="dk2"/>
              </a:solidFill>
            </a:endParaRPr>
          </a:p>
          <a:p>
            <a:pPr indent="-355600" lvl="0" marL="457200" marR="0" rtl="0" algn="l">
              <a:lnSpc>
                <a:spcPct val="150000"/>
              </a:lnSpc>
              <a:spcBef>
                <a:spcPts val="0"/>
              </a:spcBef>
              <a:spcAft>
                <a:spcPts val="0"/>
              </a:spcAft>
              <a:buClr>
                <a:schemeClr val="dk2"/>
              </a:buClr>
              <a:buSzPts val="2000"/>
              <a:buChar char="●"/>
            </a:pPr>
            <a:r>
              <a:rPr b="1" lang="en-US" sz="2000">
                <a:solidFill>
                  <a:srgbClr val="A61702"/>
                </a:solidFill>
              </a:rPr>
              <a:t>Training</a:t>
            </a:r>
            <a:r>
              <a:rPr b="1" lang="en-US" sz="2000">
                <a:solidFill>
                  <a:srgbClr val="A61702"/>
                </a:solidFill>
              </a:rPr>
              <a:t> set:</a:t>
            </a:r>
            <a:r>
              <a:rPr lang="en-US" sz="2000">
                <a:solidFill>
                  <a:schemeClr val="dk2"/>
                </a:solidFill>
              </a:rPr>
              <a:t> 7,131,97</a:t>
            </a:r>
            <a:r>
              <a:rPr lang="en-US" sz="2000">
                <a:solidFill>
                  <a:schemeClr val="dk2"/>
                </a:solidFill>
              </a:rPr>
              <a:t>0</a:t>
            </a:r>
            <a:endParaRPr sz="2000">
              <a:solidFill>
                <a:schemeClr val="dk2"/>
              </a:solidFill>
            </a:endParaRPr>
          </a:p>
          <a:p>
            <a:pPr indent="-355600" lvl="0" marL="457200" marR="0" rtl="0" algn="l">
              <a:lnSpc>
                <a:spcPct val="150000"/>
              </a:lnSpc>
              <a:spcBef>
                <a:spcPts val="0"/>
              </a:spcBef>
              <a:spcAft>
                <a:spcPts val="0"/>
              </a:spcAft>
              <a:buClr>
                <a:schemeClr val="dk2"/>
              </a:buClr>
              <a:buSzPts val="2000"/>
              <a:buChar char="●"/>
            </a:pPr>
            <a:r>
              <a:rPr b="1" lang="en-US" sz="2000">
                <a:solidFill>
                  <a:srgbClr val="A61702"/>
                </a:solidFill>
              </a:rPr>
              <a:t>Testing set:</a:t>
            </a:r>
            <a:r>
              <a:rPr lang="en-US" sz="2000">
                <a:solidFill>
                  <a:schemeClr val="dk2"/>
                </a:solidFill>
              </a:rPr>
              <a:t>  1,782,994</a:t>
            </a:r>
            <a:endParaRPr sz="3000">
              <a:solidFill>
                <a:schemeClr val="accent5"/>
              </a:solidFill>
            </a:endParaRPr>
          </a:p>
        </p:txBody>
      </p:sp>
      <p:sp>
        <p:nvSpPr>
          <p:cNvPr id="400" name="Google Shape;400;g38f1a016ca8_0_2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01" name="Google Shape;401;g38f1a016ca8_0_2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About </a:t>
            </a:r>
            <a:r>
              <a:rPr lang="en-US" sz="3000"/>
              <a:t>Logistic</a:t>
            </a:r>
            <a:r>
              <a:rPr lang="en-US" sz="3000"/>
              <a:t> Regression</a:t>
            </a:r>
            <a:endParaRPr sz="3000"/>
          </a:p>
        </p:txBody>
      </p:sp>
      <p:sp>
        <p:nvSpPr>
          <p:cNvPr id="402" name="Google Shape;402;g38f1a016ca8_0_2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03" name="Google Shape;403;g38f1a016ca8_0_2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8b22d785db_0_100"/>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Linearity of logit</a:t>
            </a:r>
            <a:r>
              <a:rPr b="1" lang="en-US" sz="2000">
                <a:solidFill>
                  <a:schemeClr val="accent5"/>
                </a:solidFill>
              </a:rPr>
              <a:t> assumption– </a:t>
            </a:r>
            <a:r>
              <a:rPr b="1" lang="en-US" sz="2000">
                <a:solidFill>
                  <a:schemeClr val="accent5"/>
                </a:solidFill>
              </a:rPr>
              <a:t>check</a:t>
            </a:r>
            <a:r>
              <a:rPr b="1" lang="en-US" sz="2000">
                <a:solidFill>
                  <a:schemeClr val="accent5"/>
                </a:solidFill>
              </a:rPr>
              <a:t> Box Tidwell Test</a:t>
            </a:r>
            <a:endParaRPr b="0" i="0" sz="2000" u="none" cap="none" strike="noStrike">
              <a:solidFill>
                <a:schemeClr val="dk2"/>
              </a:solidFill>
              <a:latin typeface="Arial"/>
              <a:ea typeface="Arial"/>
              <a:cs typeface="Arial"/>
              <a:sym typeface="Arial"/>
            </a:endParaRPr>
          </a:p>
        </p:txBody>
      </p:sp>
      <p:sp>
        <p:nvSpPr>
          <p:cNvPr id="409" name="Google Shape;409;g38b22d785db_0_10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10" name="Google Shape;410;g38b22d785db_0_10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11" name="Google Shape;411;g38b22d785db_0_10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a:t>
            </a:r>
            <a:endParaRPr sz="3000"/>
          </a:p>
        </p:txBody>
      </p:sp>
      <p:graphicFrame>
        <p:nvGraphicFramePr>
          <p:cNvPr id="412" name="Google Shape;412;g38b22d785db_0_100"/>
          <p:cNvGraphicFramePr/>
          <p:nvPr/>
        </p:nvGraphicFramePr>
        <p:xfrm>
          <a:off x="755800" y="2285875"/>
          <a:ext cx="3000000" cy="3000000"/>
        </p:xfrm>
        <a:graphic>
          <a:graphicData uri="http://schemas.openxmlformats.org/drawingml/2006/table">
            <a:tbl>
              <a:tblPr>
                <a:noFill/>
                <a:tableStyleId>{4AE0FA90-5911-4907-B5CD-781FDEEBBC44}</a:tableStyleId>
              </a:tblPr>
              <a:tblGrid>
                <a:gridCol w="1518550"/>
                <a:gridCol w="3173550"/>
                <a:gridCol w="1824850"/>
                <a:gridCol w="1824850"/>
              </a:tblGrid>
              <a:tr h="548400">
                <a:tc>
                  <a:txBody>
                    <a:bodyPr/>
                    <a:lstStyle/>
                    <a:p>
                      <a:pPr indent="0" lvl="0" marL="0" rtl="0" algn="ctr">
                        <a:spcBef>
                          <a:spcPts val="0"/>
                        </a:spcBef>
                        <a:spcAft>
                          <a:spcPts val="0"/>
                        </a:spcAft>
                        <a:buNone/>
                      </a:pPr>
                      <a:r>
                        <a:rPr lang="en-US" sz="2000">
                          <a:solidFill>
                            <a:srgbClr val="FFFFFF"/>
                          </a:solidFill>
                        </a:rPr>
                        <a:t>Index</a:t>
                      </a:r>
                      <a:endParaRPr sz="2000">
                        <a:solidFill>
                          <a:srgbClr val="FFFFFF"/>
                        </a:solidFill>
                      </a:endParaRPr>
                    </a:p>
                  </a:txBody>
                  <a:tcPr marT="91425" marB="91425" marR="91425" marL="91425" anchor="ctr">
                    <a:solidFill>
                      <a:srgbClr val="535353"/>
                    </a:solidFill>
                  </a:tcPr>
                </a:tc>
                <a:tc>
                  <a:txBody>
                    <a:bodyPr/>
                    <a:lstStyle/>
                    <a:p>
                      <a:pPr indent="0" lvl="0" marL="0" rtl="0" algn="ctr">
                        <a:spcBef>
                          <a:spcPts val="0"/>
                        </a:spcBef>
                        <a:spcAft>
                          <a:spcPts val="0"/>
                        </a:spcAft>
                        <a:buNone/>
                      </a:pPr>
                      <a:r>
                        <a:rPr lang="en-US" sz="2000">
                          <a:solidFill>
                            <a:srgbClr val="FFFFFF"/>
                          </a:solidFill>
                        </a:rPr>
                        <a:t>Variables</a:t>
                      </a:r>
                      <a:endParaRPr sz="2000">
                        <a:solidFill>
                          <a:srgbClr val="FFFFFF"/>
                        </a:solidFill>
                      </a:endParaRPr>
                    </a:p>
                  </a:txBody>
                  <a:tcPr marT="91425" marB="91425" marR="91425" marL="91425" anchor="ctr">
                    <a:solidFill>
                      <a:srgbClr val="535353"/>
                    </a:solidFill>
                  </a:tcPr>
                </a:tc>
                <a:tc>
                  <a:txBody>
                    <a:bodyPr/>
                    <a:lstStyle/>
                    <a:p>
                      <a:pPr indent="0" lvl="0" marL="0" rtl="0" algn="ctr">
                        <a:spcBef>
                          <a:spcPts val="0"/>
                        </a:spcBef>
                        <a:spcAft>
                          <a:spcPts val="0"/>
                        </a:spcAft>
                        <a:buNone/>
                      </a:pPr>
                      <a:r>
                        <a:rPr lang="en-US" sz="2000">
                          <a:solidFill>
                            <a:srgbClr val="FFFFFF"/>
                          </a:solidFill>
                        </a:rPr>
                        <a:t>p-value</a:t>
                      </a:r>
                      <a:endParaRPr sz="2000">
                        <a:solidFill>
                          <a:srgbClr val="FFFFFF"/>
                        </a:solidFill>
                      </a:endParaRPr>
                    </a:p>
                  </a:txBody>
                  <a:tcPr marT="91425" marB="91425" marR="91425" marL="91425" anchor="ctr">
                    <a:solidFill>
                      <a:srgbClr val="535353"/>
                    </a:solidFill>
                  </a:tcPr>
                </a:tc>
                <a:tc>
                  <a:txBody>
                    <a:bodyPr/>
                    <a:lstStyle/>
                    <a:p>
                      <a:pPr indent="0" lvl="0" marL="0" rtl="0" algn="ctr">
                        <a:spcBef>
                          <a:spcPts val="0"/>
                        </a:spcBef>
                        <a:spcAft>
                          <a:spcPts val="0"/>
                        </a:spcAft>
                        <a:buNone/>
                      </a:pPr>
                      <a:r>
                        <a:rPr lang="en-US" sz="2000">
                          <a:solidFill>
                            <a:srgbClr val="FFFFFF"/>
                          </a:solidFill>
                        </a:rPr>
                        <a:t>Result</a:t>
                      </a:r>
                      <a:endParaRPr sz="2000">
                        <a:solidFill>
                          <a:srgbClr val="FFFFFF"/>
                        </a:solidFill>
                      </a:endParaRPr>
                    </a:p>
                  </a:txBody>
                  <a:tcPr marT="91425" marB="91425" marR="91425" marL="91425" anchor="ctr">
                    <a:lnR cap="flat" cmpd="sng" w="9525">
                      <a:solidFill>
                        <a:srgbClr val="9E9E9E"/>
                      </a:solidFill>
                      <a:prstDash val="solid"/>
                      <a:round/>
                      <a:headEnd len="sm" w="sm" type="none"/>
                      <a:tailEnd len="sm" w="sm" type="none"/>
                    </a:lnR>
                    <a:solidFill>
                      <a:srgbClr val="535353"/>
                    </a:solidFill>
                  </a:tcPr>
                </a:tc>
              </a:tr>
              <a:tr h="428450">
                <a:tc>
                  <a:txBody>
                    <a:bodyPr/>
                    <a:lstStyle/>
                    <a:p>
                      <a:pPr indent="0" lvl="0" marL="0" rtl="0" algn="ctr">
                        <a:lnSpc>
                          <a:spcPct val="115000"/>
                        </a:lnSpc>
                        <a:spcBef>
                          <a:spcPts val="0"/>
                        </a:spcBef>
                        <a:spcAft>
                          <a:spcPts val="0"/>
                        </a:spcAft>
                        <a:buNone/>
                      </a:pPr>
                      <a:r>
                        <a:rPr lang="en-US" sz="2000"/>
                        <a:t>X</a:t>
                      </a:r>
                      <a:r>
                        <a:rPr baseline="-25000" lang="en-US" sz="2000"/>
                        <a:t>5</a:t>
                      </a:r>
                      <a:endParaRPr baseline="-25000"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amount</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0.00E+00</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10</a:t>
                      </a:r>
                      <a:endParaRPr baseline="-25000"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zip</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3.95E-197</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11</a:t>
                      </a:r>
                      <a:endParaRPr baseline="-25000"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mcc_code</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4.86E-155</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1</a:t>
                      </a:r>
                      <a:endParaRPr baseline="-25000"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transaction_id</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2.69E-49</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7</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merchant_id</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7.49E-13</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20</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current_age</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8.55E-11</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21</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retirement_age</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3.01E-09</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35</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card_number</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5.35E-05</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F4CCCC"/>
                          </a:highlight>
                        </a:rPr>
                        <a:t>Violated</a:t>
                      </a:r>
                      <a:endParaRPr sz="2000">
                        <a:highlight>
                          <a:srgbClr val="F4CCCC"/>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40</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credit_limit</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5.78E-02</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B6D7A8"/>
                          </a:highlight>
                        </a:rPr>
                        <a:t>Satisfied</a:t>
                      </a:r>
                      <a:endParaRPr sz="2000">
                        <a:highlight>
                          <a:srgbClr val="B6D7A8"/>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31</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credit_score</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6.75E-02</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B6D7A8"/>
                          </a:highlight>
                        </a:rPr>
                        <a:t>Satisfied</a:t>
                      </a:r>
                      <a:endParaRPr sz="2000">
                        <a:highlight>
                          <a:srgbClr val="B6D7A8"/>
                        </a:highlight>
                      </a:endParaRPr>
                    </a:p>
                  </a:txBody>
                  <a:tcPr marT="19050" marB="19050" marR="28575" marL="28575" anchor="ctr"/>
                </a:tc>
              </a:tr>
              <a:tr h="428450">
                <a:tc>
                  <a:txBody>
                    <a:bodyPr/>
                    <a:lstStyle/>
                    <a:p>
                      <a:pPr indent="0" lvl="0" marL="0" rtl="0" algn="ctr">
                        <a:lnSpc>
                          <a:spcPct val="115000"/>
                        </a:lnSpc>
                        <a:spcBef>
                          <a:spcPts val="0"/>
                        </a:spcBef>
                        <a:spcAft>
                          <a:spcPts val="0"/>
                        </a:spcAft>
                        <a:buNone/>
                      </a:pPr>
                      <a:r>
                        <a:rPr lang="en-US" sz="2000"/>
                        <a:t>X</a:t>
                      </a:r>
                      <a:r>
                        <a:rPr baseline="-25000" lang="en-US" sz="2000"/>
                        <a:t>32</a:t>
                      </a:r>
                      <a:endParaRPr sz="2000"/>
                    </a:p>
                  </a:txBody>
                  <a:tcPr marT="19050" marB="19050" marR="28575" marL="28575" anchor="ctr">
                    <a:solidFill>
                      <a:srgbClr val="EFEFEF"/>
                    </a:solidFill>
                  </a:tcPr>
                </a:tc>
                <a:tc>
                  <a:txBody>
                    <a:bodyPr/>
                    <a:lstStyle/>
                    <a:p>
                      <a:pPr indent="0" lvl="0" marL="91440" rtl="0" algn="l">
                        <a:lnSpc>
                          <a:spcPct val="115000"/>
                        </a:lnSpc>
                        <a:spcBef>
                          <a:spcPts val="0"/>
                        </a:spcBef>
                        <a:spcAft>
                          <a:spcPts val="0"/>
                        </a:spcAft>
                        <a:buNone/>
                      </a:pPr>
                      <a:r>
                        <a:rPr lang="en-US" sz="2000"/>
                        <a:t>num_credit_cards</a:t>
                      </a:r>
                      <a:endParaRPr sz="2000"/>
                    </a:p>
                  </a:txBody>
                  <a:tcPr marT="19050" marB="19050" marR="28575" marL="28575" anchor="ctr"/>
                </a:tc>
                <a:tc>
                  <a:txBody>
                    <a:bodyPr/>
                    <a:lstStyle/>
                    <a:p>
                      <a:pPr indent="0" lvl="0" marL="91440" rtl="0" algn="l">
                        <a:lnSpc>
                          <a:spcPct val="115000"/>
                        </a:lnSpc>
                        <a:spcBef>
                          <a:spcPts val="0"/>
                        </a:spcBef>
                        <a:spcAft>
                          <a:spcPts val="0"/>
                        </a:spcAft>
                        <a:buNone/>
                      </a:pPr>
                      <a:r>
                        <a:rPr lang="en-US" sz="2000"/>
                        <a:t>7.52E-02</a:t>
                      </a:r>
                      <a:endParaRPr sz="2000"/>
                    </a:p>
                  </a:txBody>
                  <a:tcPr marT="19050" marB="19050" marR="28575" marL="28575" anchor="ctr"/>
                </a:tc>
                <a:tc>
                  <a:txBody>
                    <a:bodyPr/>
                    <a:lstStyle/>
                    <a:p>
                      <a:pPr indent="0" lvl="0" marL="0" rtl="0" algn="ctr">
                        <a:lnSpc>
                          <a:spcPct val="115000"/>
                        </a:lnSpc>
                        <a:spcBef>
                          <a:spcPts val="0"/>
                        </a:spcBef>
                        <a:spcAft>
                          <a:spcPts val="0"/>
                        </a:spcAft>
                        <a:buNone/>
                      </a:pPr>
                      <a:r>
                        <a:rPr lang="en-US" sz="2000">
                          <a:highlight>
                            <a:srgbClr val="B6D7A8"/>
                          </a:highlight>
                        </a:rPr>
                        <a:t>Satisfied</a:t>
                      </a:r>
                      <a:endParaRPr sz="2000">
                        <a:highlight>
                          <a:srgbClr val="B6D7A8"/>
                        </a:highlight>
                      </a:endParaRPr>
                    </a:p>
                  </a:txBody>
                  <a:tcPr marT="19050" marB="19050" marR="28575" marL="28575" anchor="ctr"/>
                </a:tc>
              </a:tr>
            </a:tbl>
          </a:graphicData>
        </a:graphic>
      </p:graphicFrame>
      <p:sp>
        <p:nvSpPr>
          <p:cNvPr id="413" name="Google Shape;413;g38b22d785db_0_10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89d0f2d245_0_1"/>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Multicollinearity assumption– check VIF index</a:t>
            </a:r>
            <a:endParaRPr b="0" i="0" sz="2000" u="none" cap="none" strike="noStrike">
              <a:solidFill>
                <a:schemeClr val="dk2"/>
              </a:solidFill>
              <a:latin typeface="Arial"/>
              <a:ea typeface="Arial"/>
              <a:cs typeface="Arial"/>
              <a:sym typeface="Arial"/>
            </a:endParaRPr>
          </a:p>
        </p:txBody>
      </p:sp>
      <p:sp>
        <p:nvSpPr>
          <p:cNvPr id="419" name="Google Shape;419;g389d0f2d245_0_1"/>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20" name="Google Shape;420;g389d0f2d245_0_1"/>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21" name="Google Shape;421;g389d0f2d245_0_1"/>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a:t>
            </a:r>
            <a:endParaRPr sz="3000"/>
          </a:p>
        </p:txBody>
      </p:sp>
      <p:graphicFrame>
        <p:nvGraphicFramePr>
          <p:cNvPr id="422" name="Google Shape;422;g389d0f2d245_0_1"/>
          <p:cNvGraphicFramePr/>
          <p:nvPr/>
        </p:nvGraphicFramePr>
        <p:xfrm>
          <a:off x="958975" y="2008800"/>
          <a:ext cx="3000000" cy="3000000"/>
        </p:xfrm>
        <a:graphic>
          <a:graphicData uri="http://schemas.openxmlformats.org/drawingml/2006/table">
            <a:tbl>
              <a:tblPr>
                <a:noFill/>
                <a:tableStyleId>{4AE0FA90-5911-4907-B5CD-781FDEEBBC44}</a:tableStyleId>
              </a:tblPr>
              <a:tblGrid>
                <a:gridCol w="1266800"/>
                <a:gridCol w="2647375"/>
                <a:gridCol w="1522275"/>
              </a:tblGrid>
              <a:tr h="381000">
                <a:tc>
                  <a:txBody>
                    <a:bodyPr/>
                    <a:lstStyle/>
                    <a:p>
                      <a:pPr indent="0" lvl="0" marL="0" rtl="0" algn="ctr">
                        <a:spcBef>
                          <a:spcPts val="0"/>
                        </a:spcBef>
                        <a:spcAft>
                          <a:spcPts val="0"/>
                        </a:spcAft>
                        <a:buNone/>
                      </a:pPr>
                      <a:r>
                        <a:rPr lang="en-US" sz="2000">
                          <a:solidFill>
                            <a:srgbClr val="FFFFFF"/>
                          </a:solidFill>
                        </a:rPr>
                        <a:t>Index</a:t>
                      </a:r>
                      <a:endParaRPr sz="2000">
                        <a:solidFill>
                          <a:srgbClr val="FFFFFF"/>
                        </a:solidFill>
                      </a:endParaRPr>
                    </a:p>
                  </a:txBody>
                  <a:tcPr marT="91425" marB="91425" marR="91425" marL="91425">
                    <a:lnB cap="flat" cmpd="sng" w="9525">
                      <a:solidFill>
                        <a:srgbClr val="9E9E9E"/>
                      </a:solidFill>
                      <a:prstDash val="solid"/>
                      <a:round/>
                      <a:headEnd len="sm" w="sm" type="none"/>
                      <a:tailEnd len="sm" w="sm" type="none"/>
                    </a:lnB>
                    <a:solidFill>
                      <a:srgbClr val="535353"/>
                    </a:solidFill>
                  </a:tcPr>
                </a:tc>
                <a:tc>
                  <a:txBody>
                    <a:bodyPr/>
                    <a:lstStyle/>
                    <a:p>
                      <a:pPr indent="0" lvl="0" marL="0" rtl="0" algn="ctr">
                        <a:spcBef>
                          <a:spcPts val="0"/>
                        </a:spcBef>
                        <a:spcAft>
                          <a:spcPts val="0"/>
                        </a:spcAft>
                        <a:buNone/>
                      </a:pPr>
                      <a:r>
                        <a:rPr lang="en-US" sz="2000">
                          <a:solidFill>
                            <a:srgbClr val="FFFFFF"/>
                          </a:solidFill>
                        </a:rPr>
                        <a:t>Variables</a:t>
                      </a:r>
                      <a:endParaRPr sz="2000">
                        <a:solidFill>
                          <a:srgbClr val="FFFFFF"/>
                        </a:solidFill>
                      </a:endParaRPr>
                    </a:p>
                  </a:txBody>
                  <a:tcPr marT="91425" marB="91425" marR="91425" marL="91425">
                    <a:solidFill>
                      <a:srgbClr val="535353"/>
                    </a:solidFill>
                  </a:tcPr>
                </a:tc>
                <a:tc>
                  <a:txBody>
                    <a:bodyPr/>
                    <a:lstStyle/>
                    <a:p>
                      <a:pPr indent="0" lvl="0" marL="0" rtl="0" algn="ctr">
                        <a:spcBef>
                          <a:spcPts val="0"/>
                        </a:spcBef>
                        <a:spcAft>
                          <a:spcPts val="0"/>
                        </a:spcAft>
                        <a:buNone/>
                      </a:pPr>
                      <a:r>
                        <a:rPr lang="en-US" sz="2000">
                          <a:solidFill>
                            <a:srgbClr val="FFFFFF"/>
                          </a:solidFill>
                        </a:rPr>
                        <a:t>VIF Factor</a:t>
                      </a:r>
                      <a:endParaRPr sz="2000">
                        <a:solidFill>
                          <a:srgbClr val="FFFFFF"/>
                        </a:solidFill>
                      </a:endParaRPr>
                    </a:p>
                  </a:txBody>
                  <a:tcPr marT="91425" marB="91425" marR="91425" marL="91425">
                    <a:lnR cap="flat" cmpd="sng" w="9525">
                      <a:solidFill>
                        <a:srgbClr val="9E9E9E"/>
                      </a:solidFill>
                      <a:prstDash val="solid"/>
                      <a:round/>
                      <a:headEnd len="sm" w="sm" type="none"/>
                      <a:tailEnd len="sm" w="sm" type="none"/>
                    </a:lnR>
                    <a:solidFill>
                      <a:srgbClr val="535353"/>
                    </a:solidFill>
                  </a:tcPr>
                </a:tc>
              </a:tr>
              <a:tr h="381000">
                <a:tc>
                  <a:txBody>
                    <a:bodyPr/>
                    <a:lstStyle/>
                    <a:p>
                      <a:pPr indent="0" lvl="0" marL="0" rtl="0" algn="ctr">
                        <a:spcBef>
                          <a:spcPts val="0"/>
                        </a:spcBef>
                        <a:spcAft>
                          <a:spcPts val="0"/>
                        </a:spcAft>
                        <a:buNone/>
                      </a:pPr>
                      <a:r>
                        <a:rPr lang="en-US" sz="2000"/>
                        <a:t>X</a:t>
                      </a:r>
                      <a:r>
                        <a:rPr baseline="-25000" lang="en-US" sz="2000"/>
                        <a:t>26</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highlight>
                            <a:srgbClr val="FFFF00"/>
                          </a:highlight>
                        </a:rPr>
                        <a:t>card_number</a:t>
                      </a:r>
                      <a:endParaRPr sz="2000">
                        <a:highlight>
                          <a:srgbClr val="FFFF00"/>
                        </a:highlight>
                      </a:endParaRPr>
                    </a:p>
                  </a:txBody>
                  <a:tcPr marT="19050" marB="19050" marR="28575" marL="28575" anchor="ctr">
                    <a:lnB cap="flat" cmpd="sng" w="9525">
                      <a:solidFill>
                        <a:srgbClr val="9E9E9E"/>
                      </a:solidFill>
                      <a:prstDash val="solid"/>
                      <a:round/>
                      <a:headEnd len="sm" w="sm" type="none"/>
                      <a:tailEnd len="sm" w="sm" type="none"/>
                    </a:lnB>
                  </a:tcPr>
                </a:tc>
                <a:tc>
                  <a:txBody>
                    <a:bodyPr/>
                    <a:lstStyle/>
                    <a:p>
                      <a:pPr indent="0" lvl="0" marL="0" marR="91440" rtl="0" algn="r">
                        <a:lnSpc>
                          <a:spcPct val="115000"/>
                        </a:lnSpc>
                        <a:spcBef>
                          <a:spcPts val="0"/>
                        </a:spcBef>
                        <a:spcAft>
                          <a:spcPts val="0"/>
                        </a:spcAft>
                        <a:buNone/>
                      </a:pPr>
                      <a:r>
                        <a:rPr lang="en-US" sz="2000">
                          <a:highlight>
                            <a:srgbClr val="FFFF00"/>
                          </a:highlight>
                        </a:rPr>
                        <a:t>22.243090</a:t>
                      </a:r>
                      <a:endParaRPr sz="2000">
                        <a:highlight>
                          <a:srgbClr val="FF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29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highlight>
                            <a:srgbClr val="FFFF00"/>
                          </a:highlight>
                        </a:rPr>
                        <a:t>card_brand_Amex</a:t>
                      </a:r>
                      <a:endParaRPr sz="2000">
                        <a:highlight>
                          <a:srgbClr val="FFFF00"/>
                        </a:highlight>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marR="91440" rtl="0" algn="r">
                        <a:lnSpc>
                          <a:spcPct val="115000"/>
                        </a:lnSpc>
                        <a:spcBef>
                          <a:spcPts val="0"/>
                        </a:spcBef>
                        <a:spcAft>
                          <a:spcPts val="0"/>
                        </a:spcAft>
                        <a:buNone/>
                      </a:pPr>
                      <a:r>
                        <a:rPr lang="en-US" sz="2000">
                          <a:highlight>
                            <a:srgbClr val="FFFF00"/>
                          </a:highlight>
                        </a:rPr>
                        <a:t>4.419995</a:t>
                      </a:r>
                      <a:endParaRPr sz="2000">
                        <a:highlight>
                          <a:srgbClr val="FFFF00"/>
                        </a:highlight>
                      </a:endParaRPr>
                    </a:p>
                  </a:txBody>
                  <a:tcPr marT="19050" marB="19050" marR="28575" marL="28575" anchor="ctr">
                    <a:lnL cap="flat" cmpd="sng" w="9525">
                      <a:solidFill>
                        <a:srgbClr val="9E9E9E"/>
                      </a:solidFill>
                      <a:prstDash val="solid"/>
                      <a:round/>
                      <a:headEnd len="sm" w="sm" type="none"/>
                      <a:tailEnd len="sm" w="sm" type="none"/>
                    </a:lnL>
                  </a:tcPr>
                </a:tc>
              </a:tr>
              <a:tr h="381000">
                <a:tc>
                  <a:txBody>
                    <a:bodyPr/>
                    <a:lstStyle/>
                    <a:p>
                      <a:pPr indent="0" lvl="0" marL="0" rtl="0" algn="ctr">
                        <a:spcBef>
                          <a:spcPts val="0"/>
                        </a:spcBef>
                        <a:spcAft>
                          <a:spcPts val="0"/>
                        </a:spcAft>
                        <a:buNone/>
                      </a:pPr>
                      <a:r>
                        <a:rPr lang="en-US" sz="2000"/>
                        <a:t>X</a:t>
                      </a:r>
                      <a:r>
                        <a:rPr baseline="-25000" lang="en-US" sz="2000"/>
                        <a:t>38</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zip</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2.302851</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27</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longitude</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2.117485</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28</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per_capita_income</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1.843738</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16</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use_chip_Chip Transaction</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1.749374</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18</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use_chip_Swipe Transaction</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1.718199</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29</a:t>
                      </a:r>
                      <a:endParaRPr baseline="-25000"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yearly_income</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1.631605</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30</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total_debt</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1.538366</a:t>
                      </a:r>
                      <a:endParaRPr sz="2000"/>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14</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zip_missing_flag</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t>1.466621</a:t>
                      </a:r>
                      <a:endParaRPr sz="2000"/>
                    </a:p>
                  </a:txBody>
                  <a:tcPr marT="19050" marB="19050" marR="28575" marL="28575" anchor="ctr"/>
                </a:tc>
              </a:tr>
            </a:tbl>
          </a:graphicData>
        </a:graphic>
      </p:graphicFrame>
      <p:graphicFrame>
        <p:nvGraphicFramePr>
          <p:cNvPr id="423" name="Google Shape;423;g389d0f2d245_0_1"/>
          <p:cNvGraphicFramePr/>
          <p:nvPr/>
        </p:nvGraphicFramePr>
        <p:xfrm>
          <a:off x="6793350" y="2008800"/>
          <a:ext cx="3000000" cy="3000000"/>
        </p:xfrm>
        <a:graphic>
          <a:graphicData uri="http://schemas.openxmlformats.org/drawingml/2006/table">
            <a:tbl>
              <a:tblPr>
                <a:noFill/>
                <a:tableStyleId>{4AE0FA90-5911-4907-B5CD-781FDEEBBC44}</a:tableStyleId>
              </a:tblPr>
              <a:tblGrid>
                <a:gridCol w="1266800"/>
                <a:gridCol w="2647375"/>
                <a:gridCol w="1522275"/>
              </a:tblGrid>
              <a:tr h="381000">
                <a:tc>
                  <a:txBody>
                    <a:bodyPr/>
                    <a:lstStyle/>
                    <a:p>
                      <a:pPr indent="0" lvl="0" marL="0" rtl="0" algn="ctr">
                        <a:spcBef>
                          <a:spcPts val="0"/>
                        </a:spcBef>
                        <a:spcAft>
                          <a:spcPts val="0"/>
                        </a:spcAft>
                        <a:buNone/>
                      </a:pPr>
                      <a:r>
                        <a:rPr lang="en-US" sz="2000">
                          <a:solidFill>
                            <a:srgbClr val="FFFFFF"/>
                          </a:solidFill>
                        </a:rPr>
                        <a:t>Index</a:t>
                      </a:r>
                      <a:endParaRPr sz="20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535353"/>
                    </a:solidFill>
                  </a:tcPr>
                </a:tc>
                <a:tc>
                  <a:txBody>
                    <a:bodyPr/>
                    <a:lstStyle/>
                    <a:p>
                      <a:pPr indent="0" lvl="0" marL="0" rtl="0" algn="ctr">
                        <a:spcBef>
                          <a:spcPts val="0"/>
                        </a:spcBef>
                        <a:spcAft>
                          <a:spcPts val="0"/>
                        </a:spcAft>
                        <a:buNone/>
                      </a:pPr>
                      <a:r>
                        <a:rPr lang="en-US" sz="2000">
                          <a:solidFill>
                            <a:srgbClr val="FFFFFF"/>
                          </a:solidFill>
                        </a:rPr>
                        <a:t>Variables</a:t>
                      </a:r>
                      <a:endParaRPr sz="20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535353"/>
                    </a:solidFill>
                  </a:tcPr>
                </a:tc>
                <a:tc>
                  <a:txBody>
                    <a:bodyPr/>
                    <a:lstStyle/>
                    <a:p>
                      <a:pPr indent="0" lvl="0" marL="0" rtl="0" algn="ctr">
                        <a:spcBef>
                          <a:spcPts val="0"/>
                        </a:spcBef>
                        <a:spcAft>
                          <a:spcPts val="0"/>
                        </a:spcAft>
                        <a:buNone/>
                      </a:pPr>
                      <a:r>
                        <a:rPr lang="en-US" sz="2000">
                          <a:solidFill>
                            <a:srgbClr val="FFFFFF"/>
                          </a:solidFill>
                        </a:rPr>
                        <a:t>VIF Factor</a:t>
                      </a:r>
                      <a:endParaRPr sz="20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535353"/>
                    </a:solidFill>
                  </a:tcPr>
                </a:tc>
              </a:tr>
              <a:tr h="381000">
                <a:tc>
                  <a:txBody>
                    <a:bodyPr/>
                    <a:lstStyle/>
                    <a:p>
                      <a:pPr indent="0" lvl="0" marL="0" rtl="0" algn="ctr">
                        <a:spcBef>
                          <a:spcPts val="0"/>
                        </a:spcBef>
                        <a:spcAft>
                          <a:spcPts val="0"/>
                        </a:spcAft>
                        <a:buNone/>
                      </a:pPr>
                      <a:r>
                        <a:rPr lang="en-US" sz="2000"/>
                        <a:t>X</a:t>
                      </a:r>
                      <a:r>
                        <a:rPr baseline="-25000" lang="en-US" sz="2000"/>
                        <a:t>38</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zip</a:t>
                      </a:r>
                      <a:endParaRPr sz="2000"/>
                    </a:p>
                  </a:txBody>
                  <a:tcPr marT="19050" marB="19050" marR="28575" marL="28575" anchor="ctr">
                    <a:lnT cap="flat" cmpd="sng" w="9525">
                      <a:solidFill>
                        <a:srgbClr val="9E9E9E"/>
                      </a:solidFill>
                      <a:prstDash val="solid"/>
                      <a:round/>
                      <a:headEnd len="sm" w="sm" type="none"/>
                      <a:tailEnd len="sm" w="sm" type="none"/>
                    </a:lnT>
                  </a:tcPr>
                </a:tc>
                <a:tc>
                  <a:txBody>
                    <a:bodyPr/>
                    <a:lstStyle/>
                    <a:p>
                      <a:pPr indent="0" lvl="0" marL="0" marR="91440" rtl="0" algn="r">
                        <a:lnSpc>
                          <a:spcPct val="115000"/>
                        </a:lnSpc>
                        <a:spcBef>
                          <a:spcPts val="0"/>
                        </a:spcBef>
                        <a:spcAft>
                          <a:spcPts val="0"/>
                        </a:spcAft>
                        <a:buNone/>
                      </a:pPr>
                      <a:r>
                        <a:rPr lang="en-US" sz="2000">
                          <a:highlight>
                            <a:srgbClr val="00FF00"/>
                          </a:highlight>
                        </a:rPr>
                        <a:t>2.53292</a:t>
                      </a:r>
                      <a:endParaRPr sz="2000">
                        <a:highlight>
                          <a:srgbClr val="00FF00"/>
                        </a:highlight>
                      </a:endParaRPr>
                    </a:p>
                  </a:txBody>
                  <a:tcPr marT="19050" marB="19050" marR="28575" marL="28575" anchor="ctr">
                    <a:lnT cap="flat" cmpd="sng" w="9525">
                      <a:solidFill>
                        <a:srgbClr val="9E9E9E"/>
                      </a:solidFill>
                      <a:prstDash val="solid"/>
                      <a:round/>
                      <a:headEnd len="sm" w="sm" type="none"/>
                      <a:tailEnd len="sm" w="sm" type="none"/>
                    </a:lnT>
                  </a:tcPr>
                </a:tc>
              </a:tr>
              <a:tr h="381000">
                <a:tc>
                  <a:txBody>
                    <a:bodyPr/>
                    <a:lstStyle/>
                    <a:p>
                      <a:pPr indent="0" lvl="0" marL="0" rtl="0" algn="ctr">
                        <a:spcBef>
                          <a:spcPts val="0"/>
                        </a:spcBef>
                        <a:spcAft>
                          <a:spcPts val="0"/>
                        </a:spcAft>
                        <a:buNone/>
                      </a:pPr>
                      <a:r>
                        <a:rPr lang="en-US" sz="2000"/>
                        <a:t>X</a:t>
                      </a:r>
                      <a:r>
                        <a:rPr baseline="-25000" lang="en-US" sz="2000"/>
                        <a:t>27</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longitude</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2.460976</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18</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use_chip_Swipe Transaction</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1.979256</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1</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transaction_id</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1.768991</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40</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credit_limit</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1.707588</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29</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yearly_income</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1.627438</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30</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total_debt</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1.592191</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20</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current_age</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1.515529</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45</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card_type_Debit</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1.414488</a:t>
                      </a:r>
                      <a:endParaRPr sz="2000">
                        <a:highlight>
                          <a:srgbClr val="00FF00"/>
                        </a:highlight>
                      </a:endParaRPr>
                    </a:p>
                  </a:txBody>
                  <a:tcPr marT="19050" marB="19050" marR="28575" marL="28575" anchor="ctr"/>
                </a:tc>
              </a:tr>
              <a:tr h="381000">
                <a:tc>
                  <a:txBody>
                    <a:bodyPr/>
                    <a:lstStyle/>
                    <a:p>
                      <a:pPr indent="0" lvl="0" marL="0" rtl="0" algn="ctr">
                        <a:spcBef>
                          <a:spcPts val="0"/>
                        </a:spcBef>
                        <a:spcAft>
                          <a:spcPts val="0"/>
                        </a:spcAft>
                        <a:buNone/>
                      </a:pPr>
                      <a:r>
                        <a:rPr lang="en-US" sz="2000"/>
                        <a:t>X</a:t>
                      </a:r>
                      <a:r>
                        <a:rPr baseline="-25000" lang="en-US" sz="2000"/>
                        <a:t>39</a:t>
                      </a:r>
                      <a:endParaRPr sz="2000"/>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91440" rtl="0" algn="l">
                        <a:lnSpc>
                          <a:spcPct val="115000"/>
                        </a:lnSpc>
                        <a:spcBef>
                          <a:spcPts val="0"/>
                        </a:spcBef>
                        <a:spcAft>
                          <a:spcPts val="0"/>
                        </a:spcAft>
                        <a:buNone/>
                      </a:pPr>
                      <a:r>
                        <a:rPr lang="en-US" sz="2000"/>
                        <a:t>num_credit_cards</a:t>
                      </a:r>
                      <a:endParaRPr sz="2000"/>
                    </a:p>
                  </a:txBody>
                  <a:tcPr marT="19050" marB="19050" marR="28575" marL="28575" anchor="ctr"/>
                </a:tc>
                <a:tc>
                  <a:txBody>
                    <a:bodyPr/>
                    <a:lstStyle/>
                    <a:p>
                      <a:pPr indent="0" lvl="0" marL="0" marR="91440" rtl="0" algn="r">
                        <a:lnSpc>
                          <a:spcPct val="115000"/>
                        </a:lnSpc>
                        <a:spcBef>
                          <a:spcPts val="0"/>
                        </a:spcBef>
                        <a:spcAft>
                          <a:spcPts val="0"/>
                        </a:spcAft>
                        <a:buNone/>
                      </a:pPr>
                      <a:r>
                        <a:rPr lang="en-US" sz="2000">
                          <a:highlight>
                            <a:srgbClr val="00FF00"/>
                          </a:highlight>
                        </a:rPr>
                        <a:t>1.322601</a:t>
                      </a:r>
                      <a:endParaRPr sz="2000">
                        <a:highlight>
                          <a:srgbClr val="00FF00"/>
                        </a:highlight>
                      </a:endParaRPr>
                    </a:p>
                  </a:txBody>
                  <a:tcPr marT="19050" marB="19050" marR="28575" marL="28575" anchor="ctr"/>
                </a:tc>
              </a:tr>
            </a:tbl>
          </a:graphicData>
        </a:graphic>
      </p:graphicFrame>
      <p:sp>
        <p:nvSpPr>
          <p:cNvPr id="424" name="Google Shape;424;g389d0f2d245_0_1"/>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89d0f2d245_0_9"/>
          <p:cNvSpPr/>
          <p:nvPr/>
        </p:nvSpPr>
        <p:spPr>
          <a:xfrm>
            <a:off x="7557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None/>
            </a:pPr>
            <a:r>
              <a:t/>
            </a:r>
            <a:endParaRPr b="1" sz="2000">
              <a:solidFill>
                <a:schemeClr val="accent5"/>
              </a:solidFill>
            </a:endParaRPr>
          </a:p>
          <a:p>
            <a:pPr indent="-355600" lvl="0" marL="457200" rtl="0" algn="l">
              <a:lnSpc>
                <a:spcPct val="115000"/>
              </a:lnSpc>
              <a:spcBef>
                <a:spcPts val="0"/>
              </a:spcBef>
              <a:spcAft>
                <a:spcPts val="0"/>
              </a:spcAft>
              <a:buClr>
                <a:schemeClr val="accent5"/>
              </a:buClr>
              <a:buSzPts val="2000"/>
              <a:buAutoNum type="arabicPeriod"/>
            </a:pPr>
            <a:r>
              <a:rPr b="1" lang="en-US" sz="2000"/>
              <a:t>Model Fit Evaluation:</a:t>
            </a:r>
            <a:br>
              <a:rPr b="1" lang="en-US" sz="2000"/>
            </a:br>
            <a:r>
              <a:rPr lang="en-US" sz="2000"/>
              <a:t>Use the </a:t>
            </a:r>
            <a:r>
              <a:rPr b="1" lang="en-US" sz="2000"/>
              <a:t>−2 Log(Likelihood)</a:t>
            </a:r>
            <a:r>
              <a:rPr lang="en-US" sz="2000"/>
              <a:t> value to assess overall model improvement.</a:t>
            </a:r>
            <a:br>
              <a:rPr lang="en-US" sz="2000"/>
            </a:br>
            <a:endParaRPr sz="2000"/>
          </a:p>
          <a:p>
            <a:pPr indent="-355600" lvl="0" marL="457200" rtl="0" algn="l">
              <a:lnSpc>
                <a:spcPct val="115000"/>
              </a:lnSpc>
              <a:spcBef>
                <a:spcPts val="0"/>
              </a:spcBef>
              <a:spcAft>
                <a:spcPts val="0"/>
              </a:spcAft>
              <a:buClr>
                <a:schemeClr val="accent5"/>
              </a:buClr>
              <a:buSzPts val="2000"/>
              <a:buAutoNum type="arabicPeriod"/>
            </a:pPr>
            <a:r>
              <a:rPr b="1" lang="en-US" sz="2000"/>
              <a:t>Stepwise Selection Procedure:</a:t>
            </a:r>
            <a:br>
              <a:rPr b="1" lang="en-US" sz="2000"/>
            </a:br>
            <a:r>
              <a:rPr lang="en-US" sz="2000"/>
              <a:t>Iteratively add or remove variables based on statistical criteria.</a:t>
            </a:r>
            <a:br>
              <a:rPr lang="en-US" sz="2000"/>
            </a:br>
            <a:endParaRPr sz="2000"/>
          </a:p>
          <a:p>
            <a:pPr indent="-355600" lvl="0" marL="457200" rtl="0" algn="l">
              <a:lnSpc>
                <a:spcPct val="115000"/>
              </a:lnSpc>
              <a:spcBef>
                <a:spcPts val="0"/>
              </a:spcBef>
              <a:spcAft>
                <a:spcPts val="0"/>
              </a:spcAft>
              <a:buClr>
                <a:schemeClr val="accent5"/>
              </a:buClr>
              <a:buSzPts val="2000"/>
              <a:buAutoNum type="arabicPeriod"/>
            </a:pPr>
            <a:r>
              <a:rPr b="1" lang="en-US" sz="2000"/>
              <a:t>Entry and Removal Criteria:</a:t>
            </a:r>
            <a:br>
              <a:rPr b="1" lang="en-US" sz="2000"/>
            </a:br>
            <a:r>
              <a:rPr lang="en-US" sz="2000"/>
              <a:t>Include variables with </a:t>
            </a:r>
            <a:r>
              <a:rPr b="1" lang="en-US" sz="2000"/>
              <a:t>significant</a:t>
            </a:r>
            <a:r>
              <a:rPr lang="en-US" sz="2000"/>
              <a:t>(</a:t>
            </a:r>
            <a:r>
              <a:rPr i="1" lang="en-US" sz="2000"/>
              <a:t>p</a:t>
            </a:r>
            <a:r>
              <a:rPr lang="en-US" sz="2000"/>
              <a:t> &lt; 0.05)</a:t>
            </a:r>
            <a:r>
              <a:rPr b="1" lang="en-US" sz="2000"/>
              <a:t> LR test(add)/Wald statistic(remove)</a:t>
            </a:r>
            <a:r>
              <a:rPr lang="en-US" sz="2000"/>
              <a:t> ;</a:t>
            </a:r>
            <a:br>
              <a:rPr lang="en-US" sz="2000"/>
            </a:br>
            <a:r>
              <a:rPr lang="en-US" sz="2000"/>
              <a:t>remove non-significant ones.</a:t>
            </a:r>
            <a:br>
              <a:rPr lang="en-US" sz="2000"/>
            </a:br>
            <a:endParaRPr sz="2000"/>
          </a:p>
          <a:p>
            <a:pPr indent="-355600" lvl="0" marL="457200" rtl="0" algn="l">
              <a:lnSpc>
                <a:spcPct val="115000"/>
              </a:lnSpc>
              <a:spcBef>
                <a:spcPts val="0"/>
              </a:spcBef>
              <a:spcAft>
                <a:spcPts val="0"/>
              </a:spcAft>
              <a:buClr>
                <a:schemeClr val="accent5"/>
              </a:buClr>
              <a:buSzPts val="2000"/>
              <a:buAutoNum type="arabicPeriod"/>
            </a:pPr>
            <a:r>
              <a:rPr b="1" lang="en-US" sz="2000"/>
              <a:t>Stopping Rule:</a:t>
            </a:r>
            <a:br>
              <a:rPr b="1" lang="en-US" sz="2000"/>
            </a:br>
            <a:r>
              <a:rPr lang="en-US" sz="2000"/>
              <a:t>Continue until </a:t>
            </a:r>
            <a:r>
              <a:rPr b="1" lang="en-US" sz="2000"/>
              <a:t>no excluded variable</a:t>
            </a:r>
            <a:r>
              <a:rPr lang="en-US" sz="2000"/>
              <a:t> produces a statistically significant</a:t>
            </a:r>
            <a:br>
              <a:rPr lang="en-US" sz="2000"/>
            </a:br>
            <a:r>
              <a:rPr lang="en-US" sz="2000"/>
              <a:t>improvement in model likelihood.</a:t>
            </a:r>
            <a:br>
              <a:rPr lang="en-US" sz="2000"/>
            </a:br>
            <a:endParaRPr sz="2000"/>
          </a:p>
          <a:p>
            <a:pPr indent="-355600" lvl="0" marL="457200" rtl="0" algn="l">
              <a:lnSpc>
                <a:spcPct val="115000"/>
              </a:lnSpc>
              <a:spcBef>
                <a:spcPts val="0"/>
              </a:spcBef>
              <a:spcAft>
                <a:spcPts val="0"/>
              </a:spcAft>
              <a:buClr>
                <a:schemeClr val="accent5"/>
              </a:buClr>
              <a:buSzPts val="2000"/>
              <a:buAutoNum type="arabicPeriod"/>
            </a:pPr>
            <a:r>
              <a:rPr b="1" lang="en-US" sz="2000"/>
              <a:t>Goal:</a:t>
            </a:r>
            <a:br>
              <a:rPr b="1" lang="en-US" sz="2000"/>
            </a:br>
            <a:r>
              <a:rPr lang="en-US" sz="2000"/>
              <a:t>Achieve a </a:t>
            </a:r>
            <a:r>
              <a:rPr b="1" lang="en-US" sz="2000"/>
              <a:t>parsimonious model</a:t>
            </a:r>
            <a:r>
              <a:rPr lang="en-US" sz="2000"/>
              <a:t> — good fit with minimal predictors.</a:t>
            </a:r>
            <a:endParaRPr sz="2000"/>
          </a:p>
          <a:p>
            <a:pPr indent="0" lvl="0" marL="0" marR="0" rtl="0" algn="l">
              <a:lnSpc>
                <a:spcPct val="100000"/>
              </a:lnSpc>
              <a:spcBef>
                <a:spcPts val="0"/>
              </a:spcBef>
              <a:spcAft>
                <a:spcPts val="0"/>
              </a:spcAft>
              <a:buNone/>
            </a:pPr>
            <a:r>
              <a:t/>
            </a:r>
            <a:endParaRPr b="1" sz="2000">
              <a:solidFill>
                <a:schemeClr val="accent5"/>
              </a:solidFill>
            </a:endParaRPr>
          </a:p>
        </p:txBody>
      </p:sp>
      <p:sp>
        <p:nvSpPr>
          <p:cNvPr id="430" name="Google Shape;430;g389d0f2d245_0_9"/>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31" name="Google Shape;431;g389d0f2d245_0_9"/>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32" name="Google Shape;432;g389d0f2d245_0_9"/>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Variables Selection </a:t>
            </a:r>
            <a:r>
              <a:rPr lang="en-US" sz="3000"/>
              <a:t>guideline</a:t>
            </a:r>
            <a:endParaRPr sz="3000"/>
          </a:p>
        </p:txBody>
      </p:sp>
      <p:sp>
        <p:nvSpPr>
          <p:cNvPr id="433" name="Google Shape;433;g389d0f2d245_0_9"/>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
        <p:nvSpPr>
          <p:cNvPr id="434" name="Google Shape;434;g389d0f2d245_0_9"/>
          <p:cNvSpPr txBox="1"/>
          <p:nvPr/>
        </p:nvSpPr>
        <p:spPr>
          <a:xfrm>
            <a:off x="768500" y="8079825"/>
            <a:ext cx="44958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100"/>
              <a:t>Hair, J. F., Black, W. C., Babin, B. J., &amp; Anderson, R. E. (2019).</a:t>
            </a:r>
            <a:endParaRPr sz="1100"/>
          </a:p>
          <a:p>
            <a:pPr indent="0" lvl="0" marL="0" rtl="0" algn="l">
              <a:spcBef>
                <a:spcPts val="0"/>
              </a:spcBef>
              <a:spcAft>
                <a:spcPts val="0"/>
              </a:spcAft>
              <a:buNone/>
            </a:pPr>
            <a:r>
              <a:rPr i="1" lang="en-US" sz="1100"/>
              <a:t>Multivariate Data Analysis</a:t>
            </a:r>
            <a:r>
              <a:rPr lang="en-US" sz="1100"/>
              <a:t> (8th ed.). Cengage Learning.</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85deb733bc_0_108"/>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Summary of variables</a:t>
            </a:r>
            <a:endParaRPr b="1" sz="2000">
              <a:solidFill>
                <a:schemeClr val="accent5"/>
              </a:solidFill>
            </a:endParaRPr>
          </a:p>
          <a:p>
            <a:pPr indent="0" lvl="0" marL="0" marR="0" rtl="0" algn="l">
              <a:lnSpc>
                <a:spcPct val="100000"/>
              </a:lnSpc>
              <a:spcBef>
                <a:spcPts val="0"/>
              </a:spcBef>
              <a:spcAft>
                <a:spcPts val="0"/>
              </a:spcAft>
              <a:buClr>
                <a:schemeClr val="accent5"/>
              </a:buClr>
              <a:buSzPts val="2400"/>
              <a:buFont typeface="Arial"/>
              <a:buNone/>
            </a:pPr>
            <a:r>
              <a:t/>
            </a:r>
            <a:endParaRPr b="1" sz="2000">
              <a:solidFill>
                <a:schemeClr val="accent5"/>
              </a:solidFill>
            </a:endParaRPr>
          </a:p>
          <a:p>
            <a:pPr indent="0" lvl="0" marL="0" marR="0" rtl="0" algn="l">
              <a:lnSpc>
                <a:spcPct val="100000"/>
              </a:lnSpc>
              <a:spcBef>
                <a:spcPts val="0"/>
              </a:spcBef>
              <a:spcAft>
                <a:spcPts val="0"/>
              </a:spcAft>
              <a:buClr>
                <a:schemeClr val="accent5"/>
              </a:buClr>
              <a:buSzPts val="2400"/>
              <a:buFont typeface="Arial"/>
              <a:buNone/>
            </a:pPr>
            <a:r>
              <a:t/>
            </a:r>
            <a:endParaRPr b="1" sz="2000">
              <a:solidFill>
                <a:schemeClr val="accent5"/>
              </a:solidFill>
            </a:endParaRPr>
          </a:p>
        </p:txBody>
      </p:sp>
      <p:sp>
        <p:nvSpPr>
          <p:cNvPr id="440" name="Google Shape;440;g385deb733bc_0_108"/>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41" name="Google Shape;441;g385deb733bc_0_108"/>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42" name="Google Shape;442;g385deb733bc_0_108"/>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V</a:t>
            </a:r>
            <a:r>
              <a:rPr lang="en-US" sz="3000"/>
              <a:t>ariables for Logistic Regression</a:t>
            </a:r>
            <a:endParaRPr sz="3000"/>
          </a:p>
        </p:txBody>
      </p:sp>
      <p:graphicFrame>
        <p:nvGraphicFramePr>
          <p:cNvPr id="443" name="Google Shape;443;g385deb733bc_0_108"/>
          <p:cNvGraphicFramePr/>
          <p:nvPr/>
        </p:nvGraphicFramePr>
        <p:xfrm>
          <a:off x="952575" y="2049636"/>
          <a:ext cx="3000000" cy="3000000"/>
        </p:xfrm>
        <a:graphic>
          <a:graphicData uri="http://schemas.openxmlformats.org/drawingml/2006/table">
            <a:tbl>
              <a:tblPr>
                <a:noFill/>
                <a:tableStyleId>{4AE0FA90-5911-4907-B5CD-781FDEEBBC44}</a:tableStyleId>
              </a:tblPr>
              <a:tblGrid>
                <a:gridCol w="1266800"/>
                <a:gridCol w="2647375"/>
                <a:gridCol w="1522275"/>
                <a:gridCol w="1334650"/>
                <a:gridCol w="2640225"/>
                <a:gridCol w="1461525"/>
              </a:tblGrid>
              <a:tr h="381000">
                <a:tc>
                  <a:txBody>
                    <a:bodyPr/>
                    <a:lstStyle/>
                    <a:p>
                      <a:pPr indent="0" lvl="0" marL="0" rtl="0" algn="ctr">
                        <a:spcBef>
                          <a:spcPts val="0"/>
                        </a:spcBef>
                        <a:spcAft>
                          <a:spcPts val="0"/>
                        </a:spcAft>
                        <a:buNone/>
                      </a:pPr>
                      <a:r>
                        <a:rPr lang="en-US" sz="2000">
                          <a:solidFill>
                            <a:srgbClr val="FFFFFF"/>
                          </a:solidFill>
                        </a:rPr>
                        <a:t>Index</a:t>
                      </a:r>
                      <a:endParaRPr sz="2000">
                        <a:solidFill>
                          <a:srgbClr val="FFFFFF"/>
                        </a:solidFill>
                      </a:endParaRPr>
                    </a:p>
                  </a:txBody>
                  <a:tcPr marT="91425" marB="91425" marR="91425" marL="91425" anchor="ctr">
                    <a:solidFill>
                      <a:srgbClr val="535353"/>
                    </a:solidFill>
                  </a:tcPr>
                </a:tc>
                <a:tc>
                  <a:txBody>
                    <a:bodyPr/>
                    <a:lstStyle/>
                    <a:p>
                      <a:pPr indent="0" lvl="0" marL="0" rtl="0" algn="ctr">
                        <a:spcBef>
                          <a:spcPts val="0"/>
                        </a:spcBef>
                        <a:spcAft>
                          <a:spcPts val="0"/>
                        </a:spcAft>
                        <a:buNone/>
                      </a:pPr>
                      <a:r>
                        <a:rPr lang="en-US" sz="2000">
                          <a:solidFill>
                            <a:srgbClr val="FFFFFF"/>
                          </a:solidFill>
                        </a:rPr>
                        <a:t>Variables</a:t>
                      </a:r>
                      <a:endParaRPr sz="2000">
                        <a:solidFill>
                          <a:srgbClr val="FFFFFF"/>
                        </a:solidFill>
                      </a:endParaRPr>
                    </a:p>
                  </a:txBody>
                  <a:tcPr marT="91425" marB="91425" marR="91425" marL="91425" anchor="ctr">
                    <a:solidFill>
                      <a:srgbClr val="535353"/>
                    </a:solidFill>
                  </a:tcPr>
                </a:tc>
                <a:tc>
                  <a:txBody>
                    <a:bodyPr/>
                    <a:lstStyle/>
                    <a:p>
                      <a:pPr indent="0" lvl="0" marL="0" rtl="0" algn="ctr">
                        <a:spcBef>
                          <a:spcPts val="0"/>
                        </a:spcBef>
                        <a:spcAft>
                          <a:spcPts val="0"/>
                        </a:spcAft>
                        <a:buNone/>
                      </a:pPr>
                      <a:r>
                        <a:rPr lang="en-US" sz="2000">
                          <a:solidFill>
                            <a:srgbClr val="FFFFFF"/>
                          </a:solidFill>
                        </a:rPr>
                        <a:t>Type</a:t>
                      </a:r>
                      <a:endParaRPr sz="2000">
                        <a:solidFill>
                          <a:srgbClr val="FFFFFF"/>
                        </a:solidFill>
                      </a:endParaRPr>
                    </a:p>
                  </a:txBody>
                  <a:tcPr marT="91425" marB="91425" marR="91425" marL="91425" anchor="ctr">
                    <a:lnR cap="flat" cmpd="sng" w="9525">
                      <a:solidFill>
                        <a:srgbClr val="9E9E9E"/>
                      </a:solidFill>
                      <a:prstDash val="solid"/>
                      <a:round/>
                      <a:headEnd len="sm" w="sm" type="none"/>
                      <a:tailEnd len="sm" w="sm" type="none"/>
                    </a:lnR>
                    <a:solidFill>
                      <a:srgbClr val="535353"/>
                    </a:solidFill>
                  </a:tcPr>
                </a:tc>
                <a:tc>
                  <a:txBody>
                    <a:bodyPr/>
                    <a:lstStyle/>
                    <a:p>
                      <a:pPr indent="0" lvl="0" marL="0" rtl="0" algn="ctr">
                        <a:spcBef>
                          <a:spcPts val="0"/>
                        </a:spcBef>
                        <a:spcAft>
                          <a:spcPts val="0"/>
                        </a:spcAft>
                        <a:buNone/>
                      </a:pPr>
                      <a:r>
                        <a:rPr lang="en-US" sz="2000">
                          <a:solidFill>
                            <a:srgbClr val="FFFFFF"/>
                          </a:solidFill>
                        </a:rPr>
                        <a:t>Index</a:t>
                      </a:r>
                      <a:endParaRPr sz="2000">
                        <a:solidFill>
                          <a:srgbClr val="FFFF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535353"/>
                    </a:solidFill>
                  </a:tcPr>
                </a:tc>
                <a:tc>
                  <a:txBody>
                    <a:bodyPr/>
                    <a:lstStyle/>
                    <a:p>
                      <a:pPr indent="0" lvl="0" marL="0" rtl="0" algn="ctr">
                        <a:spcBef>
                          <a:spcPts val="0"/>
                        </a:spcBef>
                        <a:spcAft>
                          <a:spcPts val="0"/>
                        </a:spcAft>
                        <a:buNone/>
                      </a:pPr>
                      <a:r>
                        <a:rPr lang="en-US" sz="2000">
                          <a:solidFill>
                            <a:srgbClr val="FFFFFF"/>
                          </a:solidFill>
                        </a:rPr>
                        <a:t>Variables</a:t>
                      </a:r>
                      <a:endParaRPr sz="2000">
                        <a:solidFill>
                          <a:srgbClr val="FFFF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535353"/>
                    </a:solidFill>
                  </a:tcPr>
                </a:tc>
                <a:tc>
                  <a:txBody>
                    <a:bodyPr/>
                    <a:lstStyle/>
                    <a:p>
                      <a:pPr indent="0" lvl="0" marL="0" rtl="0" algn="ctr">
                        <a:spcBef>
                          <a:spcPts val="0"/>
                        </a:spcBef>
                        <a:spcAft>
                          <a:spcPts val="0"/>
                        </a:spcAft>
                        <a:buNone/>
                      </a:pPr>
                      <a:r>
                        <a:rPr lang="en-US" sz="2000">
                          <a:solidFill>
                            <a:srgbClr val="FFFFFF"/>
                          </a:solidFill>
                        </a:rPr>
                        <a:t>Type</a:t>
                      </a:r>
                      <a:endParaRPr sz="2000">
                        <a:solidFill>
                          <a:srgbClr val="FFFF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535353"/>
                    </a:solidFill>
                  </a:tcPr>
                </a:tc>
              </a:tr>
              <a:tr h="381000">
                <a:tc>
                  <a:txBody>
                    <a:bodyPr/>
                    <a:lstStyle/>
                    <a:p>
                      <a:pPr indent="0" lvl="0" marL="0" rtl="0" algn="ctr">
                        <a:spcBef>
                          <a:spcPts val="0"/>
                        </a:spcBef>
                        <a:spcAft>
                          <a:spcPts val="0"/>
                        </a:spcAft>
                        <a:buNone/>
                      </a:pPr>
                      <a:r>
                        <a:rPr lang="en-US" sz="2000"/>
                        <a:t>Y</a:t>
                      </a:r>
                      <a:endParaRPr sz="2000"/>
                    </a:p>
                  </a:txBody>
                  <a:tcPr marT="91425" marB="91425" marR="91425" marL="91425" anchor="ctr">
                    <a:solidFill>
                      <a:srgbClr val="EFEFEF"/>
                    </a:solidFill>
                  </a:tcPr>
                </a:tc>
                <a:tc>
                  <a:txBody>
                    <a:bodyPr/>
                    <a:lstStyle/>
                    <a:p>
                      <a:pPr indent="0" lvl="0" marL="0" rtl="0" algn="l">
                        <a:lnSpc>
                          <a:spcPct val="115000"/>
                        </a:lnSpc>
                        <a:spcBef>
                          <a:spcPts val="0"/>
                        </a:spcBef>
                        <a:spcAft>
                          <a:spcPts val="0"/>
                        </a:spcAft>
                        <a:buNone/>
                      </a:pPr>
                      <a:r>
                        <a:rPr lang="en-US" sz="2000"/>
                        <a:t>Fraud_label</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21</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retirement_age</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a:t>
                      </a:r>
                      <a:endParaRPr baseline="-25000" sz="2000"/>
                    </a:p>
                  </a:txBody>
                  <a:tcPr marT="91425" marB="91425" marR="91425" marL="91425" anchor="ctr">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transaction_id</a:t>
                      </a:r>
                      <a:endParaRPr sz="2000">
                        <a:solidFill>
                          <a:srgbClr val="0000FF"/>
                        </a:solidFill>
                      </a:endParaRPr>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26</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latitude</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a:t>
                      </a:r>
                      <a:endParaRPr sz="2000"/>
                    </a:p>
                  </a:txBody>
                  <a:tcPr marT="91425" marB="91425" marR="91425" marL="91425" anchor="ctr">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client_id</a:t>
                      </a:r>
                      <a:endParaRPr sz="2000">
                        <a:solidFill>
                          <a:srgbClr val="0000FF"/>
                        </a:solidFill>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27</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longitude</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5</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amount</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29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yearly_income</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7</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merchant_id</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31</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credit_score</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10</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zip</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32</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num_credit_cards</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11</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mcc_code</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38</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has_chip</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15</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errors_missing_flag</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40</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credit_limit</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18</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use_chip_Swipe Transaction</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lang="en-US" sz="2000">
                          <a:solidFill>
                            <a:srgbClr val="0000FF"/>
                          </a:solidFill>
                        </a:rPr>
                        <a:t>card_brand_Mastercard</a:t>
                      </a:r>
                      <a:endParaRPr sz="2000">
                        <a:solidFill>
                          <a:srgbClr val="0000FF"/>
                        </a:solidFill>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4" name="Google Shape;444;g385deb733bc_0_108"/>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89d7be5379_4_54"/>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Stepwise completed until  variables X</a:t>
            </a:r>
            <a:r>
              <a:rPr b="1" baseline="-25000" lang="en-US" sz="2000">
                <a:solidFill>
                  <a:schemeClr val="accent5"/>
                </a:solidFill>
              </a:rPr>
              <a:t>49 </a:t>
            </a:r>
            <a:r>
              <a:rPr b="1" lang="en-US" sz="2000">
                <a:solidFill>
                  <a:schemeClr val="accent5"/>
                </a:solidFill>
              </a:rPr>
              <a:t>card_brand_Mastercard </a:t>
            </a:r>
            <a:endParaRPr b="0" i="0" sz="2000" u="none" cap="none" strike="noStrike">
              <a:solidFill>
                <a:schemeClr val="dk2"/>
              </a:solidFill>
              <a:latin typeface="Arial"/>
              <a:ea typeface="Arial"/>
              <a:cs typeface="Arial"/>
              <a:sym typeface="Arial"/>
            </a:endParaRPr>
          </a:p>
        </p:txBody>
      </p:sp>
      <p:sp>
        <p:nvSpPr>
          <p:cNvPr id="450" name="Google Shape;450;g389d7be5379_4_54"/>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51" name="Google Shape;451;g389d7be5379_4_54"/>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52" name="Google Shape;452;g389d7be5379_4_54"/>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 overall model fit</a:t>
            </a:r>
            <a:endParaRPr sz="3000"/>
          </a:p>
        </p:txBody>
      </p:sp>
      <p:sp>
        <p:nvSpPr>
          <p:cNvPr id="453" name="Google Shape;453;g389d7be5379_4_54"/>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pic>
        <p:nvPicPr>
          <p:cNvPr id="454" name="Google Shape;454;g389d7be5379_4_54" title="截圖 2025-10-11 晚上7.07.57.png"/>
          <p:cNvPicPr preferRelativeResize="0"/>
          <p:nvPr/>
        </p:nvPicPr>
        <p:blipFill>
          <a:blip r:embed="rId3">
            <a:alphaModFix/>
          </a:blip>
          <a:stretch>
            <a:fillRect/>
          </a:stretch>
        </p:blipFill>
        <p:spPr>
          <a:xfrm>
            <a:off x="1282700" y="2013352"/>
            <a:ext cx="10439399" cy="3797326"/>
          </a:xfrm>
          <a:prstGeom prst="rect">
            <a:avLst/>
          </a:prstGeom>
          <a:noFill/>
          <a:ln>
            <a:noFill/>
          </a:ln>
        </p:spPr>
      </p:pic>
      <p:pic>
        <p:nvPicPr>
          <p:cNvPr id="455" name="Google Shape;455;g389d7be5379_4_54" title="截圖 2025-10-11 晚上7.09.39.png"/>
          <p:cNvPicPr preferRelativeResize="0"/>
          <p:nvPr/>
        </p:nvPicPr>
        <p:blipFill>
          <a:blip r:embed="rId4">
            <a:alphaModFix/>
          </a:blip>
          <a:stretch>
            <a:fillRect/>
          </a:stretch>
        </p:blipFill>
        <p:spPr>
          <a:xfrm>
            <a:off x="755800" y="5810675"/>
            <a:ext cx="11125200" cy="29146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85deb733bc_0_25"/>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Stepwise completed until  variables X</a:t>
            </a:r>
            <a:r>
              <a:rPr b="1" baseline="-25000" lang="en-US" sz="2000">
                <a:solidFill>
                  <a:schemeClr val="accent5"/>
                </a:solidFill>
              </a:rPr>
              <a:t>49 </a:t>
            </a:r>
            <a:r>
              <a:rPr b="1" lang="en-US" sz="2000">
                <a:solidFill>
                  <a:schemeClr val="accent5"/>
                </a:solidFill>
              </a:rPr>
              <a:t>card_brand_Mastercard </a:t>
            </a:r>
            <a:endParaRPr b="0" i="0" sz="2000" u="none" cap="none" strike="noStrike">
              <a:solidFill>
                <a:schemeClr val="dk2"/>
              </a:solidFill>
              <a:latin typeface="Arial"/>
              <a:ea typeface="Arial"/>
              <a:cs typeface="Arial"/>
              <a:sym typeface="Arial"/>
            </a:endParaRPr>
          </a:p>
        </p:txBody>
      </p:sp>
      <p:sp>
        <p:nvSpPr>
          <p:cNvPr id="461" name="Google Shape;461;g385deb733bc_0_25"/>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62" name="Google Shape;462;g385deb733bc_0_25"/>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63" name="Google Shape;463;g385deb733bc_0_25"/>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 overall model fit</a:t>
            </a:r>
            <a:endParaRPr sz="3000"/>
          </a:p>
        </p:txBody>
      </p:sp>
      <p:sp>
        <p:nvSpPr>
          <p:cNvPr id="464" name="Google Shape;464;g385deb733bc_0_25"/>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pic>
        <p:nvPicPr>
          <p:cNvPr id="465" name="Google Shape;465;g385deb733bc_0_25" title="截圖 2025-10-11 晚上7.12.09.png"/>
          <p:cNvPicPr preferRelativeResize="0"/>
          <p:nvPr/>
        </p:nvPicPr>
        <p:blipFill rotWithShape="1">
          <a:blip r:embed="rId3">
            <a:alphaModFix/>
          </a:blip>
          <a:srcRect b="0" l="0" r="1351" t="1146"/>
          <a:stretch/>
        </p:blipFill>
        <p:spPr>
          <a:xfrm>
            <a:off x="113206" y="2451350"/>
            <a:ext cx="12828701" cy="49881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85deb733bc_0_39"/>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Stepwise completed until  variables X</a:t>
            </a:r>
            <a:r>
              <a:rPr b="1" baseline="-25000" lang="en-US" sz="2000">
                <a:solidFill>
                  <a:schemeClr val="accent5"/>
                </a:solidFill>
              </a:rPr>
              <a:t>49 </a:t>
            </a:r>
            <a:r>
              <a:rPr b="1" lang="en-US" sz="2000">
                <a:solidFill>
                  <a:schemeClr val="accent5"/>
                </a:solidFill>
              </a:rPr>
              <a:t>card_brand_Mastercard </a:t>
            </a:r>
            <a:endParaRPr b="0" i="0" sz="2000" u="none" cap="none" strike="noStrike">
              <a:solidFill>
                <a:schemeClr val="dk2"/>
              </a:solidFill>
              <a:latin typeface="Arial"/>
              <a:ea typeface="Arial"/>
              <a:cs typeface="Arial"/>
              <a:sym typeface="Arial"/>
            </a:endParaRPr>
          </a:p>
        </p:txBody>
      </p:sp>
      <p:sp>
        <p:nvSpPr>
          <p:cNvPr id="471" name="Google Shape;471;g385deb733bc_0_39"/>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72" name="Google Shape;472;g385deb733bc_0_39"/>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73" name="Google Shape;473;g385deb733bc_0_39"/>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 overall model fit</a:t>
            </a:r>
            <a:endParaRPr sz="3000"/>
          </a:p>
        </p:txBody>
      </p:sp>
      <p:sp>
        <p:nvSpPr>
          <p:cNvPr id="474" name="Google Shape;474;g385deb733bc_0_39"/>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pic>
        <p:nvPicPr>
          <p:cNvPr id="475" name="Google Shape;475;g385deb733bc_0_39" title="截圖 2025-10-11 晚上7.13.16.png"/>
          <p:cNvPicPr preferRelativeResize="0"/>
          <p:nvPr/>
        </p:nvPicPr>
        <p:blipFill>
          <a:blip r:embed="rId3">
            <a:alphaModFix/>
          </a:blip>
          <a:stretch>
            <a:fillRect/>
          </a:stretch>
        </p:blipFill>
        <p:spPr>
          <a:xfrm>
            <a:off x="755800" y="1946126"/>
            <a:ext cx="11124499" cy="68880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8b22d785db_0_82"/>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81" name="Google Shape;481;g38b22d785db_0_82"/>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82" name="Google Shape;482;g38b22d785db_0_82"/>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pic>
        <p:nvPicPr>
          <p:cNvPr id="483" name="Google Shape;483;g38b22d785db_0_82" title="statlog_ROC.png"/>
          <p:cNvPicPr preferRelativeResize="0"/>
          <p:nvPr/>
        </p:nvPicPr>
        <p:blipFill>
          <a:blip r:embed="rId3">
            <a:alphaModFix/>
          </a:blip>
          <a:stretch>
            <a:fillRect/>
          </a:stretch>
        </p:blipFill>
        <p:spPr>
          <a:xfrm>
            <a:off x="768500" y="1371900"/>
            <a:ext cx="9817558" cy="7579938"/>
          </a:xfrm>
          <a:prstGeom prst="rect">
            <a:avLst/>
          </a:prstGeom>
          <a:noFill/>
          <a:ln>
            <a:noFill/>
          </a:ln>
        </p:spPr>
      </p:pic>
      <p:sp>
        <p:nvSpPr>
          <p:cNvPr id="484" name="Google Shape;484;g38b22d785db_0_82"/>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 overall model fit</a:t>
            </a:r>
            <a:endParaRPr sz="3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g385deb733bc_0_76" title="截圖 2025-10-11 晚上7.15.26.png"/>
          <p:cNvPicPr preferRelativeResize="0"/>
          <p:nvPr/>
        </p:nvPicPr>
        <p:blipFill rotWithShape="1">
          <a:blip r:embed="rId3">
            <a:alphaModFix/>
          </a:blip>
          <a:srcRect b="2027" l="1978" r="1959" t="11324"/>
          <a:stretch/>
        </p:blipFill>
        <p:spPr>
          <a:xfrm>
            <a:off x="92528" y="1431426"/>
            <a:ext cx="12857473" cy="7119976"/>
          </a:xfrm>
          <a:prstGeom prst="rect">
            <a:avLst/>
          </a:prstGeom>
          <a:noFill/>
          <a:ln>
            <a:noFill/>
          </a:ln>
        </p:spPr>
      </p:pic>
      <p:sp>
        <p:nvSpPr>
          <p:cNvPr id="490" name="Google Shape;490;g385deb733bc_0_76"/>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491" name="Google Shape;491;g385deb733bc_0_76"/>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492" name="Google Shape;492;g385deb733bc_0_76"/>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
        <p:nvSpPr>
          <p:cNvPr id="493" name="Google Shape;493;g385deb733bc_0_76"/>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Benchmark Model—Logistic Regression overall model fit</a:t>
            </a:r>
            <a:endParaRPr sz="3000"/>
          </a:p>
        </p:txBody>
      </p:sp>
      <p:sp>
        <p:nvSpPr>
          <p:cNvPr id="494" name="Google Shape;494;g385deb733bc_0_76"/>
          <p:cNvSpPr/>
          <p:nvPr/>
        </p:nvSpPr>
        <p:spPr>
          <a:xfrm>
            <a:off x="92525" y="2722025"/>
            <a:ext cx="12774000" cy="8247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g385deb733bc_0_76"/>
          <p:cNvSpPr/>
          <p:nvPr/>
        </p:nvSpPr>
        <p:spPr>
          <a:xfrm>
            <a:off x="848950" y="4829625"/>
            <a:ext cx="8810400" cy="143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8b22d785db_0_35"/>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501" name="Google Shape;501;g38b22d785db_0_35"/>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502" name="Google Shape;502;g38b22d785db_0_35"/>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Model Assessment– </a:t>
            </a:r>
            <a:r>
              <a:rPr lang="en-US" sz="3000"/>
              <a:t>Interpretation &amp; Performance</a:t>
            </a:r>
            <a:endParaRPr sz="3000"/>
          </a:p>
        </p:txBody>
      </p:sp>
      <p:sp>
        <p:nvSpPr>
          <p:cNvPr id="503" name="Google Shape;503;g38b22d785db_0_35"/>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pic>
        <p:nvPicPr>
          <p:cNvPr id="504" name="Google Shape;504;g38b22d785db_0_35" title="截圖 2025-10-11 晚上7.07.57.png"/>
          <p:cNvPicPr preferRelativeResize="0"/>
          <p:nvPr/>
        </p:nvPicPr>
        <p:blipFill>
          <a:blip r:embed="rId3">
            <a:alphaModFix/>
          </a:blip>
          <a:stretch>
            <a:fillRect/>
          </a:stretch>
        </p:blipFill>
        <p:spPr>
          <a:xfrm>
            <a:off x="1282700" y="2013352"/>
            <a:ext cx="10439399" cy="3797326"/>
          </a:xfrm>
          <a:prstGeom prst="rect">
            <a:avLst/>
          </a:prstGeom>
          <a:noFill/>
          <a:ln>
            <a:noFill/>
          </a:ln>
        </p:spPr>
      </p:pic>
      <p:sp>
        <p:nvSpPr>
          <p:cNvPr id="505" name="Google Shape;505;g38b22d785db_0_35"/>
          <p:cNvSpPr/>
          <p:nvPr/>
        </p:nvSpPr>
        <p:spPr>
          <a:xfrm>
            <a:off x="762200" y="5962641"/>
            <a:ext cx="11480400" cy="1674600"/>
          </a:xfrm>
          <a:prstGeom prst="rect">
            <a:avLst/>
          </a:prstGeom>
          <a:noFill/>
          <a:ln>
            <a:noFill/>
          </a:ln>
        </p:spPr>
        <p:txBody>
          <a:bodyPr anchorCtr="0" anchor="t" bIns="45700" lIns="91425" spcFirstLastPara="1" rIns="91425" wrap="square" tIns="108000">
            <a:noAutofit/>
          </a:bodyPr>
          <a:lstStyle/>
          <a:p>
            <a:pPr indent="-419100" lvl="0" marL="457200" rtl="0" algn="l">
              <a:spcBef>
                <a:spcPts val="0"/>
              </a:spcBef>
              <a:spcAft>
                <a:spcPts val="0"/>
              </a:spcAft>
              <a:buClr>
                <a:schemeClr val="accent5"/>
              </a:buClr>
              <a:buSzPts val="3000"/>
              <a:buChar char="●"/>
            </a:pPr>
            <a:r>
              <a:rPr lang="en-US" sz="3000">
                <a:solidFill>
                  <a:schemeClr val="accent5"/>
                </a:solidFill>
              </a:rPr>
              <a:t>Accuracy </a:t>
            </a:r>
            <a:r>
              <a:rPr lang="en-US" sz="2000">
                <a:solidFill>
                  <a:schemeClr val="accent5"/>
                </a:solidFill>
              </a:rPr>
              <a:t>(at cutoff point 0.0020)</a:t>
            </a:r>
            <a:r>
              <a:rPr lang="en-US" sz="3000">
                <a:solidFill>
                  <a:schemeClr val="accent5"/>
                </a:solidFill>
              </a:rPr>
              <a:t>: 0.8140</a:t>
            </a:r>
            <a:endParaRPr sz="3000">
              <a:solidFill>
                <a:schemeClr val="accent5"/>
              </a:solidFill>
            </a:endParaRPr>
          </a:p>
          <a:p>
            <a:pPr indent="-419100" lvl="0" marL="457200" rtl="0" algn="l">
              <a:spcBef>
                <a:spcPts val="0"/>
              </a:spcBef>
              <a:spcAft>
                <a:spcPts val="0"/>
              </a:spcAft>
              <a:buClr>
                <a:schemeClr val="accent5"/>
              </a:buClr>
              <a:buSzPts val="3000"/>
              <a:buChar char="●"/>
            </a:pPr>
            <a:r>
              <a:rPr lang="en-US" sz="3000">
                <a:solidFill>
                  <a:schemeClr val="accent5"/>
                </a:solidFill>
              </a:rPr>
              <a:t>F1 Score </a:t>
            </a:r>
            <a:r>
              <a:rPr lang="en-US" sz="2000">
                <a:solidFill>
                  <a:schemeClr val="accent5"/>
                </a:solidFill>
              </a:rPr>
              <a:t>(at cutoff point 0.0020)</a:t>
            </a:r>
            <a:r>
              <a:rPr lang="en-US" sz="3000">
                <a:solidFill>
                  <a:schemeClr val="accent5"/>
                </a:solidFill>
              </a:rPr>
              <a:t>: 0.0134</a:t>
            </a:r>
            <a:endParaRPr sz="3000">
              <a:solidFill>
                <a:schemeClr val="accent5"/>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
          <p:cNvSpPr txBox="1"/>
          <p:nvPr>
            <p:ph idx="1" type="body"/>
          </p:nvPr>
        </p:nvSpPr>
        <p:spPr>
          <a:xfrm>
            <a:off x="773350" y="3116013"/>
            <a:ext cx="11458100" cy="2117336"/>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20000"/>
              </a:lnSpc>
              <a:spcBef>
                <a:spcPts val="0"/>
              </a:spcBef>
              <a:spcAft>
                <a:spcPts val="0"/>
              </a:spcAft>
              <a:buClr>
                <a:srgbClr val="C00000"/>
              </a:buClr>
              <a:buSzPct val="100000"/>
              <a:buFont typeface="Helvetica Neue Light"/>
              <a:buNone/>
            </a:pPr>
            <a:r>
              <a:rPr lang="en-US">
                <a:solidFill>
                  <a:srgbClr val="C00000"/>
                </a:solidFill>
              </a:rPr>
              <a:t>Towards Trustworthy Fraud Detection: </a:t>
            </a:r>
            <a:endParaRPr>
              <a:solidFill>
                <a:srgbClr val="C00000"/>
              </a:solidFill>
            </a:endParaRPr>
          </a:p>
          <a:p>
            <a:pPr indent="0" lvl="0" marL="0" rtl="0" algn="l">
              <a:lnSpc>
                <a:spcPct val="120000"/>
              </a:lnSpc>
              <a:spcBef>
                <a:spcPts val="0"/>
              </a:spcBef>
              <a:spcAft>
                <a:spcPts val="0"/>
              </a:spcAft>
              <a:buClr>
                <a:srgbClr val="C00000"/>
              </a:buClr>
              <a:buSzPct val="100000"/>
              <a:buFont typeface="Helvetica Neue Light"/>
              <a:buNone/>
            </a:pPr>
            <a:r>
              <a:rPr lang="en-US">
                <a:solidFill>
                  <a:srgbClr val="C00000"/>
                </a:solidFill>
              </a:rPr>
              <a:t>Combining Class Imbalance Mitigation and Model Interpretability</a:t>
            </a:r>
            <a:endParaRPr/>
          </a:p>
        </p:txBody>
      </p:sp>
      <p:sp>
        <p:nvSpPr>
          <p:cNvPr id="511" name="Google Shape;511;p6"/>
          <p:cNvSpPr txBox="1"/>
          <p:nvPr/>
        </p:nvSpPr>
        <p:spPr>
          <a:xfrm>
            <a:off x="9519751" y="9237870"/>
            <a:ext cx="3163634" cy="324675"/>
          </a:xfrm>
          <a:prstGeom prst="rect">
            <a:avLst/>
          </a:prstGeom>
          <a:noFill/>
          <a:ln>
            <a:noFill/>
          </a:ln>
        </p:spPr>
        <p:txBody>
          <a:bodyPr anchorCtr="0" anchor="t" bIns="50800" lIns="50800" spcFirstLastPara="1" rIns="50800" wrap="square" tIns="50800">
            <a:normAutofit lnSpcReduction="10000"/>
          </a:bodyPr>
          <a:lstStyle/>
          <a:p>
            <a:pPr indent="0" lvl="0" marL="0" marR="0" rtl="0" algn="r">
              <a:lnSpc>
                <a:spcPct val="100000"/>
              </a:lnSpc>
              <a:spcBef>
                <a:spcPts val="0"/>
              </a:spcBef>
              <a:spcAft>
                <a:spcPts val="0"/>
              </a:spcAft>
              <a:buClr>
                <a:srgbClr val="D30F11"/>
              </a:buClr>
              <a:buSzPts val="1500"/>
              <a:buFont typeface="Helvetica Neue Light"/>
              <a:buNone/>
            </a:pPr>
            <a:r>
              <a:rPr b="0" i="0" lang="en-US" sz="1500" u="none" cap="none" strike="noStrike">
                <a:solidFill>
                  <a:srgbClr val="D30F11"/>
                </a:solidFill>
                <a:latin typeface="Helvetica Neue Light"/>
                <a:ea typeface="Helvetica Neue Light"/>
                <a:cs typeface="Helvetica Neue Light"/>
                <a:sym typeface="Helvetica Neue Light"/>
              </a:rPr>
              <a:t>2025 Machine Learning &amp; Fintech</a:t>
            </a:r>
            <a:endParaRPr b="0" i="0" sz="1500" u="none" cap="none" strike="noStrike">
              <a:solidFill>
                <a:srgbClr val="D30F11"/>
              </a:solidFill>
              <a:latin typeface="Helvetica Neue Light"/>
              <a:ea typeface="Helvetica Neue Light"/>
              <a:cs typeface="Helvetica Neue Light"/>
              <a:sym typeface="Helvetica Neue Light"/>
            </a:endParaRPr>
          </a:p>
        </p:txBody>
      </p:sp>
      <p:sp>
        <p:nvSpPr>
          <p:cNvPr id="512" name="Google Shape;512;p6"/>
          <p:cNvSpPr txBox="1"/>
          <p:nvPr>
            <p:ph idx="12" type="sldNum"/>
          </p:nvPr>
        </p:nvSpPr>
        <p:spPr>
          <a:xfrm>
            <a:off x="6325920" y="9271000"/>
            <a:ext cx="340260" cy="324511"/>
          </a:xfrm>
          <a:prstGeom prst="rect">
            <a:avLst/>
          </a:prstGeom>
          <a:noFill/>
          <a:ln>
            <a:noFill/>
          </a:ln>
        </p:spPr>
        <p:txBody>
          <a:bodyPr anchorCtr="0" anchor="t" bIns="50800" lIns="50800" spcFirstLastPara="1" rIns="50800" wrap="square" tIns="50800">
            <a:normAutofit lnSpcReduction="10000"/>
          </a:bodyPr>
          <a:lstStyle/>
          <a:p>
            <a:pPr indent="0" lvl="0" marL="0" rtl="0" algn="ctr">
              <a:lnSpc>
                <a:spcPct val="100000"/>
              </a:lnSpc>
              <a:spcBef>
                <a:spcPts val="0"/>
              </a:spcBef>
              <a:spcAft>
                <a:spcPts val="0"/>
              </a:spcAft>
              <a:buClr>
                <a:srgbClr val="535353"/>
              </a:buClr>
              <a:buSzPts val="1600"/>
              <a:buFont typeface="Helvetica Neue"/>
              <a:buNone/>
            </a:pPr>
            <a:fld id="{00000000-1234-1234-1234-123412341234}" type="slidenum">
              <a:rPr lang="en-US"/>
              <a:t>‹#›</a:t>
            </a:fld>
            <a:endParaRPr/>
          </a:p>
        </p:txBody>
      </p:sp>
      <p:sp>
        <p:nvSpPr>
          <p:cNvPr id="513" name="Google Shape;513;p6"/>
          <p:cNvSpPr txBox="1"/>
          <p:nvPr/>
        </p:nvSpPr>
        <p:spPr>
          <a:xfrm>
            <a:off x="773448" y="5361937"/>
            <a:ext cx="11458002" cy="3027363"/>
          </a:xfrm>
          <a:prstGeom prst="rect">
            <a:avLst/>
          </a:prstGeom>
          <a:noFill/>
          <a:ln>
            <a:noFill/>
          </a:ln>
        </p:spPr>
        <p:txBody>
          <a:bodyPr anchorCtr="0" anchor="t" bIns="50800" lIns="50800" spcFirstLastPara="1" rIns="50800" wrap="square" tIns="50800">
            <a:noAutofit/>
          </a:bodyPr>
          <a:lstStyle/>
          <a:p>
            <a:pPr indent="0" lvl="0" marL="0" marR="0" rtl="0" algn="l">
              <a:lnSpc>
                <a:spcPct val="130000"/>
              </a:lnSpc>
              <a:spcBef>
                <a:spcPts val="0"/>
              </a:spcBef>
              <a:spcAft>
                <a:spcPts val="0"/>
              </a:spcAft>
              <a:buClr>
                <a:srgbClr val="5A5F5E"/>
              </a:buClr>
              <a:buSzPts val="3000"/>
              <a:buFont typeface="Helvetica Neue"/>
              <a:buNone/>
            </a:pPr>
            <a:r>
              <a:rPr b="0" i="0" lang="en-US" sz="3000" u="none" cap="none" strike="noStrike">
                <a:solidFill>
                  <a:srgbClr val="5A5F5E"/>
                </a:solidFill>
                <a:latin typeface="Helvetica Neue"/>
                <a:ea typeface="Helvetica Neue"/>
                <a:cs typeface="Helvetica Neue"/>
                <a:sym typeface="Helvetica Neue"/>
              </a:rPr>
              <a:t>Student Name: Andy Chen, Alvin Lin, Chrissy Wang </a:t>
            </a:r>
            <a:endParaRPr/>
          </a:p>
          <a:p>
            <a:pPr indent="0" lvl="0" marL="0" marR="0" rtl="0" algn="l">
              <a:lnSpc>
                <a:spcPct val="130000"/>
              </a:lnSpc>
              <a:spcBef>
                <a:spcPts val="0"/>
              </a:spcBef>
              <a:spcAft>
                <a:spcPts val="0"/>
              </a:spcAft>
              <a:buClr>
                <a:srgbClr val="5A5F5E"/>
              </a:buClr>
              <a:buSzPts val="3000"/>
              <a:buFont typeface="Helvetica Neue"/>
              <a:buNone/>
            </a:pPr>
            <a:r>
              <a:rPr b="0" i="0" lang="en-US" sz="3000" u="none" cap="none" strike="noStrike">
                <a:solidFill>
                  <a:srgbClr val="5A5F5E"/>
                </a:solidFill>
                <a:latin typeface="Helvetica Neue"/>
                <a:ea typeface="Helvetica Neue"/>
                <a:cs typeface="Helvetica Neue"/>
                <a:sym typeface="Helvetica Neue"/>
              </a:rPr>
              <a:t>Advisor Name: Hui Wen Teng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8f1a016ca8_0_12"/>
          <p:cNvSpPr/>
          <p:nvPr/>
        </p:nvSpPr>
        <p:spPr>
          <a:xfrm>
            <a:off x="762210" y="1371888"/>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Summary of variables</a:t>
            </a:r>
            <a:endParaRPr b="1" sz="2000">
              <a:solidFill>
                <a:schemeClr val="accent5"/>
              </a:solidFill>
            </a:endParaRPr>
          </a:p>
          <a:p>
            <a:pPr indent="0" lvl="0" marL="0" marR="0" rtl="0" algn="l">
              <a:lnSpc>
                <a:spcPct val="100000"/>
              </a:lnSpc>
              <a:spcBef>
                <a:spcPts val="0"/>
              </a:spcBef>
              <a:spcAft>
                <a:spcPts val="0"/>
              </a:spcAft>
              <a:buClr>
                <a:schemeClr val="accent5"/>
              </a:buClr>
              <a:buSzPts val="2400"/>
              <a:buFont typeface="Arial"/>
              <a:buNone/>
            </a:pPr>
            <a:r>
              <a:t/>
            </a:r>
            <a:endParaRPr b="1" sz="2000">
              <a:solidFill>
                <a:schemeClr val="accent5"/>
              </a:solidFill>
            </a:endParaRPr>
          </a:p>
          <a:p>
            <a:pPr indent="0" lvl="0" marL="0" marR="0" rtl="0" algn="l">
              <a:lnSpc>
                <a:spcPct val="100000"/>
              </a:lnSpc>
              <a:spcBef>
                <a:spcPts val="0"/>
              </a:spcBef>
              <a:spcAft>
                <a:spcPts val="0"/>
              </a:spcAft>
              <a:buClr>
                <a:schemeClr val="accent5"/>
              </a:buClr>
              <a:buSzPts val="2400"/>
              <a:buFont typeface="Arial"/>
              <a:buNone/>
            </a:pPr>
            <a:r>
              <a:t/>
            </a:r>
            <a:endParaRPr b="1" sz="2000">
              <a:solidFill>
                <a:schemeClr val="accent5"/>
              </a:solidFill>
            </a:endParaRPr>
          </a:p>
        </p:txBody>
      </p:sp>
      <p:sp>
        <p:nvSpPr>
          <p:cNvPr id="519" name="Google Shape;519;g38f1a016ca8_0_12"/>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520" name="Google Shape;520;g38f1a016ca8_0_12"/>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521" name="Google Shape;521;g38f1a016ca8_0_12"/>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Appendix– candidates variables for </a:t>
            </a:r>
            <a:r>
              <a:rPr lang="en-US" sz="3000"/>
              <a:t>Logistic Regression</a:t>
            </a:r>
            <a:endParaRPr sz="3000"/>
          </a:p>
        </p:txBody>
      </p:sp>
      <p:graphicFrame>
        <p:nvGraphicFramePr>
          <p:cNvPr id="522" name="Google Shape;522;g38f1a016ca8_0_12"/>
          <p:cNvGraphicFramePr/>
          <p:nvPr/>
        </p:nvGraphicFramePr>
        <p:xfrm>
          <a:off x="952575" y="2049636"/>
          <a:ext cx="3000000" cy="3000000"/>
        </p:xfrm>
        <a:graphic>
          <a:graphicData uri="http://schemas.openxmlformats.org/drawingml/2006/table">
            <a:tbl>
              <a:tblPr>
                <a:noFill/>
                <a:tableStyleId>{4AE0FA90-5911-4907-B5CD-781FDEEBBC44}</a:tableStyleId>
              </a:tblPr>
              <a:tblGrid>
                <a:gridCol w="1266800"/>
                <a:gridCol w="2647375"/>
                <a:gridCol w="1522275"/>
                <a:gridCol w="1334650"/>
                <a:gridCol w="2640225"/>
                <a:gridCol w="1461525"/>
              </a:tblGrid>
              <a:tr h="381000">
                <a:tc>
                  <a:txBody>
                    <a:bodyPr/>
                    <a:lstStyle/>
                    <a:p>
                      <a:pPr indent="0" lvl="0" marL="0" rtl="0" algn="l">
                        <a:spcBef>
                          <a:spcPts val="0"/>
                        </a:spcBef>
                        <a:spcAft>
                          <a:spcPts val="0"/>
                        </a:spcAft>
                        <a:buNone/>
                      </a:pPr>
                      <a:r>
                        <a:rPr lang="en-US" sz="2000"/>
                        <a:t>Index</a:t>
                      </a:r>
                      <a:endParaRPr sz="2000"/>
                    </a:p>
                  </a:txBody>
                  <a:tcPr marT="91425" marB="91425" marR="91425" marL="91425">
                    <a:solidFill>
                      <a:schemeClr val="lt1"/>
                    </a:solidFill>
                  </a:tcPr>
                </a:tc>
                <a:tc>
                  <a:txBody>
                    <a:bodyPr/>
                    <a:lstStyle/>
                    <a:p>
                      <a:pPr indent="0" lvl="0" marL="0" rtl="0" algn="l">
                        <a:spcBef>
                          <a:spcPts val="0"/>
                        </a:spcBef>
                        <a:spcAft>
                          <a:spcPts val="0"/>
                        </a:spcAft>
                        <a:buNone/>
                      </a:pPr>
                      <a:r>
                        <a:rPr lang="en-US" sz="2000"/>
                        <a:t>Variables</a:t>
                      </a:r>
                      <a:endParaRPr sz="2000"/>
                    </a:p>
                  </a:txBody>
                  <a:tcPr marT="91425" marB="91425" marR="91425" marL="91425">
                    <a:solidFill>
                      <a:schemeClr val="lt1"/>
                    </a:solidFill>
                  </a:tcPr>
                </a:tc>
                <a:tc>
                  <a:txBody>
                    <a:bodyPr/>
                    <a:lstStyle/>
                    <a:p>
                      <a:pPr indent="0" lvl="0" marL="0" rtl="0" algn="l">
                        <a:spcBef>
                          <a:spcPts val="0"/>
                        </a:spcBef>
                        <a:spcAft>
                          <a:spcPts val="0"/>
                        </a:spcAft>
                        <a:buNone/>
                      </a:pPr>
                      <a:r>
                        <a:rPr lang="en-US" sz="2000"/>
                        <a:t>Type</a:t>
                      </a:r>
                      <a:endParaRPr sz="2000"/>
                    </a:p>
                  </a:txBody>
                  <a:tcPr marT="91425" marB="91425" marR="91425" marL="91425">
                    <a:lnR cap="flat" cmpd="sng" w="9525">
                      <a:solidFill>
                        <a:srgbClr val="9E9E9E"/>
                      </a:solidFill>
                      <a:prstDash val="solid"/>
                      <a:round/>
                      <a:headEnd len="sm" w="sm" type="none"/>
                      <a:tailEnd len="sm" w="sm" type="none"/>
                    </a:lnR>
                    <a:solidFill>
                      <a:schemeClr val="lt1"/>
                    </a:solidFill>
                  </a:tcPr>
                </a:tc>
                <a:tc>
                  <a:txBody>
                    <a:bodyPr/>
                    <a:lstStyle/>
                    <a:p>
                      <a:pPr indent="0" lvl="0" marL="0" rtl="0" algn="l">
                        <a:spcBef>
                          <a:spcPts val="0"/>
                        </a:spcBef>
                        <a:spcAft>
                          <a:spcPts val="0"/>
                        </a:spcAft>
                        <a:buNone/>
                      </a:pPr>
                      <a:r>
                        <a:rPr lang="en-US" sz="2000"/>
                        <a:t>Index</a:t>
                      </a:r>
                      <a:endParaRPr sz="2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Variables</a:t>
                      </a:r>
                      <a:endParaRPr sz="2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Type</a:t>
                      </a:r>
                      <a:endParaRPr sz="2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US" sz="2000"/>
                        <a:t>Y</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Fraud_label</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14</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zip_missing_flag</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a:t>
                      </a:r>
                      <a:endParaRPr baseline="-25000"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transaction_id</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15</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errors_missing_flag</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client_id</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16</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use_chip_Chip Transaction</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4</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card_id</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17</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highlight>
                            <a:srgbClr val="9E9E9E"/>
                          </a:highlight>
                        </a:rPr>
                        <a:t>use_chip_Online Transaction</a:t>
                      </a:r>
                      <a:endParaRPr sz="2000">
                        <a:highlight>
                          <a:srgbClr val="9E9E9E"/>
                        </a:high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5</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amount</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18</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use_chip_Swipe Transaction</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7</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merchant_id</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19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fraud_label</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10</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zip</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20</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current_age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11</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mcc_code</a:t>
                      </a:r>
                      <a:endParaRPr sz="2000"/>
                    </a:p>
                  </a:txBody>
                  <a:tcPr marT="91425" marB="91425" marR="91425" marL="91425" anchor="ctr"/>
                </a:tc>
                <a:tc>
                  <a:txBody>
                    <a:bodyPr/>
                    <a:lstStyle/>
                    <a:p>
                      <a:pPr indent="0" lvl="0" marL="0" rtl="0" algn="l">
                        <a:spcBef>
                          <a:spcPts val="0"/>
                        </a:spcBef>
                        <a:spcAft>
                          <a:spcPts val="0"/>
                        </a:spcAft>
                        <a:buNone/>
                      </a:pPr>
                      <a:r>
                        <a:rPr lang="en-US" sz="2000"/>
                        <a:t>numeric</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21</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retirement_age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13</a:t>
                      </a:r>
                      <a:endParaRPr sz="2000"/>
                    </a:p>
                  </a:txBody>
                  <a:tcPr marT="91425" marB="91425" marR="91425" marL="91425" anchor="ctr">
                    <a:solidFill>
                      <a:srgbClr val="D9D9D9"/>
                    </a:solidFill>
                  </a:tcPr>
                </a:tc>
                <a:tc>
                  <a:txBody>
                    <a:bodyPr/>
                    <a:lstStyle/>
                    <a:p>
                      <a:pPr indent="0" lvl="0" marL="0" rtl="0" algn="l">
                        <a:lnSpc>
                          <a:spcPct val="115000"/>
                        </a:lnSpc>
                        <a:spcBef>
                          <a:spcPts val="0"/>
                        </a:spcBef>
                        <a:spcAft>
                          <a:spcPts val="0"/>
                        </a:spcAft>
                        <a:buNone/>
                      </a:pPr>
                      <a:r>
                        <a:rPr lang="en-US" sz="2000"/>
                        <a:t>merchant_state_missing_flag</a:t>
                      </a:r>
                      <a:endParaRPr sz="2000"/>
                    </a:p>
                  </a:txBody>
                  <a:tcPr marT="91425" marB="91425" marR="91425" marL="91425" anchor="ctr"/>
                </a:tc>
                <a:tc>
                  <a:txBody>
                    <a:bodyPr/>
                    <a:lstStyle/>
                    <a:p>
                      <a:pPr indent="0" lvl="0" marL="0" rtl="0" algn="l">
                        <a:spcBef>
                          <a:spcPts val="0"/>
                        </a:spcBef>
                        <a:spcAft>
                          <a:spcPts val="0"/>
                        </a:spcAft>
                        <a:buNone/>
                      </a:pPr>
                      <a:r>
                        <a:rPr lang="en-US" sz="2000"/>
                        <a:t>category</a:t>
                      </a:r>
                      <a:endParaRPr sz="2000"/>
                    </a:p>
                  </a:txBody>
                  <a:tcPr marT="91425" marB="91425" marR="91425" marL="91425" anchor="ctr">
                    <a:lnR cap="flat" cmpd="sng" w="9525">
                      <a:solidFill>
                        <a:srgbClr val="9E9E9E"/>
                      </a:solidFill>
                      <a:prstDash val="solid"/>
                      <a:round/>
                      <a:headEnd len="sm" w="sm" type="none"/>
                      <a:tailEnd len="sm" w="sm" type="none"/>
                    </a:lnR>
                  </a:tcPr>
                </a:tc>
                <a:tc>
                  <a:txBody>
                    <a:bodyPr/>
                    <a:lstStyle/>
                    <a:p>
                      <a:pPr indent="0" lvl="0" marL="0" rtl="0" algn="ctr">
                        <a:spcBef>
                          <a:spcPts val="0"/>
                        </a:spcBef>
                        <a:spcAft>
                          <a:spcPts val="0"/>
                        </a:spcAft>
                        <a:buNone/>
                      </a:pPr>
                      <a:r>
                        <a:rPr lang="en-US" sz="2000"/>
                        <a:t>X</a:t>
                      </a:r>
                      <a:r>
                        <a:rPr baseline="-25000" lang="en-US" sz="2000"/>
                        <a:t>24</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gender</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23" name="Google Shape;523;g38f1a016ca8_0_12"/>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89d7be5379_4_19"/>
          <p:cNvSpPr/>
          <p:nvPr/>
        </p:nvSpPr>
        <p:spPr>
          <a:xfrm>
            <a:off x="755710" y="1371896"/>
            <a:ext cx="11480400" cy="6116700"/>
          </a:xfrm>
          <a:prstGeom prst="rect">
            <a:avLst/>
          </a:prstGeom>
          <a:noFill/>
          <a:ln>
            <a:noFill/>
          </a:ln>
        </p:spPr>
        <p:txBody>
          <a:bodyPr anchorCtr="0" anchor="t" bIns="45700" lIns="91425" spcFirstLastPara="1" rIns="91425" wrap="square" tIns="108000">
            <a:noAutofit/>
          </a:bodyPr>
          <a:lstStyle/>
          <a:p>
            <a:pPr indent="0" lvl="0" marL="0" marR="0" rtl="0" algn="l">
              <a:lnSpc>
                <a:spcPct val="100000"/>
              </a:lnSpc>
              <a:spcBef>
                <a:spcPts val="0"/>
              </a:spcBef>
              <a:spcAft>
                <a:spcPts val="0"/>
              </a:spcAft>
              <a:buClr>
                <a:schemeClr val="accent5"/>
              </a:buClr>
              <a:buSzPts val="2400"/>
              <a:buFont typeface="Arial"/>
              <a:buNone/>
            </a:pPr>
            <a:r>
              <a:rPr b="1" lang="en-US" sz="2000">
                <a:solidFill>
                  <a:schemeClr val="accent5"/>
                </a:solidFill>
              </a:rPr>
              <a:t>Summary of variables</a:t>
            </a:r>
            <a:endParaRPr b="1" sz="2000">
              <a:solidFill>
                <a:schemeClr val="accent5"/>
              </a:solidFill>
            </a:endParaRPr>
          </a:p>
          <a:p>
            <a:pPr indent="0" lvl="0" marL="0" marR="0" rtl="0" algn="l">
              <a:lnSpc>
                <a:spcPct val="100000"/>
              </a:lnSpc>
              <a:spcBef>
                <a:spcPts val="0"/>
              </a:spcBef>
              <a:spcAft>
                <a:spcPts val="0"/>
              </a:spcAft>
              <a:buClr>
                <a:schemeClr val="accent5"/>
              </a:buClr>
              <a:buSzPts val="2400"/>
              <a:buFont typeface="Arial"/>
              <a:buNone/>
            </a:pPr>
            <a:r>
              <a:t/>
            </a:r>
            <a:endParaRPr b="1" sz="2000">
              <a:solidFill>
                <a:schemeClr val="accent5"/>
              </a:solidFill>
            </a:endParaRPr>
          </a:p>
          <a:p>
            <a:pPr indent="0" lvl="0" marL="0" marR="0" rtl="0" algn="l">
              <a:lnSpc>
                <a:spcPct val="100000"/>
              </a:lnSpc>
              <a:spcBef>
                <a:spcPts val="0"/>
              </a:spcBef>
              <a:spcAft>
                <a:spcPts val="0"/>
              </a:spcAft>
              <a:buClr>
                <a:schemeClr val="accent5"/>
              </a:buClr>
              <a:buSzPts val="2400"/>
              <a:buFont typeface="Arial"/>
              <a:buNone/>
            </a:pPr>
            <a:r>
              <a:t/>
            </a:r>
            <a:endParaRPr b="1" sz="2000">
              <a:solidFill>
                <a:schemeClr val="accent5"/>
              </a:solidFill>
            </a:endParaRPr>
          </a:p>
        </p:txBody>
      </p:sp>
      <p:sp>
        <p:nvSpPr>
          <p:cNvPr id="529" name="Google Shape;529;g389d7be5379_4_19"/>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530" name="Google Shape;530;g389d7be5379_4_19"/>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graphicFrame>
        <p:nvGraphicFramePr>
          <p:cNvPr id="531" name="Google Shape;531;g389d7be5379_4_19"/>
          <p:cNvGraphicFramePr/>
          <p:nvPr/>
        </p:nvGraphicFramePr>
        <p:xfrm>
          <a:off x="952475" y="2008808"/>
          <a:ext cx="3000000" cy="3000000"/>
        </p:xfrm>
        <a:graphic>
          <a:graphicData uri="http://schemas.openxmlformats.org/drawingml/2006/table">
            <a:tbl>
              <a:tblPr>
                <a:noFill/>
                <a:tableStyleId>{4AE0FA90-5911-4907-B5CD-781FDEEBBC44}</a:tableStyleId>
              </a:tblPr>
              <a:tblGrid>
                <a:gridCol w="1266800"/>
                <a:gridCol w="2647375"/>
                <a:gridCol w="1522275"/>
                <a:gridCol w="1334650"/>
                <a:gridCol w="2640225"/>
                <a:gridCol w="1461525"/>
              </a:tblGrid>
              <a:tr h="381000">
                <a:tc>
                  <a:txBody>
                    <a:bodyPr/>
                    <a:lstStyle/>
                    <a:p>
                      <a:pPr indent="0" lvl="0" marL="0" rtl="0" algn="l">
                        <a:spcBef>
                          <a:spcPts val="0"/>
                        </a:spcBef>
                        <a:spcAft>
                          <a:spcPts val="0"/>
                        </a:spcAft>
                        <a:buNone/>
                      </a:pPr>
                      <a:r>
                        <a:rPr lang="en-US" sz="2000"/>
                        <a:t>Index</a:t>
                      </a:r>
                      <a:endParaRPr sz="2000"/>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Variables</a:t>
                      </a:r>
                      <a:endParaRPr sz="2000"/>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Type</a:t>
                      </a:r>
                      <a:endParaRPr sz="2000"/>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Index</a:t>
                      </a:r>
                      <a:endParaRPr sz="2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Variables</a:t>
                      </a:r>
                      <a:endParaRPr sz="2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2000"/>
                        <a:t>Type</a:t>
                      </a:r>
                      <a:endParaRPr sz="2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64775">
                <a:tc>
                  <a:txBody>
                    <a:bodyPr/>
                    <a:lstStyle/>
                    <a:p>
                      <a:pPr indent="0" lvl="0" marL="0" rtl="0" algn="ctr">
                        <a:spcBef>
                          <a:spcPts val="0"/>
                        </a:spcBef>
                        <a:spcAft>
                          <a:spcPts val="0"/>
                        </a:spcAft>
                        <a:buNone/>
                      </a:pPr>
                      <a:r>
                        <a:rPr lang="en-US" sz="2000"/>
                        <a:t>X</a:t>
                      </a:r>
                      <a:r>
                        <a:rPr baseline="-25000" lang="en-US" sz="2000"/>
                        <a:t>26</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latitude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39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num_cards_issued</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27</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longitude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40</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credit_limit</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28</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per_capita_income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44</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card_type_Credit</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29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yearly_income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45</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card_type_Debit</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30</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total_debt</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46</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highlight>
                            <a:srgbClr val="9E9E9E"/>
                          </a:highlight>
                        </a:rPr>
                        <a:t>card_type_Debit</a:t>
                      </a:r>
                      <a:br>
                        <a:rPr lang="en-US" sz="2000">
                          <a:highlight>
                            <a:srgbClr val="9E9E9E"/>
                          </a:highlight>
                        </a:rPr>
                      </a:br>
                      <a:r>
                        <a:rPr lang="en-US" sz="2000">
                          <a:highlight>
                            <a:srgbClr val="9E9E9E"/>
                          </a:highlight>
                        </a:rPr>
                        <a:t>(Prepaid)</a:t>
                      </a:r>
                      <a:endParaRPr sz="2000">
                        <a:highlight>
                          <a:srgbClr val="9E9E9E"/>
                        </a:high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31</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credit_score</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47</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card_brand_Amex</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32</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num_credit_cards</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48</a:t>
                      </a:r>
                      <a:endParaRPr baseline="-25000"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highlight>
                            <a:srgbClr val="9E9E9E"/>
                          </a:highlight>
                        </a:rPr>
                        <a:t>card_brand_Discover</a:t>
                      </a:r>
                      <a:endParaRPr sz="2000">
                        <a:highlight>
                          <a:srgbClr val="9E9E9E"/>
                        </a:high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35</a:t>
                      </a:r>
                      <a:endParaRPr baseline="-25000"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card_number</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49</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card_brand_Mastercard</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37</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cvv</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numeric</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50</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card_brand_Visa</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US" sz="2000"/>
                        <a:t>X</a:t>
                      </a:r>
                      <a:r>
                        <a:rPr baseline="-25000" lang="en-US" sz="2000"/>
                        <a:t>38</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t>has_chip</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t>X</a:t>
                      </a:r>
                      <a:r>
                        <a:rPr baseline="-25000" lang="en-US" sz="2000"/>
                        <a:t>51</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c>
                  <a:txBody>
                    <a:bodyPr/>
                    <a:lstStyle/>
                    <a:p>
                      <a:pPr indent="0" lvl="0" marL="0" rtl="0" algn="l">
                        <a:lnSpc>
                          <a:spcPct val="115000"/>
                        </a:lnSpc>
                        <a:spcBef>
                          <a:spcPts val="0"/>
                        </a:spcBef>
                        <a:spcAft>
                          <a:spcPts val="0"/>
                        </a:spcAft>
                        <a:buNone/>
                      </a:pPr>
                      <a:r>
                        <a:rPr lang="en-US" sz="2000">
                          <a:highlight>
                            <a:srgbClr val="9E9E9E"/>
                          </a:highlight>
                        </a:rPr>
                        <a:t>fraud_label_missing_flag</a:t>
                      </a:r>
                      <a:endParaRPr sz="2000">
                        <a:highlight>
                          <a:srgbClr val="9E9E9E"/>
                        </a:highligh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2000"/>
                        <a:t>category</a:t>
                      </a:r>
                      <a:endParaRPr sz="2000"/>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32" name="Google Shape;532;g389d7be5379_4_19"/>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 Logistic Regression</a:t>
            </a:r>
            <a:endParaRPr/>
          </a:p>
        </p:txBody>
      </p:sp>
      <p:sp>
        <p:nvSpPr>
          <p:cNvPr id="533" name="Google Shape;533;g389d7be5379_4_19"/>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Appendix– candidates variables for Logistic Regression</a:t>
            </a:r>
            <a:endParaRPr sz="3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8f1a016ca8_0_20"/>
          <p:cNvSpPr/>
          <p:nvPr/>
        </p:nvSpPr>
        <p:spPr>
          <a:xfrm>
            <a:off x="755810" y="2271713"/>
            <a:ext cx="11480400" cy="6116700"/>
          </a:xfrm>
          <a:prstGeom prst="rect">
            <a:avLst/>
          </a:prstGeom>
          <a:noFill/>
          <a:ln>
            <a:noFill/>
          </a:ln>
        </p:spPr>
        <p:txBody>
          <a:bodyPr anchorCtr="0" anchor="t" bIns="45700" lIns="91425" spcFirstLastPara="1" rIns="91425" wrap="square" tIns="108000">
            <a:noAutofit/>
          </a:bodyPr>
          <a:lstStyle/>
          <a:p>
            <a:pPr indent="-355600" lvl="0" marL="457200" marR="0" rtl="0" algn="l">
              <a:lnSpc>
                <a:spcPct val="100000"/>
              </a:lnSpc>
              <a:spcBef>
                <a:spcPts val="0"/>
              </a:spcBef>
              <a:spcAft>
                <a:spcPts val="0"/>
              </a:spcAft>
              <a:buClr>
                <a:schemeClr val="dk2"/>
              </a:buClr>
              <a:buSzPts val="2000"/>
              <a:buFont typeface="Arial"/>
              <a:buAutoNum type="arabicPeriod"/>
            </a:pPr>
            <a:r>
              <a:rPr b="1" lang="en-US" sz="2000">
                <a:solidFill>
                  <a:schemeClr val="accent5"/>
                </a:solidFill>
              </a:rPr>
              <a:t>Why choose Logistics Regression as our Baseline model?</a:t>
            </a:r>
            <a:br>
              <a:rPr b="1" lang="en-US" sz="2000">
                <a:solidFill>
                  <a:schemeClr val="accent5"/>
                </a:solidFill>
              </a:rPr>
            </a:br>
            <a:r>
              <a:rPr b="1" lang="en-US" sz="2000">
                <a:solidFill>
                  <a:schemeClr val="accent5"/>
                </a:solidFill>
              </a:rPr>
              <a:t>(Property and assumptions–</a:t>
            </a:r>
            <a:r>
              <a:rPr b="1" lang="en-US" sz="2000">
                <a:solidFill>
                  <a:schemeClr val="accent5"/>
                </a:solidFill>
              </a:rPr>
              <a:t> linearity of logit, independence of observations</a:t>
            </a:r>
            <a:r>
              <a:rPr b="1" lang="en-US" sz="2000">
                <a:solidFill>
                  <a:schemeClr val="accent5"/>
                </a:solidFill>
              </a:rPr>
              <a:t>)</a:t>
            </a:r>
            <a:endParaRPr b="1" sz="2000">
              <a:solidFill>
                <a:schemeClr val="accent5"/>
              </a:solidFill>
            </a:endParaRPr>
          </a:p>
          <a:p>
            <a:pPr indent="0" lvl="0" marL="457200" marR="0" rtl="0" algn="l">
              <a:lnSpc>
                <a:spcPct val="100000"/>
              </a:lnSpc>
              <a:spcBef>
                <a:spcPts val="0"/>
              </a:spcBef>
              <a:spcAft>
                <a:spcPts val="0"/>
              </a:spcAft>
              <a:buNone/>
            </a:pPr>
            <a:r>
              <a:t/>
            </a:r>
            <a:endParaRPr b="1" sz="2000">
              <a:solidFill>
                <a:schemeClr val="accent5"/>
              </a:solidFill>
            </a:endParaRPr>
          </a:p>
          <a:p>
            <a:pPr indent="-355600" lvl="0" marL="457200" marR="0" rtl="0" algn="l">
              <a:lnSpc>
                <a:spcPct val="100000"/>
              </a:lnSpc>
              <a:spcBef>
                <a:spcPts val="0"/>
              </a:spcBef>
              <a:spcAft>
                <a:spcPts val="0"/>
              </a:spcAft>
              <a:buClr>
                <a:schemeClr val="dk2"/>
              </a:buClr>
              <a:buSzPts val="2000"/>
              <a:buFont typeface="Arial"/>
              <a:buAutoNum type="arabicPeriod"/>
            </a:pPr>
            <a:r>
              <a:rPr b="1" lang="en-US" sz="2000">
                <a:solidFill>
                  <a:schemeClr val="accent5"/>
                </a:solidFill>
              </a:rPr>
              <a:t>Introduce independents variables and the dependent variables</a:t>
            </a:r>
            <a:endParaRPr b="1" sz="2000">
              <a:solidFill>
                <a:schemeClr val="accent5"/>
              </a:solidFill>
            </a:endParaRPr>
          </a:p>
          <a:p>
            <a:pPr indent="-355600" lvl="0" marL="457200" marR="0" rtl="0" algn="l">
              <a:lnSpc>
                <a:spcPct val="100000"/>
              </a:lnSpc>
              <a:spcBef>
                <a:spcPts val="0"/>
              </a:spcBef>
              <a:spcAft>
                <a:spcPts val="0"/>
              </a:spcAft>
              <a:buClr>
                <a:schemeClr val="accent5"/>
              </a:buClr>
              <a:buSzPts val="2000"/>
              <a:buAutoNum type="arabicPeriod"/>
            </a:pPr>
            <a:r>
              <a:rPr b="1" lang="en-US" sz="2000">
                <a:solidFill>
                  <a:schemeClr val="accent5"/>
                </a:solidFill>
              </a:rPr>
              <a:t>To meet the </a:t>
            </a:r>
            <a:r>
              <a:rPr b="1" lang="en-US" sz="2000">
                <a:solidFill>
                  <a:schemeClr val="accent5"/>
                </a:solidFill>
              </a:rPr>
              <a:t>multicollinearity assumption</a:t>
            </a:r>
            <a:br>
              <a:rPr b="1" lang="en-US" sz="2000">
                <a:solidFill>
                  <a:schemeClr val="accent5"/>
                </a:solidFill>
              </a:rPr>
            </a:br>
            <a:r>
              <a:rPr b="1" lang="en-US" sz="2000">
                <a:solidFill>
                  <a:schemeClr val="accent5"/>
                </a:solidFill>
              </a:rPr>
              <a:t>(a) – drop one hot encoding variables</a:t>
            </a:r>
            <a:endParaRPr b="1" sz="2000">
              <a:solidFill>
                <a:schemeClr val="accent5"/>
              </a:solidFill>
            </a:endParaRPr>
          </a:p>
          <a:p>
            <a:pPr indent="0" lvl="0" marL="457200" marR="0" rtl="0" algn="l">
              <a:lnSpc>
                <a:spcPct val="100000"/>
              </a:lnSpc>
              <a:spcBef>
                <a:spcPts val="0"/>
              </a:spcBef>
              <a:spcAft>
                <a:spcPts val="0"/>
              </a:spcAft>
              <a:buNone/>
            </a:pPr>
            <a:r>
              <a:rPr b="1" lang="en-US" sz="2000">
                <a:solidFill>
                  <a:schemeClr val="accent5"/>
                </a:solidFill>
              </a:rPr>
              <a:t>(b) VIF index to check multicollinearity among variables</a:t>
            </a:r>
            <a:endParaRPr b="1" sz="2000">
              <a:solidFill>
                <a:schemeClr val="accent5"/>
              </a:solidFill>
            </a:endParaRPr>
          </a:p>
          <a:p>
            <a:pPr indent="-355600" lvl="0" marL="457200" marR="0" rtl="0" algn="l">
              <a:lnSpc>
                <a:spcPct val="100000"/>
              </a:lnSpc>
              <a:spcBef>
                <a:spcPts val="0"/>
              </a:spcBef>
              <a:spcAft>
                <a:spcPts val="0"/>
              </a:spcAft>
              <a:buClr>
                <a:schemeClr val="accent5"/>
              </a:buClr>
              <a:buSzPts val="2000"/>
              <a:buAutoNum type="arabicPeriod"/>
            </a:pPr>
            <a:r>
              <a:rPr b="1" lang="en-US" sz="2000">
                <a:solidFill>
                  <a:schemeClr val="accent5"/>
                </a:solidFill>
                <a:highlight>
                  <a:srgbClr val="FFFF00"/>
                </a:highlight>
              </a:rPr>
              <a:t>Overview the variables we might choose (</a:t>
            </a:r>
            <a:r>
              <a:rPr lang="en-US" sz="2000">
                <a:solidFill>
                  <a:srgbClr val="141413"/>
                </a:solidFill>
                <a:highlight>
                  <a:srgbClr val="FFFF00"/>
                </a:highlight>
              </a:rPr>
              <a:t>univariate tests of each independent variable</a:t>
            </a:r>
            <a:r>
              <a:rPr b="1" lang="en-US" sz="2000">
                <a:solidFill>
                  <a:schemeClr val="accent5"/>
                </a:solidFill>
                <a:highlight>
                  <a:srgbClr val="FFFF00"/>
                </a:highlight>
              </a:rPr>
              <a:t>)</a:t>
            </a:r>
            <a:endParaRPr b="1" sz="2000">
              <a:solidFill>
                <a:schemeClr val="accent5"/>
              </a:solidFill>
              <a:highlight>
                <a:srgbClr val="FFFF00"/>
              </a:highlight>
            </a:endParaRPr>
          </a:p>
          <a:p>
            <a:pPr indent="-355600" lvl="0" marL="457200" marR="0" rtl="0" algn="l">
              <a:lnSpc>
                <a:spcPct val="100000"/>
              </a:lnSpc>
              <a:spcBef>
                <a:spcPts val="0"/>
              </a:spcBef>
              <a:spcAft>
                <a:spcPts val="0"/>
              </a:spcAft>
              <a:buClr>
                <a:schemeClr val="accent5"/>
              </a:buClr>
              <a:buSzPts val="2000"/>
              <a:buAutoNum type="arabicPeriod"/>
            </a:pPr>
            <a:r>
              <a:rPr b="1" lang="en-US" sz="2000">
                <a:solidFill>
                  <a:schemeClr val="accent5"/>
                </a:solidFill>
              </a:rPr>
              <a:t>Stepwise methods to choose </a:t>
            </a:r>
            <a:r>
              <a:rPr b="1" lang="en-US" sz="2000">
                <a:solidFill>
                  <a:schemeClr val="accent5"/>
                </a:solidFill>
              </a:rPr>
              <a:t>variables</a:t>
            </a:r>
            <a:endParaRPr b="1" sz="2000">
              <a:solidFill>
                <a:schemeClr val="accent5"/>
              </a:solidFill>
            </a:endParaRPr>
          </a:p>
          <a:p>
            <a:pPr indent="-355600" lvl="0" marL="457200" marR="0" rtl="0" algn="l">
              <a:lnSpc>
                <a:spcPct val="100000"/>
              </a:lnSpc>
              <a:spcBef>
                <a:spcPts val="0"/>
              </a:spcBef>
              <a:spcAft>
                <a:spcPts val="0"/>
              </a:spcAft>
              <a:buClr>
                <a:schemeClr val="accent5"/>
              </a:buClr>
              <a:buSzPts val="2000"/>
              <a:buAutoNum type="arabicPeriod"/>
            </a:pPr>
            <a:r>
              <a:rPr b="1" lang="en-US" sz="2000">
                <a:solidFill>
                  <a:schemeClr val="accent5"/>
                </a:solidFill>
              </a:rPr>
              <a:t>Diagnostics （ROC curve）</a:t>
            </a:r>
            <a:endParaRPr b="1" sz="2000">
              <a:solidFill>
                <a:schemeClr val="accent5"/>
              </a:solidFill>
            </a:endParaRPr>
          </a:p>
          <a:p>
            <a:pPr indent="-355600" lvl="0" marL="457200" marR="0" rtl="0" algn="l">
              <a:lnSpc>
                <a:spcPct val="100000"/>
              </a:lnSpc>
              <a:spcBef>
                <a:spcPts val="0"/>
              </a:spcBef>
              <a:spcAft>
                <a:spcPts val="0"/>
              </a:spcAft>
              <a:buClr>
                <a:schemeClr val="accent5"/>
              </a:buClr>
              <a:buSzPts val="2000"/>
              <a:buAutoNum type="arabicPeriod"/>
            </a:pPr>
            <a:r>
              <a:rPr b="1" lang="en-US" sz="2000">
                <a:solidFill>
                  <a:schemeClr val="accent5"/>
                </a:solidFill>
              </a:rPr>
              <a:t>The final base model</a:t>
            </a:r>
            <a:endParaRPr b="1" sz="2000">
              <a:solidFill>
                <a:schemeClr val="accent5"/>
              </a:solidFill>
            </a:endParaRPr>
          </a:p>
          <a:p>
            <a:pPr indent="0" lvl="0" marL="0" marR="0" rtl="0" algn="l">
              <a:lnSpc>
                <a:spcPct val="100000"/>
              </a:lnSpc>
              <a:spcBef>
                <a:spcPts val="0"/>
              </a:spcBef>
              <a:spcAft>
                <a:spcPts val="0"/>
              </a:spcAft>
              <a:buNone/>
            </a:pPr>
            <a:r>
              <a:t/>
            </a:r>
            <a:endParaRPr b="1" sz="2000">
              <a:solidFill>
                <a:schemeClr val="accent5"/>
              </a:solidFill>
            </a:endParaRPr>
          </a:p>
          <a:p>
            <a:pPr indent="0" lvl="0" marL="0" marR="0" rtl="0" algn="l">
              <a:lnSpc>
                <a:spcPct val="100000"/>
              </a:lnSpc>
              <a:spcBef>
                <a:spcPts val="0"/>
              </a:spcBef>
              <a:spcAft>
                <a:spcPts val="0"/>
              </a:spcAft>
              <a:buNone/>
            </a:pPr>
            <a:r>
              <a:rPr b="1" lang="en-US" sz="2000">
                <a:solidFill>
                  <a:schemeClr val="accent5"/>
                </a:solidFill>
              </a:rPr>
              <a:t>*Check linearity of logit (V)</a:t>
            </a:r>
            <a:endParaRPr b="1" sz="2000">
              <a:solidFill>
                <a:schemeClr val="accent5"/>
              </a:solidFill>
            </a:endParaRPr>
          </a:p>
          <a:p>
            <a:pPr indent="0" lvl="0" marL="0" marR="0" rtl="0" algn="l">
              <a:lnSpc>
                <a:spcPct val="100000"/>
              </a:lnSpc>
              <a:spcBef>
                <a:spcPts val="0"/>
              </a:spcBef>
              <a:spcAft>
                <a:spcPts val="0"/>
              </a:spcAft>
              <a:buNone/>
            </a:pPr>
            <a:r>
              <a:t/>
            </a:r>
            <a:endParaRPr b="1" sz="2000">
              <a:solidFill>
                <a:schemeClr val="accent5"/>
              </a:solidFill>
            </a:endParaRPr>
          </a:p>
          <a:p>
            <a:pPr indent="0" lvl="0" marL="0" marR="0" rtl="0" algn="l">
              <a:lnSpc>
                <a:spcPct val="100000"/>
              </a:lnSpc>
              <a:spcBef>
                <a:spcPts val="0"/>
              </a:spcBef>
              <a:spcAft>
                <a:spcPts val="0"/>
              </a:spcAft>
              <a:buNone/>
            </a:pPr>
            <a:r>
              <a:t/>
            </a:r>
            <a:endParaRPr b="1" sz="2000">
              <a:solidFill>
                <a:schemeClr val="accent5"/>
              </a:solidFill>
            </a:endParaRPr>
          </a:p>
          <a:p>
            <a:pPr indent="0" lvl="0" marL="0" marR="0" rtl="0" algn="l">
              <a:lnSpc>
                <a:spcPct val="100000"/>
              </a:lnSpc>
              <a:spcBef>
                <a:spcPts val="0"/>
              </a:spcBef>
              <a:spcAft>
                <a:spcPts val="0"/>
              </a:spcAft>
              <a:buNone/>
            </a:pPr>
            <a:r>
              <a:t/>
            </a:r>
            <a:endParaRPr b="1" sz="2000">
              <a:solidFill>
                <a:schemeClr val="accent5"/>
              </a:solidFill>
            </a:endParaRPr>
          </a:p>
          <a:p>
            <a:pPr indent="0" lvl="0" marL="0" marR="0" rtl="0" algn="l">
              <a:lnSpc>
                <a:spcPct val="100000"/>
              </a:lnSpc>
              <a:spcBef>
                <a:spcPts val="0"/>
              </a:spcBef>
              <a:spcAft>
                <a:spcPts val="0"/>
              </a:spcAft>
              <a:buNone/>
            </a:pPr>
            <a:r>
              <a:t/>
            </a:r>
            <a:endParaRPr b="1" sz="2000">
              <a:solidFill>
                <a:schemeClr val="accent5"/>
              </a:solidFill>
            </a:endParaRPr>
          </a:p>
        </p:txBody>
      </p:sp>
      <p:sp>
        <p:nvSpPr>
          <p:cNvPr id="539" name="Google Shape;539;g38f1a016ca8_0_20"/>
          <p:cNvSpPr txBox="1"/>
          <p:nvPr>
            <p:ph idx="12" type="sldNum"/>
          </p:nvPr>
        </p:nvSpPr>
        <p:spPr>
          <a:xfrm>
            <a:off x="11741879" y="213147"/>
            <a:ext cx="494400" cy="399000"/>
          </a:xfrm>
          <a:prstGeom prst="rect">
            <a:avLst/>
          </a:prstGeom>
          <a:noFill/>
          <a:ln>
            <a:noFill/>
          </a:ln>
        </p:spPr>
        <p:txBody>
          <a:bodyPr anchorCtr="0" anchor="t" bIns="50800" lIns="50800" spcFirstLastPara="1" rIns="50800" wrap="square" tIns="50800">
            <a:normAutofit lnSpcReduction="10000"/>
          </a:bodyPr>
          <a:lstStyle/>
          <a:p>
            <a:pPr indent="0" lvl="0" marL="0" rtl="0" algn="r">
              <a:lnSpc>
                <a:spcPct val="100000"/>
              </a:lnSpc>
              <a:spcBef>
                <a:spcPts val="0"/>
              </a:spcBef>
              <a:spcAft>
                <a:spcPts val="0"/>
              </a:spcAft>
              <a:buClr>
                <a:srgbClr val="5A5F5E"/>
              </a:buClr>
              <a:buSzPts val="2000"/>
              <a:buFont typeface="Helvetica Neue Light"/>
              <a:buNone/>
            </a:pPr>
            <a:fld id="{00000000-1234-1234-1234-123412341234}" type="slidenum">
              <a:rPr lang="en-US" sz="2000">
                <a:solidFill>
                  <a:srgbClr val="5A5F5E"/>
                </a:solidFill>
                <a:latin typeface="Helvetica Neue Light"/>
                <a:ea typeface="Helvetica Neue Light"/>
                <a:cs typeface="Helvetica Neue Light"/>
                <a:sym typeface="Helvetica Neue Light"/>
              </a:rPr>
              <a:t>‹#›</a:t>
            </a:fld>
            <a:endParaRPr/>
          </a:p>
        </p:txBody>
      </p:sp>
      <p:sp>
        <p:nvSpPr>
          <p:cNvPr id="540" name="Google Shape;540;g38f1a016ca8_0_20"/>
          <p:cNvSpPr txBox="1"/>
          <p:nvPr>
            <p:ph idx="2" type="body"/>
          </p:nvPr>
        </p:nvSpPr>
        <p:spPr>
          <a:xfrm>
            <a:off x="762000" y="762000"/>
            <a:ext cx="11467800" cy="6099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2"/>
              </a:buClr>
              <a:buSzPts val="3600"/>
              <a:buFont typeface="Helvetica Neue"/>
              <a:buNone/>
            </a:pPr>
            <a:r>
              <a:rPr lang="en-US" sz="3000"/>
              <a:t>Andy 大綱草稿頁</a:t>
            </a:r>
            <a:endParaRPr sz="3000"/>
          </a:p>
        </p:txBody>
      </p:sp>
      <p:sp>
        <p:nvSpPr>
          <p:cNvPr id="541" name="Google Shape;541;g38f1a016ca8_0_20"/>
          <p:cNvSpPr txBox="1"/>
          <p:nvPr/>
        </p:nvSpPr>
        <p:spPr>
          <a:xfrm>
            <a:off x="768508" y="9219758"/>
            <a:ext cx="10560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A5F5E"/>
              </a:buClr>
              <a:buSzPts val="1600"/>
              <a:buFont typeface="Helvetica Neue Light"/>
              <a:buNone/>
            </a:pPr>
            <a:r>
              <a:rPr lang="en-US" sz="1600">
                <a:solidFill>
                  <a:srgbClr val="5A5F5E"/>
                </a:solidFill>
                <a:latin typeface="Helvetica Neue Light"/>
                <a:ea typeface="Helvetica Neue Light"/>
                <a:cs typeface="Helvetica Neue Light"/>
                <a:sym typeface="Helvetica Neue Light"/>
              </a:rPr>
              <a:t>Integrating Data-Level Balancing and Enhanced RFM-Based Feature engineering for Credit Card Fraud Detection</a:t>
            </a:r>
            <a:endParaRPr b="0" i="0" sz="1600" u="none" cap="none" strike="noStrike">
              <a:solidFill>
                <a:srgbClr val="5A5F5E"/>
              </a:solidFill>
              <a:latin typeface="Helvetica Neue Light"/>
              <a:ea typeface="Helvetica Neue Light"/>
              <a:cs typeface="Helvetica Neue Light"/>
              <a:sym typeface="Helvetica Neue Light"/>
            </a:endParaRPr>
          </a:p>
        </p:txBody>
      </p:sp>
      <p:sp>
        <p:nvSpPr>
          <p:cNvPr id="542" name="Google Shape;542;g38f1a016ca8_0_20"/>
          <p:cNvSpPr txBox="1"/>
          <p:nvPr>
            <p:ph idx="1" type="body"/>
          </p:nvPr>
        </p:nvSpPr>
        <p:spPr>
          <a:xfrm>
            <a:off x="755809" y="213147"/>
            <a:ext cx="9502800" cy="4002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rgbClr val="5A5F5E"/>
              </a:buClr>
              <a:buSzPts val="2000"/>
              <a:buFont typeface="Helvetica Neue Light"/>
              <a:buNone/>
            </a:pPr>
            <a:r>
              <a:rPr lang="en-US"/>
              <a:t>3.1 Benchmark model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owroom">
  <a:themeElements>
    <a:clrScheme name="Showroom">
      <a:dk1>
        <a:srgbClr val="C4D3D3"/>
      </a:dk1>
      <a:lt1>
        <a:srgbClr val="D37A7B"/>
      </a:lt1>
      <a:dk2>
        <a:srgbClr val="5A5F5E"/>
      </a:dk2>
      <a:lt2>
        <a:srgbClr val="B4B4B4"/>
      </a:lt2>
      <a:accent1>
        <a:srgbClr val="78AAB3"/>
      </a:accent1>
      <a:accent2>
        <a:srgbClr val="9A9671"/>
      </a:accent2>
      <a:accent3>
        <a:srgbClr val="D9971A"/>
      </a:accent3>
      <a:accent4>
        <a:srgbClr val="D7620E"/>
      </a:accent4>
      <a:accent5>
        <a:srgbClr val="A61702"/>
      </a:accent5>
      <a:accent6>
        <a:srgbClr val="606B7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owroom">
  <a:themeElements>
    <a:clrScheme name="Showroom">
      <a:dk1>
        <a:srgbClr val="000000"/>
      </a:dk1>
      <a:lt1>
        <a:srgbClr val="FFFFFF"/>
      </a:lt1>
      <a:dk2>
        <a:srgbClr val="5A5F5E"/>
      </a:dk2>
      <a:lt2>
        <a:srgbClr val="B4B4B4"/>
      </a:lt2>
      <a:accent1>
        <a:srgbClr val="78AAB3"/>
      </a:accent1>
      <a:accent2>
        <a:srgbClr val="9A9671"/>
      </a:accent2>
      <a:accent3>
        <a:srgbClr val="D9971A"/>
      </a:accent3>
      <a:accent4>
        <a:srgbClr val="D7620E"/>
      </a:accent4>
      <a:accent5>
        <a:srgbClr val="A61702"/>
      </a:accent5>
      <a:accent6>
        <a:srgbClr val="606B7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coreProperties>
</file>