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6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4" r:id="rId4"/>
    <p:sldMasterId id="2147483655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</p:sldIdLst>
  <p:sldSz cy="9753600" cx="13004800"/>
  <p:notesSz cx="6858000" cy="9144000"/>
  <p:embeddedFontLst>
    <p:embeddedFont>
      <p:font typeface="Helvetica Neue"/>
      <p:regular r:id="rId38"/>
      <p:bold r:id="rId39"/>
      <p:italic r:id="rId40"/>
      <p:boldItalic r:id="rId41"/>
    </p:embeddedFont>
    <p:embeddedFont>
      <p:font typeface="Helvetica Neue Light"/>
      <p:regular r:id="rId42"/>
      <p:bold r:id="rId43"/>
      <p:italic r:id="rId44"/>
      <p:boldItalic r:id="rId4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6FA531E2-5009-4B4C-8456-7487A1568E9E}">
  <a:tblStyle styleId="{6FA531E2-5009-4B4C-8456-7487A1568E9E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font" Target="fonts/HelveticaNeue-italic.fntdata"/><Relationship Id="rId20" Type="http://schemas.openxmlformats.org/officeDocument/2006/relationships/slide" Target="slides/slide14.xml"/><Relationship Id="rId42" Type="http://schemas.openxmlformats.org/officeDocument/2006/relationships/font" Target="fonts/HelveticaNeueLight-regular.fntdata"/><Relationship Id="rId41" Type="http://schemas.openxmlformats.org/officeDocument/2006/relationships/font" Target="fonts/HelveticaNeue-boldItalic.fntdata"/><Relationship Id="rId22" Type="http://schemas.openxmlformats.org/officeDocument/2006/relationships/slide" Target="slides/slide16.xml"/><Relationship Id="rId44" Type="http://schemas.openxmlformats.org/officeDocument/2006/relationships/font" Target="fonts/HelveticaNeueLight-italic.fntdata"/><Relationship Id="rId21" Type="http://schemas.openxmlformats.org/officeDocument/2006/relationships/slide" Target="slides/slide15.xml"/><Relationship Id="rId43" Type="http://schemas.openxmlformats.org/officeDocument/2006/relationships/font" Target="fonts/HelveticaNeueLight-bold.fntdata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45" Type="http://schemas.openxmlformats.org/officeDocument/2006/relationships/font" Target="fonts/HelveticaNeueLight-boldItalic.fntdata"/><Relationship Id="rId1" Type="http://schemas.openxmlformats.org/officeDocument/2006/relationships/theme" Target="theme/theme3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26" Type="http://schemas.openxmlformats.org/officeDocument/2006/relationships/slide" Target="slides/slide20.xml"/><Relationship Id="rId25" Type="http://schemas.openxmlformats.org/officeDocument/2006/relationships/slide" Target="slides/slide19.xml"/><Relationship Id="rId28" Type="http://schemas.openxmlformats.org/officeDocument/2006/relationships/slide" Target="slides/slide22.xml"/><Relationship Id="rId27" Type="http://schemas.openxmlformats.org/officeDocument/2006/relationships/slide" Target="slides/slide21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schemas.openxmlformats.org/officeDocument/2006/relationships/slide" Target="slides/slide31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39" Type="http://schemas.openxmlformats.org/officeDocument/2006/relationships/font" Target="fonts/HelveticaNeue-bold.fntdata"/><Relationship Id="rId16" Type="http://schemas.openxmlformats.org/officeDocument/2006/relationships/slide" Target="slides/slide10.xml"/><Relationship Id="rId38" Type="http://schemas.openxmlformats.org/officeDocument/2006/relationships/font" Target="fonts/HelveticaNeue-regular.fntdata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1pPr>
            <a:lvl2pPr indent="-228600" lvl="1" marL="9144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2pPr>
            <a:lvl3pPr indent="-228600" lvl="2" marL="13716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3pPr>
            <a:lvl4pPr indent="-228600" lvl="3" marL="18288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4pPr>
            <a:lvl5pPr indent="-228600" lvl="4" marL="22860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5pPr>
            <a:lvl6pPr indent="-228600" lvl="5" marL="27432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6pPr>
            <a:lvl7pPr indent="-228600" lvl="6" marL="32004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7pPr>
            <a:lvl8pPr indent="-228600" lvl="7" marL="36576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8pPr>
            <a:lvl9pPr indent="-228600" lvl="8" marL="411480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2400" u="none" cap="none" strike="noStrike">
                <a:latin typeface="Avenir"/>
                <a:ea typeface="Avenir"/>
                <a:cs typeface="Avenir"/>
                <a:sym typeface="Avenir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g3ae60029621_1_2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56" name="Google Shape;56;g3ae60029621_1_2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nir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g3ae49735378_1_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1" name="Google Shape;71;g3ae49735378_1_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7" name="Google Shape;77;p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g3ae49735378_2_2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6" name="Google Shape;86;g3ae49735378_2_2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p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g3a1baab6856_0_7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4" name="Google Shape;104;g3a1baab6856_0_7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g3a1baab6856_0_4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g3a1baab6856_0_40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Google Shape;122;g3a1baab6856_0_1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g3a1baab6856_0_1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g3ae49735378_2_5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g3ae49735378_2_5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g3ae49735378_2_15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1" name="Google Shape;141;g3ae49735378_2_154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ae49735378_2_6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g3ae49735378_2_65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g3ae49735378_2_16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g3ae49735378_2_16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8" name="Shape 1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Google Shape;169;g3a1baab6856_0_4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0" name="Google Shape;170;g3a1baab6856_0_4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g3b082f431e0_1_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g3b082f431e0_1_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ae49735378_2_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2" name="Google Shape;192;g3ae49735378_2_7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ae49735378_2_8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g3ae49735378_2_8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8" name="Shape 2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9" name="Google Shape;209;g3a1baab6856_0_10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0" name="Google Shape;210;g3a1baab6856_0_107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ae49735378_2_10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9" name="Google Shape;219;g3ae49735378_2_10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g3ae49735378_2_111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8" name="Google Shape;228;g3ae49735378_2_111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g3a5d8dad952_0_4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7" name="Google Shape;237;g3a5d8dad952_0_46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5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g3a5d8dad952_0_3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7" name="Google Shape;247;g3a5d8dad952_0_38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g3a5d8dad952_0_2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g3a5d8dad952_0_2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5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g3ae49735378_2_11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7" name="Google Shape;267;g3ae49735378_2_119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ae49735378_2_20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g3ae49735378_2_20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Google Shape;286;g3ae49735378_2_1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7" name="Google Shape;287;g3ae49735378_2_13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g3ae49735378_2_14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7" name="Google Shape;297;g3ae49735378_2_14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g3ae49735378_2_17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g3ae49735378_2_172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g3ae49735378_2_18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6" name="Google Shape;316;g3ae49735378_2_18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3" name="Shape 3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4" name="Google Shape;324;g3ae49735378_2_19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5" name="Google Shape;325;g3ae49735378_2_19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2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3ae49735378_1_23:notes"/>
          <p:cNvSpPr/>
          <p:nvPr>
            <p:ph idx="2" type="sldImg"/>
          </p:nvPr>
        </p:nvSpPr>
        <p:spPr>
          <a:xfrm>
            <a:off x="1143000" y="685800"/>
            <a:ext cx="4572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4" name="Google Shape;334;g3ae49735378_1_2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venir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jp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copy" type="title">
  <p:cSld name="TITLE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"/>
          <p:cNvSpPr txBox="1"/>
          <p:nvPr>
            <p:ph idx="1" type="body"/>
          </p:nvPr>
        </p:nvSpPr>
        <p:spPr>
          <a:xfrm>
            <a:off x="773350" y="2345153"/>
            <a:ext cx="11458100" cy="1760787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500"/>
              <a:buFont typeface="Helvetica Neue Light"/>
              <a:buNone/>
              <a:defRPr sz="5500"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9pPr>
          </a:lstStyle>
          <a:p/>
        </p:txBody>
      </p:sp>
      <p:sp>
        <p:nvSpPr>
          <p:cNvPr id="15" name="Google Shape;15;p2"/>
          <p:cNvSpPr txBox="1"/>
          <p:nvPr>
            <p:ph idx="12" type="sldNum"/>
          </p:nvPr>
        </p:nvSpPr>
        <p:spPr>
          <a:xfrm>
            <a:off x="6325920" y="9271000"/>
            <a:ext cx="340260" cy="324511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>
            <a:lvl1pPr indent="0" lvl="0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sz="1600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indent="0" lvl="1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sz="1600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indent="0" lvl="2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sz="1600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indent="0" lvl="3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sz="1600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indent="0" lvl="4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sz="1600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indent="0" lvl="5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sz="1600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indent="0" lvl="6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sz="1600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indent="0" lvl="7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sz="1600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indent="0" lvl="8" mar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sz="1600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 副本" showMasterSp="0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3"/>
          <p:cNvSpPr txBox="1"/>
          <p:nvPr>
            <p:ph idx="12" type="sldNum"/>
          </p:nvPr>
        </p:nvSpPr>
        <p:spPr>
          <a:xfrm>
            <a:off x="11741879" y="213147"/>
            <a:ext cx="494413" cy="399033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600">
              <a:solidFill>
                <a:srgbClr val="535353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  <p:cxnSp>
        <p:nvCxnSpPr>
          <p:cNvPr id="18" name="Google Shape;18;p3"/>
          <p:cNvCxnSpPr/>
          <p:nvPr/>
        </p:nvCxnSpPr>
        <p:spPr>
          <a:xfrm>
            <a:off x="761999" y="624879"/>
            <a:ext cx="11474292" cy="1"/>
          </a:xfrm>
          <a:prstGeom prst="straightConnector1">
            <a:avLst/>
          </a:prstGeom>
          <a:noFill/>
          <a:ln cap="flat" cmpd="sng" w="25400">
            <a:solidFill>
              <a:srgbClr val="5A5F5E">
                <a:alpha val="15686"/>
              </a:srgbClr>
            </a:solidFill>
            <a:prstDash val="solid"/>
            <a:miter lim="400000"/>
            <a:headEnd len="sm" w="sm" type="none"/>
            <a:tailEnd len="sm" w="sm" type="none"/>
          </a:ln>
        </p:spPr>
      </p:cxnSp>
      <p:sp>
        <p:nvSpPr>
          <p:cNvPr id="19" name="Google Shape;19;p3"/>
          <p:cNvSpPr txBox="1"/>
          <p:nvPr>
            <p:ph idx="1" type="body"/>
          </p:nvPr>
        </p:nvSpPr>
        <p:spPr>
          <a:xfrm>
            <a:off x="755809" y="213147"/>
            <a:ext cx="9502858" cy="399033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2" type="body"/>
          </p:nvPr>
        </p:nvSpPr>
        <p:spPr>
          <a:xfrm>
            <a:off x="762000" y="762000"/>
            <a:ext cx="11467783" cy="609855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3500"/>
              <a:buFont typeface="Helvetica Neue"/>
              <a:buNone/>
              <a:defRPr sz="3500"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9pPr>
          </a:lstStyle>
          <a:p/>
        </p:txBody>
      </p:sp>
      <p:sp>
        <p:nvSpPr>
          <p:cNvPr id="21" name="Google Shape;21;p3"/>
          <p:cNvSpPr txBox="1"/>
          <p:nvPr>
            <p:ph idx="3" type="body"/>
          </p:nvPr>
        </p:nvSpPr>
        <p:spPr>
          <a:xfrm>
            <a:off x="761999" y="1581811"/>
            <a:ext cx="11467783" cy="2925953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9pPr>
          </a:lstStyle>
          <a:p/>
        </p:txBody>
      </p:sp>
      <p:sp>
        <p:nvSpPr>
          <p:cNvPr id="22" name="Google Shape;22;p3"/>
          <p:cNvSpPr txBox="1"/>
          <p:nvPr>
            <p:ph idx="4" type="body"/>
          </p:nvPr>
        </p:nvSpPr>
        <p:spPr>
          <a:xfrm>
            <a:off x="715409" y="9235479"/>
            <a:ext cx="5479247" cy="399033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Helvetica Neue Light"/>
              <a:buNone/>
              <a:defRPr sz="2000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9pPr>
          </a:lstStyle>
          <a:p/>
        </p:txBody>
      </p:sp>
      <p:cxnSp>
        <p:nvCxnSpPr>
          <p:cNvPr id="23" name="Google Shape;23;p3"/>
          <p:cNvCxnSpPr/>
          <p:nvPr/>
        </p:nvCxnSpPr>
        <p:spPr>
          <a:xfrm>
            <a:off x="700892" y="9159279"/>
            <a:ext cx="10543492" cy="1"/>
          </a:xfrm>
          <a:prstGeom prst="straightConnector1">
            <a:avLst/>
          </a:prstGeom>
          <a:noFill/>
          <a:ln cap="flat" cmpd="sng" w="25400">
            <a:solidFill>
              <a:srgbClr val="5A5F5E">
                <a:alpha val="15686"/>
              </a:srgbClr>
            </a:solidFill>
            <a:prstDash val="solid"/>
            <a:miter lim="400000"/>
            <a:headEnd len="sm" w="sm" type="none"/>
            <a:tailEnd len="sm" w="sm" type="none"/>
          </a:ln>
        </p:spPr>
      </p:cxnSp>
      <p:pic>
        <p:nvPicPr>
          <p:cNvPr descr="norm_quant.jpg" id="24" name="Google Shape;24;p3"/>
          <p:cNvPicPr preferRelativeResize="0"/>
          <p:nvPr/>
        </p:nvPicPr>
        <p:blipFill rotWithShape="1">
          <a:blip r:embed="rId2">
            <a:alphaModFix/>
          </a:blip>
          <a:srcRect b="13992" l="7684" r="6266" t="12299"/>
          <a:stretch/>
        </p:blipFill>
        <p:spPr>
          <a:xfrm>
            <a:off x="11456784" y="8603504"/>
            <a:ext cx="1259216" cy="763127"/>
          </a:xfrm>
          <a:custGeom>
            <a:rect b="b" l="l" r="r" t="t"/>
            <a:pathLst>
              <a:path extrusionOk="0" h="21575" w="21588">
                <a:moveTo>
                  <a:pt x="10967" y="0"/>
                </a:moveTo>
                <a:cubicBezTo>
                  <a:pt x="10620" y="33"/>
                  <a:pt x="10344" y="274"/>
                  <a:pt x="10014" y="819"/>
                </a:cubicBezTo>
                <a:cubicBezTo>
                  <a:pt x="9987" y="865"/>
                  <a:pt x="9960" y="917"/>
                  <a:pt x="9933" y="965"/>
                </a:cubicBezTo>
                <a:cubicBezTo>
                  <a:pt x="9318" y="2043"/>
                  <a:pt x="8762" y="3752"/>
                  <a:pt x="7544" y="8281"/>
                </a:cubicBezTo>
                <a:cubicBezTo>
                  <a:pt x="7443" y="8658"/>
                  <a:pt x="7392" y="8837"/>
                  <a:pt x="7306" y="9156"/>
                </a:cubicBezTo>
                <a:cubicBezTo>
                  <a:pt x="7307" y="9189"/>
                  <a:pt x="7299" y="9214"/>
                  <a:pt x="7286" y="9223"/>
                </a:cubicBezTo>
                <a:cubicBezTo>
                  <a:pt x="7153" y="9714"/>
                  <a:pt x="7023" y="10202"/>
                  <a:pt x="6918" y="10581"/>
                </a:cubicBezTo>
                <a:cubicBezTo>
                  <a:pt x="6916" y="10589"/>
                  <a:pt x="6915" y="10608"/>
                  <a:pt x="6912" y="10614"/>
                </a:cubicBezTo>
                <a:cubicBezTo>
                  <a:pt x="6699" y="11385"/>
                  <a:pt x="6514" y="12030"/>
                  <a:pt x="6354" y="12567"/>
                </a:cubicBezTo>
                <a:cubicBezTo>
                  <a:pt x="6353" y="12580"/>
                  <a:pt x="6344" y="12593"/>
                  <a:pt x="6340" y="12600"/>
                </a:cubicBezTo>
                <a:cubicBezTo>
                  <a:pt x="6308" y="12707"/>
                  <a:pt x="6270" y="12843"/>
                  <a:pt x="6238" y="12948"/>
                </a:cubicBezTo>
                <a:cubicBezTo>
                  <a:pt x="6194" y="13093"/>
                  <a:pt x="6152" y="13213"/>
                  <a:pt x="6109" y="13352"/>
                </a:cubicBezTo>
                <a:cubicBezTo>
                  <a:pt x="6109" y="13372"/>
                  <a:pt x="6110" y="13379"/>
                  <a:pt x="6102" y="13386"/>
                </a:cubicBezTo>
                <a:cubicBezTo>
                  <a:pt x="6074" y="13476"/>
                  <a:pt x="6041" y="13567"/>
                  <a:pt x="6013" y="13655"/>
                </a:cubicBezTo>
                <a:cubicBezTo>
                  <a:pt x="6009" y="13667"/>
                  <a:pt x="6011" y="13664"/>
                  <a:pt x="6007" y="13678"/>
                </a:cubicBezTo>
                <a:cubicBezTo>
                  <a:pt x="6005" y="13683"/>
                  <a:pt x="6002" y="13684"/>
                  <a:pt x="6000" y="13689"/>
                </a:cubicBezTo>
                <a:cubicBezTo>
                  <a:pt x="5386" y="15618"/>
                  <a:pt x="4805" y="17096"/>
                  <a:pt x="4197" y="18177"/>
                </a:cubicBezTo>
                <a:cubicBezTo>
                  <a:pt x="4193" y="18190"/>
                  <a:pt x="4197" y="18196"/>
                  <a:pt x="4190" y="18211"/>
                </a:cubicBezTo>
                <a:cubicBezTo>
                  <a:pt x="4177" y="18236"/>
                  <a:pt x="4160" y="18264"/>
                  <a:pt x="4142" y="18278"/>
                </a:cubicBezTo>
                <a:cubicBezTo>
                  <a:pt x="4111" y="18331"/>
                  <a:pt x="4078" y="18383"/>
                  <a:pt x="4047" y="18435"/>
                </a:cubicBezTo>
                <a:cubicBezTo>
                  <a:pt x="4033" y="18470"/>
                  <a:pt x="4019" y="18495"/>
                  <a:pt x="3999" y="18525"/>
                </a:cubicBezTo>
                <a:cubicBezTo>
                  <a:pt x="3988" y="18543"/>
                  <a:pt x="3981" y="18547"/>
                  <a:pt x="3972" y="18558"/>
                </a:cubicBezTo>
                <a:cubicBezTo>
                  <a:pt x="3371" y="19526"/>
                  <a:pt x="2740" y="20155"/>
                  <a:pt x="2013" y="20556"/>
                </a:cubicBezTo>
                <a:cubicBezTo>
                  <a:pt x="1944" y="20594"/>
                  <a:pt x="1865" y="20631"/>
                  <a:pt x="1788" y="20668"/>
                </a:cubicBezTo>
                <a:cubicBezTo>
                  <a:pt x="1784" y="20671"/>
                  <a:pt x="1777" y="20679"/>
                  <a:pt x="1775" y="20679"/>
                </a:cubicBezTo>
                <a:cubicBezTo>
                  <a:pt x="1442" y="20836"/>
                  <a:pt x="1063" y="20965"/>
                  <a:pt x="795" y="21016"/>
                </a:cubicBezTo>
                <a:cubicBezTo>
                  <a:pt x="633" y="21046"/>
                  <a:pt x="600" y="21072"/>
                  <a:pt x="577" y="21173"/>
                </a:cubicBezTo>
                <a:cubicBezTo>
                  <a:pt x="551" y="21285"/>
                  <a:pt x="537" y="21296"/>
                  <a:pt x="284" y="21296"/>
                </a:cubicBezTo>
                <a:cubicBezTo>
                  <a:pt x="56" y="21296"/>
                  <a:pt x="17" y="21301"/>
                  <a:pt x="5" y="21375"/>
                </a:cubicBezTo>
                <a:cubicBezTo>
                  <a:pt x="-2" y="21422"/>
                  <a:pt x="-1" y="21487"/>
                  <a:pt x="5" y="21521"/>
                </a:cubicBezTo>
                <a:cubicBezTo>
                  <a:pt x="22" y="21600"/>
                  <a:pt x="21568" y="21589"/>
                  <a:pt x="21561" y="21509"/>
                </a:cubicBezTo>
                <a:cubicBezTo>
                  <a:pt x="21558" y="21482"/>
                  <a:pt x="21567" y="21428"/>
                  <a:pt x="21581" y="21386"/>
                </a:cubicBezTo>
                <a:cubicBezTo>
                  <a:pt x="21598" y="21334"/>
                  <a:pt x="21584" y="21269"/>
                  <a:pt x="21540" y="21184"/>
                </a:cubicBezTo>
                <a:cubicBezTo>
                  <a:pt x="21484" y="21076"/>
                  <a:pt x="21424" y="21043"/>
                  <a:pt x="21146" y="20971"/>
                </a:cubicBezTo>
                <a:cubicBezTo>
                  <a:pt x="21141" y="20972"/>
                  <a:pt x="21142" y="20972"/>
                  <a:pt x="21139" y="20971"/>
                </a:cubicBezTo>
                <a:cubicBezTo>
                  <a:pt x="21006" y="20936"/>
                  <a:pt x="20876" y="20891"/>
                  <a:pt x="20751" y="20847"/>
                </a:cubicBezTo>
                <a:cubicBezTo>
                  <a:pt x="20709" y="20840"/>
                  <a:pt x="20670" y="20832"/>
                  <a:pt x="20656" y="20814"/>
                </a:cubicBezTo>
                <a:cubicBezTo>
                  <a:pt x="20474" y="20746"/>
                  <a:pt x="20298" y="20667"/>
                  <a:pt x="20132" y="20578"/>
                </a:cubicBezTo>
                <a:cubicBezTo>
                  <a:pt x="20125" y="20578"/>
                  <a:pt x="20118" y="20574"/>
                  <a:pt x="20111" y="20567"/>
                </a:cubicBezTo>
                <a:cubicBezTo>
                  <a:pt x="19679" y="20332"/>
                  <a:pt x="19291" y="20019"/>
                  <a:pt x="18928" y="19613"/>
                </a:cubicBezTo>
                <a:cubicBezTo>
                  <a:pt x="18919" y="19605"/>
                  <a:pt x="18916" y="19600"/>
                  <a:pt x="18907" y="19591"/>
                </a:cubicBezTo>
                <a:cubicBezTo>
                  <a:pt x="18900" y="19583"/>
                  <a:pt x="18893" y="19576"/>
                  <a:pt x="18887" y="19568"/>
                </a:cubicBezTo>
                <a:cubicBezTo>
                  <a:pt x="18830" y="19503"/>
                  <a:pt x="18779" y="19436"/>
                  <a:pt x="18723" y="19366"/>
                </a:cubicBezTo>
                <a:cubicBezTo>
                  <a:pt x="18720" y="19367"/>
                  <a:pt x="18714" y="19365"/>
                  <a:pt x="18710" y="19366"/>
                </a:cubicBezTo>
                <a:cubicBezTo>
                  <a:pt x="18686" y="19371"/>
                  <a:pt x="18627" y="19281"/>
                  <a:pt x="18587" y="19198"/>
                </a:cubicBezTo>
                <a:cubicBezTo>
                  <a:pt x="18510" y="19095"/>
                  <a:pt x="18432" y="18985"/>
                  <a:pt x="18356" y="18873"/>
                </a:cubicBezTo>
                <a:cubicBezTo>
                  <a:pt x="18353" y="18871"/>
                  <a:pt x="18351" y="18864"/>
                  <a:pt x="18349" y="18861"/>
                </a:cubicBezTo>
                <a:cubicBezTo>
                  <a:pt x="18294" y="18780"/>
                  <a:pt x="18240" y="18702"/>
                  <a:pt x="18186" y="18614"/>
                </a:cubicBezTo>
                <a:cubicBezTo>
                  <a:pt x="17775" y="17959"/>
                  <a:pt x="17463" y="17349"/>
                  <a:pt x="17104" y="16483"/>
                </a:cubicBezTo>
                <a:cubicBezTo>
                  <a:pt x="17087" y="16455"/>
                  <a:pt x="17076" y="16412"/>
                  <a:pt x="17063" y="16370"/>
                </a:cubicBezTo>
                <a:cubicBezTo>
                  <a:pt x="17061" y="16363"/>
                  <a:pt x="17058" y="16366"/>
                  <a:pt x="17056" y="16359"/>
                </a:cubicBezTo>
                <a:cubicBezTo>
                  <a:pt x="17037" y="16312"/>
                  <a:pt x="17022" y="16274"/>
                  <a:pt x="17002" y="16225"/>
                </a:cubicBezTo>
                <a:cubicBezTo>
                  <a:pt x="16863" y="15881"/>
                  <a:pt x="16729" y="15535"/>
                  <a:pt x="16601" y="15181"/>
                </a:cubicBezTo>
                <a:cubicBezTo>
                  <a:pt x="16592" y="15163"/>
                  <a:pt x="16592" y="15152"/>
                  <a:pt x="16587" y="15136"/>
                </a:cubicBezTo>
                <a:cubicBezTo>
                  <a:pt x="16315" y="14383"/>
                  <a:pt x="16029" y="13464"/>
                  <a:pt x="15696" y="12320"/>
                </a:cubicBezTo>
                <a:cubicBezTo>
                  <a:pt x="15679" y="12291"/>
                  <a:pt x="15664" y="12242"/>
                  <a:pt x="15648" y="12163"/>
                </a:cubicBezTo>
                <a:cubicBezTo>
                  <a:pt x="15514" y="11699"/>
                  <a:pt x="15366" y="11192"/>
                  <a:pt x="15206" y="10614"/>
                </a:cubicBezTo>
                <a:cubicBezTo>
                  <a:pt x="15192" y="10579"/>
                  <a:pt x="15181" y="10530"/>
                  <a:pt x="15172" y="10480"/>
                </a:cubicBezTo>
                <a:cubicBezTo>
                  <a:pt x="15085" y="10167"/>
                  <a:pt x="14989" y="9822"/>
                  <a:pt x="14893" y="9470"/>
                </a:cubicBezTo>
                <a:cubicBezTo>
                  <a:pt x="14885" y="9463"/>
                  <a:pt x="14879" y="9447"/>
                  <a:pt x="14879" y="9425"/>
                </a:cubicBezTo>
                <a:cubicBezTo>
                  <a:pt x="14786" y="9084"/>
                  <a:pt x="14717" y="8830"/>
                  <a:pt x="14614" y="8449"/>
                </a:cubicBezTo>
                <a:cubicBezTo>
                  <a:pt x="14560" y="8250"/>
                  <a:pt x="14541" y="8183"/>
                  <a:pt x="14491" y="8000"/>
                </a:cubicBezTo>
                <a:cubicBezTo>
                  <a:pt x="13853" y="5643"/>
                  <a:pt x="13510" y="4430"/>
                  <a:pt x="13233" y="3579"/>
                </a:cubicBezTo>
                <a:cubicBezTo>
                  <a:pt x="12600" y="1643"/>
                  <a:pt x="12102" y="617"/>
                  <a:pt x="11593" y="202"/>
                </a:cubicBezTo>
                <a:cubicBezTo>
                  <a:pt x="11414" y="56"/>
                  <a:pt x="11335" y="16"/>
                  <a:pt x="11157" y="0"/>
                </a:cubicBezTo>
                <a:lnTo>
                  <a:pt x="11008" y="0"/>
                </a:lnTo>
                <a:lnTo>
                  <a:pt x="10967" y="0"/>
                </a:lnTo>
                <a:close/>
                <a:moveTo>
                  <a:pt x="16988" y="17190"/>
                </a:moveTo>
                <a:cubicBezTo>
                  <a:pt x="17071" y="17171"/>
                  <a:pt x="17192" y="17226"/>
                  <a:pt x="17192" y="17313"/>
                </a:cubicBezTo>
                <a:cubicBezTo>
                  <a:pt x="17192" y="17341"/>
                  <a:pt x="17221" y="17424"/>
                  <a:pt x="17254" y="17492"/>
                </a:cubicBezTo>
                <a:cubicBezTo>
                  <a:pt x="17286" y="17561"/>
                  <a:pt x="17304" y="17636"/>
                  <a:pt x="17295" y="17661"/>
                </a:cubicBezTo>
                <a:cubicBezTo>
                  <a:pt x="17285" y="17685"/>
                  <a:pt x="17273" y="17771"/>
                  <a:pt x="17267" y="17852"/>
                </a:cubicBezTo>
                <a:cubicBezTo>
                  <a:pt x="17255" y="18013"/>
                  <a:pt x="17313" y="18045"/>
                  <a:pt x="17376" y="17919"/>
                </a:cubicBezTo>
                <a:cubicBezTo>
                  <a:pt x="17419" y="17833"/>
                  <a:pt x="17474" y="17875"/>
                  <a:pt x="17451" y="17975"/>
                </a:cubicBezTo>
                <a:cubicBezTo>
                  <a:pt x="17441" y="18018"/>
                  <a:pt x="17458" y="18042"/>
                  <a:pt x="17492" y="18042"/>
                </a:cubicBezTo>
                <a:cubicBezTo>
                  <a:pt x="17571" y="18042"/>
                  <a:pt x="17588" y="18100"/>
                  <a:pt x="17539" y="18188"/>
                </a:cubicBezTo>
                <a:cubicBezTo>
                  <a:pt x="17501" y="18258"/>
                  <a:pt x="17509" y="18267"/>
                  <a:pt x="17594" y="18267"/>
                </a:cubicBezTo>
                <a:cubicBezTo>
                  <a:pt x="17687" y="18266"/>
                  <a:pt x="17689" y="18275"/>
                  <a:pt x="17689" y="18491"/>
                </a:cubicBezTo>
                <a:cubicBezTo>
                  <a:pt x="17689" y="18679"/>
                  <a:pt x="17701" y="18747"/>
                  <a:pt x="17737" y="18727"/>
                </a:cubicBezTo>
                <a:cubicBezTo>
                  <a:pt x="17858" y="18660"/>
                  <a:pt x="17941" y="18760"/>
                  <a:pt x="17921" y="18951"/>
                </a:cubicBezTo>
                <a:cubicBezTo>
                  <a:pt x="17904" y="19108"/>
                  <a:pt x="17935" y="19195"/>
                  <a:pt x="17982" y="19131"/>
                </a:cubicBezTo>
                <a:cubicBezTo>
                  <a:pt x="18004" y="19101"/>
                  <a:pt x="18026" y="19091"/>
                  <a:pt x="18036" y="19108"/>
                </a:cubicBezTo>
                <a:cubicBezTo>
                  <a:pt x="18047" y="19125"/>
                  <a:pt x="18074" y="19118"/>
                  <a:pt x="18097" y="19086"/>
                </a:cubicBezTo>
                <a:cubicBezTo>
                  <a:pt x="18143" y="19023"/>
                  <a:pt x="18196" y="19093"/>
                  <a:pt x="18165" y="19176"/>
                </a:cubicBezTo>
                <a:cubicBezTo>
                  <a:pt x="18156" y="19200"/>
                  <a:pt x="18172" y="19226"/>
                  <a:pt x="18199" y="19243"/>
                </a:cubicBezTo>
                <a:cubicBezTo>
                  <a:pt x="18237" y="19267"/>
                  <a:pt x="18240" y="19289"/>
                  <a:pt x="18213" y="19333"/>
                </a:cubicBezTo>
                <a:cubicBezTo>
                  <a:pt x="18165" y="19412"/>
                  <a:pt x="18168" y="19477"/>
                  <a:pt x="18220" y="19445"/>
                </a:cubicBezTo>
                <a:cubicBezTo>
                  <a:pt x="18283" y="19405"/>
                  <a:pt x="18455" y="19617"/>
                  <a:pt x="18417" y="19692"/>
                </a:cubicBezTo>
                <a:cubicBezTo>
                  <a:pt x="18388" y="19750"/>
                  <a:pt x="18407" y="19910"/>
                  <a:pt x="18444" y="19916"/>
                </a:cubicBezTo>
                <a:cubicBezTo>
                  <a:pt x="18455" y="19918"/>
                  <a:pt x="18504" y="19927"/>
                  <a:pt x="18560" y="19938"/>
                </a:cubicBezTo>
                <a:cubicBezTo>
                  <a:pt x="18616" y="19950"/>
                  <a:pt x="18683" y="19944"/>
                  <a:pt x="18703" y="19916"/>
                </a:cubicBezTo>
                <a:cubicBezTo>
                  <a:pt x="18786" y="19803"/>
                  <a:pt x="18895" y="19993"/>
                  <a:pt x="18880" y="20219"/>
                </a:cubicBezTo>
                <a:cubicBezTo>
                  <a:pt x="18872" y="20332"/>
                  <a:pt x="18886" y="20343"/>
                  <a:pt x="18975" y="20331"/>
                </a:cubicBezTo>
                <a:cubicBezTo>
                  <a:pt x="19073" y="20318"/>
                  <a:pt x="19157" y="20413"/>
                  <a:pt x="19125" y="20499"/>
                </a:cubicBezTo>
                <a:cubicBezTo>
                  <a:pt x="19116" y="20524"/>
                  <a:pt x="19132" y="20584"/>
                  <a:pt x="19166" y="20634"/>
                </a:cubicBezTo>
                <a:cubicBezTo>
                  <a:pt x="19214" y="20707"/>
                  <a:pt x="19282" y="20726"/>
                  <a:pt x="19485" y="20735"/>
                </a:cubicBezTo>
                <a:cubicBezTo>
                  <a:pt x="19821" y="20750"/>
                  <a:pt x="19863" y="20769"/>
                  <a:pt x="19866" y="20881"/>
                </a:cubicBezTo>
                <a:cubicBezTo>
                  <a:pt x="19875" y="21141"/>
                  <a:pt x="20018" y="21220"/>
                  <a:pt x="20173" y="21061"/>
                </a:cubicBezTo>
                <a:cubicBezTo>
                  <a:pt x="20222" y="21009"/>
                  <a:pt x="20252" y="21011"/>
                  <a:pt x="20295" y="21049"/>
                </a:cubicBezTo>
                <a:cubicBezTo>
                  <a:pt x="20327" y="21078"/>
                  <a:pt x="20364" y="21088"/>
                  <a:pt x="20377" y="21083"/>
                </a:cubicBezTo>
                <a:cubicBezTo>
                  <a:pt x="20426" y="21065"/>
                  <a:pt x="20564" y="21193"/>
                  <a:pt x="20547" y="21240"/>
                </a:cubicBezTo>
                <a:cubicBezTo>
                  <a:pt x="20525" y="21298"/>
                  <a:pt x="16894" y="21309"/>
                  <a:pt x="16893" y="21251"/>
                </a:cubicBezTo>
                <a:cubicBezTo>
                  <a:pt x="16879" y="20452"/>
                  <a:pt x="16907" y="17275"/>
                  <a:pt x="16927" y="17234"/>
                </a:cubicBezTo>
                <a:cubicBezTo>
                  <a:pt x="16940" y="17209"/>
                  <a:pt x="16961" y="17196"/>
                  <a:pt x="16988" y="17190"/>
                </a:cubicBezTo>
                <a:close/>
              </a:path>
            </a:pathLst>
          </a:cu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utline" showMasterSp="0">
  <p:cSld name="Outline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4"/>
          <p:cNvSpPr txBox="1"/>
          <p:nvPr>
            <p:ph idx="1" type="body"/>
          </p:nvPr>
        </p:nvSpPr>
        <p:spPr>
          <a:xfrm>
            <a:off x="768509" y="9159279"/>
            <a:ext cx="5733892" cy="399033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9pPr>
          </a:lstStyle>
          <a:p/>
        </p:txBody>
      </p:sp>
      <p:sp>
        <p:nvSpPr>
          <p:cNvPr id="27" name="Google Shape;27;p4"/>
          <p:cNvSpPr txBox="1"/>
          <p:nvPr/>
        </p:nvSpPr>
        <p:spPr>
          <a:xfrm>
            <a:off x="762000" y="762000"/>
            <a:ext cx="11467783" cy="609855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3500"/>
              <a:buFont typeface="Helvetica Neue"/>
              <a:buNone/>
            </a:pPr>
            <a:r>
              <a:rPr b="0" i="0" lang="en-US" sz="3500" u="none" cap="none" strike="noStrike">
                <a:solidFill>
                  <a:srgbClr val="D30F1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Outline</a:t>
            </a:r>
            <a:endParaRPr/>
          </a:p>
        </p:txBody>
      </p:sp>
      <p:sp>
        <p:nvSpPr>
          <p:cNvPr id="28" name="Google Shape;28;p4"/>
          <p:cNvSpPr txBox="1"/>
          <p:nvPr>
            <p:ph idx="2" type="body"/>
          </p:nvPr>
        </p:nvSpPr>
        <p:spPr>
          <a:xfrm>
            <a:off x="761999" y="1581811"/>
            <a:ext cx="11467783" cy="635001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1pPr>
            <a:lvl2pPr indent="-228600" lvl="1" marL="914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2pPr>
            <a:lvl3pPr indent="-228600" lvl="2" marL="1371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3pPr>
            <a:lvl4pPr indent="-228600" lvl="3" marL="1828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4pPr>
            <a:lvl5pPr indent="-228600" lvl="4" marL="22860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5pPr>
            <a:lvl6pPr indent="-228600" lvl="5" marL="2743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6pPr>
            <a:lvl7pPr indent="-228600" lvl="6" marL="32004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7pPr>
            <a:lvl8pPr indent="-228600" lvl="7" marL="36576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8pPr>
            <a:lvl9pPr indent="-228600" lvl="8" marL="411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800"/>
              <a:buNone/>
              <a:defRPr/>
            </a:lvl9pPr>
          </a:lstStyle>
          <a:p/>
        </p:txBody>
      </p:sp>
      <p:cxnSp>
        <p:nvCxnSpPr>
          <p:cNvPr id="29" name="Google Shape;29;p4"/>
          <p:cNvCxnSpPr/>
          <p:nvPr/>
        </p:nvCxnSpPr>
        <p:spPr>
          <a:xfrm>
            <a:off x="700892" y="9159279"/>
            <a:ext cx="10543492" cy="1"/>
          </a:xfrm>
          <a:prstGeom prst="straightConnector1">
            <a:avLst/>
          </a:prstGeom>
          <a:noFill/>
          <a:ln cap="flat" cmpd="sng" w="25400">
            <a:solidFill>
              <a:srgbClr val="5A5F5E">
                <a:alpha val="15686"/>
              </a:srgbClr>
            </a:solidFill>
            <a:prstDash val="solid"/>
            <a:miter lim="400000"/>
            <a:headEnd len="sm" w="sm" type="none"/>
            <a:tailEnd len="sm" w="sm" type="none"/>
          </a:ln>
        </p:spPr>
      </p:cxnSp>
      <p:pic>
        <p:nvPicPr>
          <p:cNvPr descr="norm_quant.jpg" id="30" name="Google Shape;30;p4"/>
          <p:cNvPicPr preferRelativeResize="0"/>
          <p:nvPr/>
        </p:nvPicPr>
        <p:blipFill rotWithShape="1">
          <a:blip r:embed="rId2">
            <a:alphaModFix/>
          </a:blip>
          <a:srcRect b="13992" l="7684" r="6266" t="12299"/>
          <a:stretch/>
        </p:blipFill>
        <p:spPr>
          <a:xfrm>
            <a:off x="11456784" y="8603504"/>
            <a:ext cx="1259216" cy="763127"/>
          </a:xfrm>
          <a:custGeom>
            <a:rect b="b" l="l" r="r" t="t"/>
            <a:pathLst>
              <a:path extrusionOk="0" h="21575" w="21588">
                <a:moveTo>
                  <a:pt x="10967" y="0"/>
                </a:moveTo>
                <a:cubicBezTo>
                  <a:pt x="10620" y="33"/>
                  <a:pt x="10344" y="274"/>
                  <a:pt x="10014" y="819"/>
                </a:cubicBezTo>
                <a:cubicBezTo>
                  <a:pt x="9987" y="865"/>
                  <a:pt x="9960" y="917"/>
                  <a:pt x="9933" y="965"/>
                </a:cubicBezTo>
                <a:cubicBezTo>
                  <a:pt x="9318" y="2043"/>
                  <a:pt x="8762" y="3752"/>
                  <a:pt x="7544" y="8281"/>
                </a:cubicBezTo>
                <a:cubicBezTo>
                  <a:pt x="7443" y="8658"/>
                  <a:pt x="7392" y="8837"/>
                  <a:pt x="7306" y="9156"/>
                </a:cubicBezTo>
                <a:cubicBezTo>
                  <a:pt x="7307" y="9189"/>
                  <a:pt x="7299" y="9214"/>
                  <a:pt x="7286" y="9223"/>
                </a:cubicBezTo>
                <a:cubicBezTo>
                  <a:pt x="7153" y="9714"/>
                  <a:pt x="7023" y="10202"/>
                  <a:pt x="6918" y="10581"/>
                </a:cubicBezTo>
                <a:cubicBezTo>
                  <a:pt x="6916" y="10589"/>
                  <a:pt x="6915" y="10608"/>
                  <a:pt x="6912" y="10614"/>
                </a:cubicBezTo>
                <a:cubicBezTo>
                  <a:pt x="6699" y="11385"/>
                  <a:pt x="6514" y="12030"/>
                  <a:pt x="6354" y="12567"/>
                </a:cubicBezTo>
                <a:cubicBezTo>
                  <a:pt x="6353" y="12580"/>
                  <a:pt x="6344" y="12593"/>
                  <a:pt x="6340" y="12600"/>
                </a:cubicBezTo>
                <a:cubicBezTo>
                  <a:pt x="6308" y="12707"/>
                  <a:pt x="6270" y="12843"/>
                  <a:pt x="6238" y="12948"/>
                </a:cubicBezTo>
                <a:cubicBezTo>
                  <a:pt x="6194" y="13093"/>
                  <a:pt x="6152" y="13213"/>
                  <a:pt x="6109" y="13352"/>
                </a:cubicBezTo>
                <a:cubicBezTo>
                  <a:pt x="6109" y="13372"/>
                  <a:pt x="6110" y="13379"/>
                  <a:pt x="6102" y="13386"/>
                </a:cubicBezTo>
                <a:cubicBezTo>
                  <a:pt x="6074" y="13476"/>
                  <a:pt x="6041" y="13567"/>
                  <a:pt x="6013" y="13655"/>
                </a:cubicBezTo>
                <a:cubicBezTo>
                  <a:pt x="6009" y="13667"/>
                  <a:pt x="6011" y="13664"/>
                  <a:pt x="6007" y="13678"/>
                </a:cubicBezTo>
                <a:cubicBezTo>
                  <a:pt x="6005" y="13683"/>
                  <a:pt x="6002" y="13684"/>
                  <a:pt x="6000" y="13689"/>
                </a:cubicBezTo>
                <a:cubicBezTo>
                  <a:pt x="5386" y="15618"/>
                  <a:pt x="4805" y="17096"/>
                  <a:pt x="4197" y="18177"/>
                </a:cubicBezTo>
                <a:cubicBezTo>
                  <a:pt x="4193" y="18190"/>
                  <a:pt x="4197" y="18196"/>
                  <a:pt x="4190" y="18211"/>
                </a:cubicBezTo>
                <a:cubicBezTo>
                  <a:pt x="4177" y="18236"/>
                  <a:pt x="4160" y="18264"/>
                  <a:pt x="4142" y="18278"/>
                </a:cubicBezTo>
                <a:cubicBezTo>
                  <a:pt x="4111" y="18331"/>
                  <a:pt x="4078" y="18383"/>
                  <a:pt x="4047" y="18435"/>
                </a:cubicBezTo>
                <a:cubicBezTo>
                  <a:pt x="4033" y="18470"/>
                  <a:pt x="4019" y="18495"/>
                  <a:pt x="3999" y="18525"/>
                </a:cubicBezTo>
                <a:cubicBezTo>
                  <a:pt x="3988" y="18543"/>
                  <a:pt x="3981" y="18547"/>
                  <a:pt x="3972" y="18558"/>
                </a:cubicBezTo>
                <a:cubicBezTo>
                  <a:pt x="3371" y="19526"/>
                  <a:pt x="2740" y="20155"/>
                  <a:pt x="2013" y="20556"/>
                </a:cubicBezTo>
                <a:cubicBezTo>
                  <a:pt x="1944" y="20594"/>
                  <a:pt x="1865" y="20631"/>
                  <a:pt x="1788" y="20668"/>
                </a:cubicBezTo>
                <a:cubicBezTo>
                  <a:pt x="1784" y="20671"/>
                  <a:pt x="1777" y="20679"/>
                  <a:pt x="1775" y="20679"/>
                </a:cubicBezTo>
                <a:cubicBezTo>
                  <a:pt x="1442" y="20836"/>
                  <a:pt x="1063" y="20965"/>
                  <a:pt x="795" y="21016"/>
                </a:cubicBezTo>
                <a:cubicBezTo>
                  <a:pt x="633" y="21046"/>
                  <a:pt x="600" y="21072"/>
                  <a:pt x="577" y="21173"/>
                </a:cubicBezTo>
                <a:cubicBezTo>
                  <a:pt x="551" y="21285"/>
                  <a:pt x="537" y="21296"/>
                  <a:pt x="284" y="21296"/>
                </a:cubicBezTo>
                <a:cubicBezTo>
                  <a:pt x="56" y="21296"/>
                  <a:pt x="17" y="21301"/>
                  <a:pt x="5" y="21375"/>
                </a:cubicBezTo>
                <a:cubicBezTo>
                  <a:pt x="-2" y="21422"/>
                  <a:pt x="-1" y="21487"/>
                  <a:pt x="5" y="21521"/>
                </a:cubicBezTo>
                <a:cubicBezTo>
                  <a:pt x="22" y="21600"/>
                  <a:pt x="21568" y="21589"/>
                  <a:pt x="21561" y="21509"/>
                </a:cubicBezTo>
                <a:cubicBezTo>
                  <a:pt x="21558" y="21482"/>
                  <a:pt x="21567" y="21428"/>
                  <a:pt x="21581" y="21386"/>
                </a:cubicBezTo>
                <a:cubicBezTo>
                  <a:pt x="21598" y="21334"/>
                  <a:pt x="21584" y="21269"/>
                  <a:pt x="21540" y="21184"/>
                </a:cubicBezTo>
                <a:cubicBezTo>
                  <a:pt x="21484" y="21076"/>
                  <a:pt x="21424" y="21043"/>
                  <a:pt x="21146" y="20971"/>
                </a:cubicBezTo>
                <a:cubicBezTo>
                  <a:pt x="21141" y="20972"/>
                  <a:pt x="21142" y="20972"/>
                  <a:pt x="21139" y="20971"/>
                </a:cubicBezTo>
                <a:cubicBezTo>
                  <a:pt x="21006" y="20936"/>
                  <a:pt x="20876" y="20891"/>
                  <a:pt x="20751" y="20847"/>
                </a:cubicBezTo>
                <a:cubicBezTo>
                  <a:pt x="20709" y="20840"/>
                  <a:pt x="20670" y="20832"/>
                  <a:pt x="20656" y="20814"/>
                </a:cubicBezTo>
                <a:cubicBezTo>
                  <a:pt x="20474" y="20746"/>
                  <a:pt x="20298" y="20667"/>
                  <a:pt x="20132" y="20578"/>
                </a:cubicBezTo>
                <a:cubicBezTo>
                  <a:pt x="20125" y="20578"/>
                  <a:pt x="20118" y="20574"/>
                  <a:pt x="20111" y="20567"/>
                </a:cubicBezTo>
                <a:cubicBezTo>
                  <a:pt x="19679" y="20332"/>
                  <a:pt x="19291" y="20019"/>
                  <a:pt x="18928" y="19613"/>
                </a:cubicBezTo>
                <a:cubicBezTo>
                  <a:pt x="18919" y="19605"/>
                  <a:pt x="18916" y="19600"/>
                  <a:pt x="18907" y="19591"/>
                </a:cubicBezTo>
                <a:cubicBezTo>
                  <a:pt x="18900" y="19583"/>
                  <a:pt x="18893" y="19576"/>
                  <a:pt x="18887" y="19568"/>
                </a:cubicBezTo>
                <a:cubicBezTo>
                  <a:pt x="18830" y="19503"/>
                  <a:pt x="18779" y="19436"/>
                  <a:pt x="18723" y="19366"/>
                </a:cubicBezTo>
                <a:cubicBezTo>
                  <a:pt x="18720" y="19367"/>
                  <a:pt x="18714" y="19365"/>
                  <a:pt x="18710" y="19366"/>
                </a:cubicBezTo>
                <a:cubicBezTo>
                  <a:pt x="18686" y="19371"/>
                  <a:pt x="18627" y="19281"/>
                  <a:pt x="18587" y="19198"/>
                </a:cubicBezTo>
                <a:cubicBezTo>
                  <a:pt x="18510" y="19095"/>
                  <a:pt x="18432" y="18985"/>
                  <a:pt x="18356" y="18873"/>
                </a:cubicBezTo>
                <a:cubicBezTo>
                  <a:pt x="18353" y="18871"/>
                  <a:pt x="18351" y="18864"/>
                  <a:pt x="18349" y="18861"/>
                </a:cubicBezTo>
                <a:cubicBezTo>
                  <a:pt x="18294" y="18780"/>
                  <a:pt x="18240" y="18702"/>
                  <a:pt x="18186" y="18614"/>
                </a:cubicBezTo>
                <a:cubicBezTo>
                  <a:pt x="17775" y="17959"/>
                  <a:pt x="17463" y="17349"/>
                  <a:pt x="17104" y="16483"/>
                </a:cubicBezTo>
                <a:cubicBezTo>
                  <a:pt x="17087" y="16455"/>
                  <a:pt x="17076" y="16412"/>
                  <a:pt x="17063" y="16370"/>
                </a:cubicBezTo>
                <a:cubicBezTo>
                  <a:pt x="17061" y="16363"/>
                  <a:pt x="17058" y="16366"/>
                  <a:pt x="17056" y="16359"/>
                </a:cubicBezTo>
                <a:cubicBezTo>
                  <a:pt x="17037" y="16312"/>
                  <a:pt x="17022" y="16274"/>
                  <a:pt x="17002" y="16225"/>
                </a:cubicBezTo>
                <a:cubicBezTo>
                  <a:pt x="16863" y="15881"/>
                  <a:pt x="16729" y="15535"/>
                  <a:pt x="16601" y="15181"/>
                </a:cubicBezTo>
                <a:cubicBezTo>
                  <a:pt x="16592" y="15163"/>
                  <a:pt x="16592" y="15152"/>
                  <a:pt x="16587" y="15136"/>
                </a:cubicBezTo>
                <a:cubicBezTo>
                  <a:pt x="16315" y="14383"/>
                  <a:pt x="16029" y="13464"/>
                  <a:pt x="15696" y="12320"/>
                </a:cubicBezTo>
                <a:cubicBezTo>
                  <a:pt x="15679" y="12291"/>
                  <a:pt x="15664" y="12242"/>
                  <a:pt x="15648" y="12163"/>
                </a:cubicBezTo>
                <a:cubicBezTo>
                  <a:pt x="15514" y="11699"/>
                  <a:pt x="15366" y="11192"/>
                  <a:pt x="15206" y="10614"/>
                </a:cubicBezTo>
                <a:cubicBezTo>
                  <a:pt x="15192" y="10579"/>
                  <a:pt x="15181" y="10530"/>
                  <a:pt x="15172" y="10480"/>
                </a:cubicBezTo>
                <a:cubicBezTo>
                  <a:pt x="15085" y="10167"/>
                  <a:pt x="14989" y="9822"/>
                  <a:pt x="14893" y="9470"/>
                </a:cubicBezTo>
                <a:cubicBezTo>
                  <a:pt x="14885" y="9463"/>
                  <a:pt x="14879" y="9447"/>
                  <a:pt x="14879" y="9425"/>
                </a:cubicBezTo>
                <a:cubicBezTo>
                  <a:pt x="14786" y="9084"/>
                  <a:pt x="14717" y="8830"/>
                  <a:pt x="14614" y="8449"/>
                </a:cubicBezTo>
                <a:cubicBezTo>
                  <a:pt x="14560" y="8250"/>
                  <a:pt x="14541" y="8183"/>
                  <a:pt x="14491" y="8000"/>
                </a:cubicBezTo>
                <a:cubicBezTo>
                  <a:pt x="13853" y="5643"/>
                  <a:pt x="13510" y="4430"/>
                  <a:pt x="13233" y="3579"/>
                </a:cubicBezTo>
                <a:cubicBezTo>
                  <a:pt x="12600" y="1643"/>
                  <a:pt x="12102" y="617"/>
                  <a:pt x="11593" y="202"/>
                </a:cubicBezTo>
                <a:cubicBezTo>
                  <a:pt x="11414" y="56"/>
                  <a:pt x="11335" y="16"/>
                  <a:pt x="11157" y="0"/>
                </a:cubicBezTo>
                <a:lnTo>
                  <a:pt x="11008" y="0"/>
                </a:lnTo>
                <a:lnTo>
                  <a:pt x="10967" y="0"/>
                </a:lnTo>
                <a:close/>
                <a:moveTo>
                  <a:pt x="16988" y="17190"/>
                </a:moveTo>
                <a:cubicBezTo>
                  <a:pt x="17071" y="17171"/>
                  <a:pt x="17192" y="17226"/>
                  <a:pt x="17192" y="17313"/>
                </a:cubicBezTo>
                <a:cubicBezTo>
                  <a:pt x="17192" y="17341"/>
                  <a:pt x="17221" y="17424"/>
                  <a:pt x="17254" y="17492"/>
                </a:cubicBezTo>
                <a:cubicBezTo>
                  <a:pt x="17286" y="17561"/>
                  <a:pt x="17304" y="17636"/>
                  <a:pt x="17295" y="17661"/>
                </a:cubicBezTo>
                <a:cubicBezTo>
                  <a:pt x="17285" y="17685"/>
                  <a:pt x="17273" y="17771"/>
                  <a:pt x="17267" y="17852"/>
                </a:cubicBezTo>
                <a:cubicBezTo>
                  <a:pt x="17255" y="18013"/>
                  <a:pt x="17313" y="18045"/>
                  <a:pt x="17376" y="17919"/>
                </a:cubicBezTo>
                <a:cubicBezTo>
                  <a:pt x="17419" y="17833"/>
                  <a:pt x="17474" y="17875"/>
                  <a:pt x="17451" y="17975"/>
                </a:cubicBezTo>
                <a:cubicBezTo>
                  <a:pt x="17441" y="18018"/>
                  <a:pt x="17458" y="18042"/>
                  <a:pt x="17492" y="18042"/>
                </a:cubicBezTo>
                <a:cubicBezTo>
                  <a:pt x="17571" y="18042"/>
                  <a:pt x="17588" y="18100"/>
                  <a:pt x="17539" y="18188"/>
                </a:cubicBezTo>
                <a:cubicBezTo>
                  <a:pt x="17501" y="18258"/>
                  <a:pt x="17509" y="18267"/>
                  <a:pt x="17594" y="18267"/>
                </a:cubicBezTo>
                <a:cubicBezTo>
                  <a:pt x="17687" y="18266"/>
                  <a:pt x="17689" y="18275"/>
                  <a:pt x="17689" y="18491"/>
                </a:cubicBezTo>
                <a:cubicBezTo>
                  <a:pt x="17689" y="18679"/>
                  <a:pt x="17701" y="18747"/>
                  <a:pt x="17737" y="18727"/>
                </a:cubicBezTo>
                <a:cubicBezTo>
                  <a:pt x="17858" y="18660"/>
                  <a:pt x="17941" y="18760"/>
                  <a:pt x="17921" y="18951"/>
                </a:cubicBezTo>
                <a:cubicBezTo>
                  <a:pt x="17904" y="19108"/>
                  <a:pt x="17935" y="19195"/>
                  <a:pt x="17982" y="19131"/>
                </a:cubicBezTo>
                <a:cubicBezTo>
                  <a:pt x="18004" y="19101"/>
                  <a:pt x="18026" y="19091"/>
                  <a:pt x="18036" y="19108"/>
                </a:cubicBezTo>
                <a:cubicBezTo>
                  <a:pt x="18047" y="19125"/>
                  <a:pt x="18074" y="19118"/>
                  <a:pt x="18097" y="19086"/>
                </a:cubicBezTo>
                <a:cubicBezTo>
                  <a:pt x="18143" y="19023"/>
                  <a:pt x="18196" y="19093"/>
                  <a:pt x="18165" y="19176"/>
                </a:cubicBezTo>
                <a:cubicBezTo>
                  <a:pt x="18156" y="19200"/>
                  <a:pt x="18172" y="19226"/>
                  <a:pt x="18199" y="19243"/>
                </a:cubicBezTo>
                <a:cubicBezTo>
                  <a:pt x="18237" y="19267"/>
                  <a:pt x="18240" y="19289"/>
                  <a:pt x="18213" y="19333"/>
                </a:cubicBezTo>
                <a:cubicBezTo>
                  <a:pt x="18165" y="19412"/>
                  <a:pt x="18168" y="19477"/>
                  <a:pt x="18220" y="19445"/>
                </a:cubicBezTo>
                <a:cubicBezTo>
                  <a:pt x="18283" y="19405"/>
                  <a:pt x="18455" y="19617"/>
                  <a:pt x="18417" y="19692"/>
                </a:cubicBezTo>
                <a:cubicBezTo>
                  <a:pt x="18388" y="19750"/>
                  <a:pt x="18407" y="19910"/>
                  <a:pt x="18444" y="19916"/>
                </a:cubicBezTo>
                <a:cubicBezTo>
                  <a:pt x="18455" y="19918"/>
                  <a:pt x="18504" y="19927"/>
                  <a:pt x="18560" y="19938"/>
                </a:cubicBezTo>
                <a:cubicBezTo>
                  <a:pt x="18616" y="19950"/>
                  <a:pt x="18683" y="19944"/>
                  <a:pt x="18703" y="19916"/>
                </a:cubicBezTo>
                <a:cubicBezTo>
                  <a:pt x="18786" y="19803"/>
                  <a:pt x="18895" y="19993"/>
                  <a:pt x="18880" y="20219"/>
                </a:cubicBezTo>
                <a:cubicBezTo>
                  <a:pt x="18872" y="20332"/>
                  <a:pt x="18886" y="20343"/>
                  <a:pt x="18975" y="20331"/>
                </a:cubicBezTo>
                <a:cubicBezTo>
                  <a:pt x="19073" y="20318"/>
                  <a:pt x="19157" y="20413"/>
                  <a:pt x="19125" y="20499"/>
                </a:cubicBezTo>
                <a:cubicBezTo>
                  <a:pt x="19116" y="20524"/>
                  <a:pt x="19132" y="20584"/>
                  <a:pt x="19166" y="20634"/>
                </a:cubicBezTo>
                <a:cubicBezTo>
                  <a:pt x="19214" y="20707"/>
                  <a:pt x="19282" y="20726"/>
                  <a:pt x="19485" y="20735"/>
                </a:cubicBezTo>
                <a:cubicBezTo>
                  <a:pt x="19821" y="20750"/>
                  <a:pt x="19863" y="20769"/>
                  <a:pt x="19866" y="20881"/>
                </a:cubicBezTo>
                <a:cubicBezTo>
                  <a:pt x="19875" y="21141"/>
                  <a:pt x="20018" y="21220"/>
                  <a:pt x="20173" y="21061"/>
                </a:cubicBezTo>
                <a:cubicBezTo>
                  <a:pt x="20222" y="21009"/>
                  <a:pt x="20252" y="21011"/>
                  <a:pt x="20295" y="21049"/>
                </a:cubicBezTo>
                <a:cubicBezTo>
                  <a:pt x="20327" y="21078"/>
                  <a:pt x="20364" y="21088"/>
                  <a:pt x="20377" y="21083"/>
                </a:cubicBezTo>
                <a:cubicBezTo>
                  <a:pt x="20426" y="21065"/>
                  <a:pt x="20564" y="21193"/>
                  <a:pt x="20547" y="21240"/>
                </a:cubicBezTo>
                <a:cubicBezTo>
                  <a:pt x="20525" y="21298"/>
                  <a:pt x="16894" y="21309"/>
                  <a:pt x="16893" y="21251"/>
                </a:cubicBezTo>
                <a:cubicBezTo>
                  <a:pt x="16879" y="20452"/>
                  <a:pt x="16907" y="17275"/>
                  <a:pt x="16927" y="17234"/>
                </a:cubicBezTo>
                <a:cubicBezTo>
                  <a:pt x="16940" y="17209"/>
                  <a:pt x="16961" y="17196"/>
                  <a:pt x="16988" y="17190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31" name="Google Shape;31;p4"/>
          <p:cNvSpPr txBox="1"/>
          <p:nvPr>
            <p:ph idx="12" type="sldNum"/>
          </p:nvPr>
        </p:nvSpPr>
        <p:spPr>
          <a:xfrm>
            <a:off x="11741879" y="213147"/>
            <a:ext cx="494413" cy="399033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600">
              <a:solidFill>
                <a:srgbClr val="535353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copy" type="title">
  <p:cSld name="TITLE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6"/>
          <p:cNvSpPr txBox="1"/>
          <p:nvPr>
            <p:ph idx="1" type="body"/>
          </p:nvPr>
        </p:nvSpPr>
        <p:spPr>
          <a:xfrm>
            <a:off x="773350" y="2345153"/>
            <a:ext cx="11458100" cy="17607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5500"/>
              <a:buFont typeface="Helvetica Neue Light"/>
              <a:buNone/>
              <a:defRPr b="0" i="0" sz="5500" u="none" cap="none" strike="noStrik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/>
        </p:txBody>
      </p:sp>
      <p:sp>
        <p:nvSpPr>
          <p:cNvPr id="37" name="Google Shape;37;p6"/>
          <p:cNvSpPr txBox="1"/>
          <p:nvPr>
            <p:ph idx="12" type="sldNum"/>
          </p:nvPr>
        </p:nvSpPr>
        <p:spPr>
          <a:xfrm>
            <a:off x="6325920" y="9271000"/>
            <a:ext cx="340260" cy="324511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>
            <a:lvl1pPr indent="0" lvl="0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b="0" i="0" sz="16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indent="0" lvl="1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b="0" i="0" sz="16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indent="0" lvl="2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b="0" i="0" sz="16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indent="0" lvl="3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b="0" i="0" sz="16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indent="0" lvl="4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b="0" i="0" sz="16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indent="0" lvl="5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b="0" i="0" sz="16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indent="0" lvl="6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b="0" i="0" sz="16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indent="0" lvl="7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b="0" i="0" sz="16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indent="0" lvl="8" marL="0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b="0" i="0" sz="16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utline" showMasterSp="0">
  <p:cSld name="Outline">
    <p:bg>
      <p:bgPr>
        <a:noFill/>
      </p:bgPr>
    </p:bg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7"/>
          <p:cNvSpPr txBox="1"/>
          <p:nvPr>
            <p:ph idx="1" type="body"/>
          </p:nvPr>
        </p:nvSpPr>
        <p:spPr>
          <a:xfrm>
            <a:off x="768509" y="9159279"/>
            <a:ext cx="5733892" cy="39903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b="0" i="0" sz="2000" u="none" cap="none" strike="noStrike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/>
        </p:txBody>
      </p:sp>
      <p:sp>
        <p:nvSpPr>
          <p:cNvPr id="40" name="Google Shape;40;p7"/>
          <p:cNvSpPr txBox="1"/>
          <p:nvPr/>
        </p:nvSpPr>
        <p:spPr>
          <a:xfrm>
            <a:off x="762000" y="762000"/>
            <a:ext cx="11467783" cy="609855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3600"/>
              <a:buFont typeface="Helvetica Neue"/>
              <a:buNone/>
            </a:pPr>
            <a:r>
              <a:rPr b="0" i="0" lang="en-US" sz="3600" u="none" cap="none" strike="noStrike">
                <a:solidFill>
                  <a:srgbClr val="D30F11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Outline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7"/>
          <p:cNvSpPr txBox="1"/>
          <p:nvPr>
            <p:ph idx="2" type="body"/>
          </p:nvPr>
        </p:nvSpPr>
        <p:spPr>
          <a:xfrm>
            <a:off x="761999" y="1581811"/>
            <a:ext cx="11467783" cy="63500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Helvetica Neue Light"/>
              <a:buNone/>
              <a:defRPr b="0" i="0" sz="3000" u="none" cap="none" strike="noStrik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/>
        </p:txBody>
      </p:sp>
      <p:cxnSp>
        <p:nvCxnSpPr>
          <p:cNvPr id="42" name="Google Shape;42;p7"/>
          <p:cNvCxnSpPr/>
          <p:nvPr/>
        </p:nvCxnSpPr>
        <p:spPr>
          <a:xfrm>
            <a:off x="700892" y="9159279"/>
            <a:ext cx="10543492" cy="1"/>
          </a:xfrm>
          <a:prstGeom prst="straightConnector1">
            <a:avLst/>
          </a:prstGeom>
          <a:noFill/>
          <a:ln cap="flat" cmpd="sng" w="25400">
            <a:solidFill>
              <a:srgbClr val="5A5F5E">
                <a:alpha val="15294"/>
              </a:srgbClr>
            </a:solidFill>
            <a:prstDash val="solid"/>
            <a:miter lim="400000"/>
            <a:headEnd len="sm" w="sm" type="none"/>
            <a:tailEnd len="sm" w="sm" type="none"/>
          </a:ln>
        </p:spPr>
      </p:cxnSp>
      <p:pic>
        <p:nvPicPr>
          <p:cNvPr descr="norm_quant.jpg" id="43" name="Google Shape;43;p7"/>
          <p:cNvPicPr preferRelativeResize="0"/>
          <p:nvPr/>
        </p:nvPicPr>
        <p:blipFill rotWithShape="1">
          <a:blip r:embed="rId2">
            <a:alphaModFix/>
          </a:blip>
          <a:srcRect b="13992" l="7684" r="6265" t="12299"/>
          <a:stretch/>
        </p:blipFill>
        <p:spPr>
          <a:xfrm>
            <a:off x="11456784" y="8603504"/>
            <a:ext cx="1259216" cy="763127"/>
          </a:xfrm>
          <a:custGeom>
            <a:rect b="b" l="l" r="r" t="t"/>
            <a:pathLst>
              <a:path extrusionOk="0" h="21575" w="21588">
                <a:moveTo>
                  <a:pt x="10967" y="0"/>
                </a:moveTo>
                <a:cubicBezTo>
                  <a:pt x="10620" y="33"/>
                  <a:pt x="10344" y="274"/>
                  <a:pt x="10014" y="819"/>
                </a:cubicBezTo>
                <a:cubicBezTo>
                  <a:pt x="9987" y="865"/>
                  <a:pt x="9960" y="917"/>
                  <a:pt x="9933" y="965"/>
                </a:cubicBezTo>
                <a:cubicBezTo>
                  <a:pt x="9318" y="2043"/>
                  <a:pt x="8762" y="3752"/>
                  <a:pt x="7544" y="8281"/>
                </a:cubicBezTo>
                <a:cubicBezTo>
                  <a:pt x="7443" y="8658"/>
                  <a:pt x="7392" y="8837"/>
                  <a:pt x="7306" y="9156"/>
                </a:cubicBezTo>
                <a:cubicBezTo>
                  <a:pt x="7307" y="9189"/>
                  <a:pt x="7299" y="9214"/>
                  <a:pt x="7286" y="9223"/>
                </a:cubicBezTo>
                <a:cubicBezTo>
                  <a:pt x="7153" y="9714"/>
                  <a:pt x="7023" y="10202"/>
                  <a:pt x="6918" y="10581"/>
                </a:cubicBezTo>
                <a:cubicBezTo>
                  <a:pt x="6916" y="10589"/>
                  <a:pt x="6915" y="10608"/>
                  <a:pt x="6912" y="10614"/>
                </a:cubicBezTo>
                <a:cubicBezTo>
                  <a:pt x="6699" y="11385"/>
                  <a:pt x="6514" y="12030"/>
                  <a:pt x="6354" y="12567"/>
                </a:cubicBezTo>
                <a:cubicBezTo>
                  <a:pt x="6353" y="12580"/>
                  <a:pt x="6344" y="12593"/>
                  <a:pt x="6340" y="12600"/>
                </a:cubicBezTo>
                <a:cubicBezTo>
                  <a:pt x="6308" y="12707"/>
                  <a:pt x="6270" y="12843"/>
                  <a:pt x="6238" y="12948"/>
                </a:cubicBezTo>
                <a:cubicBezTo>
                  <a:pt x="6194" y="13093"/>
                  <a:pt x="6152" y="13213"/>
                  <a:pt x="6109" y="13352"/>
                </a:cubicBezTo>
                <a:cubicBezTo>
                  <a:pt x="6109" y="13372"/>
                  <a:pt x="6110" y="13379"/>
                  <a:pt x="6102" y="13386"/>
                </a:cubicBezTo>
                <a:cubicBezTo>
                  <a:pt x="6074" y="13476"/>
                  <a:pt x="6041" y="13567"/>
                  <a:pt x="6013" y="13655"/>
                </a:cubicBezTo>
                <a:cubicBezTo>
                  <a:pt x="6009" y="13667"/>
                  <a:pt x="6011" y="13664"/>
                  <a:pt x="6007" y="13678"/>
                </a:cubicBezTo>
                <a:cubicBezTo>
                  <a:pt x="6005" y="13683"/>
                  <a:pt x="6002" y="13684"/>
                  <a:pt x="6000" y="13689"/>
                </a:cubicBezTo>
                <a:cubicBezTo>
                  <a:pt x="5386" y="15618"/>
                  <a:pt x="4805" y="17096"/>
                  <a:pt x="4197" y="18177"/>
                </a:cubicBezTo>
                <a:cubicBezTo>
                  <a:pt x="4193" y="18190"/>
                  <a:pt x="4197" y="18196"/>
                  <a:pt x="4190" y="18211"/>
                </a:cubicBezTo>
                <a:cubicBezTo>
                  <a:pt x="4177" y="18236"/>
                  <a:pt x="4160" y="18264"/>
                  <a:pt x="4142" y="18278"/>
                </a:cubicBezTo>
                <a:cubicBezTo>
                  <a:pt x="4111" y="18331"/>
                  <a:pt x="4078" y="18383"/>
                  <a:pt x="4047" y="18435"/>
                </a:cubicBezTo>
                <a:cubicBezTo>
                  <a:pt x="4033" y="18470"/>
                  <a:pt x="4019" y="18495"/>
                  <a:pt x="3999" y="18525"/>
                </a:cubicBezTo>
                <a:cubicBezTo>
                  <a:pt x="3988" y="18543"/>
                  <a:pt x="3981" y="18547"/>
                  <a:pt x="3972" y="18558"/>
                </a:cubicBezTo>
                <a:cubicBezTo>
                  <a:pt x="3371" y="19526"/>
                  <a:pt x="2740" y="20155"/>
                  <a:pt x="2013" y="20556"/>
                </a:cubicBezTo>
                <a:cubicBezTo>
                  <a:pt x="1944" y="20594"/>
                  <a:pt x="1865" y="20631"/>
                  <a:pt x="1788" y="20668"/>
                </a:cubicBezTo>
                <a:cubicBezTo>
                  <a:pt x="1784" y="20671"/>
                  <a:pt x="1777" y="20679"/>
                  <a:pt x="1775" y="20679"/>
                </a:cubicBezTo>
                <a:cubicBezTo>
                  <a:pt x="1442" y="20836"/>
                  <a:pt x="1063" y="20965"/>
                  <a:pt x="795" y="21016"/>
                </a:cubicBezTo>
                <a:cubicBezTo>
                  <a:pt x="633" y="21046"/>
                  <a:pt x="600" y="21072"/>
                  <a:pt x="577" y="21173"/>
                </a:cubicBezTo>
                <a:cubicBezTo>
                  <a:pt x="551" y="21285"/>
                  <a:pt x="537" y="21296"/>
                  <a:pt x="284" y="21296"/>
                </a:cubicBezTo>
                <a:cubicBezTo>
                  <a:pt x="56" y="21296"/>
                  <a:pt x="17" y="21301"/>
                  <a:pt x="5" y="21375"/>
                </a:cubicBezTo>
                <a:cubicBezTo>
                  <a:pt x="-2" y="21422"/>
                  <a:pt x="-1" y="21487"/>
                  <a:pt x="5" y="21521"/>
                </a:cubicBezTo>
                <a:cubicBezTo>
                  <a:pt x="22" y="21600"/>
                  <a:pt x="21568" y="21589"/>
                  <a:pt x="21561" y="21509"/>
                </a:cubicBezTo>
                <a:cubicBezTo>
                  <a:pt x="21558" y="21482"/>
                  <a:pt x="21567" y="21428"/>
                  <a:pt x="21581" y="21386"/>
                </a:cubicBezTo>
                <a:cubicBezTo>
                  <a:pt x="21598" y="21334"/>
                  <a:pt x="21584" y="21269"/>
                  <a:pt x="21540" y="21184"/>
                </a:cubicBezTo>
                <a:cubicBezTo>
                  <a:pt x="21484" y="21076"/>
                  <a:pt x="21424" y="21043"/>
                  <a:pt x="21146" y="20971"/>
                </a:cubicBezTo>
                <a:cubicBezTo>
                  <a:pt x="21141" y="20972"/>
                  <a:pt x="21142" y="20972"/>
                  <a:pt x="21139" y="20971"/>
                </a:cubicBezTo>
                <a:cubicBezTo>
                  <a:pt x="21006" y="20936"/>
                  <a:pt x="20876" y="20891"/>
                  <a:pt x="20751" y="20847"/>
                </a:cubicBezTo>
                <a:cubicBezTo>
                  <a:pt x="20709" y="20840"/>
                  <a:pt x="20670" y="20832"/>
                  <a:pt x="20656" y="20814"/>
                </a:cubicBezTo>
                <a:cubicBezTo>
                  <a:pt x="20474" y="20746"/>
                  <a:pt x="20298" y="20667"/>
                  <a:pt x="20132" y="20578"/>
                </a:cubicBezTo>
                <a:cubicBezTo>
                  <a:pt x="20125" y="20578"/>
                  <a:pt x="20118" y="20574"/>
                  <a:pt x="20111" y="20567"/>
                </a:cubicBezTo>
                <a:cubicBezTo>
                  <a:pt x="19679" y="20332"/>
                  <a:pt x="19291" y="20019"/>
                  <a:pt x="18928" y="19613"/>
                </a:cubicBezTo>
                <a:cubicBezTo>
                  <a:pt x="18919" y="19605"/>
                  <a:pt x="18916" y="19600"/>
                  <a:pt x="18907" y="19591"/>
                </a:cubicBezTo>
                <a:cubicBezTo>
                  <a:pt x="18900" y="19583"/>
                  <a:pt x="18893" y="19576"/>
                  <a:pt x="18887" y="19568"/>
                </a:cubicBezTo>
                <a:cubicBezTo>
                  <a:pt x="18830" y="19503"/>
                  <a:pt x="18779" y="19436"/>
                  <a:pt x="18723" y="19366"/>
                </a:cubicBezTo>
                <a:cubicBezTo>
                  <a:pt x="18720" y="19367"/>
                  <a:pt x="18714" y="19365"/>
                  <a:pt x="18710" y="19366"/>
                </a:cubicBezTo>
                <a:cubicBezTo>
                  <a:pt x="18686" y="19371"/>
                  <a:pt x="18627" y="19281"/>
                  <a:pt x="18587" y="19198"/>
                </a:cubicBezTo>
                <a:cubicBezTo>
                  <a:pt x="18510" y="19095"/>
                  <a:pt x="18432" y="18985"/>
                  <a:pt x="18356" y="18873"/>
                </a:cubicBezTo>
                <a:cubicBezTo>
                  <a:pt x="18353" y="18871"/>
                  <a:pt x="18351" y="18864"/>
                  <a:pt x="18349" y="18861"/>
                </a:cubicBezTo>
                <a:cubicBezTo>
                  <a:pt x="18294" y="18780"/>
                  <a:pt x="18240" y="18702"/>
                  <a:pt x="18186" y="18614"/>
                </a:cubicBezTo>
                <a:cubicBezTo>
                  <a:pt x="17775" y="17959"/>
                  <a:pt x="17463" y="17349"/>
                  <a:pt x="17104" y="16483"/>
                </a:cubicBezTo>
                <a:cubicBezTo>
                  <a:pt x="17087" y="16455"/>
                  <a:pt x="17076" y="16412"/>
                  <a:pt x="17063" y="16370"/>
                </a:cubicBezTo>
                <a:cubicBezTo>
                  <a:pt x="17061" y="16363"/>
                  <a:pt x="17058" y="16366"/>
                  <a:pt x="17056" y="16359"/>
                </a:cubicBezTo>
                <a:cubicBezTo>
                  <a:pt x="17037" y="16312"/>
                  <a:pt x="17022" y="16274"/>
                  <a:pt x="17002" y="16225"/>
                </a:cubicBezTo>
                <a:cubicBezTo>
                  <a:pt x="16863" y="15881"/>
                  <a:pt x="16729" y="15535"/>
                  <a:pt x="16601" y="15181"/>
                </a:cubicBezTo>
                <a:cubicBezTo>
                  <a:pt x="16592" y="15163"/>
                  <a:pt x="16592" y="15152"/>
                  <a:pt x="16587" y="15136"/>
                </a:cubicBezTo>
                <a:cubicBezTo>
                  <a:pt x="16315" y="14383"/>
                  <a:pt x="16029" y="13464"/>
                  <a:pt x="15696" y="12320"/>
                </a:cubicBezTo>
                <a:cubicBezTo>
                  <a:pt x="15679" y="12291"/>
                  <a:pt x="15664" y="12242"/>
                  <a:pt x="15648" y="12163"/>
                </a:cubicBezTo>
                <a:cubicBezTo>
                  <a:pt x="15514" y="11699"/>
                  <a:pt x="15366" y="11192"/>
                  <a:pt x="15206" y="10614"/>
                </a:cubicBezTo>
                <a:cubicBezTo>
                  <a:pt x="15192" y="10579"/>
                  <a:pt x="15181" y="10530"/>
                  <a:pt x="15172" y="10480"/>
                </a:cubicBezTo>
                <a:cubicBezTo>
                  <a:pt x="15085" y="10167"/>
                  <a:pt x="14989" y="9822"/>
                  <a:pt x="14893" y="9470"/>
                </a:cubicBezTo>
                <a:cubicBezTo>
                  <a:pt x="14885" y="9463"/>
                  <a:pt x="14879" y="9447"/>
                  <a:pt x="14879" y="9425"/>
                </a:cubicBezTo>
                <a:cubicBezTo>
                  <a:pt x="14786" y="9084"/>
                  <a:pt x="14717" y="8830"/>
                  <a:pt x="14614" y="8449"/>
                </a:cubicBezTo>
                <a:cubicBezTo>
                  <a:pt x="14560" y="8250"/>
                  <a:pt x="14541" y="8183"/>
                  <a:pt x="14491" y="8000"/>
                </a:cubicBezTo>
                <a:cubicBezTo>
                  <a:pt x="13853" y="5643"/>
                  <a:pt x="13510" y="4430"/>
                  <a:pt x="13233" y="3579"/>
                </a:cubicBezTo>
                <a:cubicBezTo>
                  <a:pt x="12600" y="1643"/>
                  <a:pt x="12102" y="617"/>
                  <a:pt x="11593" y="202"/>
                </a:cubicBezTo>
                <a:cubicBezTo>
                  <a:pt x="11414" y="56"/>
                  <a:pt x="11335" y="16"/>
                  <a:pt x="11157" y="0"/>
                </a:cubicBezTo>
                <a:lnTo>
                  <a:pt x="11008" y="0"/>
                </a:lnTo>
                <a:lnTo>
                  <a:pt x="10967" y="0"/>
                </a:lnTo>
                <a:close/>
                <a:moveTo>
                  <a:pt x="16988" y="17190"/>
                </a:moveTo>
                <a:cubicBezTo>
                  <a:pt x="17071" y="17171"/>
                  <a:pt x="17192" y="17226"/>
                  <a:pt x="17192" y="17313"/>
                </a:cubicBezTo>
                <a:cubicBezTo>
                  <a:pt x="17192" y="17341"/>
                  <a:pt x="17221" y="17424"/>
                  <a:pt x="17254" y="17492"/>
                </a:cubicBezTo>
                <a:cubicBezTo>
                  <a:pt x="17286" y="17561"/>
                  <a:pt x="17304" y="17636"/>
                  <a:pt x="17295" y="17661"/>
                </a:cubicBezTo>
                <a:cubicBezTo>
                  <a:pt x="17285" y="17685"/>
                  <a:pt x="17273" y="17771"/>
                  <a:pt x="17267" y="17852"/>
                </a:cubicBezTo>
                <a:cubicBezTo>
                  <a:pt x="17255" y="18013"/>
                  <a:pt x="17313" y="18045"/>
                  <a:pt x="17376" y="17919"/>
                </a:cubicBezTo>
                <a:cubicBezTo>
                  <a:pt x="17419" y="17833"/>
                  <a:pt x="17474" y="17875"/>
                  <a:pt x="17451" y="17975"/>
                </a:cubicBezTo>
                <a:cubicBezTo>
                  <a:pt x="17441" y="18018"/>
                  <a:pt x="17458" y="18042"/>
                  <a:pt x="17492" y="18042"/>
                </a:cubicBezTo>
                <a:cubicBezTo>
                  <a:pt x="17571" y="18042"/>
                  <a:pt x="17588" y="18100"/>
                  <a:pt x="17539" y="18188"/>
                </a:cubicBezTo>
                <a:cubicBezTo>
                  <a:pt x="17501" y="18258"/>
                  <a:pt x="17509" y="18267"/>
                  <a:pt x="17594" y="18267"/>
                </a:cubicBezTo>
                <a:cubicBezTo>
                  <a:pt x="17687" y="18266"/>
                  <a:pt x="17689" y="18275"/>
                  <a:pt x="17689" y="18491"/>
                </a:cubicBezTo>
                <a:cubicBezTo>
                  <a:pt x="17689" y="18679"/>
                  <a:pt x="17701" y="18747"/>
                  <a:pt x="17737" y="18727"/>
                </a:cubicBezTo>
                <a:cubicBezTo>
                  <a:pt x="17858" y="18660"/>
                  <a:pt x="17941" y="18760"/>
                  <a:pt x="17921" y="18951"/>
                </a:cubicBezTo>
                <a:cubicBezTo>
                  <a:pt x="17904" y="19108"/>
                  <a:pt x="17935" y="19195"/>
                  <a:pt x="17982" y="19131"/>
                </a:cubicBezTo>
                <a:cubicBezTo>
                  <a:pt x="18004" y="19101"/>
                  <a:pt x="18026" y="19091"/>
                  <a:pt x="18036" y="19108"/>
                </a:cubicBezTo>
                <a:cubicBezTo>
                  <a:pt x="18047" y="19125"/>
                  <a:pt x="18074" y="19118"/>
                  <a:pt x="18097" y="19086"/>
                </a:cubicBezTo>
                <a:cubicBezTo>
                  <a:pt x="18143" y="19023"/>
                  <a:pt x="18196" y="19093"/>
                  <a:pt x="18165" y="19176"/>
                </a:cubicBezTo>
                <a:cubicBezTo>
                  <a:pt x="18156" y="19200"/>
                  <a:pt x="18172" y="19226"/>
                  <a:pt x="18199" y="19243"/>
                </a:cubicBezTo>
                <a:cubicBezTo>
                  <a:pt x="18237" y="19267"/>
                  <a:pt x="18240" y="19289"/>
                  <a:pt x="18213" y="19333"/>
                </a:cubicBezTo>
                <a:cubicBezTo>
                  <a:pt x="18165" y="19412"/>
                  <a:pt x="18168" y="19477"/>
                  <a:pt x="18220" y="19445"/>
                </a:cubicBezTo>
                <a:cubicBezTo>
                  <a:pt x="18283" y="19405"/>
                  <a:pt x="18455" y="19617"/>
                  <a:pt x="18417" y="19692"/>
                </a:cubicBezTo>
                <a:cubicBezTo>
                  <a:pt x="18388" y="19750"/>
                  <a:pt x="18407" y="19910"/>
                  <a:pt x="18444" y="19916"/>
                </a:cubicBezTo>
                <a:cubicBezTo>
                  <a:pt x="18455" y="19918"/>
                  <a:pt x="18504" y="19927"/>
                  <a:pt x="18560" y="19938"/>
                </a:cubicBezTo>
                <a:cubicBezTo>
                  <a:pt x="18616" y="19950"/>
                  <a:pt x="18683" y="19944"/>
                  <a:pt x="18703" y="19916"/>
                </a:cubicBezTo>
                <a:cubicBezTo>
                  <a:pt x="18786" y="19803"/>
                  <a:pt x="18895" y="19993"/>
                  <a:pt x="18880" y="20219"/>
                </a:cubicBezTo>
                <a:cubicBezTo>
                  <a:pt x="18872" y="20332"/>
                  <a:pt x="18886" y="20343"/>
                  <a:pt x="18975" y="20331"/>
                </a:cubicBezTo>
                <a:cubicBezTo>
                  <a:pt x="19073" y="20318"/>
                  <a:pt x="19157" y="20413"/>
                  <a:pt x="19125" y="20499"/>
                </a:cubicBezTo>
                <a:cubicBezTo>
                  <a:pt x="19116" y="20524"/>
                  <a:pt x="19132" y="20584"/>
                  <a:pt x="19166" y="20634"/>
                </a:cubicBezTo>
                <a:cubicBezTo>
                  <a:pt x="19214" y="20707"/>
                  <a:pt x="19282" y="20726"/>
                  <a:pt x="19485" y="20735"/>
                </a:cubicBezTo>
                <a:cubicBezTo>
                  <a:pt x="19821" y="20750"/>
                  <a:pt x="19863" y="20769"/>
                  <a:pt x="19866" y="20881"/>
                </a:cubicBezTo>
                <a:cubicBezTo>
                  <a:pt x="19875" y="21141"/>
                  <a:pt x="20018" y="21220"/>
                  <a:pt x="20173" y="21061"/>
                </a:cubicBezTo>
                <a:cubicBezTo>
                  <a:pt x="20222" y="21009"/>
                  <a:pt x="20252" y="21011"/>
                  <a:pt x="20295" y="21049"/>
                </a:cubicBezTo>
                <a:cubicBezTo>
                  <a:pt x="20327" y="21078"/>
                  <a:pt x="20364" y="21088"/>
                  <a:pt x="20377" y="21083"/>
                </a:cubicBezTo>
                <a:cubicBezTo>
                  <a:pt x="20426" y="21065"/>
                  <a:pt x="20564" y="21193"/>
                  <a:pt x="20547" y="21240"/>
                </a:cubicBezTo>
                <a:cubicBezTo>
                  <a:pt x="20525" y="21298"/>
                  <a:pt x="16894" y="21309"/>
                  <a:pt x="16893" y="21251"/>
                </a:cubicBezTo>
                <a:cubicBezTo>
                  <a:pt x="16879" y="20452"/>
                  <a:pt x="16907" y="17275"/>
                  <a:pt x="16927" y="17234"/>
                </a:cubicBezTo>
                <a:cubicBezTo>
                  <a:pt x="16940" y="17209"/>
                  <a:pt x="16961" y="17196"/>
                  <a:pt x="16988" y="17190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44" name="Google Shape;44;p7"/>
          <p:cNvSpPr txBox="1"/>
          <p:nvPr>
            <p:ph idx="12" type="sldNum"/>
          </p:nvPr>
        </p:nvSpPr>
        <p:spPr>
          <a:xfrm>
            <a:off x="11741879" y="213147"/>
            <a:ext cx="494413" cy="399033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b="0" i="0" sz="2000" u="none" cap="none" strike="noStrike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b="0" i="0" sz="2000" u="none" cap="none" strike="noStrike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b="0" i="0" sz="2000" u="none" cap="none" strike="noStrike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b="0" i="0" sz="2000" u="none" cap="none" strike="noStrike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b="0" i="0" sz="2000" u="none" cap="none" strike="noStrike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b="0" i="0" sz="2000" u="none" cap="none" strike="noStrike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b="0" i="0" sz="2000" u="none" cap="none" strike="noStrike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b="0" i="0" sz="2000" u="none" cap="none" strike="noStrike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b="0" i="0" sz="2000" u="none" cap="none" strike="noStrike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" showMasterSp="0">
  <p:cSld name="Conten">
    <p:bg>
      <p:bgPr>
        <a:noFill/>
      </p:bgPr>
    </p:bg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8"/>
          <p:cNvSpPr txBox="1"/>
          <p:nvPr>
            <p:ph idx="12" type="sldNum"/>
          </p:nvPr>
        </p:nvSpPr>
        <p:spPr>
          <a:xfrm>
            <a:off x="11741879" y="213147"/>
            <a:ext cx="494413" cy="399033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b="0" i="0" sz="2000" u="none" cap="none" strike="noStrike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b="0" i="0" sz="2000" u="none" cap="none" strike="noStrike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b="0" i="0" sz="2000" u="none" cap="none" strike="noStrike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b="0" i="0" sz="2000" u="none" cap="none" strike="noStrike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b="0" i="0" sz="2000" u="none" cap="none" strike="noStrike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b="0" i="0" sz="2000" u="none" cap="none" strike="noStrike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b="0" i="0" sz="2000" u="none" cap="none" strike="noStrike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b="0" i="0" sz="2000" u="none" cap="none" strike="noStrike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b="0" i="0" sz="2000" u="none" cap="none" strike="noStrike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47" name="Google Shape;47;p8"/>
          <p:cNvCxnSpPr/>
          <p:nvPr/>
        </p:nvCxnSpPr>
        <p:spPr>
          <a:xfrm>
            <a:off x="761999" y="624879"/>
            <a:ext cx="11474292" cy="1"/>
          </a:xfrm>
          <a:prstGeom prst="straightConnector1">
            <a:avLst/>
          </a:prstGeom>
          <a:noFill/>
          <a:ln cap="flat" cmpd="sng" w="25400">
            <a:solidFill>
              <a:srgbClr val="5A5F5E">
                <a:alpha val="15294"/>
              </a:srgbClr>
            </a:solidFill>
            <a:prstDash val="solid"/>
            <a:miter lim="400000"/>
            <a:headEnd len="sm" w="sm" type="none"/>
            <a:tailEnd len="sm" w="sm" type="none"/>
          </a:ln>
        </p:spPr>
      </p:cxnSp>
      <p:sp>
        <p:nvSpPr>
          <p:cNvPr id="48" name="Google Shape;48;p8"/>
          <p:cNvSpPr txBox="1"/>
          <p:nvPr>
            <p:ph idx="1" type="body"/>
          </p:nvPr>
        </p:nvSpPr>
        <p:spPr>
          <a:xfrm>
            <a:off x="755809" y="213147"/>
            <a:ext cx="9502858" cy="39903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  <a:defRPr b="0" i="0" sz="2000" u="none" cap="none" strike="noStrike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/>
        </p:txBody>
      </p:sp>
      <p:sp>
        <p:nvSpPr>
          <p:cNvPr id="49" name="Google Shape;49;p8"/>
          <p:cNvSpPr txBox="1"/>
          <p:nvPr>
            <p:ph idx="2" type="body"/>
          </p:nvPr>
        </p:nvSpPr>
        <p:spPr>
          <a:xfrm>
            <a:off x="762000" y="762000"/>
            <a:ext cx="11467783" cy="60985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600"/>
              <a:buFont typeface="Helvetica Neue"/>
              <a:buNone/>
              <a:defRPr b="0" i="0" sz="3600" u="none" cap="none" strike="noStrike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/>
        </p:txBody>
      </p:sp>
      <p:sp>
        <p:nvSpPr>
          <p:cNvPr id="50" name="Google Shape;50;p8"/>
          <p:cNvSpPr txBox="1"/>
          <p:nvPr>
            <p:ph idx="3" type="body"/>
          </p:nvPr>
        </p:nvSpPr>
        <p:spPr>
          <a:xfrm>
            <a:off x="761999" y="1581811"/>
            <a:ext cx="11467783" cy="68834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Font typeface="Helvetica Neue Light"/>
              <a:buNone/>
              <a:defRPr b="0" i="0" sz="3000" u="none" cap="none" strike="noStrike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/>
        </p:txBody>
      </p:sp>
      <p:sp>
        <p:nvSpPr>
          <p:cNvPr id="51" name="Google Shape;51;p8"/>
          <p:cNvSpPr txBox="1"/>
          <p:nvPr>
            <p:ph idx="4" type="body"/>
          </p:nvPr>
        </p:nvSpPr>
        <p:spPr>
          <a:xfrm>
            <a:off x="715409" y="9235479"/>
            <a:ext cx="5479247" cy="399033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sp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Helvetica Neue Light"/>
              <a:buNone/>
              <a:defRPr b="0" i="0" sz="2000" u="none" cap="none" strike="noStrike">
                <a:solidFill>
                  <a:srgbClr val="000000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/>
        </p:txBody>
      </p:sp>
      <p:cxnSp>
        <p:nvCxnSpPr>
          <p:cNvPr id="52" name="Google Shape;52;p8"/>
          <p:cNvCxnSpPr/>
          <p:nvPr/>
        </p:nvCxnSpPr>
        <p:spPr>
          <a:xfrm>
            <a:off x="700892" y="9159279"/>
            <a:ext cx="10543492" cy="1"/>
          </a:xfrm>
          <a:prstGeom prst="straightConnector1">
            <a:avLst/>
          </a:prstGeom>
          <a:noFill/>
          <a:ln cap="flat" cmpd="sng" w="25400">
            <a:solidFill>
              <a:srgbClr val="5A5F5E">
                <a:alpha val="15294"/>
              </a:srgbClr>
            </a:solidFill>
            <a:prstDash val="solid"/>
            <a:miter lim="400000"/>
            <a:headEnd len="sm" w="sm" type="none"/>
            <a:tailEnd len="sm" w="sm" type="none"/>
          </a:ln>
        </p:spPr>
      </p:cxnSp>
      <p:pic>
        <p:nvPicPr>
          <p:cNvPr descr="norm_quant.jpg" id="53" name="Google Shape;53;p8"/>
          <p:cNvPicPr preferRelativeResize="0"/>
          <p:nvPr/>
        </p:nvPicPr>
        <p:blipFill rotWithShape="1">
          <a:blip r:embed="rId2">
            <a:alphaModFix/>
          </a:blip>
          <a:srcRect b="13992" l="7684" r="6265" t="12299"/>
          <a:stretch/>
        </p:blipFill>
        <p:spPr>
          <a:xfrm>
            <a:off x="11456784" y="8603504"/>
            <a:ext cx="1259216" cy="763127"/>
          </a:xfrm>
          <a:custGeom>
            <a:rect b="b" l="l" r="r" t="t"/>
            <a:pathLst>
              <a:path extrusionOk="0" h="21575" w="21588">
                <a:moveTo>
                  <a:pt x="10967" y="0"/>
                </a:moveTo>
                <a:cubicBezTo>
                  <a:pt x="10620" y="33"/>
                  <a:pt x="10344" y="274"/>
                  <a:pt x="10014" y="819"/>
                </a:cubicBezTo>
                <a:cubicBezTo>
                  <a:pt x="9987" y="865"/>
                  <a:pt x="9960" y="917"/>
                  <a:pt x="9933" y="965"/>
                </a:cubicBezTo>
                <a:cubicBezTo>
                  <a:pt x="9318" y="2043"/>
                  <a:pt x="8762" y="3752"/>
                  <a:pt x="7544" y="8281"/>
                </a:cubicBezTo>
                <a:cubicBezTo>
                  <a:pt x="7443" y="8658"/>
                  <a:pt x="7392" y="8837"/>
                  <a:pt x="7306" y="9156"/>
                </a:cubicBezTo>
                <a:cubicBezTo>
                  <a:pt x="7307" y="9189"/>
                  <a:pt x="7299" y="9214"/>
                  <a:pt x="7286" y="9223"/>
                </a:cubicBezTo>
                <a:cubicBezTo>
                  <a:pt x="7153" y="9714"/>
                  <a:pt x="7023" y="10202"/>
                  <a:pt x="6918" y="10581"/>
                </a:cubicBezTo>
                <a:cubicBezTo>
                  <a:pt x="6916" y="10589"/>
                  <a:pt x="6915" y="10608"/>
                  <a:pt x="6912" y="10614"/>
                </a:cubicBezTo>
                <a:cubicBezTo>
                  <a:pt x="6699" y="11385"/>
                  <a:pt x="6514" y="12030"/>
                  <a:pt x="6354" y="12567"/>
                </a:cubicBezTo>
                <a:cubicBezTo>
                  <a:pt x="6353" y="12580"/>
                  <a:pt x="6344" y="12593"/>
                  <a:pt x="6340" y="12600"/>
                </a:cubicBezTo>
                <a:cubicBezTo>
                  <a:pt x="6308" y="12707"/>
                  <a:pt x="6270" y="12843"/>
                  <a:pt x="6238" y="12948"/>
                </a:cubicBezTo>
                <a:cubicBezTo>
                  <a:pt x="6194" y="13093"/>
                  <a:pt x="6152" y="13213"/>
                  <a:pt x="6109" y="13352"/>
                </a:cubicBezTo>
                <a:cubicBezTo>
                  <a:pt x="6109" y="13372"/>
                  <a:pt x="6110" y="13379"/>
                  <a:pt x="6102" y="13386"/>
                </a:cubicBezTo>
                <a:cubicBezTo>
                  <a:pt x="6074" y="13476"/>
                  <a:pt x="6041" y="13567"/>
                  <a:pt x="6013" y="13655"/>
                </a:cubicBezTo>
                <a:cubicBezTo>
                  <a:pt x="6009" y="13667"/>
                  <a:pt x="6011" y="13664"/>
                  <a:pt x="6007" y="13678"/>
                </a:cubicBezTo>
                <a:cubicBezTo>
                  <a:pt x="6005" y="13683"/>
                  <a:pt x="6002" y="13684"/>
                  <a:pt x="6000" y="13689"/>
                </a:cubicBezTo>
                <a:cubicBezTo>
                  <a:pt x="5386" y="15618"/>
                  <a:pt x="4805" y="17096"/>
                  <a:pt x="4197" y="18177"/>
                </a:cubicBezTo>
                <a:cubicBezTo>
                  <a:pt x="4193" y="18190"/>
                  <a:pt x="4197" y="18196"/>
                  <a:pt x="4190" y="18211"/>
                </a:cubicBezTo>
                <a:cubicBezTo>
                  <a:pt x="4177" y="18236"/>
                  <a:pt x="4160" y="18264"/>
                  <a:pt x="4142" y="18278"/>
                </a:cubicBezTo>
                <a:cubicBezTo>
                  <a:pt x="4111" y="18331"/>
                  <a:pt x="4078" y="18383"/>
                  <a:pt x="4047" y="18435"/>
                </a:cubicBezTo>
                <a:cubicBezTo>
                  <a:pt x="4033" y="18470"/>
                  <a:pt x="4019" y="18495"/>
                  <a:pt x="3999" y="18525"/>
                </a:cubicBezTo>
                <a:cubicBezTo>
                  <a:pt x="3988" y="18543"/>
                  <a:pt x="3981" y="18547"/>
                  <a:pt x="3972" y="18558"/>
                </a:cubicBezTo>
                <a:cubicBezTo>
                  <a:pt x="3371" y="19526"/>
                  <a:pt x="2740" y="20155"/>
                  <a:pt x="2013" y="20556"/>
                </a:cubicBezTo>
                <a:cubicBezTo>
                  <a:pt x="1944" y="20594"/>
                  <a:pt x="1865" y="20631"/>
                  <a:pt x="1788" y="20668"/>
                </a:cubicBezTo>
                <a:cubicBezTo>
                  <a:pt x="1784" y="20671"/>
                  <a:pt x="1777" y="20679"/>
                  <a:pt x="1775" y="20679"/>
                </a:cubicBezTo>
                <a:cubicBezTo>
                  <a:pt x="1442" y="20836"/>
                  <a:pt x="1063" y="20965"/>
                  <a:pt x="795" y="21016"/>
                </a:cubicBezTo>
                <a:cubicBezTo>
                  <a:pt x="633" y="21046"/>
                  <a:pt x="600" y="21072"/>
                  <a:pt x="577" y="21173"/>
                </a:cubicBezTo>
                <a:cubicBezTo>
                  <a:pt x="551" y="21285"/>
                  <a:pt x="537" y="21296"/>
                  <a:pt x="284" y="21296"/>
                </a:cubicBezTo>
                <a:cubicBezTo>
                  <a:pt x="56" y="21296"/>
                  <a:pt x="17" y="21301"/>
                  <a:pt x="5" y="21375"/>
                </a:cubicBezTo>
                <a:cubicBezTo>
                  <a:pt x="-2" y="21422"/>
                  <a:pt x="-1" y="21487"/>
                  <a:pt x="5" y="21521"/>
                </a:cubicBezTo>
                <a:cubicBezTo>
                  <a:pt x="22" y="21600"/>
                  <a:pt x="21568" y="21589"/>
                  <a:pt x="21561" y="21509"/>
                </a:cubicBezTo>
                <a:cubicBezTo>
                  <a:pt x="21558" y="21482"/>
                  <a:pt x="21567" y="21428"/>
                  <a:pt x="21581" y="21386"/>
                </a:cubicBezTo>
                <a:cubicBezTo>
                  <a:pt x="21598" y="21334"/>
                  <a:pt x="21584" y="21269"/>
                  <a:pt x="21540" y="21184"/>
                </a:cubicBezTo>
                <a:cubicBezTo>
                  <a:pt x="21484" y="21076"/>
                  <a:pt x="21424" y="21043"/>
                  <a:pt x="21146" y="20971"/>
                </a:cubicBezTo>
                <a:cubicBezTo>
                  <a:pt x="21141" y="20972"/>
                  <a:pt x="21142" y="20972"/>
                  <a:pt x="21139" y="20971"/>
                </a:cubicBezTo>
                <a:cubicBezTo>
                  <a:pt x="21006" y="20936"/>
                  <a:pt x="20876" y="20891"/>
                  <a:pt x="20751" y="20847"/>
                </a:cubicBezTo>
                <a:cubicBezTo>
                  <a:pt x="20709" y="20840"/>
                  <a:pt x="20670" y="20832"/>
                  <a:pt x="20656" y="20814"/>
                </a:cubicBezTo>
                <a:cubicBezTo>
                  <a:pt x="20474" y="20746"/>
                  <a:pt x="20298" y="20667"/>
                  <a:pt x="20132" y="20578"/>
                </a:cubicBezTo>
                <a:cubicBezTo>
                  <a:pt x="20125" y="20578"/>
                  <a:pt x="20118" y="20574"/>
                  <a:pt x="20111" y="20567"/>
                </a:cubicBezTo>
                <a:cubicBezTo>
                  <a:pt x="19679" y="20332"/>
                  <a:pt x="19291" y="20019"/>
                  <a:pt x="18928" y="19613"/>
                </a:cubicBezTo>
                <a:cubicBezTo>
                  <a:pt x="18919" y="19605"/>
                  <a:pt x="18916" y="19600"/>
                  <a:pt x="18907" y="19591"/>
                </a:cubicBezTo>
                <a:cubicBezTo>
                  <a:pt x="18900" y="19583"/>
                  <a:pt x="18893" y="19576"/>
                  <a:pt x="18887" y="19568"/>
                </a:cubicBezTo>
                <a:cubicBezTo>
                  <a:pt x="18830" y="19503"/>
                  <a:pt x="18779" y="19436"/>
                  <a:pt x="18723" y="19366"/>
                </a:cubicBezTo>
                <a:cubicBezTo>
                  <a:pt x="18720" y="19367"/>
                  <a:pt x="18714" y="19365"/>
                  <a:pt x="18710" y="19366"/>
                </a:cubicBezTo>
                <a:cubicBezTo>
                  <a:pt x="18686" y="19371"/>
                  <a:pt x="18627" y="19281"/>
                  <a:pt x="18587" y="19198"/>
                </a:cubicBezTo>
                <a:cubicBezTo>
                  <a:pt x="18510" y="19095"/>
                  <a:pt x="18432" y="18985"/>
                  <a:pt x="18356" y="18873"/>
                </a:cubicBezTo>
                <a:cubicBezTo>
                  <a:pt x="18353" y="18871"/>
                  <a:pt x="18351" y="18864"/>
                  <a:pt x="18349" y="18861"/>
                </a:cubicBezTo>
                <a:cubicBezTo>
                  <a:pt x="18294" y="18780"/>
                  <a:pt x="18240" y="18702"/>
                  <a:pt x="18186" y="18614"/>
                </a:cubicBezTo>
                <a:cubicBezTo>
                  <a:pt x="17775" y="17959"/>
                  <a:pt x="17463" y="17349"/>
                  <a:pt x="17104" y="16483"/>
                </a:cubicBezTo>
                <a:cubicBezTo>
                  <a:pt x="17087" y="16455"/>
                  <a:pt x="17076" y="16412"/>
                  <a:pt x="17063" y="16370"/>
                </a:cubicBezTo>
                <a:cubicBezTo>
                  <a:pt x="17061" y="16363"/>
                  <a:pt x="17058" y="16366"/>
                  <a:pt x="17056" y="16359"/>
                </a:cubicBezTo>
                <a:cubicBezTo>
                  <a:pt x="17037" y="16312"/>
                  <a:pt x="17022" y="16274"/>
                  <a:pt x="17002" y="16225"/>
                </a:cubicBezTo>
                <a:cubicBezTo>
                  <a:pt x="16863" y="15881"/>
                  <a:pt x="16729" y="15535"/>
                  <a:pt x="16601" y="15181"/>
                </a:cubicBezTo>
                <a:cubicBezTo>
                  <a:pt x="16592" y="15163"/>
                  <a:pt x="16592" y="15152"/>
                  <a:pt x="16587" y="15136"/>
                </a:cubicBezTo>
                <a:cubicBezTo>
                  <a:pt x="16315" y="14383"/>
                  <a:pt x="16029" y="13464"/>
                  <a:pt x="15696" y="12320"/>
                </a:cubicBezTo>
                <a:cubicBezTo>
                  <a:pt x="15679" y="12291"/>
                  <a:pt x="15664" y="12242"/>
                  <a:pt x="15648" y="12163"/>
                </a:cubicBezTo>
                <a:cubicBezTo>
                  <a:pt x="15514" y="11699"/>
                  <a:pt x="15366" y="11192"/>
                  <a:pt x="15206" y="10614"/>
                </a:cubicBezTo>
                <a:cubicBezTo>
                  <a:pt x="15192" y="10579"/>
                  <a:pt x="15181" y="10530"/>
                  <a:pt x="15172" y="10480"/>
                </a:cubicBezTo>
                <a:cubicBezTo>
                  <a:pt x="15085" y="10167"/>
                  <a:pt x="14989" y="9822"/>
                  <a:pt x="14893" y="9470"/>
                </a:cubicBezTo>
                <a:cubicBezTo>
                  <a:pt x="14885" y="9463"/>
                  <a:pt x="14879" y="9447"/>
                  <a:pt x="14879" y="9425"/>
                </a:cubicBezTo>
                <a:cubicBezTo>
                  <a:pt x="14786" y="9084"/>
                  <a:pt x="14717" y="8830"/>
                  <a:pt x="14614" y="8449"/>
                </a:cubicBezTo>
                <a:cubicBezTo>
                  <a:pt x="14560" y="8250"/>
                  <a:pt x="14541" y="8183"/>
                  <a:pt x="14491" y="8000"/>
                </a:cubicBezTo>
                <a:cubicBezTo>
                  <a:pt x="13853" y="5643"/>
                  <a:pt x="13510" y="4430"/>
                  <a:pt x="13233" y="3579"/>
                </a:cubicBezTo>
                <a:cubicBezTo>
                  <a:pt x="12600" y="1643"/>
                  <a:pt x="12102" y="617"/>
                  <a:pt x="11593" y="202"/>
                </a:cubicBezTo>
                <a:cubicBezTo>
                  <a:pt x="11414" y="56"/>
                  <a:pt x="11335" y="16"/>
                  <a:pt x="11157" y="0"/>
                </a:cubicBezTo>
                <a:lnTo>
                  <a:pt x="11008" y="0"/>
                </a:lnTo>
                <a:lnTo>
                  <a:pt x="10967" y="0"/>
                </a:lnTo>
                <a:close/>
                <a:moveTo>
                  <a:pt x="16988" y="17190"/>
                </a:moveTo>
                <a:cubicBezTo>
                  <a:pt x="17071" y="17171"/>
                  <a:pt x="17192" y="17226"/>
                  <a:pt x="17192" y="17313"/>
                </a:cubicBezTo>
                <a:cubicBezTo>
                  <a:pt x="17192" y="17341"/>
                  <a:pt x="17221" y="17424"/>
                  <a:pt x="17254" y="17492"/>
                </a:cubicBezTo>
                <a:cubicBezTo>
                  <a:pt x="17286" y="17561"/>
                  <a:pt x="17304" y="17636"/>
                  <a:pt x="17295" y="17661"/>
                </a:cubicBezTo>
                <a:cubicBezTo>
                  <a:pt x="17285" y="17685"/>
                  <a:pt x="17273" y="17771"/>
                  <a:pt x="17267" y="17852"/>
                </a:cubicBezTo>
                <a:cubicBezTo>
                  <a:pt x="17255" y="18013"/>
                  <a:pt x="17313" y="18045"/>
                  <a:pt x="17376" y="17919"/>
                </a:cubicBezTo>
                <a:cubicBezTo>
                  <a:pt x="17419" y="17833"/>
                  <a:pt x="17474" y="17875"/>
                  <a:pt x="17451" y="17975"/>
                </a:cubicBezTo>
                <a:cubicBezTo>
                  <a:pt x="17441" y="18018"/>
                  <a:pt x="17458" y="18042"/>
                  <a:pt x="17492" y="18042"/>
                </a:cubicBezTo>
                <a:cubicBezTo>
                  <a:pt x="17571" y="18042"/>
                  <a:pt x="17588" y="18100"/>
                  <a:pt x="17539" y="18188"/>
                </a:cubicBezTo>
                <a:cubicBezTo>
                  <a:pt x="17501" y="18258"/>
                  <a:pt x="17509" y="18267"/>
                  <a:pt x="17594" y="18267"/>
                </a:cubicBezTo>
                <a:cubicBezTo>
                  <a:pt x="17687" y="18266"/>
                  <a:pt x="17689" y="18275"/>
                  <a:pt x="17689" y="18491"/>
                </a:cubicBezTo>
                <a:cubicBezTo>
                  <a:pt x="17689" y="18679"/>
                  <a:pt x="17701" y="18747"/>
                  <a:pt x="17737" y="18727"/>
                </a:cubicBezTo>
                <a:cubicBezTo>
                  <a:pt x="17858" y="18660"/>
                  <a:pt x="17941" y="18760"/>
                  <a:pt x="17921" y="18951"/>
                </a:cubicBezTo>
                <a:cubicBezTo>
                  <a:pt x="17904" y="19108"/>
                  <a:pt x="17935" y="19195"/>
                  <a:pt x="17982" y="19131"/>
                </a:cubicBezTo>
                <a:cubicBezTo>
                  <a:pt x="18004" y="19101"/>
                  <a:pt x="18026" y="19091"/>
                  <a:pt x="18036" y="19108"/>
                </a:cubicBezTo>
                <a:cubicBezTo>
                  <a:pt x="18047" y="19125"/>
                  <a:pt x="18074" y="19118"/>
                  <a:pt x="18097" y="19086"/>
                </a:cubicBezTo>
                <a:cubicBezTo>
                  <a:pt x="18143" y="19023"/>
                  <a:pt x="18196" y="19093"/>
                  <a:pt x="18165" y="19176"/>
                </a:cubicBezTo>
                <a:cubicBezTo>
                  <a:pt x="18156" y="19200"/>
                  <a:pt x="18172" y="19226"/>
                  <a:pt x="18199" y="19243"/>
                </a:cubicBezTo>
                <a:cubicBezTo>
                  <a:pt x="18237" y="19267"/>
                  <a:pt x="18240" y="19289"/>
                  <a:pt x="18213" y="19333"/>
                </a:cubicBezTo>
                <a:cubicBezTo>
                  <a:pt x="18165" y="19412"/>
                  <a:pt x="18168" y="19477"/>
                  <a:pt x="18220" y="19445"/>
                </a:cubicBezTo>
                <a:cubicBezTo>
                  <a:pt x="18283" y="19405"/>
                  <a:pt x="18455" y="19617"/>
                  <a:pt x="18417" y="19692"/>
                </a:cubicBezTo>
                <a:cubicBezTo>
                  <a:pt x="18388" y="19750"/>
                  <a:pt x="18407" y="19910"/>
                  <a:pt x="18444" y="19916"/>
                </a:cubicBezTo>
                <a:cubicBezTo>
                  <a:pt x="18455" y="19918"/>
                  <a:pt x="18504" y="19927"/>
                  <a:pt x="18560" y="19938"/>
                </a:cubicBezTo>
                <a:cubicBezTo>
                  <a:pt x="18616" y="19950"/>
                  <a:pt x="18683" y="19944"/>
                  <a:pt x="18703" y="19916"/>
                </a:cubicBezTo>
                <a:cubicBezTo>
                  <a:pt x="18786" y="19803"/>
                  <a:pt x="18895" y="19993"/>
                  <a:pt x="18880" y="20219"/>
                </a:cubicBezTo>
                <a:cubicBezTo>
                  <a:pt x="18872" y="20332"/>
                  <a:pt x="18886" y="20343"/>
                  <a:pt x="18975" y="20331"/>
                </a:cubicBezTo>
                <a:cubicBezTo>
                  <a:pt x="19073" y="20318"/>
                  <a:pt x="19157" y="20413"/>
                  <a:pt x="19125" y="20499"/>
                </a:cubicBezTo>
                <a:cubicBezTo>
                  <a:pt x="19116" y="20524"/>
                  <a:pt x="19132" y="20584"/>
                  <a:pt x="19166" y="20634"/>
                </a:cubicBezTo>
                <a:cubicBezTo>
                  <a:pt x="19214" y="20707"/>
                  <a:pt x="19282" y="20726"/>
                  <a:pt x="19485" y="20735"/>
                </a:cubicBezTo>
                <a:cubicBezTo>
                  <a:pt x="19821" y="20750"/>
                  <a:pt x="19863" y="20769"/>
                  <a:pt x="19866" y="20881"/>
                </a:cubicBezTo>
                <a:cubicBezTo>
                  <a:pt x="19875" y="21141"/>
                  <a:pt x="20018" y="21220"/>
                  <a:pt x="20173" y="21061"/>
                </a:cubicBezTo>
                <a:cubicBezTo>
                  <a:pt x="20222" y="21009"/>
                  <a:pt x="20252" y="21011"/>
                  <a:pt x="20295" y="21049"/>
                </a:cubicBezTo>
                <a:cubicBezTo>
                  <a:pt x="20327" y="21078"/>
                  <a:pt x="20364" y="21088"/>
                  <a:pt x="20377" y="21083"/>
                </a:cubicBezTo>
                <a:cubicBezTo>
                  <a:pt x="20426" y="21065"/>
                  <a:pt x="20564" y="21193"/>
                  <a:pt x="20547" y="21240"/>
                </a:cubicBezTo>
                <a:cubicBezTo>
                  <a:pt x="20525" y="21298"/>
                  <a:pt x="16894" y="21309"/>
                  <a:pt x="16893" y="21251"/>
                </a:cubicBezTo>
                <a:cubicBezTo>
                  <a:pt x="16879" y="20452"/>
                  <a:pt x="16907" y="17275"/>
                  <a:pt x="16927" y="17234"/>
                </a:cubicBezTo>
                <a:cubicBezTo>
                  <a:pt x="16940" y="17209"/>
                  <a:pt x="16961" y="17196"/>
                  <a:pt x="16988" y="17190"/>
                </a:cubicBezTo>
                <a:close/>
              </a:path>
            </a:pathLst>
          </a:cu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hyperlink" Target="about:blank" TargetMode="External"/><Relationship Id="rId3" Type="http://schemas.openxmlformats.org/officeDocument/2006/relationships/slideLayout" Target="../slideLayouts/slideLayout1.xml"/><Relationship Id="rId4" Type="http://schemas.openxmlformats.org/officeDocument/2006/relationships/slideLayout" Target="../slideLayouts/slideLayout2.xml"/><Relationship Id="rId5" Type="http://schemas.openxmlformats.org/officeDocument/2006/relationships/slideLayout" Target="../slideLayouts/slideLayout3.xml"/><Relationship Id="rId6" Type="http://schemas.openxmlformats.org/officeDocument/2006/relationships/theme" Target="../theme/theme3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gradFill>
          <a:gsLst>
            <a:gs pos="0">
              <a:srgbClr val="FFFFFF"/>
            </a:gs>
            <a:gs pos="72824">
              <a:srgbClr val="ECECEC"/>
            </a:gs>
            <a:gs pos="100000">
              <a:srgbClr val="DADADA"/>
            </a:gs>
          </a:gsLst>
          <a:path path="circle">
            <a:fillToRect b="50%" l="50%" r="50%" t="50%"/>
          </a:path>
          <a:tileRect/>
        </a:gra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asted-image.png" id="6" name="Google Shape;6;p1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687950" y="230380"/>
            <a:ext cx="2370215" cy="2298980"/>
          </a:xfrm>
          <a:prstGeom prst="rect">
            <a:avLst/>
          </a:prstGeom>
          <a:noFill/>
          <a:ln>
            <a:noFill/>
          </a:ln>
        </p:spPr>
      </p:pic>
      <p:sp>
        <p:nvSpPr>
          <p:cNvPr id="7" name="Google Shape;7;p1"/>
          <p:cNvSpPr txBox="1"/>
          <p:nvPr/>
        </p:nvSpPr>
        <p:spPr>
          <a:xfrm>
            <a:off x="773350" y="6475983"/>
            <a:ext cx="7488751" cy="2058079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Font typeface="Helvetica Neue Light"/>
              <a:buNone/>
            </a:pPr>
            <a:r>
              <a:t/>
            </a:r>
            <a:endParaRPr b="0" i="0" sz="3000" u="none" cap="none" strike="noStrike">
              <a:solidFill>
                <a:srgbClr val="5A5F5E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8" name="Google Shape;8;p1"/>
          <p:cNvSpPr txBox="1"/>
          <p:nvPr/>
        </p:nvSpPr>
        <p:spPr>
          <a:xfrm>
            <a:off x="774700" y="4432300"/>
            <a:ext cx="11458002" cy="7112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Font typeface="Helvetica Neue"/>
              <a:buNone/>
            </a:pPr>
            <a:r>
              <a:rPr b="0" i="0" lang="en-US" sz="3000" u="none" cap="none" strike="noStrike">
                <a:solidFill>
                  <a:srgbClr val="5A5F5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Your Name (HWTeng)</a:t>
            </a:r>
            <a:endParaRPr/>
          </a:p>
        </p:txBody>
      </p:sp>
      <p:sp>
        <p:nvSpPr>
          <p:cNvPr id="9" name="Google Shape;9;p1"/>
          <p:cNvSpPr txBox="1"/>
          <p:nvPr/>
        </p:nvSpPr>
        <p:spPr>
          <a:xfrm>
            <a:off x="774700" y="6985000"/>
            <a:ext cx="11455400" cy="2645226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Font typeface="Helvetica Neue"/>
              <a:buNone/>
            </a:pPr>
            <a:r>
              <a:rPr b="0" i="0" lang="en-US" sz="3000" u="none" cap="none" strike="noStrike">
                <a:solidFill>
                  <a:srgbClr val="5A5F5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Your affiliation</a:t>
            </a:r>
            <a:endParaRPr b="0" i="0" sz="5500" u="none" cap="none" strike="noStrike">
              <a:solidFill>
                <a:srgbClr val="5A5F5E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A5694"/>
              </a:buClr>
              <a:buSzPts val="3000"/>
              <a:buFont typeface="Helvetica Neue"/>
              <a:buNone/>
            </a:pPr>
            <a:r>
              <a:rPr b="0" i="0" lang="en-US" sz="3000" u="sng" cap="none" strike="noStrike">
                <a:solidFill>
                  <a:schemeClr val="hlink"/>
                </a:solidFill>
                <a:latin typeface="Helvetica Neue"/>
                <a:ea typeface="Helvetica Neue"/>
                <a:cs typeface="Helvetica Neue"/>
                <a:sym typeface="Helvetica Neue"/>
                <a:hlinkClick r:id="rId2"/>
              </a:rPr>
              <a:t>Your Webpage</a:t>
            </a:r>
            <a:endParaRPr/>
          </a:p>
        </p:txBody>
      </p:sp>
      <p:sp>
        <p:nvSpPr>
          <p:cNvPr id="10" name="Google Shape;10;p1"/>
          <p:cNvSpPr txBox="1"/>
          <p:nvPr>
            <p:ph type="title"/>
          </p:nvPr>
        </p:nvSpPr>
        <p:spPr>
          <a:xfrm>
            <a:off x="773350" y="1733550"/>
            <a:ext cx="11458100" cy="1996629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"/>
              <a:buNone/>
              <a:defRPr b="0" i="0" sz="5400" u="none" cap="none" strike="noStrike">
                <a:solidFill>
                  <a:srgbClr val="D30F1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"/>
              <a:buNone/>
              <a:defRPr b="0" i="0" sz="5400" u="none" cap="none" strike="noStrike">
                <a:solidFill>
                  <a:srgbClr val="D30F1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"/>
              <a:buNone/>
              <a:defRPr b="0" i="0" sz="5400" u="none" cap="none" strike="noStrike">
                <a:solidFill>
                  <a:srgbClr val="D30F1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"/>
              <a:buNone/>
              <a:defRPr b="0" i="0" sz="5400" u="none" cap="none" strike="noStrike">
                <a:solidFill>
                  <a:srgbClr val="D30F1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"/>
              <a:buNone/>
              <a:defRPr b="0" i="0" sz="5400" u="none" cap="none" strike="noStrike">
                <a:solidFill>
                  <a:srgbClr val="D30F1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"/>
              <a:buNone/>
              <a:defRPr b="0" i="0" sz="5400" u="none" cap="none" strike="noStrike">
                <a:solidFill>
                  <a:srgbClr val="D30F1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"/>
              <a:buNone/>
              <a:defRPr b="0" i="0" sz="5400" u="none" cap="none" strike="noStrike">
                <a:solidFill>
                  <a:srgbClr val="D30F1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"/>
              <a:buNone/>
              <a:defRPr b="0" i="0" sz="5400" u="none" cap="none" strike="noStrike">
                <a:solidFill>
                  <a:srgbClr val="D30F1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"/>
              <a:buNone/>
              <a:defRPr b="0" i="0" sz="5400" u="none" cap="none" strike="noStrike">
                <a:solidFill>
                  <a:srgbClr val="D30F11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355599" y="5270500"/>
            <a:ext cx="12293601" cy="1295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>
            <a:lvl1pPr indent="-2286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1pPr>
            <a:lvl2pPr indent="-22860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22860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6pPr>
            <a:lvl7pPr indent="-22860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7pPr>
            <a:lvl8pPr indent="-22860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8pPr>
            <a:lvl9pPr indent="-22860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5400"/>
              <a:buFont typeface="Helvetica Neue Light"/>
              <a:buNone/>
              <a:defRPr b="0" i="0" sz="54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2" type="sldNum"/>
          </p:nvPr>
        </p:nvSpPr>
        <p:spPr>
          <a:xfrm>
            <a:off x="6325920" y="9271000"/>
            <a:ext cx="340260" cy="324511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b="0" i="0" sz="16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b="0" i="0" sz="16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b="0" i="0" sz="16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b="0" i="0" sz="16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b="0" i="0" sz="16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b="0" i="0" sz="16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b="0" i="0" sz="16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b="0" i="0" sz="16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b="0" i="0" sz="16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3"/>
    <p:sldLayoutId id="2147483649" r:id="rId4"/>
    <p:sldLayoutId id="2147483650" r:id="rId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noFill/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pasted-image.png" id="33" name="Google Shape;33;p5"/>
          <p:cNvPicPr preferRelativeResize="0"/>
          <p:nvPr/>
        </p:nvPicPr>
        <p:blipFill rotWithShape="1">
          <a:blip r:embed="rId1">
            <a:alphaModFix/>
          </a:blip>
          <a:srcRect b="0" l="0" r="0" t="0"/>
          <a:stretch/>
        </p:blipFill>
        <p:spPr>
          <a:xfrm>
            <a:off x="687950" y="230380"/>
            <a:ext cx="2370215" cy="2298980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5"/>
          <p:cNvSpPr txBox="1"/>
          <p:nvPr>
            <p:ph idx="12" type="sldNum"/>
          </p:nvPr>
        </p:nvSpPr>
        <p:spPr>
          <a:xfrm>
            <a:off x="6325920" y="9271000"/>
            <a:ext cx="340260" cy="324511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>
            <a:lvl1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b="0" i="0" sz="16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indent="0" lvl="1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b="0" i="0" sz="16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indent="0" lvl="2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b="0" i="0" sz="16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indent="0" lvl="3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b="0" i="0" sz="16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indent="0" lvl="4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b="0" i="0" sz="16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indent="0" lvl="5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b="0" i="0" sz="16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indent="0" lvl="6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b="0" i="0" sz="16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indent="0" lvl="7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b="0" i="0" sz="16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indent="0" lvl="8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  <a:defRPr b="0" i="0" sz="1600" u="none" cap="none" strike="noStrike">
                <a:solidFill>
                  <a:srgbClr val="535353"/>
                </a:solidFill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1" r:id="rId2"/>
    <p:sldLayoutId id="2147483652" r:id="rId3"/>
    <p:sldLayoutId id="2147483653" r:id="rId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7.png"/><Relationship Id="rId4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3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5.png"/><Relationship Id="rId6" Type="http://schemas.openxmlformats.org/officeDocument/2006/relationships/image" Target="../media/image18.pn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2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6.xml"/><Relationship Id="rId3" Type="http://schemas.openxmlformats.org/officeDocument/2006/relationships/image" Target="../media/image21.png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2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1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5A5F5E">
            <a:alpha val="15690"/>
          </a:srgbClr>
        </a:solidFill>
      </p:bgPr>
    </p:bg>
    <p:spTree>
      <p:nvGrpSpPr>
        <p:cNvPr id="57" name="Shape 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8" name="Google Shape;58;p9"/>
          <p:cNvSpPr txBox="1"/>
          <p:nvPr>
            <p:ph idx="1" type="body"/>
          </p:nvPr>
        </p:nvSpPr>
        <p:spPr>
          <a:xfrm>
            <a:off x="773350" y="3116013"/>
            <a:ext cx="11458100" cy="211733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ct val="100000"/>
              <a:buFont typeface="Helvetica Neue Light"/>
              <a:buNone/>
            </a:pPr>
            <a:r>
              <a:rPr lang="en-US">
                <a:solidFill>
                  <a:srgbClr val="D30F11"/>
                </a:solidFill>
              </a:rPr>
              <a:t>A Beta-Neutral Crypto ML Strategy: From Signal Inversion to Robust Alpha</a:t>
            </a:r>
            <a:endParaRPr>
              <a:solidFill>
                <a:srgbClr val="D30F11"/>
              </a:solidFill>
            </a:endParaRPr>
          </a:p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ct val="100000"/>
              <a:buFont typeface="Helvetica Neue Light"/>
              <a:buNone/>
            </a:pPr>
            <a:r>
              <a:t/>
            </a:r>
            <a:endParaRPr>
              <a:solidFill>
                <a:srgbClr val="C00000"/>
              </a:solidFill>
            </a:endParaRPr>
          </a:p>
        </p:txBody>
      </p:sp>
      <p:sp>
        <p:nvSpPr>
          <p:cNvPr id="59" name="Google Shape;59;p9"/>
          <p:cNvSpPr txBox="1"/>
          <p:nvPr/>
        </p:nvSpPr>
        <p:spPr>
          <a:xfrm>
            <a:off x="9519751" y="9237870"/>
            <a:ext cx="3163634" cy="324675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500"/>
              <a:buFont typeface="Helvetica Neue Light"/>
              <a:buNone/>
            </a:pPr>
            <a:r>
              <a:rPr b="0" i="0" lang="en-US" sz="15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2025 Machine Learning &amp; Fintech</a:t>
            </a:r>
            <a:endParaRPr b="0" i="0" sz="1500" u="none" cap="none" strike="noStrike">
              <a:solidFill>
                <a:srgbClr val="D30F11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325920" y="9271000"/>
            <a:ext cx="340260" cy="324511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61" name="Google Shape;61;p9"/>
          <p:cNvSpPr txBox="1"/>
          <p:nvPr/>
        </p:nvSpPr>
        <p:spPr>
          <a:xfrm>
            <a:off x="773448" y="5361937"/>
            <a:ext cx="11457900" cy="30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Font typeface="Helvetica Neue"/>
              <a:buNone/>
            </a:pPr>
            <a:r>
              <a:rPr b="0" i="0" lang="en-US" sz="3000" u="none" cap="none" strike="noStrike">
                <a:solidFill>
                  <a:srgbClr val="5A5F5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Student Name: </a:t>
            </a:r>
            <a:r>
              <a:rPr lang="en-US" sz="3100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Sam, Bill, Jannis</a:t>
            </a:r>
            <a:endParaRPr sz="3000">
              <a:solidFill>
                <a:srgbClr val="5A5F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Font typeface="Helvetica Neue"/>
              <a:buNone/>
            </a:pPr>
            <a:r>
              <a:rPr b="0" i="0" lang="en-US" sz="3000" u="none" cap="none" strike="noStrike">
                <a:solidFill>
                  <a:srgbClr val="5A5F5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Advisor Name: Hui Wen Teng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62" name="Google Shape;62;p9" title="downloa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098199" y="7570850"/>
            <a:ext cx="1585177" cy="1585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10"/>
          <p:cNvSpPr txBox="1"/>
          <p:nvPr>
            <p:ph idx="1" type="body"/>
          </p:nvPr>
        </p:nvSpPr>
        <p:spPr>
          <a:xfrm>
            <a:off x="768509" y="9159279"/>
            <a:ext cx="57339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/>
              <a:t>Machine Learning &amp; FinTech 2025</a:t>
            </a:r>
            <a:endParaRPr/>
          </a:p>
        </p:txBody>
      </p:sp>
      <p:sp>
        <p:nvSpPr>
          <p:cNvPr id="68" name="Google Shape;68;p10"/>
          <p:cNvSpPr txBox="1"/>
          <p:nvPr/>
        </p:nvSpPr>
        <p:spPr>
          <a:xfrm>
            <a:off x="1154150" y="829050"/>
            <a:ext cx="9900000" cy="4802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000">
              <a:solidFill>
                <a:srgbClr val="5A5F5E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Font typeface="Helvetica Neue Light"/>
              <a:buChar char="⊡"/>
            </a:pPr>
            <a:r>
              <a:rPr lang="en-US" sz="3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Motivation</a:t>
            </a:r>
            <a:endParaRPr sz="3000">
              <a:solidFill>
                <a:srgbClr val="5A5F5E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Font typeface="Helvetica Neue Light"/>
              <a:buChar char="⊡"/>
            </a:pPr>
            <a:r>
              <a:rPr lang="en-US" sz="3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Data Preprocessing</a:t>
            </a:r>
            <a:endParaRPr sz="3000">
              <a:solidFill>
                <a:srgbClr val="5A5F5E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Font typeface="Helvetica Neue Light"/>
              <a:buChar char="⊡"/>
            </a:pPr>
            <a:r>
              <a:rPr lang="en-US" sz="3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Factor Engineering &amp; EDA</a:t>
            </a:r>
            <a:endParaRPr sz="3000">
              <a:solidFill>
                <a:srgbClr val="5A5F5E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Font typeface="Helvetica Neue Light"/>
              <a:buChar char="⊡"/>
            </a:pPr>
            <a:r>
              <a:rPr lang="en-US" sz="3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Cross-Sectional ML Prediction</a:t>
            </a:r>
            <a:endParaRPr sz="3000">
              <a:solidFill>
                <a:srgbClr val="5A5F5E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Font typeface="Helvetica Neue Light"/>
              <a:buChar char="⊡"/>
            </a:pPr>
            <a:r>
              <a:rPr lang="en-US" sz="3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Portfolio Construction</a:t>
            </a:r>
            <a:endParaRPr sz="3000">
              <a:solidFill>
                <a:srgbClr val="5A5F5E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Font typeface="Helvetica Neue Light"/>
              <a:buChar char="⊡"/>
            </a:pPr>
            <a:r>
              <a:rPr lang="en-US" sz="3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Results &amp; Interpretation</a:t>
            </a:r>
            <a:endParaRPr sz="3000">
              <a:solidFill>
                <a:srgbClr val="5A5F5E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 txBox="1"/>
          <p:nvPr>
            <p:ph idx="1" type="body"/>
          </p:nvPr>
        </p:nvSpPr>
        <p:spPr>
          <a:xfrm>
            <a:off x="768509" y="9159279"/>
            <a:ext cx="5733900" cy="410400"/>
          </a:xfrm>
          <a:prstGeom prst="rect">
            <a:avLst/>
          </a:prstGeom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US">
                <a:solidFill>
                  <a:schemeClr val="dk2"/>
                </a:solidFill>
              </a:rPr>
              <a:t>Machine Learning &amp; FinTech 2025</a:t>
            </a:r>
            <a:endParaRPr/>
          </a:p>
        </p:txBody>
      </p:sp>
      <p:pic>
        <p:nvPicPr>
          <p:cNvPr id="74" name="Google Shape;74;p1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0"/>
            <a:ext cx="12699998" cy="71437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11741879" y="213147"/>
            <a:ext cx="494413" cy="399033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fld id="{00000000-1234-1234-1234-123412341234}" type="slidenum"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/>
          </a:p>
        </p:txBody>
      </p:sp>
      <p:sp>
        <p:nvSpPr>
          <p:cNvPr id="80" name="Google Shape;80;p12"/>
          <p:cNvSpPr txBox="1"/>
          <p:nvPr>
            <p:ph idx="1" type="body"/>
          </p:nvPr>
        </p:nvSpPr>
        <p:spPr>
          <a:xfrm>
            <a:off x="755809" y="213147"/>
            <a:ext cx="9502858" cy="399033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Motivation</a:t>
            </a:r>
            <a:endParaRPr/>
          </a:p>
        </p:txBody>
      </p:sp>
      <p:sp>
        <p:nvSpPr>
          <p:cNvPr id="81" name="Google Shape;81;p12"/>
          <p:cNvSpPr txBox="1"/>
          <p:nvPr>
            <p:ph idx="2" type="body"/>
          </p:nvPr>
        </p:nvSpPr>
        <p:spPr>
          <a:xfrm>
            <a:off x="762000" y="762000"/>
            <a:ext cx="11467783" cy="609855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3500"/>
              <a:buFont typeface="Helvetica Neue"/>
              <a:buNone/>
            </a:pPr>
            <a:r>
              <a:rPr b="1" lang="en-US" sz="3500"/>
              <a:t>Motivation</a:t>
            </a:r>
            <a:endParaRPr b="1"/>
          </a:p>
        </p:txBody>
      </p:sp>
      <p:sp>
        <p:nvSpPr>
          <p:cNvPr id="82" name="Google Shape;82;p12"/>
          <p:cNvSpPr txBox="1"/>
          <p:nvPr>
            <p:ph idx="4" type="body"/>
          </p:nvPr>
        </p:nvSpPr>
        <p:spPr>
          <a:xfrm>
            <a:off x="715409" y="9235479"/>
            <a:ext cx="54792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Helvetica Neue Light"/>
              <a:buNone/>
            </a:pPr>
            <a:r>
              <a:rPr lang="en-US">
                <a:solidFill>
                  <a:schemeClr val="dk2"/>
                </a:solidFill>
              </a:rPr>
              <a:t>Machine Learning &amp; FinTech 2025</a:t>
            </a:r>
            <a:endParaRPr/>
          </a:p>
        </p:txBody>
      </p:sp>
      <p:sp>
        <p:nvSpPr>
          <p:cNvPr id="83" name="Google Shape;83;p12"/>
          <p:cNvSpPr txBox="1"/>
          <p:nvPr>
            <p:ph idx="3" type="body"/>
          </p:nvPr>
        </p:nvSpPr>
        <p:spPr>
          <a:xfrm>
            <a:off x="768500" y="1521675"/>
            <a:ext cx="11588700" cy="47202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599E"/>
              </a:buClr>
              <a:buSzPts val="3000"/>
              <a:buFont typeface="Helvetica Neue"/>
              <a:buChar char="⊡"/>
            </a:pPr>
            <a:r>
              <a:rPr b="1" lang="en-US" sz="3000">
                <a:solidFill>
                  <a:srgbClr val="5A5F5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Market Problem</a:t>
            </a:r>
            <a:endParaRPr b="1" sz="3000">
              <a:solidFill>
                <a:srgbClr val="5A5F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Crypto markets exhibit extreme volatility; single assets like BTC frequently suffer </a:t>
            </a:r>
            <a:r>
              <a:rPr lang="en-US" sz="3000">
                <a:solidFill>
                  <a:srgbClr val="FF0000"/>
                </a:solidFill>
              </a:rPr>
              <a:t>-50% to -70%</a:t>
            </a:r>
            <a:r>
              <a:rPr lang="en-US" sz="3000">
                <a:solidFill>
                  <a:srgbClr val="5A5F5E"/>
                </a:solidFill>
              </a:rPr>
              <a:t> drawdowns.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Traditional long-only BTC or index exposure delivers </a:t>
            </a:r>
            <a:r>
              <a:rPr lang="en-US" sz="3000">
                <a:solidFill>
                  <a:schemeClr val="lt1"/>
                </a:solidFill>
              </a:rPr>
              <a:t>high returns</a:t>
            </a:r>
            <a:r>
              <a:rPr lang="en-US" sz="3000">
                <a:solidFill>
                  <a:srgbClr val="5A5F5E"/>
                </a:solidFill>
              </a:rPr>
              <a:t> in bull markets but </a:t>
            </a:r>
            <a:r>
              <a:rPr lang="en-US" sz="3000">
                <a:solidFill>
                  <a:schemeClr val="lt1"/>
                </a:solidFill>
              </a:rPr>
              <a:t>catastrophic losses</a:t>
            </a:r>
            <a:r>
              <a:rPr lang="en-US" sz="3000">
                <a:solidFill>
                  <a:srgbClr val="5A5F5E"/>
                </a:solidFill>
              </a:rPr>
              <a:t> in bear markets.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Institutional and professional investors need </a:t>
            </a:r>
            <a:r>
              <a:rPr lang="en-US" sz="3000">
                <a:solidFill>
                  <a:srgbClr val="FF0000"/>
                </a:solidFill>
              </a:rPr>
              <a:t>stable</a:t>
            </a:r>
            <a:r>
              <a:rPr lang="en-US" sz="3000">
                <a:solidFill>
                  <a:srgbClr val="5A5F5E"/>
                </a:solidFill>
              </a:rPr>
              <a:t>, </a:t>
            </a:r>
            <a:r>
              <a:rPr lang="en-US" sz="3000">
                <a:solidFill>
                  <a:schemeClr val="lt1"/>
                </a:solidFill>
              </a:rPr>
              <a:t>risk-controlled</a:t>
            </a:r>
            <a:r>
              <a:rPr lang="en-US" sz="3000">
                <a:solidFill>
                  <a:srgbClr val="5A5F5E"/>
                </a:solidFill>
              </a:rPr>
              <a:t> strategies with superior risk-adjusted returns to BTC.</a:t>
            </a:r>
            <a:endParaRPr sz="3000">
              <a:solidFill>
                <a:schemeClr val="dk2"/>
              </a:solidFill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13"/>
          <p:cNvSpPr txBox="1"/>
          <p:nvPr>
            <p:ph idx="12" type="sldNum"/>
          </p:nvPr>
        </p:nvSpPr>
        <p:spPr>
          <a:xfrm>
            <a:off x="11741879" y="213147"/>
            <a:ext cx="494400" cy="3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fld id="{00000000-1234-1234-1234-123412341234}" type="slidenum"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/>
          </a:p>
        </p:txBody>
      </p:sp>
      <p:sp>
        <p:nvSpPr>
          <p:cNvPr id="89" name="Google Shape;89;p13"/>
          <p:cNvSpPr txBox="1"/>
          <p:nvPr>
            <p:ph idx="1" type="body"/>
          </p:nvPr>
        </p:nvSpPr>
        <p:spPr>
          <a:xfrm>
            <a:off x="755809" y="213147"/>
            <a:ext cx="95028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Motivation</a:t>
            </a:r>
            <a:endParaRPr/>
          </a:p>
        </p:txBody>
      </p:sp>
      <p:sp>
        <p:nvSpPr>
          <p:cNvPr id="90" name="Google Shape;90;p13"/>
          <p:cNvSpPr txBox="1"/>
          <p:nvPr>
            <p:ph idx="2" type="body"/>
          </p:nvPr>
        </p:nvSpPr>
        <p:spPr>
          <a:xfrm>
            <a:off x="762000" y="762000"/>
            <a:ext cx="11467800" cy="6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3500"/>
              <a:buFont typeface="Helvetica Neue"/>
              <a:buNone/>
            </a:pPr>
            <a:r>
              <a:rPr b="1" lang="en-US" sz="3500"/>
              <a:t>Motivation</a:t>
            </a:r>
            <a:endParaRPr b="1"/>
          </a:p>
        </p:txBody>
      </p:sp>
      <p:sp>
        <p:nvSpPr>
          <p:cNvPr id="91" name="Google Shape;91;p13"/>
          <p:cNvSpPr txBox="1"/>
          <p:nvPr>
            <p:ph idx="4" type="body"/>
          </p:nvPr>
        </p:nvSpPr>
        <p:spPr>
          <a:xfrm>
            <a:off x="715409" y="9235479"/>
            <a:ext cx="54792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Helvetica Neue Light"/>
              <a:buNone/>
            </a:pPr>
            <a:r>
              <a:rPr lang="en-US">
                <a:solidFill>
                  <a:schemeClr val="dk2"/>
                </a:solidFill>
              </a:rPr>
              <a:t>Machine Learning &amp; FinTech 2025</a:t>
            </a:r>
            <a:endParaRPr/>
          </a:p>
        </p:txBody>
      </p:sp>
      <p:sp>
        <p:nvSpPr>
          <p:cNvPr id="92" name="Google Shape;92;p13"/>
          <p:cNvSpPr txBox="1"/>
          <p:nvPr>
            <p:ph idx="3" type="body"/>
          </p:nvPr>
        </p:nvSpPr>
        <p:spPr>
          <a:xfrm>
            <a:off x="768500" y="1521675"/>
            <a:ext cx="11588700" cy="67983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599E"/>
              </a:buClr>
              <a:buSzPts val="3000"/>
              <a:buFont typeface="Helvetica Neue"/>
              <a:buChar char="⊡"/>
            </a:pPr>
            <a:r>
              <a:rPr b="1" lang="en-US" sz="3000">
                <a:solidFill>
                  <a:srgbClr val="5A5F5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Research Objectives</a:t>
            </a:r>
            <a:endParaRPr b="1" sz="3000">
              <a:solidFill>
                <a:srgbClr val="5A5F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Build a </a:t>
            </a:r>
            <a:r>
              <a:rPr lang="en-US" sz="3000">
                <a:solidFill>
                  <a:srgbClr val="FF0000"/>
                </a:solidFill>
              </a:rPr>
              <a:t>beta-neutral</a:t>
            </a:r>
            <a:r>
              <a:rPr lang="en-US" sz="3000">
                <a:solidFill>
                  <a:srgbClr val="5A5F5E"/>
                </a:solidFill>
              </a:rPr>
              <a:t>, </a:t>
            </a:r>
            <a:r>
              <a:rPr lang="en-US" sz="3000">
                <a:solidFill>
                  <a:srgbClr val="FF0000"/>
                </a:solidFill>
              </a:rPr>
              <a:t>long–short</a:t>
            </a:r>
            <a:r>
              <a:rPr lang="en-US" sz="3000">
                <a:solidFill>
                  <a:srgbClr val="5A5F5E"/>
                </a:solidFill>
              </a:rPr>
              <a:t>, </a:t>
            </a:r>
            <a:r>
              <a:rPr lang="en-US" sz="3000">
                <a:solidFill>
                  <a:srgbClr val="FF0000"/>
                </a:solidFill>
              </a:rPr>
              <a:t>cross-sectional ML strategy</a:t>
            </a:r>
            <a:r>
              <a:rPr lang="en-US" sz="3000">
                <a:solidFill>
                  <a:srgbClr val="5A5F5E"/>
                </a:solidFill>
              </a:rPr>
              <a:t> that captures relative performance (alpha) while </a:t>
            </a:r>
            <a:r>
              <a:rPr lang="en-US" sz="3000">
                <a:solidFill>
                  <a:srgbClr val="FF0000"/>
                </a:solidFill>
              </a:rPr>
              <a:t>minimizing market-direction exposure (beta)</a:t>
            </a:r>
            <a:r>
              <a:rPr lang="en-US" sz="3000">
                <a:solidFill>
                  <a:srgbClr val="5A5F5E"/>
                </a:solidFill>
              </a:rPr>
              <a:t>.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Control risk: reduce annual volatility and max drawdown to institutionally acceptable levels.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Improve Sharpe: target a long-run Sharpe ratio above </a:t>
            </a:r>
            <a:r>
              <a:rPr lang="en-US" sz="3000">
                <a:solidFill>
                  <a:srgbClr val="FF0000"/>
                </a:solidFill>
              </a:rPr>
              <a:t>2</a:t>
            </a:r>
            <a:r>
              <a:rPr lang="en-US" sz="3000">
                <a:solidFill>
                  <a:srgbClr val="5A5F5E"/>
                </a:solidFill>
              </a:rPr>
              <a:t>.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Explain alpha sources: use feature importance and Rank IC to identify which factors drive excess returns (mean reversion, quality, liquidity, etc.).</a:t>
            </a:r>
            <a:endParaRPr sz="3000">
              <a:solidFill>
                <a:srgbClr val="5A5F5E"/>
              </a:solidFill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4"/>
          <p:cNvSpPr txBox="1"/>
          <p:nvPr>
            <p:ph idx="12" type="sldNum"/>
          </p:nvPr>
        </p:nvSpPr>
        <p:spPr>
          <a:xfrm>
            <a:off x="11741879" y="213147"/>
            <a:ext cx="494413" cy="399033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fld id="{00000000-1234-1234-1234-123412341234}" type="slidenum"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/>
          </a:p>
        </p:txBody>
      </p:sp>
      <p:sp>
        <p:nvSpPr>
          <p:cNvPr id="98" name="Google Shape;98;p14"/>
          <p:cNvSpPr txBox="1"/>
          <p:nvPr>
            <p:ph idx="1" type="body"/>
          </p:nvPr>
        </p:nvSpPr>
        <p:spPr>
          <a:xfrm>
            <a:off x="755809" y="213147"/>
            <a:ext cx="9502858" cy="399033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Section Title</a:t>
            </a:r>
            <a:endParaRPr/>
          </a:p>
        </p:txBody>
      </p:sp>
      <p:sp>
        <p:nvSpPr>
          <p:cNvPr id="99" name="Google Shape;99;p14"/>
          <p:cNvSpPr txBox="1"/>
          <p:nvPr>
            <p:ph idx="2" type="body"/>
          </p:nvPr>
        </p:nvSpPr>
        <p:spPr>
          <a:xfrm>
            <a:off x="762000" y="762000"/>
            <a:ext cx="11467783" cy="609855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3500"/>
              <a:buFont typeface="Helvetica Neue"/>
              <a:buNone/>
            </a:pPr>
            <a:r>
              <a:rPr b="1" lang="en-US"/>
              <a:t>Data Preprocessing</a:t>
            </a:r>
            <a:endParaRPr b="1"/>
          </a:p>
        </p:txBody>
      </p:sp>
      <p:sp>
        <p:nvSpPr>
          <p:cNvPr id="100" name="Google Shape;100;p14"/>
          <p:cNvSpPr txBox="1"/>
          <p:nvPr>
            <p:ph idx="3" type="body"/>
          </p:nvPr>
        </p:nvSpPr>
        <p:spPr>
          <a:xfrm>
            <a:off x="715400" y="1594500"/>
            <a:ext cx="12166500" cy="5412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599E"/>
              </a:buClr>
              <a:buSzPts val="3000"/>
              <a:buFont typeface="Helvetica Neue"/>
              <a:buChar char="⊡"/>
            </a:pPr>
            <a:r>
              <a:rPr b="1" lang="en-US" sz="3000">
                <a:solidFill>
                  <a:srgbClr val="5A5F5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Data Sources &amp; Universe</a:t>
            </a:r>
            <a:endParaRPr b="1" sz="3000">
              <a:solidFill>
                <a:srgbClr val="5A5F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Weekly OHLCV prices and base factors</a:t>
            </a:r>
            <a:r>
              <a:rPr lang="en-US" sz="3000">
                <a:solidFill>
                  <a:srgbClr val="5A5F5E"/>
                </a:solidFill>
              </a:rPr>
              <a:t> (Binance Spot Market)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Market factor: crypto market index CMKT </a:t>
            </a:r>
            <a:r>
              <a:rPr lang="en-US" sz="3000">
                <a:solidFill>
                  <a:schemeClr val="dk2"/>
                </a:solidFill>
              </a:rPr>
              <a:t>(Binance Spot Market)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Annual universe: selecting the </a:t>
            </a:r>
            <a:r>
              <a:rPr lang="en-US" sz="3000">
                <a:solidFill>
                  <a:srgbClr val="FF0000"/>
                </a:solidFill>
              </a:rPr>
              <a:t>top 30</a:t>
            </a:r>
            <a:r>
              <a:rPr lang="en-US" sz="3000">
                <a:solidFill>
                  <a:srgbClr val="5A5F5E"/>
                </a:solidFill>
              </a:rPr>
              <a:t> large-cap / liquid assets per year.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4-week Treasury Bill rate (DTB4WK)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chemeClr val="dk2"/>
                </a:solidFill>
              </a:rPr>
              <a:t>Build dataset with </a:t>
            </a:r>
            <a:r>
              <a:rPr lang="en-US" sz="3000">
                <a:solidFill>
                  <a:srgbClr val="FF0000"/>
                </a:solidFill>
              </a:rPr>
              <a:t>weekly frequency</a:t>
            </a:r>
            <a:endParaRPr sz="3000">
              <a:solidFill>
                <a:srgbClr val="FF0000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3000"/>
              <a:buChar char="►"/>
            </a:pPr>
            <a:r>
              <a:rPr lang="en-US" sz="3000">
                <a:solidFill>
                  <a:schemeClr val="dk2"/>
                </a:solidFill>
              </a:rPr>
              <a:t>Keep only the intersection of annual </a:t>
            </a:r>
            <a:r>
              <a:rPr lang="en-US" sz="3000">
                <a:solidFill>
                  <a:srgbClr val="FF0000"/>
                </a:solidFill>
              </a:rPr>
              <a:t>top 30</a:t>
            </a:r>
            <a:r>
              <a:rPr lang="en-US" sz="3000">
                <a:solidFill>
                  <a:schemeClr val="dk2"/>
                </a:solidFill>
              </a:rPr>
              <a:t> and complete </a:t>
            </a:r>
            <a:r>
              <a:rPr lang="en-US" sz="3000">
                <a:solidFill>
                  <a:srgbClr val="FF0000"/>
                </a:solidFill>
              </a:rPr>
              <a:t>weekly</a:t>
            </a:r>
            <a:r>
              <a:rPr lang="en-US" sz="3000">
                <a:solidFill>
                  <a:schemeClr val="dk2"/>
                </a:solidFill>
              </a:rPr>
              <a:t> data to ensure tradability and data quality.</a:t>
            </a:r>
            <a:endParaRPr sz="3000">
              <a:solidFill>
                <a:schemeClr val="dk2"/>
              </a:solidFill>
            </a:endParaRPr>
          </a:p>
        </p:txBody>
      </p:sp>
      <p:sp>
        <p:nvSpPr>
          <p:cNvPr id="101" name="Google Shape;101;p14"/>
          <p:cNvSpPr txBox="1"/>
          <p:nvPr>
            <p:ph idx="4" type="body"/>
          </p:nvPr>
        </p:nvSpPr>
        <p:spPr>
          <a:xfrm>
            <a:off x="715409" y="9235479"/>
            <a:ext cx="54792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Helvetica Neue Light"/>
              <a:buNone/>
            </a:pPr>
            <a:r>
              <a:rPr lang="en-US">
                <a:solidFill>
                  <a:schemeClr val="dk2"/>
                </a:solidFill>
              </a:rPr>
              <a:t>Machine Learning &amp; FinTech 2025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5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15"/>
          <p:cNvSpPr txBox="1"/>
          <p:nvPr>
            <p:ph idx="12" type="sldNum"/>
          </p:nvPr>
        </p:nvSpPr>
        <p:spPr>
          <a:xfrm>
            <a:off x="11741879" y="213147"/>
            <a:ext cx="494400" cy="3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fld id="{00000000-1234-1234-1234-123412341234}" type="slidenum"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/>
          </a:p>
        </p:txBody>
      </p:sp>
      <p:sp>
        <p:nvSpPr>
          <p:cNvPr id="107" name="Google Shape;107;p15"/>
          <p:cNvSpPr txBox="1"/>
          <p:nvPr>
            <p:ph idx="1" type="body"/>
          </p:nvPr>
        </p:nvSpPr>
        <p:spPr>
          <a:xfrm>
            <a:off x="755809" y="213147"/>
            <a:ext cx="95028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Section Title</a:t>
            </a:r>
            <a:endParaRPr/>
          </a:p>
        </p:txBody>
      </p:sp>
      <p:sp>
        <p:nvSpPr>
          <p:cNvPr id="108" name="Google Shape;108;p15"/>
          <p:cNvSpPr txBox="1"/>
          <p:nvPr>
            <p:ph idx="2" type="body"/>
          </p:nvPr>
        </p:nvSpPr>
        <p:spPr>
          <a:xfrm>
            <a:off x="762000" y="762000"/>
            <a:ext cx="11467800" cy="6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Helvetica Neue"/>
              <a:buNone/>
            </a:pPr>
            <a:r>
              <a:rPr b="1" lang="en-US">
                <a:solidFill>
                  <a:schemeClr val="lt1"/>
                </a:solidFill>
              </a:rPr>
              <a:t>Data Preprocessing</a:t>
            </a:r>
            <a:endParaRPr b="1"/>
          </a:p>
        </p:txBody>
      </p:sp>
      <p:sp>
        <p:nvSpPr>
          <p:cNvPr id="109" name="Google Shape;109;p15"/>
          <p:cNvSpPr txBox="1"/>
          <p:nvPr>
            <p:ph idx="3" type="body"/>
          </p:nvPr>
        </p:nvSpPr>
        <p:spPr>
          <a:xfrm>
            <a:off x="761999" y="1581811"/>
            <a:ext cx="11467800" cy="5412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599E"/>
              </a:buClr>
              <a:buSzPts val="3000"/>
              <a:buFont typeface="Helvetica Neue"/>
              <a:buChar char="⊡"/>
            </a:pPr>
            <a:r>
              <a:rPr b="1" lang="en-US" sz="3000">
                <a:solidFill>
                  <a:srgbClr val="5A5F5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Exploratory Data Analysis</a:t>
            </a:r>
            <a:endParaRPr b="1" sz="3000">
              <a:solidFill>
                <a:srgbClr val="5A5F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Missing value analysis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Descriptive statistics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Cross-sectional correlation Analysis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Factor Distribution Analysis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Time Series Stability Analysis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Principal Component Analysis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Information Coefficient Analysis</a:t>
            </a:r>
            <a:endParaRPr sz="3000">
              <a:solidFill>
                <a:srgbClr val="5A5F5E"/>
              </a:solidFill>
            </a:endParaRPr>
          </a:p>
        </p:txBody>
      </p:sp>
      <p:sp>
        <p:nvSpPr>
          <p:cNvPr id="110" name="Google Shape;110;p15"/>
          <p:cNvSpPr txBox="1"/>
          <p:nvPr>
            <p:ph idx="4" type="body"/>
          </p:nvPr>
        </p:nvSpPr>
        <p:spPr>
          <a:xfrm>
            <a:off x="715409" y="9235479"/>
            <a:ext cx="54792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Helvetica Neue Light"/>
              <a:buNone/>
            </a:pPr>
            <a:r>
              <a:rPr lang="en-US">
                <a:solidFill>
                  <a:schemeClr val="dk2"/>
                </a:solidFill>
              </a:rPr>
              <a:t>Machine Learning &amp; FinTech 2025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idx="12" type="sldNum"/>
          </p:nvPr>
        </p:nvSpPr>
        <p:spPr>
          <a:xfrm>
            <a:off x="11741879" y="213147"/>
            <a:ext cx="494400" cy="3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fld id="{00000000-1234-1234-1234-123412341234}" type="slidenum"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755809" y="213147"/>
            <a:ext cx="95028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Section Title</a:t>
            </a:r>
            <a:endParaRPr/>
          </a:p>
        </p:txBody>
      </p:sp>
      <p:sp>
        <p:nvSpPr>
          <p:cNvPr id="117" name="Google Shape;117;p16"/>
          <p:cNvSpPr txBox="1"/>
          <p:nvPr>
            <p:ph idx="2" type="body"/>
          </p:nvPr>
        </p:nvSpPr>
        <p:spPr>
          <a:xfrm>
            <a:off x="762000" y="762000"/>
            <a:ext cx="11467800" cy="6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3500"/>
              <a:buFont typeface="Helvetica Neue"/>
              <a:buNone/>
            </a:pPr>
            <a:r>
              <a:rPr b="1" lang="en-US"/>
              <a:t>Data Analysis</a:t>
            </a:r>
            <a:endParaRPr b="1"/>
          </a:p>
        </p:txBody>
      </p:sp>
      <p:sp>
        <p:nvSpPr>
          <p:cNvPr id="118" name="Google Shape;118;p16"/>
          <p:cNvSpPr txBox="1"/>
          <p:nvPr>
            <p:ph idx="4" type="body"/>
          </p:nvPr>
        </p:nvSpPr>
        <p:spPr>
          <a:xfrm>
            <a:off x="715409" y="9235479"/>
            <a:ext cx="54792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Helvetica Neue Light"/>
              <a:buNone/>
            </a:pPr>
            <a:r>
              <a:rPr lang="en-US">
                <a:solidFill>
                  <a:schemeClr val="dk2"/>
                </a:solidFill>
              </a:rPr>
              <a:t>Machine Learning &amp; FinTech 2025</a:t>
            </a:r>
            <a:endParaRPr/>
          </a:p>
        </p:txBody>
      </p:sp>
      <p:pic>
        <p:nvPicPr>
          <p:cNvPr id="119" name="Google Shape;119;p16" title="output-onlinepngtools (2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36950" y="3590725"/>
            <a:ext cx="6057660" cy="297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0" name="Google Shape;120;p16" title="output-onlinepngtools (4)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6347009" y="1674695"/>
            <a:ext cx="6505391" cy="651086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17"/>
          <p:cNvSpPr txBox="1"/>
          <p:nvPr>
            <p:ph idx="12" type="sldNum"/>
          </p:nvPr>
        </p:nvSpPr>
        <p:spPr>
          <a:xfrm>
            <a:off x="11741879" y="213147"/>
            <a:ext cx="494400" cy="3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fld id="{00000000-1234-1234-1234-123412341234}" type="slidenum"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/>
          </a:p>
        </p:txBody>
      </p:sp>
      <p:sp>
        <p:nvSpPr>
          <p:cNvPr id="126" name="Google Shape;126;p17"/>
          <p:cNvSpPr txBox="1"/>
          <p:nvPr>
            <p:ph idx="1" type="body"/>
          </p:nvPr>
        </p:nvSpPr>
        <p:spPr>
          <a:xfrm>
            <a:off x="755809" y="213147"/>
            <a:ext cx="95028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Section Title</a:t>
            </a:r>
            <a:endParaRPr/>
          </a:p>
        </p:txBody>
      </p:sp>
      <p:sp>
        <p:nvSpPr>
          <p:cNvPr id="127" name="Google Shape;127;p17"/>
          <p:cNvSpPr txBox="1"/>
          <p:nvPr>
            <p:ph idx="2" type="body"/>
          </p:nvPr>
        </p:nvSpPr>
        <p:spPr>
          <a:xfrm>
            <a:off x="762000" y="762000"/>
            <a:ext cx="11467800" cy="6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Helvetica Neue"/>
              <a:buNone/>
            </a:pPr>
            <a:r>
              <a:rPr b="1" lang="en-US">
                <a:solidFill>
                  <a:schemeClr val="lt1"/>
                </a:solidFill>
              </a:rPr>
              <a:t>Feature Engineering &amp; EDA</a:t>
            </a:r>
            <a:endParaRPr b="1"/>
          </a:p>
        </p:txBody>
      </p:sp>
      <p:sp>
        <p:nvSpPr>
          <p:cNvPr id="128" name="Google Shape;128;p17"/>
          <p:cNvSpPr txBox="1"/>
          <p:nvPr>
            <p:ph idx="3" type="body"/>
          </p:nvPr>
        </p:nvSpPr>
        <p:spPr>
          <a:xfrm>
            <a:off x="761999" y="1581811"/>
            <a:ext cx="11467800" cy="67983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599E"/>
              </a:buClr>
              <a:buSzPts val="3000"/>
              <a:buFont typeface="Helvetica Neue"/>
              <a:buChar char="⊡"/>
            </a:pPr>
            <a:r>
              <a:rPr b="1" lang="en-US" sz="3000">
                <a:solidFill>
                  <a:srgbClr val="5A5F5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Technical &amp; Risk Features</a:t>
            </a:r>
            <a:endParaRPr b="1" sz="3000">
              <a:solidFill>
                <a:srgbClr val="5A5F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We extract from weekly OHLCV :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RSI (14): overbought / oversold conditions.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ATR (14) / Price: relative volatility.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Bollinger Band Width (20): range-based volatility.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MACD Histogram: trend momentum shifts.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Price / MA(20, 50): deviation from moving averages.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Rolling Volatility (4w, 12w): short- and medium-term risk.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All features are </a:t>
            </a:r>
            <a:r>
              <a:rPr lang="en-US" sz="3000">
                <a:solidFill>
                  <a:srgbClr val="FF0000"/>
                </a:solidFill>
              </a:rPr>
              <a:t>cross-sectionally z-scored per week</a:t>
            </a:r>
            <a:r>
              <a:rPr lang="en-US" sz="3000">
                <a:solidFill>
                  <a:srgbClr val="5A5F5E"/>
                </a:solidFill>
              </a:rPr>
              <a:t>, focusing on </a:t>
            </a:r>
            <a:r>
              <a:rPr lang="en-US" sz="3000">
                <a:solidFill>
                  <a:srgbClr val="FF0000"/>
                </a:solidFill>
              </a:rPr>
              <a:t>relative levels</a:t>
            </a:r>
            <a:r>
              <a:rPr lang="en-US" sz="3000">
                <a:solidFill>
                  <a:srgbClr val="5A5F5E"/>
                </a:solidFill>
              </a:rPr>
              <a:t> within each week and enabling cross-sectional ranking.</a:t>
            </a:r>
            <a:endParaRPr sz="3000">
              <a:solidFill>
                <a:srgbClr val="5A5F5E"/>
              </a:solidFill>
            </a:endParaRPr>
          </a:p>
        </p:txBody>
      </p:sp>
      <p:sp>
        <p:nvSpPr>
          <p:cNvPr id="129" name="Google Shape;129;p17"/>
          <p:cNvSpPr txBox="1"/>
          <p:nvPr>
            <p:ph idx="4" type="body"/>
          </p:nvPr>
        </p:nvSpPr>
        <p:spPr>
          <a:xfrm>
            <a:off x="715409" y="9235479"/>
            <a:ext cx="54792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Helvetica Neue Light"/>
              <a:buNone/>
            </a:pPr>
            <a:r>
              <a:rPr lang="en-US">
                <a:solidFill>
                  <a:schemeClr val="dk2"/>
                </a:solidFill>
              </a:rPr>
              <a:t>Machine Learning &amp; FinTech 2025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idx="12" type="sldNum"/>
          </p:nvPr>
        </p:nvSpPr>
        <p:spPr>
          <a:xfrm>
            <a:off x="11741879" y="213147"/>
            <a:ext cx="494400" cy="3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fld id="{00000000-1234-1234-1234-123412341234}" type="slidenum"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755809" y="213147"/>
            <a:ext cx="95028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Section Title</a:t>
            </a:r>
            <a:endParaRPr/>
          </a:p>
        </p:txBody>
      </p:sp>
      <p:sp>
        <p:nvSpPr>
          <p:cNvPr id="136" name="Google Shape;136;p18"/>
          <p:cNvSpPr txBox="1"/>
          <p:nvPr>
            <p:ph idx="2" type="body"/>
          </p:nvPr>
        </p:nvSpPr>
        <p:spPr>
          <a:xfrm>
            <a:off x="762000" y="762000"/>
            <a:ext cx="11467800" cy="6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Helvetica Neue"/>
              <a:buNone/>
            </a:pPr>
            <a:r>
              <a:rPr b="1" lang="en-US">
                <a:solidFill>
                  <a:schemeClr val="lt1"/>
                </a:solidFill>
              </a:rPr>
              <a:t>Feature Engineering &amp; EDA</a:t>
            </a:r>
            <a:endParaRPr b="1"/>
          </a:p>
        </p:txBody>
      </p:sp>
      <p:sp>
        <p:nvSpPr>
          <p:cNvPr id="137" name="Google Shape;137;p18"/>
          <p:cNvSpPr txBox="1"/>
          <p:nvPr>
            <p:ph idx="3" type="body"/>
          </p:nvPr>
        </p:nvSpPr>
        <p:spPr>
          <a:xfrm>
            <a:off x="761999" y="1581811"/>
            <a:ext cx="11467800" cy="7491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599E"/>
              </a:buClr>
              <a:buSzPts val="3000"/>
              <a:buFont typeface="Helvetica Neue"/>
              <a:buChar char="⊡"/>
            </a:pPr>
            <a:r>
              <a:rPr b="1" lang="en-US" sz="3000">
                <a:solidFill>
                  <a:srgbClr val="5A5F5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Feature Importance</a:t>
            </a:r>
            <a:endParaRPr b="1" sz="3000">
              <a:solidFill>
                <a:srgbClr val="5A5F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FF0000"/>
                </a:solidFill>
              </a:rPr>
              <a:t>Top-20</a:t>
            </a:r>
            <a:r>
              <a:rPr lang="en-US" sz="3000">
                <a:solidFill>
                  <a:srgbClr val="5A5F5E"/>
                </a:solidFill>
              </a:rPr>
              <a:t> LightGBM Gain features are dominated by: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Short-/medium-term returns</a:t>
            </a:r>
            <a:r>
              <a:rPr lang="en-US" sz="3000">
                <a:solidFill>
                  <a:srgbClr val="5A5F5E"/>
                </a:solidFill>
              </a:rPr>
              <a:t>: r1_z, r2_z, r3_z, r4_z, mom3_z.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Technical indicators</a:t>
            </a:r>
            <a:r>
              <a:rPr lang="en-US" sz="3000">
                <a:solidFill>
                  <a:srgbClr val="5A5F5E"/>
                </a:solidFill>
              </a:rPr>
              <a:t>: Close_div_MA20_z, RSI_14_z, Close_div_MA50_z, MACD_z.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Volatility &amp; ranges</a:t>
            </a:r>
            <a:r>
              <a:rPr lang="en-US" sz="3000">
                <a:solidFill>
                  <a:srgbClr val="5A5F5E"/>
                </a:solidFill>
              </a:rPr>
              <a:t>: Vol_12w_z, Vol_4w_z, ATR_14_norm_z, BB_Width_20_z.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Liquidity/volume: prcvol_mean_week_z, prcvol_std_week_z.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Conclusion: the model heavily relies on “</a:t>
            </a:r>
            <a:r>
              <a:rPr lang="en-US" sz="3000">
                <a:solidFill>
                  <a:srgbClr val="FF0000"/>
                </a:solidFill>
              </a:rPr>
              <a:t>short-term momentum + technical + volatility/volume</a:t>
            </a:r>
            <a:r>
              <a:rPr lang="en-US" sz="3000">
                <a:solidFill>
                  <a:srgbClr val="5A5F5E"/>
                </a:solidFill>
              </a:rPr>
              <a:t>” signals, while size/price play a supporting backbone role.</a:t>
            </a:r>
            <a:endParaRPr sz="3000">
              <a:solidFill>
                <a:srgbClr val="5A5F5E"/>
              </a:solidFill>
            </a:endParaRPr>
          </a:p>
        </p:txBody>
      </p:sp>
      <p:sp>
        <p:nvSpPr>
          <p:cNvPr id="138" name="Google Shape;138;p18"/>
          <p:cNvSpPr txBox="1"/>
          <p:nvPr>
            <p:ph idx="4" type="body"/>
          </p:nvPr>
        </p:nvSpPr>
        <p:spPr>
          <a:xfrm>
            <a:off x="715409" y="9235479"/>
            <a:ext cx="54792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Helvetica Neue Light"/>
              <a:buNone/>
            </a:pPr>
            <a:r>
              <a:rPr lang="en-US">
                <a:solidFill>
                  <a:schemeClr val="dk2"/>
                </a:solidFill>
              </a:rPr>
              <a:t>Machine Learning &amp; FinTech 2025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9"/>
          <p:cNvSpPr txBox="1"/>
          <p:nvPr>
            <p:ph idx="12" type="sldNum"/>
          </p:nvPr>
        </p:nvSpPr>
        <p:spPr>
          <a:xfrm>
            <a:off x="11741879" y="213147"/>
            <a:ext cx="494400" cy="3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fld id="{00000000-1234-1234-1234-123412341234}" type="slidenum"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/>
          </a:p>
        </p:txBody>
      </p:sp>
      <p:sp>
        <p:nvSpPr>
          <p:cNvPr id="144" name="Google Shape;144;p19"/>
          <p:cNvSpPr txBox="1"/>
          <p:nvPr>
            <p:ph idx="1" type="body"/>
          </p:nvPr>
        </p:nvSpPr>
        <p:spPr>
          <a:xfrm>
            <a:off x="755809" y="213147"/>
            <a:ext cx="95028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Section Title</a:t>
            </a:r>
            <a:endParaRPr/>
          </a:p>
        </p:txBody>
      </p:sp>
      <p:sp>
        <p:nvSpPr>
          <p:cNvPr id="145" name="Google Shape;145;p19"/>
          <p:cNvSpPr txBox="1"/>
          <p:nvPr>
            <p:ph idx="2" type="body"/>
          </p:nvPr>
        </p:nvSpPr>
        <p:spPr>
          <a:xfrm>
            <a:off x="762000" y="762000"/>
            <a:ext cx="11467800" cy="6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Helvetica Neue"/>
              <a:buNone/>
            </a:pPr>
            <a:r>
              <a:rPr b="1" lang="en-US">
                <a:solidFill>
                  <a:schemeClr val="lt1"/>
                </a:solidFill>
              </a:rPr>
              <a:t>Feature Engineering &amp; EDA</a:t>
            </a:r>
            <a:endParaRPr b="1"/>
          </a:p>
        </p:txBody>
      </p:sp>
      <p:sp>
        <p:nvSpPr>
          <p:cNvPr id="146" name="Google Shape;146;p19"/>
          <p:cNvSpPr txBox="1"/>
          <p:nvPr>
            <p:ph idx="3" type="body"/>
          </p:nvPr>
        </p:nvSpPr>
        <p:spPr>
          <a:xfrm>
            <a:off x="761999" y="1581811"/>
            <a:ext cx="11467800" cy="5643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599E"/>
              </a:buClr>
              <a:buSzPts val="3000"/>
              <a:buFont typeface="Helvetica Neue"/>
              <a:buChar char="⊡"/>
            </a:pPr>
            <a:r>
              <a:rPr b="1" lang="en-US" sz="3000">
                <a:solidFill>
                  <a:srgbClr val="5A5F5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Feature Importance</a:t>
            </a:r>
            <a:endParaRPr sz="3000">
              <a:solidFill>
                <a:srgbClr val="5A5F5E"/>
              </a:solidFill>
            </a:endParaRPr>
          </a:p>
        </p:txBody>
      </p:sp>
      <p:sp>
        <p:nvSpPr>
          <p:cNvPr id="147" name="Google Shape;147;p19"/>
          <p:cNvSpPr txBox="1"/>
          <p:nvPr>
            <p:ph idx="4" type="body"/>
          </p:nvPr>
        </p:nvSpPr>
        <p:spPr>
          <a:xfrm>
            <a:off x="715409" y="9235479"/>
            <a:ext cx="54792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Helvetica Neue Light"/>
              <a:buNone/>
            </a:pPr>
            <a:r>
              <a:rPr lang="en-US">
                <a:solidFill>
                  <a:schemeClr val="dk2"/>
                </a:solidFill>
              </a:rPr>
              <a:t>Machine Learning &amp; FinTech 2025</a:t>
            </a:r>
            <a:endParaRPr/>
          </a:p>
        </p:txBody>
      </p:sp>
      <p:pic>
        <p:nvPicPr>
          <p:cNvPr id="148" name="Google Shape;148;p19" title="output-onlinepngtools (7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49963" y="2327997"/>
            <a:ext cx="9104875" cy="67255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0"/>
          <p:cNvSpPr txBox="1"/>
          <p:nvPr>
            <p:ph idx="12" type="sldNum"/>
          </p:nvPr>
        </p:nvSpPr>
        <p:spPr>
          <a:xfrm>
            <a:off x="11741879" y="213147"/>
            <a:ext cx="494400" cy="3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fld id="{00000000-1234-1234-1234-123412341234}" type="slidenum"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/>
          </a:p>
        </p:txBody>
      </p:sp>
      <p:sp>
        <p:nvSpPr>
          <p:cNvPr id="154" name="Google Shape;154;p20"/>
          <p:cNvSpPr txBox="1"/>
          <p:nvPr>
            <p:ph idx="1" type="body"/>
          </p:nvPr>
        </p:nvSpPr>
        <p:spPr>
          <a:xfrm>
            <a:off x="755809" y="213147"/>
            <a:ext cx="95028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Section Title</a:t>
            </a:r>
            <a:endParaRPr/>
          </a:p>
        </p:txBody>
      </p:sp>
      <p:sp>
        <p:nvSpPr>
          <p:cNvPr id="155" name="Google Shape;155;p20"/>
          <p:cNvSpPr txBox="1"/>
          <p:nvPr>
            <p:ph idx="2" type="body"/>
          </p:nvPr>
        </p:nvSpPr>
        <p:spPr>
          <a:xfrm>
            <a:off x="762000" y="762000"/>
            <a:ext cx="11467800" cy="6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Helvetica Neue"/>
              <a:buNone/>
            </a:pPr>
            <a:r>
              <a:rPr b="1" lang="en-US">
                <a:solidFill>
                  <a:schemeClr val="lt1"/>
                </a:solidFill>
              </a:rPr>
              <a:t>Feature Engineering &amp; EDA</a:t>
            </a:r>
            <a:endParaRPr b="1"/>
          </a:p>
        </p:txBody>
      </p:sp>
      <p:sp>
        <p:nvSpPr>
          <p:cNvPr id="156" name="Google Shape;156;p20"/>
          <p:cNvSpPr txBox="1"/>
          <p:nvPr>
            <p:ph idx="3" type="body"/>
          </p:nvPr>
        </p:nvSpPr>
        <p:spPr>
          <a:xfrm>
            <a:off x="762000" y="1371900"/>
            <a:ext cx="11036400" cy="68367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-41275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599E"/>
              </a:buClr>
              <a:buSzPts val="2500"/>
              <a:buFont typeface="Helvetica Neue"/>
              <a:buChar char="⊡"/>
            </a:pPr>
            <a:r>
              <a:rPr b="1" lang="en-US" sz="2500">
                <a:solidFill>
                  <a:srgbClr val="5A5F5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Rank IC Evidence</a:t>
            </a:r>
            <a:endParaRPr b="1" sz="2500">
              <a:solidFill>
                <a:srgbClr val="5A5F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698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500"/>
              <a:buChar char="►"/>
            </a:pPr>
            <a:r>
              <a:rPr lang="en-US" sz="2500">
                <a:solidFill>
                  <a:srgbClr val="5A5F5E"/>
                </a:solidFill>
              </a:rPr>
              <a:t>Factors with </a:t>
            </a:r>
            <a:r>
              <a:rPr lang="en-US" sz="2500">
                <a:solidFill>
                  <a:srgbClr val="FF0000"/>
                </a:solidFill>
              </a:rPr>
              <a:t>positive</a:t>
            </a:r>
            <a:r>
              <a:rPr lang="en-US" sz="2500">
                <a:solidFill>
                  <a:srgbClr val="5A5F5E"/>
                </a:solidFill>
              </a:rPr>
              <a:t> Mean Rank IC:</a:t>
            </a:r>
            <a:endParaRPr sz="2500">
              <a:solidFill>
                <a:srgbClr val="5A5F5E"/>
              </a:solidFill>
            </a:endParaRPr>
          </a:p>
          <a:p>
            <a:pPr indent="698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500"/>
              <a:buChar char="►"/>
            </a:pPr>
            <a:r>
              <a:rPr lang="en-US" sz="2500">
                <a:solidFill>
                  <a:srgbClr val="5A5F5E"/>
                </a:solidFill>
              </a:rPr>
              <a:t>log_mcap_year_z, log_price_z, max_price_week_z, prcvol_mean_week_z, prcvol_std_week_z.</a:t>
            </a:r>
            <a:endParaRPr sz="2500">
              <a:solidFill>
                <a:srgbClr val="5A5F5E"/>
              </a:solidFill>
            </a:endParaRPr>
          </a:p>
          <a:p>
            <a:pPr indent="698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500"/>
              <a:buChar char="►"/>
            </a:pPr>
            <a:r>
              <a:rPr lang="en-US" sz="2500">
                <a:solidFill>
                  <a:srgbClr val="5A5F5E"/>
                </a:solidFill>
              </a:rPr>
              <a:t>⇒ </a:t>
            </a:r>
            <a:r>
              <a:rPr lang="en-US" sz="2500">
                <a:solidFill>
                  <a:srgbClr val="FF0000"/>
                </a:solidFill>
              </a:rPr>
              <a:t>Large-cap</a:t>
            </a:r>
            <a:r>
              <a:rPr lang="en-US" sz="2500">
                <a:solidFill>
                  <a:srgbClr val="5A5F5E"/>
                </a:solidFill>
              </a:rPr>
              <a:t>, </a:t>
            </a:r>
            <a:r>
              <a:rPr lang="en-US" sz="2500">
                <a:solidFill>
                  <a:srgbClr val="FF0000"/>
                </a:solidFill>
              </a:rPr>
              <a:t>higher-priced</a:t>
            </a:r>
            <a:r>
              <a:rPr lang="en-US" sz="2500">
                <a:solidFill>
                  <a:srgbClr val="5A5F5E"/>
                </a:solidFill>
              </a:rPr>
              <a:t> and </a:t>
            </a:r>
            <a:r>
              <a:rPr lang="en-US" sz="2500">
                <a:solidFill>
                  <a:srgbClr val="FF0000"/>
                </a:solidFill>
              </a:rPr>
              <a:t>more liquid/active assets</a:t>
            </a:r>
            <a:r>
              <a:rPr lang="en-US" sz="2500">
                <a:solidFill>
                  <a:srgbClr val="5A5F5E"/>
                </a:solidFill>
              </a:rPr>
              <a:t> tend to have better </a:t>
            </a:r>
            <a:r>
              <a:rPr lang="en-US" sz="2500">
                <a:solidFill>
                  <a:srgbClr val="FF0000"/>
                </a:solidFill>
              </a:rPr>
              <a:t>risk-adjusted returns</a:t>
            </a:r>
            <a:r>
              <a:rPr lang="en-US" sz="2500">
                <a:solidFill>
                  <a:srgbClr val="5A5F5E"/>
                </a:solidFill>
              </a:rPr>
              <a:t> (quality / liquidity tilt).</a:t>
            </a:r>
            <a:endParaRPr sz="2500">
              <a:solidFill>
                <a:srgbClr val="5A5F5E"/>
              </a:solidFill>
            </a:endParaRPr>
          </a:p>
          <a:p>
            <a:pPr indent="698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500"/>
              <a:buChar char="►"/>
            </a:pPr>
            <a:r>
              <a:rPr lang="en-US" sz="2500">
                <a:solidFill>
                  <a:srgbClr val="5A5F5E"/>
                </a:solidFill>
              </a:rPr>
              <a:t>Factors with </a:t>
            </a:r>
            <a:r>
              <a:rPr lang="en-US" sz="2500">
                <a:solidFill>
                  <a:srgbClr val="FF0000"/>
                </a:solidFill>
              </a:rPr>
              <a:t>negative</a:t>
            </a:r>
            <a:r>
              <a:rPr lang="en-US" sz="2500">
                <a:solidFill>
                  <a:srgbClr val="5A5F5E"/>
                </a:solidFill>
              </a:rPr>
              <a:t> Mean Rank IC:</a:t>
            </a:r>
            <a:endParaRPr sz="2500">
              <a:solidFill>
                <a:srgbClr val="5A5F5E"/>
              </a:solidFill>
            </a:endParaRPr>
          </a:p>
          <a:p>
            <a:pPr indent="698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500"/>
              <a:buChar char="►"/>
            </a:pPr>
            <a:r>
              <a:rPr lang="en-US" sz="2500">
                <a:solidFill>
                  <a:srgbClr val="5A5F5E"/>
                </a:solidFill>
              </a:rPr>
              <a:t>Vol_4w_z, Vol_12w_z, ATR_14_norm_z, BB_Width_20_z.</a:t>
            </a:r>
            <a:endParaRPr sz="2500">
              <a:solidFill>
                <a:srgbClr val="5A5F5E"/>
              </a:solidFill>
            </a:endParaRPr>
          </a:p>
          <a:p>
            <a:pPr indent="698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500"/>
              <a:buChar char="►"/>
            </a:pPr>
            <a:r>
              <a:rPr lang="en-US" sz="2500">
                <a:solidFill>
                  <a:srgbClr val="5A5F5E"/>
                </a:solidFill>
              </a:rPr>
              <a:t>⇒ </a:t>
            </a:r>
            <a:r>
              <a:rPr lang="en-US" sz="2500">
                <a:solidFill>
                  <a:srgbClr val="FF0000"/>
                </a:solidFill>
              </a:rPr>
              <a:t>High-volatility</a:t>
            </a:r>
            <a:r>
              <a:rPr lang="en-US" sz="2500">
                <a:solidFill>
                  <a:srgbClr val="5A5F5E"/>
                </a:solidFill>
              </a:rPr>
              <a:t>, </a:t>
            </a:r>
            <a:r>
              <a:rPr lang="en-US" sz="2500">
                <a:solidFill>
                  <a:srgbClr val="FF0000"/>
                </a:solidFill>
              </a:rPr>
              <a:t>high-ATR assets</a:t>
            </a:r>
            <a:r>
              <a:rPr lang="en-US" sz="2500">
                <a:solidFill>
                  <a:srgbClr val="5A5F5E"/>
                </a:solidFill>
              </a:rPr>
              <a:t> typically </a:t>
            </a:r>
            <a:r>
              <a:rPr lang="en-US" sz="2500">
                <a:solidFill>
                  <a:srgbClr val="FF0000"/>
                </a:solidFill>
              </a:rPr>
              <a:t>underperform</a:t>
            </a:r>
            <a:r>
              <a:rPr lang="en-US" sz="2500">
                <a:solidFill>
                  <a:srgbClr val="5A5F5E"/>
                </a:solidFill>
              </a:rPr>
              <a:t>, making them good </a:t>
            </a:r>
            <a:r>
              <a:rPr lang="en-US" sz="2500">
                <a:solidFill>
                  <a:srgbClr val="FF0000"/>
                </a:solidFill>
              </a:rPr>
              <a:t>short</a:t>
            </a:r>
            <a:r>
              <a:rPr lang="en-US" sz="2500">
                <a:solidFill>
                  <a:srgbClr val="5A5F5E"/>
                </a:solidFill>
              </a:rPr>
              <a:t> or </a:t>
            </a:r>
            <a:r>
              <a:rPr lang="en-US" sz="2500">
                <a:solidFill>
                  <a:srgbClr val="FF0000"/>
                </a:solidFill>
              </a:rPr>
              <a:t>de-weighting</a:t>
            </a:r>
            <a:r>
              <a:rPr lang="en-US" sz="2500">
                <a:solidFill>
                  <a:srgbClr val="5A5F5E"/>
                </a:solidFill>
              </a:rPr>
              <a:t> candidates.</a:t>
            </a:r>
            <a:endParaRPr sz="2500">
              <a:solidFill>
                <a:srgbClr val="5A5F5E"/>
              </a:solidFill>
            </a:endParaRPr>
          </a:p>
          <a:p>
            <a:pPr indent="698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500"/>
              <a:buChar char="►"/>
            </a:pPr>
            <a:r>
              <a:rPr lang="en-US" sz="2500">
                <a:solidFill>
                  <a:srgbClr val="5A5F5E"/>
                </a:solidFill>
              </a:rPr>
              <a:t>Cumulative Rank IC shows that </a:t>
            </a:r>
            <a:r>
              <a:rPr lang="en-US" sz="2500">
                <a:solidFill>
                  <a:srgbClr val="FF0000"/>
                </a:solidFill>
              </a:rPr>
              <a:t>size/liquidity factors</a:t>
            </a:r>
            <a:r>
              <a:rPr lang="en-US" sz="2500">
                <a:solidFill>
                  <a:srgbClr val="5A5F5E"/>
                </a:solidFill>
              </a:rPr>
              <a:t> accumulate IC over time, indicating persistent structural alpha rather than one-off episodes</a:t>
            </a:r>
            <a:endParaRPr sz="2500">
              <a:solidFill>
                <a:srgbClr val="5A5F5E"/>
              </a:solidFill>
            </a:endParaRPr>
          </a:p>
        </p:txBody>
      </p:sp>
      <p:sp>
        <p:nvSpPr>
          <p:cNvPr id="157" name="Google Shape;157;p20"/>
          <p:cNvSpPr txBox="1"/>
          <p:nvPr>
            <p:ph idx="4" type="body"/>
          </p:nvPr>
        </p:nvSpPr>
        <p:spPr>
          <a:xfrm>
            <a:off x="715409" y="9235479"/>
            <a:ext cx="54792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Helvetica Neue Light"/>
              <a:buNone/>
            </a:pPr>
            <a:r>
              <a:rPr lang="en-US">
                <a:solidFill>
                  <a:schemeClr val="dk2"/>
                </a:solidFill>
              </a:rPr>
              <a:t>Machine Learning &amp; FinTech 2025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21"/>
          <p:cNvSpPr txBox="1"/>
          <p:nvPr>
            <p:ph idx="12" type="sldNum"/>
          </p:nvPr>
        </p:nvSpPr>
        <p:spPr>
          <a:xfrm>
            <a:off x="11741879" y="213147"/>
            <a:ext cx="494400" cy="3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fld id="{00000000-1234-1234-1234-123412341234}" type="slidenum"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/>
          </a:p>
        </p:txBody>
      </p:sp>
      <p:sp>
        <p:nvSpPr>
          <p:cNvPr id="163" name="Google Shape;163;p21"/>
          <p:cNvSpPr txBox="1"/>
          <p:nvPr>
            <p:ph idx="1" type="body"/>
          </p:nvPr>
        </p:nvSpPr>
        <p:spPr>
          <a:xfrm>
            <a:off x="755809" y="213147"/>
            <a:ext cx="95028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Section Title</a:t>
            </a:r>
            <a:endParaRPr/>
          </a:p>
        </p:txBody>
      </p:sp>
      <p:sp>
        <p:nvSpPr>
          <p:cNvPr id="164" name="Google Shape;164;p21"/>
          <p:cNvSpPr txBox="1"/>
          <p:nvPr>
            <p:ph idx="2" type="body"/>
          </p:nvPr>
        </p:nvSpPr>
        <p:spPr>
          <a:xfrm>
            <a:off x="762000" y="762000"/>
            <a:ext cx="11467800" cy="6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500"/>
              <a:buFont typeface="Helvetica Neue"/>
              <a:buNone/>
            </a:pPr>
            <a:r>
              <a:rPr b="1" lang="en-US">
                <a:solidFill>
                  <a:schemeClr val="lt1"/>
                </a:solidFill>
              </a:rPr>
              <a:t>Feature Engineering &amp; EDA</a:t>
            </a:r>
            <a:endParaRPr b="1"/>
          </a:p>
        </p:txBody>
      </p:sp>
      <p:sp>
        <p:nvSpPr>
          <p:cNvPr id="165" name="Google Shape;165;p21"/>
          <p:cNvSpPr txBox="1"/>
          <p:nvPr>
            <p:ph idx="3" type="body"/>
          </p:nvPr>
        </p:nvSpPr>
        <p:spPr>
          <a:xfrm>
            <a:off x="762000" y="1371900"/>
            <a:ext cx="11036400" cy="4875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-41275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599E"/>
              </a:buClr>
              <a:buSzPts val="2500"/>
              <a:buFont typeface="Helvetica Neue"/>
              <a:buChar char="⊡"/>
            </a:pPr>
            <a:r>
              <a:rPr b="1" lang="en-US" sz="2500">
                <a:solidFill>
                  <a:srgbClr val="5A5F5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 Rank IC Evidence</a:t>
            </a:r>
            <a:endParaRPr sz="2500">
              <a:solidFill>
                <a:srgbClr val="5A5F5E"/>
              </a:solidFill>
            </a:endParaRPr>
          </a:p>
        </p:txBody>
      </p:sp>
      <p:sp>
        <p:nvSpPr>
          <p:cNvPr id="166" name="Google Shape;166;p21"/>
          <p:cNvSpPr txBox="1"/>
          <p:nvPr>
            <p:ph idx="4" type="body"/>
          </p:nvPr>
        </p:nvSpPr>
        <p:spPr>
          <a:xfrm>
            <a:off x="715409" y="9235479"/>
            <a:ext cx="54792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Helvetica Neue Light"/>
              <a:buNone/>
            </a:pPr>
            <a:r>
              <a:rPr lang="en-US">
                <a:solidFill>
                  <a:schemeClr val="dk2"/>
                </a:solidFill>
              </a:rPr>
              <a:t>Machine Learning &amp; FinTech 2025</a:t>
            </a:r>
            <a:endParaRPr/>
          </a:p>
        </p:txBody>
      </p:sp>
      <p:pic>
        <p:nvPicPr>
          <p:cNvPr id="167" name="Google Shape;167;p21" title="output-onlinepngtools (6)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05628" y="1859388"/>
            <a:ext cx="8949125" cy="7147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Google Shape;172;p22"/>
          <p:cNvSpPr txBox="1"/>
          <p:nvPr>
            <p:ph idx="12" type="sldNum"/>
          </p:nvPr>
        </p:nvSpPr>
        <p:spPr>
          <a:xfrm>
            <a:off x="11741879" y="213147"/>
            <a:ext cx="494400" cy="3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fld id="{00000000-1234-1234-1234-123412341234}" type="slidenum"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/>
          </a:p>
        </p:txBody>
      </p:sp>
      <p:sp>
        <p:nvSpPr>
          <p:cNvPr id="173" name="Google Shape;173;p22"/>
          <p:cNvSpPr txBox="1"/>
          <p:nvPr>
            <p:ph idx="1" type="body"/>
          </p:nvPr>
        </p:nvSpPr>
        <p:spPr>
          <a:xfrm>
            <a:off x="755809" y="213147"/>
            <a:ext cx="95028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Section Title</a:t>
            </a:r>
            <a:endParaRPr/>
          </a:p>
        </p:txBody>
      </p:sp>
      <p:sp>
        <p:nvSpPr>
          <p:cNvPr id="174" name="Google Shape;174;p22"/>
          <p:cNvSpPr txBox="1"/>
          <p:nvPr>
            <p:ph idx="2" type="body"/>
          </p:nvPr>
        </p:nvSpPr>
        <p:spPr>
          <a:xfrm>
            <a:off x="762000" y="762000"/>
            <a:ext cx="11467800" cy="6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3500"/>
              <a:buFont typeface="Helvetica Neue"/>
              <a:buNone/>
            </a:pPr>
            <a:r>
              <a:rPr b="1" lang="en-US"/>
              <a:t>Cross-Sectional ML Prediction</a:t>
            </a:r>
            <a:endParaRPr b="1"/>
          </a:p>
        </p:txBody>
      </p:sp>
      <p:sp>
        <p:nvSpPr>
          <p:cNvPr id="175" name="Google Shape;175;p22"/>
          <p:cNvSpPr txBox="1"/>
          <p:nvPr>
            <p:ph idx="4" type="body"/>
          </p:nvPr>
        </p:nvSpPr>
        <p:spPr>
          <a:xfrm>
            <a:off x="715409" y="9235479"/>
            <a:ext cx="54792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Helvetica Neue Light"/>
              <a:buNone/>
            </a:pPr>
            <a:r>
              <a:rPr lang="en-US">
                <a:solidFill>
                  <a:schemeClr val="dk2"/>
                </a:solidFill>
              </a:rPr>
              <a:t>Machine Learning &amp; FinTech 2025</a:t>
            </a:r>
            <a:endParaRPr/>
          </a:p>
        </p:txBody>
      </p:sp>
      <p:pic>
        <p:nvPicPr>
          <p:cNvPr id="176" name="Google Shape;176;p22"/>
          <p:cNvPicPr preferRelativeResize="0"/>
          <p:nvPr/>
        </p:nvPicPr>
        <p:blipFill rotWithShape="1">
          <a:blip r:embed="rId3">
            <a:alphaModFix/>
          </a:blip>
          <a:srcRect b="3937" l="7608" r="5833" t="19015"/>
          <a:stretch/>
        </p:blipFill>
        <p:spPr>
          <a:xfrm>
            <a:off x="762000" y="2043950"/>
            <a:ext cx="11168526" cy="44644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23"/>
          <p:cNvSpPr txBox="1"/>
          <p:nvPr>
            <p:ph idx="12" type="sldNum"/>
          </p:nvPr>
        </p:nvSpPr>
        <p:spPr>
          <a:xfrm>
            <a:off x="11741879" y="213147"/>
            <a:ext cx="494400" cy="3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fld id="{00000000-1234-1234-1234-123412341234}" type="slidenum"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/>
          </a:p>
        </p:txBody>
      </p:sp>
      <p:sp>
        <p:nvSpPr>
          <p:cNvPr id="182" name="Google Shape;182;p23"/>
          <p:cNvSpPr txBox="1"/>
          <p:nvPr>
            <p:ph idx="1" type="body"/>
          </p:nvPr>
        </p:nvSpPr>
        <p:spPr>
          <a:xfrm>
            <a:off x="755809" y="213147"/>
            <a:ext cx="95028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Section Title</a:t>
            </a:r>
            <a:endParaRPr/>
          </a:p>
        </p:txBody>
      </p:sp>
      <p:sp>
        <p:nvSpPr>
          <p:cNvPr id="183" name="Google Shape;183;p23"/>
          <p:cNvSpPr txBox="1"/>
          <p:nvPr>
            <p:ph idx="2" type="body"/>
          </p:nvPr>
        </p:nvSpPr>
        <p:spPr>
          <a:xfrm>
            <a:off x="762000" y="762000"/>
            <a:ext cx="11467800" cy="6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3500"/>
              <a:buFont typeface="Helvetica Neue"/>
              <a:buNone/>
            </a:pPr>
            <a:r>
              <a:rPr b="1" lang="en-US"/>
              <a:t>Cross-Sectional ML Prediction</a:t>
            </a:r>
            <a:endParaRPr b="1"/>
          </a:p>
        </p:txBody>
      </p:sp>
      <p:sp>
        <p:nvSpPr>
          <p:cNvPr id="184" name="Google Shape;184;p23"/>
          <p:cNvSpPr txBox="1"/>
          <p:nvPr>
            <p:ph idx="3" type="body"/>
          </p:nvPr>
        </p:nvSpPr>
        <p:spPr>
          <a:xfrm>
            <a:off x="923375" y="1896351"/>
            <a:ext cx="10710900" cy="6012600"/>
          </a:xfrm>
          <a:prstGeom prst="rect">
            <a:avLst/>
          </a:prstGeom>
          <a:noFill/>
          <a:ln>
            <a:noFill/>
          </a:ln>
        </p:spPr>
        <p:txBody>
          <a:bodyPr anchorCtr="0" anchor="t" bIns="20425" lIns="20425" spcFirstLastPara="1" rIns="20425" wrap="square" tIns="20425">
            <a:spAutoFit/>
          </a:bodyPr>
          <a:lstStyle/>
          <a:p>
            <a:pPr indent="-261228" lvl="0" marL="178678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599E"/>
              </a:buClr>
              <a:buSzPts val="2506"/>
              <a:buFont typeface="Helvetica Neue"/>
              <a:buChar char="⊡"/>
            </a:pPr>
            <a:r>
              <a:rPr b="1" lang="en-US" sz="2505">
                <a:solidFill>
                  <a:srgbClr val="5A5F5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Volatility-Scaled Target</a:t>
            </a:r>
            <a:endParaRPr b="1" sz="2505">
              <a:solidFill>
                <a:srgbClr val="5A5F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-67234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506"/>
              <a:buChar char="►"/>
            </a:pPr>
            <a:r>
              <a:rPr lang="en-US" sz="2505">
                <a:solidFill>
                  <a:srgbClr val="5A5F5E"/>
                </a:solidFill>
              </a:rPr>
              <a:t>Prediction target:</a:t>
            </a:r>
            <a:endParaRPr sz="2505">
              <a:solidFill>
                <a:srgbClr val="5A5F5E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5">
              <a:solidFill>
                <a:srgbClr val="5A5F5E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5">
              <a:solidFill>
                <a:srgbClr val="5A5F5E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505">
              <a:solidFill>
                <a:srgbClr val="5A5F5E"/>
              </a:solidFill>
            </a:endParaRPr>
          </a:p>
          <a:p>
            <a:pPr indent="-67234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506"/>
              <a:buChar char="►"/>
            </a:pPr>
            <a:r>
              <a:rPr lang="en-US" sz="2505">
                <a:solidFill>
                  <a:srgbClr val="5A5F5E"/>
                </a:solidFill>
              </a:rPr>
              <a:t>    </a:t>
            </a:r>
            <a:endParaRPr sz="2505">
              <a:solidFill>
                <a:srgbClr val="5A5F5E"/>
              </a:solidFill>
            </a:endParaRPr>
          </a:p>
          <a:p>
            <a:pPr indent="-67234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506"/>
              <a:buChar char="►"/>
            </a:pPr>
            <a:r>
              <a:t/>
            </a:r>
            <a:endParaRPr sz="2505">
              <a:solidFill>
                <a:srgbClr val="5A5F5E"/>
              </a:solidFill>
            </a:endParaRPr>
          </a:p>
          <a:p>
            <a:pPr indent="-67234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506"/>
              <a:buChar char="►"/>
            </a:pPr>
            <a:r>
              <a:t/>
            </a:r>
            <a:endParaRPr sz="2505">
              <a:solidFill>
                <a:srgbClr val="5A5F5E"/>
              </a:solidFill>
            </a:endParaRPr>
          </a:p>
          <a:p>
            <a:pPr indent="-67234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506"/>
              <a:buChar char="►"/>
            </a:pPr>
            <a:r>
              <a:rPr lang="en-US" sz="2505">
                <a:solidFill>
                  <a:srgbClr val="5A5F5E"/>
                </a:solidFill>
              </a:rPr>
              <a:t>Ref: Moreira, A., &amp; Muir, T. (2017). Volatility-Managed Portfolios. The Journal of Finance.</a:t>
            </a:r>
            <a:endParaRPr sz="2505">
              <a:solidFill>
                <a:srgbClr val="5A5F5E"/>
              </a:solidFill>
            </a:endParaRPr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205">
              <a:solidFill>
                <a:srgbClr val="5A5F5E"/>
              </a:solidFill>
            </a:endParaRPr>
          </a:p>
        </p:txBody>
      </p:sp>
      <p:sp>
        <p:nvSpPr>
          <p:cNvPr id="185" name="Google Shape;185;p23"/>
          <p:cNvSpPr txBox="1"/>
          <p:nvPr>
            <p:ph idx="4" type="body"/>
          </p:nvPr>
        </p:nvSpPr>
        <p:spPr>
          <a:xfrm>
            <a:off x="715409" y="9235479"/>
            <a:ext cx="54792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Helvetica Neue Light"/>
              <a:buNone/>
            </a:pPr>
            <a:r>
              <a:rPr lang="en-US">
                <a:solidFill>
                  <a:schemeClr val="dk2"/>
                </a:solidFill>
              </a:rPr>
              <a:t>Machine Learning &amp; FinTech 2025</a:t>
            </a:r>
            <a:endParaRPr/>
          </a:p>
        </p:txBody>
      </p:sp>
      <p:pic>
        <p:nvPicPr>
          <p:cNvPr id="186" name="Google Shape;186;p23" title="equatio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867075" y="2373325"/>
            <a:ext cx="3735000" cy="19939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7" name="Google Shape;187;p23" title="equation (3)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150975" y="5234474"/>
            <a:ext cx="9796250" cy="699725"/>
          </a:xfrm>
          <a:prstGeom prst="rect">
            <a:avLst/>
          </a:prstGeom>
          <a:noFill/>
          <a:ln>
            <a:noFill/>
          </a:ln>
        </p:spPr>
      </p:pic>
      <p:pic>
        <p:nvPicPr>
          <p:cNvPr id="188" name="Google Shape;188;p23" title="equation (4)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216000" y="5766325"/>
            <a:ext cx="9502799" cy="694551"/>
          </a:xfrm>
          <a:prstGeom prst="rect">
            <a:avLst/>
          </a:prstGeom>
          <a:noFill/>
          <a:ln>
            <a:noFill/>
          </a:ln>
        </p:spPr>
      </p:pic>
      <p:pic>
        <p:nvPicPr>
          <p:cNvPr id="189" name="Google Shape;189;p23" title="equation (5).pn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216000" y="4624573"/>
            <a:ext cx="8741901" cy="609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3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p24"/>
          <p:cNvSpPr txBox="1"/>
          <p:nvPr>
            <p:ph idx="12" type="sldNum"/>
          </p:nvPr>
        </p:nvSpPr>
        <p:spPr>
          <a:xfrm>
            <a:off x="11741879" y="213147"/>
            <a:ext cx="494400" cy="3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fld id="{00000000-1234-1234-1234-123412341234}" type="slidenum"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/>
          </a:p>
        </p:txBody>
      </p:sp>
      <p:sp>
        <p:nvSpPr>
          <p:cNvPr id="195" name="Google Shape;195;p24"/>
          <p:cNvSpPr txBox="1"/>
          <p:nvPr>
            <p:ph idx="1" type="body"/>
          </p:nvPr>
        </p:nvSpPr>
        <p:spPr>
          <a:xfrm>
            <a:off x="755809" y="213147"/>
            <a:ext cx="95028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Section Title</a:t>
            </a:r>
            <a:endParaRPr/>
          </a:p>
        </p:txBody>
      </p:sp>
      <p:sp>
        <p:nvSpPr>
          <p:cNvPr id="196" name="Google Shape;196;p24"/>
          <p:cNvSpPr txBox="1"/>
          <p:nvPr>
            <p:ph idx="2" type="body"/>
          </p:nvPr>
        </p:nvSpPr>
        <p:spPr>
          <a:xfrm>
            <a:off x="762000" y="762000"/>
            <a:ext cx="11467800" cy="6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3500"/>
              <a:buFont typeface="Helvetica Neue"/>
              <a:buNone/>
            </a:pPr>
            <a:r>
              <a:rPr b="1" lang="en-US"/>
              <a:t>Cross-Sectional ML Prediction</a:t>
            </a:r>
            <a:endParaRPr b="1"/>
          </a:p>
        </p:txBody>
      </p:sp>
      <p:sp>
        <p:nvSpPr>
          <p:cNvPr id="197" name="Google Shape;197;p24"/>
          <p:cNvSpPr txBox="1"/>
          <p:nvPr>
            <p:ph idx="3" type="body"/>
          </p:nvPr>
        </p:nvSpPr>
        <p:spPr>
          <a:xfrm>
            <a:off x="761999" y="1581811"/>
            <a:ext cx="11467800" cy="73755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-42545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599E"/>
              </a:buClr>
              <a:buSzPts val="2700"/>
              <a:buFont typeface="Helvetica Neue"/>
              <a:buChar char="⊡"/>
            </a:pPr>
            <a:r>
              <a:rPr b="1" lang="en-US" sz="2700">
                <a:solidFill>
                  <a:srgbClr val="5A5F5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DART Boosting / Model Architecture &amp; DART</a:t>
            </a:r>
            <a:endParaRPr b="1" sz="2700">
              <a:solidFill>
                <a:srgbClr val="5A5F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571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700"/>
              <a:buChar char="►"/>
            </a:pPr>
            <a:r>
              <a:rPr lang="en-US" sz="2700">
                <a:solidFill>
                  <a:srgbClr val="5A5F5E"/>
                </a:solidFill>
              </a:rPr>
              <a:t>Main model: LightGBM LambdaRank (cross-sectional ranking)</a:t>
            </a:r>
            <a:endParaRPr sz="2700">
              <a:solidFill>
                <a:srgbClr val="5A5F5E"/>
              </a:solidFill>
            </a:endParaRPr>
          </a:p>
          <a:p>
            <a:pPr indent="571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700"/>
              <a:buChar char="►"/>
            </a:pPr>
            <a:r>
              <a:rPr lang="en-US" sz="2700">
                <a:solidFill>
                  <a:srgbClr val="5A5F5E"/>
                </a:solidFill>
              </a:rPr>
              <a:t>DART = Dropouts meet Additive Regression Trees.</a:t>
            </a:r>
            <a:endParaRPr sz="2700">
              <a:solidFill>
                <a:srgbClr val="5A5F5E"/>
              </a:solidFill>
            </a:endParaRPr>
          </a:p>
          <a:p>
            <a:pPr indent="571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700"/>
              <a:buChar char="►"/>
            </a:pPr>
            <a:r>
              <a:rPr lang="en-US" sz="2700">
                <a:solidFill>
                  <a:srgbClr val="FF0000"/>
                </a:solidFill>
              </a:rPr>
              <a:t>Randomly drops</a:t>
            </a:r>
            <a:r>
              <a:rPr lang="en-US" sz="2700">
                <a:solidFill>
                  <a:srgbClr val="5A5F5E"/>
                </a:solidFill>
              </a:rPr>
              <a:t> part of the existing trees before fitting a new one</a:t>
            </a:r>
            <a:endParaRPr sz="2700">
              <a:solidFill>
                <a:srgbClr val="5A5F5E"/>
              </a:solidFill>
            </a:endParaRPr>
          </a:p>
          <a:p>
            <a:pPr indent="571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700"/>
              <a:buChar char="►"/>
            </a:pPr>
            <a:r>
              <a:rPr lang="en-US" sz="2700">
                <a:solidFill>
                  <a:srgbClr val="5A5F5E"/>
                </a:solidFill>
              </a:rPr>
              <a:t>Benefits: reduces </a:t>
            </a:r>
            <a:r>
              <a:rPr lang="en-US" sz="2700">
                <a:solidFill>
                  <a:srgbClr val="FF0000"/>
                </a:solidFill>
              </a:rPr>
              <a:t>overfitting</a:t>
            </a:r>
            <a:r>
              <a:rPr lang="en-US" sz="2700">
                <a:solidFill>
                  <a:srgbClr val="5A5F5E"/>
                </a:solidFill>
              </a:rPr>
              <a:t> and improves </a:t>
            </a:r>
            <a:r>
              <a:rPr lang="en-US" sz="2700">
                <a:solidFill>
                  <a:srgbClr val="FF0000"/>
                </a:solidFill>
              </a:rPr>
              <a:t>generalization</a:t>
            </a:r>
            <a:r>
              <a:rPr lang="en-US" sz="2700">
                <a:solidFill>
                  <a:srgbClr val="5A5F5E"/>
                </a:solidFill>
              </a:rPr>
              <a:t>, especially on noisy financial data.</a:t>
            </a:r>
            <a:endParaRPr sz="2700">
              <a:solidFill>
                <a:srgbClr val="5A5F5E"/>
              </a:solidFill>
            </a:endParaRPr>
          </a:p>
          <a:p>
            <a:pPr indent="571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700"/>
              <a:buChar char="►"/>
            </a:pPr>
            <a:r>
              <a:rPr lang="en-US" sz="2700">
                <a:solidFill>
                  <a:srgbClr val="5A5F5E"/>
                </a:solidFill>
              </a:rPr>
              <a:t>Auxiliary model: </a:t>
            </a:r>
            <a:r>
              <a:rPr lang="en-US" sz="2700">
                <a:solidFill>
                  <a:srgbClr val="FF0000"/>
                </a:solidFill>
              </a:rPr>
              <a:t>Ridge Regression</a:t>
            </a:r>
            <a:endParaRPr sz="2700">
              <a:solidFill>
                <a:srgbClr val="FF0000"/>
              </a:solidFill>
            </a:endParaRPr>
          </a:p>
          <a:p>
            <a:pPr indent="571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700"/>
              <a:buChar char="►"/>
            </a:pPr>
            <a:r>
              <a:rPr lang="en-US" sz="2700">
                <a:solidFill>
                  <a:srgbClr val="5A5F5E"/>
                </a:solidFill>
              </a:rPr>
              <a:t>Provides a linear, smooth baseline and mitigates extreme </a:t>
            </a:r>
            <a:r>
              <a:rPr lang="en-US" sz="2700">
                <a:solidFill>
                  <a:srgbClr val="5A5F5E"/>
                </a:solidFill>
              </a:rPr>
              <a:t>nonlinear</a:t>
            </a:r>
            <a:r>
              <a:rPr lang="en-US" sz="2700">
                <a:solidFill>
                  <a:srgbClr val="5A5F5E"/>
                </a:solidFill>
              </a:rPr>
              <a:t> biases.</a:t>
            </a:r>
            <a:endParaRPr sz="2700">
              <a:solidFill>
                <a:srgbClr val="5A5F5E"/>
              </a:solidFill>
            </a:endParaRPr>
          </a:p>
          <a:p>
            <a:pPr indent="571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700"/>
              <a:buChar char="►"/>
            </a:pPr>
            <a:r>
              <a:rPr lang="en-US" sz="2700">
                <a:solidFill>
                  <a:srgbClr val="5A5F5E"/>
                </a:solidFill>
              </a:rPr>
              <a:t>Ensemble: </a:t>
            </a:r>
            <a:r>
              <a:rPr lang="en-US" sz="2700">
                <a:solidFill>
                  <a:srgbClr val="FF0000"/>
                </a:solidFill>
              </a:rPr>
              <a:t>0.6 LGB + 0.4 Ridge</a:t>
            </a:r>
            <a:endParaRPr sz="2700">
              <a:solidFill>
                <a:srgbClr val="FF0000"/>
              </a:solidFill>
            </a:endParaRPr>
          </a:p>
          <a:p>
            <a:pPr indent="571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700"/>
              <a:buChar char="►"/>
            </a:pPr>
            <a:r>
              <a:rPr lang="en-US" sz="2700">
                <a:solidFill>
                  <a:srgbClr val="5A5F5E"/>
                </a:solidFill>
              </a:rPr>
              <a:t>Ref: Gu, S., Kelly, B., &amp; Xiu, D. (2020). Empirical Asset Pricing via Machine Learning. The Review of Financial Studies.</a:t>
            </a:r>
            <a:endParaRPr sz="2700">
              <a:solidFill>
                <a:srgbClr val="5A5F5E"/>
              </a:solidFill>
            </a:endParaRPr>
          </a:p>
        </p:txBody>
      </p:sp>
      <p:sp>
        <p:nvSpPr>
          <p:cNvPr id="198" name="Google Shape;198;p24"/>
          <p:cNvSpPr txBox="1"/>
          <p:nvPr>
            <p:ph idx="4" type="body"/>
          </p:nvPr>
        </p:nvSpPr>
        <p:spPr>
          <a:xfrm>
            <a:off x="715409" y="9235479"/>
            <a:ext cx="54792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Helvetica Neue Light"/>
              <a:buNone/>
            </a:pPr>
            <a:r>
              <a:rPr lang="en-US">
                <a:solidFill>
                  <a:schemeClr val="dk2"/>
                </a:solidFill>
              </a:rPr>
              <a:t>Machine Learning &amp; FinTech 2025</a:t>
            </a:r>
            <a:endParaRPr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25"/>
          <p:cNvSpPr txBox="1"/>
          <p:nvPr>
            <p:ph idx="12" type="sldNum"/>
          </p:nvPr>
        </p:nvSpPr>
        <p:spPr>
          <a:xfrm>
            <a:off x="11741879" y="213147"/>
            <a:ext cx="494400" cy="3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fld id="{00000000-1234-1234-1234-123412341234}" type="slidenum"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/>
          </a:p>
        </p:txBody>
      </p:sp>
      <p:sp>
        <p:nvSpPr>
          <p:cNvPr id="204" name="Google Shape;204;p25"/>
          <p:cNvSpPr txBox="1"/>
          <p:nvPr>
            <p:ph idx="1" type="body"/>
          </p:nvPr>
        </p:nvSpPr>
        <p:spPr>
          <a:xfrm>
            <a:off x="755809" y="213147"/>
            <a:ext cx="95028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Section Title</a:t>
            </a:r>
            <a:endParaRPr/>
          </a:p>
        </p:txBody>
      </p:sp>
      <p:sp>
        <p:nvSpPr>
          <p:cNvPr id="205" name="Google Shape;205;p25"/>
          <p:cNvSpPr txBox="1"/>
          <p:nvPr>
            <p:ph idx="2" type="body"/>
          </p:nvPr>
        </p:nvSpPr>
        <p:spPr>
          <a:xfrm>
            <a:off x="762000" y="762000"/>
            <a:ext cx="11467800" cy="6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3500"/>
              <a:buFont typeface="Helvetica Neue"/>
              <a:buNone/>
            </a:pPr>
            <a:r>
              <a:rPr b="1" lang="en-US"/>
              <a:t>Cross-Sectional ML Prediction</a:t>
            </a:r>
            <a:endParaRPr b="1"/>
          </a:p>
        </p:txBody>
      </p:sp>
      <p:sp>
        <p:nvSpPr>
          <p:cNvPr id="206" name="Google Shape;206;p25"/>
          <p:cNvSpPr txBox="1"/>
          <p:nvPr>
            <p:ph idx="3" type="body"/>
          </p:nvPr>
        </p:nvSpPr>
        <p:spPr>
          <a:xfrm>
            <a:off x="761999" y="1581811"/>
            <a:ext cx="11467800" cy="61056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599E"/>
              </a:buClr>
              <a:buSzPts val="3000"/>
              <a:buFont typeface="Helvetica Neue"/>
              <a:buChar char="⊡"/>
            </a:pPr>
            <a:r>
              <a:rPr b="1" lang="en-US" sz="3000">
                <a:solidFill>
                  <a:srgbClr val="5A5F5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Rolling Walk-Forward Setup</a:t>
            </a:r>
            <a:endParaRPr b="1" sz="3000">
              <a:solidFill>
                <a:srgbClr val="5A5F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Use at least </a:t>
            </a:r>
            <a:r>
              <a:rPr lang="en-US" sz="3000">
                <a:solidFill>
                  <a:srgbClr val="FF0000"/>
                </a:solidFill>
              </a:rPr>
              <a:t>52 weeks</a:t>
            </a:r>
            <a:r>
              <a:rPr lang="en-US" sz="3000">
                <a:solidFill>
                  <a:srgbClr val="5A5F5E"/>
                </a:solidFill>
              </a:rPr>
              <a:t> of history as the initial </a:t>
            </a:r>
            <a:r>
              <a:rPr lang="en-US" sz="3000">
                <a:solidFill>
                  <a:srgbClr val="FF0000"/>
                </a:solidFill>
              </a:rPr>
              <a:t>training set</a:t>
            </a:r>
            <a:r>
              <a:rPr lang="en-US" sz="3000">
                <a:solidFill>
                  <a:srgbClr val="5A5F5E"/>
                </a:solidFill>
              </a:rPr>
              <a:t>; the most recent </a:t>
            </a:r>
            <a:r>
              <a:rPr lang="en-US" sz="3000">
                <a:solidFill>
                  <a:srgbClr val="FF0000"/>
                </a:solidFill>
              </a:rPr>
              <a:t>8 weeks</a:t>
            </a:r>
            <a:r>
              <a:rPr lang="en-US" sz="3000">
                <a:solidFill>
                  <a:srgbClr val="5A5F5E"/>
                </a:solidFill>
              </a:rPr>
              <a:t> are used for </a:t>
            </a:r>
            <a:r>
              <a:rPr lang="en-US" sz="3000">
                <a:solidFill>
                  <a:srgbClr val="FF0000"/>
                </a:solidFill>
              </a:rPr>
              <a:t>validation</a:t>
            </a:r>
            <a:r>
              <a:rPr lang="en-US" sz="3000">
                <a:solidFill>
                  <a:srgbClr val="5A5F5E"/>
                </a:solidFill>
              </a:rPr>
              <a:t>.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Refit the model every 4 weeks, processing a total of 373 weeks of data.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Each week is treated as a ranking group; the model learns which assets should rank higher or lower within the same week.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Ref: López de Prado, M. (2018). Advances in Financial Machine Learning.</a:t>
            </a:r>
            <a:endParaRPr sz="3000">
              <a:solidFill>
                <a:srgbClr val="5A5F5E"/>
              </a:solidFill>
            </a:endParaRPr>
          </a:p>
        </p:txBody>
      </p:sp>
      <p:sp>
        <p:nvSpPr>
          <p:cNvPr id="207" name="Google Shape;207;p25"/>
          <p:cNvSpPr txBox="1"/>
          <p:nvPr>
            <p:ph idx="4" type="body"/>
          </p:nvPr>
        </p:nvSpPr>
        <p:spPr>
          <a:xfrm>
            <a:off x="715409" y="9235479"/>
            <a:ext cx="54792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Helvetica Neue Light"/>
              <a:buNone/>
            </a:pPr>
            <a:r>
              <a:rPr lang="en-US">
                <a:solidFill>
                  <a:schemeClr val="dk2"/>
                </a:solidFill>
              </a:rPr>
              <a:t>Machine Learning &amp; FinTech 2025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26"/>
          <p:cNvSpPr txBox="1"/>
          <p:nvPr>
            <p:ph idx="12" type="sldNum"/>
          </p:nvPr>
        </p:nvSpPr>
        <p:spPr>
          <a:xfrm>
            <a:off x="11741879" y="213147"/>
            <a:ext cx="494400" cy="3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fld id="{00000000-1234-1234-1234-123412341234}" type="slidenum"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/>
          </a:p>
        </p:txBody>
      </p:sp>
      <p:sp>
        <p:nvSpPr>
          <p:cNvPr id="213" name="Google Shape;213;p26"/>
          <p:cNvSpPr txBox="1"/>
          <p:nvPr>
            <p:ph idx="1" type="body"/>
          </p:nvPr>
        </p:nvSpPr>
        <p:spPr>
          <a:xfrm>
            <a:off x="755809" y="213147"/>
            <a:ext cx="95028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Section Title</a:t>
            </a:r>
            <a:endParaRPr/>
          </a:p>
        </p:txBody>
      </p:sp>
      <p:sp>
        <p:nvSpPr>
          <p:cNvPr id="214" name="Google Shape;214;p26"/>
          <p:cNvSpPr txBox="1"/>
          <p:nvPr>
            <p:ph idx="2" type="body"/>
          </p:nvPr>
        </p:nvSpPr>
        <p:spPr>
          <a:xfrm>
            <a:off x="762000" y="762000"/>
            <a:ext cx="11467800" cy="6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3500"/>
              <a:buFont typeface="Helvetica Neue"/>
              <a:buNone/>
            </a:pPr>
            <a:r>
              <a:rPr b="1" lang="en-US"/>
              <a:t>Portfolio Construction</a:t>
            </a:r>
            <a:endParaRPr b="1"/>
          </a:p>
        </p:txBody>
      </p:sp>
      <p:sp>
        <p:nvSpPr>
          <p:cNvPr id="215" name="Google Shape;215;p26"/>
          <p:cNvSpPr txBox="1"/>
          <p:nvPr>
            <p:ph idx="4" type="body"/>
          </p:nvPr>
        </p:nvSpPr>
        <p:spPr>
          <a:xfrm>
            <a:off x="715409" y="9235479"/>
            <a:ext cx="54792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Helvetica Neue Light"/>
              <a:buNone/>
            </a:pPr>
            <a:r>
              <a:rPr lang="en-US">
                <a:solidFill>
                  <a:schemeClr val="dk2"/>
                </a:solidFill>
              </a:rPr>
              <a:t>Machine Learning &amp; FinTech 2025</a:t>
            </a:r>
            <a:endParaRPr/>
          </a:p>
        </p:txBody>
      </p:sp>
      <p:sp>
        <p:nvSpPr>
          <p:cNvPr id="216" name="Google Shape;216;p26"/>
          <p:cNvSpPr txBox="1"/>
          <p:nvPr>
            <p:ph idx="3" type="body"/>
          </p:nvPr>
        </p:nvSpPr>
        <p:spPr>
          <a:xfrm>
            <a:off x="761999" y="1581811"/>
            <a:ext cx="11467800" cy="61056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599E"/>
              </a:buClr>
              <a:buSzPts val="3000"/>
              <a:buFont typeface="Helvetica Neue"/>
              <a:buChar char="⊡"/>
            </a:pPr>
            <a:r>
              <a:rPr b="1" lang="en-US" sz="3000">
                <a:solidFill>
                  <a:srgbClr val="5A5F5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Bucketing &amp; Signal Inversion</a:t>
            </a:r>
            <a:endParaRPr b="1" sz="3000">
              <a:solidFill>
                <a:srgbClr val="5A5F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Each week, ensemble scores are bucketed into 5 quantiles (Q=5).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raw scores are </a:t>
            </a:r>
            <a:r>
              <a:rPr lang="en-US" sz="3000">
                <a:solidFill>
                  <a:srgbClr val="FF0000"/>
                </a:solidFill>
              </a:rPr>
              <a:t>negatively</a:t>
            </a:r>
            <a:r>
              <a:rPr lang="en-US" sz="3000">
                <a:solidFill>
                  <a:srgbClr val="5A5F5E"/>
                </a:solidFill>
              </a:rPr>
              <a:t> correlated with </a:t>
            </a:r>
            <a:r>
              <a:rPr lang="en-US" sz="3000">
                <a:solidFill>
                  <a:srgbClr val="FF0000"/>
                </a:solidFill>
              </a:rPr>
              <a:t>future returns</a:t>
            </a:r>
            <a:r>
              <a:rPr lang="en-US" sz="3000">
                <a:solidFill>
                  <a:srgbClr val="5A5F5E"/>
                </a:solidFill>
              </a:rPr>
              <a:t>.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FF0000"/>
                </a:solidFill>
              </a:rPr>
              <a:t>Long</a:t>
            </a:r>
            <a:r>
              <a:rPr lang="en-US" sz="3000">
                <a:solidFill>
                  <a:srgbClr val="5A5F5E"/>
                </a:solidFill>
              </a:rPr>
              <a:t>: </a:t>
            </a:r>
            <a:r>
              <a:rPr lang="en-US" sz="3000">
                <a:solidFill>
                  <a:srgbClr val="FF0000"/>
                </a:solidFill>
              </a:rPr>
              <a:t>bottom</a:t>
            </a:r>
            <a:r>
              <a:rPr lang="en-US" sz="3000">
                <a:solidFill>
                  <a:srgbClr val="5A5F5E"/>
                </a:solidFill>
              </a:rPr>
              <a:t> 20% (lowest-score quantile).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FF0000"/>
                </a:solidFill>
              </a:rPr>
              <a:t>Short</a:t>
            </a:r>
            <a:r>
              <a:rPr lang="en-US" sz="3000">
                <a:solidFill>
                  <a:srgbClr val="5A5F5E"/>
                </a:solidFill>
              </a:rPr>
              <a:t>: </a:t>
            </a:r>
            <a:r>
              <a:rPr lang="en-US" sz="3000">
                <a:solidFill>
                  <a:srgbClr val="FF0000"/>
                </a:solidFill>
              </a:rPr>
              <a:t>top</a:t>
            </a:r>
            <a:r>
              <a:rPr lang="en-US" sz="3000">
                <a:solidFill>
                  <a:srgbClr val="5A5F5E"/>
                </a:solidFill>
              </a:rPr>
              <a:t> 20% (highest-score quantile).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Interpretation: the model effectively detects </a:t>
            </a:r>
            <a:r>
              <a:rPr lang="en-US" sz="3000">
                <a:solidFill>
                  <a:srgbClr val="FF0000"/>
                </a:solidFill>
              </a:rPr>
              <a:t>over-extended</a:t>
            </a:r>
            <a:r>
              <a:rPr lang="en-US" sz="3000">
                <a:solidFill>
                  <a:srgbClr val="5A5F5E"/>
                </a:solidFill>
              </a:rPr>
              <a:t> assets; </a:t>
            </a:r>
            <a:r>
              <a:rPr lang="en-US" sz="3000">
                <a:solidFill>
                  <a:srgbClr val="FF0000"/>
                </a:solidFill>
              </a:rPr>
              <a:t>high scores indicate short-term overheating</a:t>
            </a:r>
            <a:r>
              <a:rPr lang="en-US" sz="3000">
                <a:solidFill>
                  <a:srgbClr val="5A5F5E"/>
                </a:solidFill>
              </a:rPr>
              <a:t> and likely </a:t>
            </a:r>
            <a:r>
              <a:rPr lang="en-US" sz="3000">
                <a:solidFill>
                  <a:srgbClr val="FF0000"/>
                </a:solidFill>
              </a:rPr>
              <a:t>mean reversion,</a:t>
            </a:r>
            <a:r>
              <a:rPr lang="en-US" sz="3000">
                <a:solidFill>
                  <a:srgbClr val="5A5F5E"/>
                </a:solidFill>
              </a:rPr>
              <a:t> while low scores correspond to overlooked but higher-quality names.</a:t>
            </a:r>
            <a:endParaRPr sz="3000">
              <a:solidFill>
                <a:srgbClr val="5A5F5E"/>
              </a:solidFill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27"/>
          <p:cNvSpPr txBox="1"/>
          <p:nvPr>
            <p:ph idx="12" type="sldNum"/>
          </p:nvPr>
        </p:nvSpPr>
        <p:spPr>
          <a:xfrm>
            <a:off x="11741879" y="213147"/>
            <a:ext cx="494400" cy="3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fld id="{00000000-1234-1234-1234-123412341234}" type="slidenum"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/>
          </a:p>
        </p:txBody>
      </p:sp>
      <p:sp>
        <p:nvSpPr>
          <p:cNvPr id="222" name="Google Shape;222;p27"/>
          <p:cNvSpPr txBox="1"/>
          <p:nvPr>
            <p:ph idx="1" type="body"/>
          </p:nvPr>
        </p:nvSpPr>
        <p:spPr>
          <a:xfrm>
            <a:off x="755809" y="213147"/>
            <a:ext cx="95028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Section Title</a:t>
            </a:r>
            <a:endParaRPr/>
          </a:p>
        </p:txBody>
      </p:sp>
      <p:sp>
        <p:nvSpPr>
          <p:cNvPr id="223" name="Google Shape;223;p27"/>
          <p:cNvSpPr txBox="1"/>
          <p:nvPr>
            <p:ph idx="2" type="body"/>
          </p:nvPr>
        </p:nvSpPr>
        <p:spPr>
          <a:xfrm>
            <a:off x="762000" y="762000"/>
            <a:ext cx="11467800" cy="6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3500"/>
              <a:buFont typeface="Helvetica Neue"/>
              <a:buNone/>
            </a:pPr>
            <a:r>
              <a:rPr b="1" lang="en-US"/>
              <a:t>Portfolio Construction</a:t>
            </a:r>
            <a:endParaRPr b="1"/>
          </a:p>
        </p:txBody>
      </p:sp>
      <p:sp>
        <p:nvSpPr>
          <p:cNvPr id="224" name="Google Shape;224;p27"/>
          <p:cNvSpPr txBox="1"/>
          <p:nvPr>
            <p:ph idx="4" type="body"/>
          </p:nvPr>
        </p:nvSpPr>
        <p:spPr>
          <a:xfrm>
            <a:off x="715409" y="9235479"/>
            <a:ext cx="54792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Helvetica Neue Light"/>
              <a:buNone/>
            </a:pPr>
            <a:r>
              <a:rPr lang="en-US">
                <a:solidFill>
                  <a:schemeClr val="dk2"/>
                </a:solidFill>
              </a:rPr>
              <a:t>Machine Learning &amp; FinTech 2025</a:t>
            </a:r>
            <a:endParaRPr/>
          </a:p>
        </p:txBody>
      </p:sp>
      <p:sp>
        <p:nvSpPr>
          <p:cNvPr id="225" name="Google Shape;225;p27"/>
          <p:cNvSpPr txBox="1"/>
          <p:nvPr>
            <p:ph idx="3" type="body"/>
          </p:nvPr>
        </p:nvSpPr>
        <p:spPr>
          <a:xfrm>
            <a:off x="761999" y="1581811"/>
            <a:ext cx="11467800" cy="47202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599E"/>
              </a:buClr>
              <a:buSzPts val="3000"/>
              <a:buFont typeface="Helvetica Neue"/>
              <a:buChar char="⊡"/>
            </a:pPr>
            <a:r>
              <a:rPr b="1" lang="en-US" sz="3000">
                <a:solidFill>
                  <a:srgbClr val="5A5F5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Risk Constraints</a:t>
            </a:r>
            <a:endParaRPr b="1" sz="3000">
              <a:solidFill>
                <a:srgbClr val="5A5F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Total gross leverage: GROSS_LEV = 1.0 (|long| + |short| = 100%).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Per-asset weight cap: |w_i| ≤ 10%.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Weekly per-asset turnover cap: |Δw_i| ≤ 30%.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One-way transaction cost: 10 bps.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Goal: control concentration and trading frictions, making the strategy implementable in practice.</a:t>
            </a:r>
            <a:endParaRPr sz="3000">
              <a:solidFill>
                <a:srgbClr val="5A5F5E"/>
              </a:solidFill>
            </a:endParaRP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9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p28"/>
          <p:cNvSpPr txBox="1"/>
          <p:nvPr>
            <p:ph idx="12" type="sldNum"/>
          </p:nvPr>
        </p:nvSpPr>
        <p:spPr>
          <a:xfrm>
            <a:off x="11741879" y="213147"/>
            <a:ext cx="494400" cy="3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fld id="{00000000-1234-1234-1234-123412341234}" type="slidenum"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/>
          </a:p>
        </p:txBody>
      </p:sp>
      <p:sp>
        <p:nvSpPr>
          <p:cNvPr id="231" name="Google Shape;231;p28"/>
          <p:cNvSpPr txBox="1"/>
          <p:nvPr>
            <p:ph idx="1" type="body"/>
          </p:nvPr>
        </p:nvSpPr>
        <p:spPr>
          <a:xfrm>
            <a:off x="755809" y="213147"/>
            <a:ext cx="95028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Section Title</a:t>
            </a:r>
            <a:endParaRPr/>
          </a:p>
        </p:txBody>
      </p:sp>
      <p:sp>
        <p:nvSpPr>
          <p:cNvPr id="232" name="Google Shape;232;p28"/>
          <p:cNvSpPr txBox="1"/>
          <p:nvPr>
            <p:ph idx="2" type="body"/>
          </p:nvPr>
        </p:nvSpPr>
        <p:spPr>
          <a:xfrm>
            <a:off x="762000" y="762000"/>
            <a:ext cx="11467800" cy="6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3500"/>
              <a:buFont typeface="Helvetica Neue"/>
              <a:buNone/>
            </a:pPr>
            <a:r>
              <a:rPr b="1" lang="en-US"/>
              <a:t>Portfolio Construction</a:t>
            </a:r>
            <a:endParaRPr b="1"/>
          </a:p>
        </p:txBody>
      </p:sp>
      <p:sp>
        <p:nvSpPr>
          <p:cNvPr id="233" name="Google Shape;233;p28"/>
          <p:cNvSpPr txBox="1"/>
          <p:nvPr>
            <p:ph idx="4" type="body"/>
          </p:nvPr>
        </p:nvSpPr>
        <p:spPr>
          <a:xfrm>
            <a:off x="715409" y="9235479"/>
            <a:ext cx="54792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Helvetica Neue Light"/>
              <a:buNone/>
            </a:pPr>
            <a:r>
              <a:rPr lang="en-US">
                <a:solidFill>
                  <a:schemeClr val="dk2"/>
                </a:solidFill>
              </a:rPr>
              <a:t>Machine Learning &amp; FinTech 2025</a:t>
            </a:r>
            <a:endParaRPr/>
          </a:p>
        </p:txBody>
      </p:sp>
      <p:sp>
        <p:nvSpPr>
          <p:cNvPr id="234" name="Google Shape;234;p28"/>
          <p:cNvSpPr txBox="1"/>
          <p:nvPr>
            <p:ph idx="3" type="body"/>
          </p:nvPr>
        </p:nvSpPr>
        <p:spPr>
          <a:xfrm>
            <a:off x="761999" y="1581811"/>
            <a:ext cx="11467800" cy="61056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599E"/>
              </a:buClr>
              <a:buSzPts val="3000"/>
              <a:buFont typeface="Helvetica Neue"/>
              <a:buChar char="⊡"/>
            </a:pPr>
            <a:r>
              <a:rPr b="1" lang="en-US" sz="3000">
                <a:solidFill>
                  <a:srgbClr val="5A5F5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Beta Neutrality &amp; Vol Targeting</a:t>
            </a:r>
            <a:endParaRPr b="1" sz="3000">
              <a:solidFill>
                <a:srgbClr val="5A5F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Estimate each asset’s beta via a 52-week rolling regression on CMKT.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Adjust portfolio weights by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to achieve near </a:t>
            </a:r>
            <a:r>
              <a:rPr lang="en-US" sz="3000">
                <a:solidFill>
                  <a:srgbClr val="FF0000"/>
                </a:solidFill>
              </a:rPr>
              <a:t>beta neutrality</a:t>
            </a:r>
            <a:r>
              <a:rPr lang="en-US" sz="3000">
                <a:solidFill>
                  <a:srgbClr val="5A5F5E"/>
                </a:solidFill>
              </a:rPr>
              <a:t>.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Using 26-week historical volatility, scale exposure to keep annualized volatility around </a:t>
            </a:r>
            <a:r>
              <a:rPr lang="en-US" sz="3000">
                <a:solidFill>
                  <a:srgbClr val="FF0000"/>
                </a:solidFill>
              </a:rPr>
              <a:t>30%</a:t>
            </a:r>
            <a:r>
              <a:rPr lang="en-US" sz="3000">
                <a:solidFill>
                  <a:srgbClr val="5A5F5E"/>
                </a:solidFill>
              </a:rPr>
              <a:t>: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FF0000"/>
                </a:solidFill>
              </a:rPr>
              <a:t>De-leverage</a:t>
            </a:r>
            <a:r>
              <a:rPr lang="en-US" sz="3000">
                <a:solidFill>
                  <a:srgbClr val="5A5F5E"/>
                </a:solidFill>
              </a:rPr>
              <a:t> in </a:t>
            </a:r>
            <a:r>
              <a:rPr lang="en-US" sz="3000">
                <a:solidFill>
                  <a:srgbClr val="FF0000"/>
                </a:solidFill>
              </a:rPr>
              <a:t>high-vol</a:t>
            </a:r>
            <a:r>
              <a:rPr lang="en-US" sz="3000">
                <a:solidFill>
                  <a:srgbClr val="5A5F5E"/>
                </a:solidFill>
              </a:rPr>
              <a:t> regimes, </a:t>
            </a:r>
            <a:r>
              <a:rPr lang="en-US" sz="3000">
                <a:solidFill>
                  <a:srgbClr val="FF0000"/>
                </a:solidFill>
              </a:rPr>
              <a:t>scale up</a:t>
            </a:r>
            <a:r>
              <a:rPr lang="en-US" sz="3000">
                <a:solidFill>
                  <a:srgbClr val="5A5F5E"/>
                </a:solidFill>
              </a:rPr>
              <a:t> in </a:t>
            </a:r>
            <a:r>
              <a:rPr lang="en-US" sz="3000">
                <a:solidFill>
                  <a:srgbClr val="FF0000"/>
                </a:solidFill>
              </a:rPr>
              <a:t>low-vol</a:t>
            </a:r>
            <a:r>
              <a:rPr lang="en-US" sz="3000">
                <a:solidFill>
                  <a:srgbClr val="5A5F5E"/>
                </a:solidFill>
              </a:rPr>
              <a:t> regimes.</a:t>
            </a:r>
            <a:endParaRPr sz="3000">
              <a:solidFill>
                <a:srgbClr val="5A5F5E"/>
              </a:solidFill>
            </a:endParaRPr>
          </a:p>
          <a:p>
            <a:pPr indent="3810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Char char="►"/>
            </a:pPr>
            <a:r>
              <a:rPr lang="en-US" sz="3000">
                <a:solidFill>
                  <a:srgbClr val="5A5F5E"/>
                </a:solidFill>
              </a:rPr>
              <a:t>Result: a stable and more investable risk profile.</a:t>
            </a:r>
            <a:endParaRPr sz="3000">
              <a:solidFill>
                <a:srgbClr val="5A5F5E"/>
              </a:solidFill>
            </a:endParaRP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29"/>
          <p:cNvSpPr txBox="1"/>
          <p:nvPr>
            <p:ph idx="12" type="sldNum"/>
          </p:nvPr>
        </p:nvSpPr>
        <p:spPr>
          <a:xfrm>
            <a:off x="11741879" y="213147"/>
            <a:ext cx="494400" cy="3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fld id="{00000000-1234-1234-1234-123412341234}" type="slidenum"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/>
          </a:p>
        </p:txBody>
      </p:sp>
      <p:sp>
        <p:nvSpPr>
          <p:cNvPr id="240" name="Google Shape;240;p29"/>
          <p:cNvSpPr txBox="1"/>
          <p:nvPr>
            <p:ph idx="1" type="body"/>
          </p:nvPr>
        </p:nvSpPr>
        <p:spPr>
          <a:xfrm>
            <a:off x="755809" y="213147"/>
            <a:ext cx="95028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Section Title</a:t>
            </a:r>
            <a:endParaRPr/>
          </a:p>
        </p:txBody>
      </p:sp>
      <p:sp>
        <p:nvSpPr>
          <p:cNvPr id="241" name="Google Shape;241;p29"/>
          <p:cNvSpPr txBox="1"/>
          <p:nvPr>
            <p:ph idx="2" type="body"/>
          </p:nvPr>
        </p:nvSpPr>
        <p:spPr>
          <a:xfrm>
            <a:off x="762000" y="762000"/>
            <a:ext cx="11467800" cy="6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3500"/>
              <a:buFont typeface="Helvetica Neue"/>
              <a:buNone/>
            </a:pPr>
            <a:r>
              <a:rPr b="1" lang="en-US"/>
              <a:t>Results &amp; Interpretation</a:t>
            </a:r>
            <a:endParaRPr b="1"/>
          </a:p>
        </p:txBody>
      </p:sp>
      <p:sp>
        <p:nvSpPr>
          <p:cNvPr id="242" name="Google Shape;242;p29"/>
          <p:cNvSpPr txBox="1"/>
          <p:nvPr>
            <p:ph idx="4" type="body"/>
          </p:nvPr>
        </p:nvSpPr>
        <p:spPr>
          <a:xfrm>
            <a:off x="715409" y="9235479"/>
            <a:ext cx="54792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Helvetica Neue Light"/>
              <a:buNone/>
            </a:pPr>
            <a:r>
              <a:rPr lang="en-US">
                <a:solidFill>
                  <a:schemeClr val="dk2"/>
                </a:solidFill>
              </a:rPr>
              <a:t>Machine Learning &amp; FinTech 2025</a:t>
            </a:r>
            <a:endParaRPr/>
          </a:p>
        </p:txBody>
      </p:sp>
      <p:sp>
        <p:nvSpPr>
          <p:cNvPr id="243" name="Google Shape;243;p29"/>
          <p:cNvSpPr txBox="1"/>
          <p:nvPr>
            <p:ph idx="3" type="body"/>
          </p:nvPr>
        </p:nvSpPr>
        <p:spPr>
          <a:xfrm>
            <a:off x="761999" y="1581811"/>
            <a:ext cx="11467800" cy="29118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599E"/>
              </a:buClr>
              <a:buSzPts val="3000"/>
              <a:buFont typeface="Helvetica Neue"/>
              <a:buChar char="⊡"/>
            </a:pPr>
            <a:r>
              <a:rPr b="1" lang="en-US" sz="3000">
                <a:solidFill>
                  <a:srgbClr val="5A5F5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Strategy Comparison: Ensemble vs Standalone Models</a:t>
            </a:r>
            <a:endParaRPr b="1" sz="3000">
              <a:solidFill>
                <a:srgbClr val="5A5F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698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500"/>
              <a:buChar char="►"/>
            </a:pPr>
            <a:r>
              <a:rPr lang="en-US" sz="2500">
                <a:solidFill>
                  <a:srgbClr val="5A5F5E"/>
                </a:solidFill>
              </a:rPr>
              <a:t>The ensemble (green) compounds much more smoothly than either standalone model, achieving the highest cumulative growth.</a:t>
            </a:r>
            <a:endParaRPr sz="2500">
              <a:solidFill>
                <a:srgbClr val="5A5F5E"/>
              </a:solidFill>
            </a:endParaRPr>
          </a:p>
          <a:p>
            <a:pPr indent="698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500"/>
              <a:buChar char="►"/>
            </a:pPr>
            <a:r>
              <a:rPr lang="en-US" sz="2500">
                <a:solidFill>
                  <a:srgbClr val="5A5F5E"/>
                </a:solidFill>
              </a:rPr>
              <a:t>LightGBM alone suffers severe drawdowns, while Ridge is stable but weaker–highlighting the benefit of combining both.</a:t>
            </a:r>
            <a:endParaRPr sz="2500">
              <a:solidFill>
                <a:srgbClr val="5A5F5E"/>
              </a:solidFill>
            </a:endParaRPr>
          </a:p>
        </p:txBody>
      </p:sp>
      <p:pic>
        <p:nvPicPr>
          <p:cNvPr id="244" name="Google Shape;244;p29" title="strategy_comparison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36694" y="4493600"/>
            <a:ext cx="6918418" cy="46122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30"/>
          <p:cNvSpPr txBox="1"/>
          <p:nvPr>
            <p:ph idx="12" type="sldNum"/>
          </p:nvPr>
        </p:nvSpPr>
        <p:spPr>
          <a:xfrm>
            <a:off x="11741879" y="213147"/>
            <a:ext cx="494400" cy="3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fld id="{00000000-1234-1234-1234-123412341234}" type="slidenum"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/>
          </a:p>
        </p:txBody>
      </p:sp>
      <p:sp>
        <p:nvSpPr>
          <p:cNvPr id="250" name="Google Shape;250;p30"/>
          <p:cNvSpPr txBox="1"/>
          <p:nvPr>
            <p:ph idx="1" type="body"/>
          </p:nvPr>
        </p:nvSpPr>
        <p:spPr>
          <a:xfrm>
            <a:off x="755809" y="213147"/>
            <a:ext cx="95028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Section Title</a:t>
            </a:r>
            <a:endParaRPr/>
          </a:p>
        </p:txBody>
      </p:sp>
      <p:sp>
        <p:nvSpPr>
          <p:cNvPr id="251" name="Google Shape;251;p30"/>
          <p:cNvSpPr txBox="1"/>
          <p:nvPr>
            <p:ph idx="2" type="body"/>
          </p:nvPr>
        </p:nvSpPr>
        <p:spPr>
          <a:xfrm>
            <a:off x="762000" y="762000"/>
            <a:ext cx="11467800" cy="6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3500"/>
              <a:buFont typeface="Helvetica Neue"/>
              <a:buNone/>
            </a:pPr>
            <a:r>
              <a:rPr b="1" lang="en-US"/>
              <a:t>Results &amp; Interpretation</a:t>
            </a:r>
            <a:endParaRPr b="1"/>
          </a:p>
        </p:txBody>
      </p:sp>
      <p:sp>
        <p:nvSpPr>
          <p:cNvPr id="252" name="Google Shape;252;p30"/>
          <p:cNvSpPr txBox="1"/>
          <p:nvPr>
            <p:ph idx="4" type="body"/>
          </p:nvPr>
        </p:nvSpPr>
        <p:spPr>
          <a:xfrm>
            <a:off x="715409" y="9235479"/>
            <a:ext cx="54792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Helvetica Neue Light"/>
              <a:buNone/>
            </a:pPr>
            <a:r>
              <a:rPr lang="en-US">
                <a:solidFill>
                  <a:schemeClr val="dk2"/>
                </a:solidFill>
              </a:rPr>
              <a:t>Machine Learning &amp; FinTech 2025</a:t>
            </a:r>
            <a:endParaRPr/>
          </a:p>
        </p:txBody>
      </p:sp>
      <p:sp>
        <p:nvSpPr>
          <p:cNvPr id="253" name="Google Shape;253;p30"/>
          <p:cNvSpPr txBox="1"/>
          <p:nvPr>
            <p:ph idx="3" type="body"/>
          </p:nvPr>
        </p:nvSpPr>
        <p:spPr>
          <a:xfrm>
            <a:off x="761999" y="1581811"/>
            <a:ext cx="11467800" cy="29118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599E"/>
              </a:buClr>
              <a:buSzPts val="3000"/>
              <a:buFont typeface="Helvetica Neue"/>
              <a:buChar char="⊡"/>
            </a:pPr>
            <a:r>
              <a:rPr b="1" lang="en-US" sz="3000">
                <a:solidFill>
                  <a:srgbClr val="5A5F5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Performance Summary of Strategies</a:t>
            </a:r>
            <a:endParaRPr b="1" sz="3000">
              <a:solidFill>
                <a:srgbClr val="5A5F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698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500"/>
              <a:buChar char="►"/>
            </a:pPr>
            <a:r>
              <a:rPr lang="en-US" sz="2500">
                <a:solidFill>
                  <a:srgbClr val="5A5F5E"/>
                </a:solidFill>
              </a:rPr>
              <a:t>The ensemble delivers the highest Sharpe ratio strongest annual return, with substantially lower volatility than LightGBM alone.</a:t>
            </a:r>
            <a:endParaRPr sz="2500">
              <a:solidFill>
                <a:srgbClr val="5A5F5E"/>
              </a:solidFill>
            </a:endParaRPr>
          </a:p>
          <a:p>
            <a:pPr indent="698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500"/>
              <a:buChar char="►"/>
            </a:pPr>
            <a:r>
              <a:rPr lang="en-US" sz="2500">
                <a:solidFill>
                  <a:srgbClr val="5A5F5E"/>
                </a:solidFill>
              </a:rPr>
              <a:t>Ridge performs moderately well, white LightGBM’s instability leads to both negative returns and extreme drawdowns.</a:t>
            </a:r>
            <a:endParaRPr sz="2500">
              <a:solidFill>
                <a:srgbClr val="5A5F5E"/>
              </a:solidFill>
            </a:endParaRPr>
          </a:p>
        </p:txBody>
      </p:sp>
      <p:pic>
        <p:nvPicPr>
          <p:cNvPr id="254" name="Google Shape;254;p30" title="截圖 2025-12-08 晚上11.06.39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95175" y="5298611"/>
            <a:ext cx="11601450" cy="2133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31"/>
          <p:cNvSpPr txBox="1"/>
          <p:nvPr>
            <p:ph idx="12" type="sldNum"/>
          </p:nvPr>
        </p:nvSpPr>
        <p:spPr>
          <a:xfrm>
            <a:off x="11741879" y="213147"/>
            <a:ext cx="494400" cy="3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fld id="{00000000-1234-1234-1234-123412341234}" type="slidenum"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/>
          </a:p>
        </p:txBody>
      </p:sp>
      <p:sp>
        <p:nvSpPr>
          <p:cNvPr id="260" name="Google Shape;260;p31"/>
          <p:cNvSpPr txBox="1"/>
          <p:nvPr>
            <p:ph idx="1" type="body"/>
          </p:nvPr>
        </p:nvSpPr>
        <p:spPr>
          <a:xfrm>
            <a:off x="755809" y="213147"/>
            <a:ext cx="95028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Section Title</a:t>
            </a:r>
            <a:endParaRPr/>
          </a:p>
        </p:txBody>
      </p:sp>
      <p:sp>
        <p:nvSpPr>
          <p:cNvPr id="261" name="Google Shape;261;p31"/>
          <p:cNvSpPr txBox="1"/>
          <p:nvPr>
            <p:ph idx="2" type="body"/>
          </p:nvPr>
        </p:nvSpPr>
        <p:spPr>
          <a:xfrm>
            <a:off x="762000" y="762000"/>
            <a:ext cx="11467800" cy="6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3500"/>
              <a:buFont typeface="Helvetica Neue"/>
              <a:buNone/>
            </a:pPr>
            <a:r>
              <a:rPr b="1" lang="en-US"/>
              <a:t>Results &amp; Interpretation</a:t>
            </a:r>
            <a:endParaRPr b="1"/>
          </a:p>
        </p:txBody>
      </p:sp>
      <p:sp>
        <p:nvSpPr>
          <p:cNvPr id="262" name="Google Shape;262;p31"/>
          <p:cNvSpPr txBox="1"/>
          <p:nvPr>
            <p:ph idx="4" type="body"/>
          </p:nvPr>
        </p:nvSpPr>
        <p:spPr>
          <a:xfrm>
            <a:off x="715409" y="9235479"/>
            <a:ext cx="54792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Helvetica Neue Light"/>
              <a:buNone/>
            </a:pPr>
            <a:r>
              <a:rPr lang="en-US">
                <a:solidFill>
                  <a:schemeClr val="dk2"/>
                </a:solidFill>
              </a:rPr>
              <a:t>Machine Learning &amp; FinTech 2025</a:t>
            </a:r>
            <a:endParaRPr/>
          </a:p>
        </p:txBody>
      </p:sp>
      <p:sp>
        <p:nvSpPr>
          <p:cNvPr id="263" name="Google Shape;263;p31"/>
          <p:cNvSpPr txBox="1"/>
          <p:nvPr>
            <p:ph idx="3" type="body"/>
          </p:nvPr>
        </p:nvSpPr>
        <p:spPr>
          <a:xfrm>
            <a:off x="761999" y="1581811"/>
            <a:ext cx="11467800" cy="29118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599E"/>
              </a:buClr>
              <a:buSzPts val="3000"/>
              <a:buFont typeface="Helvetica Neue"/>
              <a:buChar char="⊡"/>
            </a:pPr>
            <a:r>
              <a:rPr b="1" lang="en-US" sz="3000">
                <a:solidFill>
                  <a:srgbClr val="5A5F5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Predictive Metrics Across Models</a:t>
            </a:r>
            <a:endParaRPr b="1" sz="3000">
              <a:solidFill>
                <a:srgbClr val="5A5F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698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500"/>
              <a:buChar char="►"/>
            </a:pPr>
            <a:r>
              <a:rPr lang="en-US" sz="2500">
                <a:solidFill>
                  <a:srgbClr val="5A5F5E"/>
                </a:solidFill>
              </a:rPr>
              <a:t>The ensemble achieves the best RankIC, strongest IC stability, and the highest long–short spread.</a:t>
            </a:r>
            <a:endParaRPr sz="2500">
              <a:solidFill>
                <a:srgbClr val="5A5F5E"/>
              </a:solidFill>
            </a:endParaRPr>
          </a:p>
          <a:p>
            <a:pPr indent="698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500"/>
              <a:buChar char="►"/>
            </a:pPr>
            <a:r>
              <a:rPr lang="en-US" sz="2500">
                <a:solidFill>
                  <a:srgbClr val="5A5F5E"/>
                </a:solidFill>
              </a:rPr>
              <a:t>Combining linear and </a:t>
            </a:r>
            <a:r>
              <a:rPr lang="en-US" sz="2500">
                <a:solidFill>
                  <a:srgbClr val="5A5F5E"/>
                </a:solidFill>
              </a:rPr>
              <a:t>nonlinear rankers enhances both predictive accuracy and tradability.</a:t>
            </a:r>
            <a:endParaRPr sz="2500">
              <a:solidFill>
                <a:srgbClr val="5A5F5E"/>
              </a:solidFill>
            </a:endParaRPr>
          </a:p>
        </p:txBody>
      </p:sp>
      <p:pic>
        <p:nvPicPr>
          <p:cNvPr id="264" name="Google Shape;264;p31" title="截圖 2025-12-08 晚上11.06.22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1200" y="5051686"/>
            <a:ext cx="11582400" cy="2743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8" name="Shape 2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9" name="Google Shape;269;p32"/>
          <p:cNvSpPr txBox="1"/>
          <p:nvPr>
            <p:ph idx="12" type="sldNum"/>
          </p:nvPr>
        </p:nvSpPr>
        <p:spPr>
          <a:xfrm>
            <a:off x="11741879" y="213147"/>
            <a:ext cx="494400" cy="3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fld id="{00000000-1234-1234-1234-123412341234}" type="slidenum"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/>
          </a:p>
        </p:txBody>
      </p:sp>
      <p:sp>
        <p:nvSpPr>
          <p:cNvPr id="270" name="Google Shape;270;p32"/>
          <p:cNvSpPr txBox="1"/>
          <p:nvPr>
            <p:ph idx="1" type="body"/>
          </p:nvPr>
        </p:nvSpPr>
        <p:spPr>
          <a:xfrm>
            <a:off x="755809" y="213147"/>
            <a:ext cx="95028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Section Title</a:t>
            </a:r>
            <a:endParaRPr/>
          </a:p>
        </p:txBody>
      </p:sp>
      <p:sp>
        <p:nvSpPr>
          <p:cNvPr id="271" name="Google Shape;271;p32"/>
          <p:cNvSpPr txBox="1"/>
          <p:nvPr>
            <p:ph idx="2" type="body"/>
          </p:nvPr>
        </p:nvSpPr>
        <p:spPr>
          <a:xfrm>
            <a:off x="762000" y="762000"/>
            <a:ext cx="11467800" cy="6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3500"/>
              <a:buFont typeface="Helvetica Neue"/>
              <a:buNone/>
            </a:pPr>
            <a:r>
              <a:rPr b="1" lang="en-US"/>
              <a:t>Results &amp; Interpretation</a:t>
            </a:r>
            <a:endParaRPr b="1"/>
          </a:p>
        </p:txBody>
      </p:sp>
      <p:sp>
        <p:nvSpPr>
          <p:cNvPr id="272" name="Google Shape;272;p32"/>
          <p:cNvSpPr txBox="1"/>
          <p:nvPr>
            <p:ph idx="4" type="body"/>
          </p:nvPr>
        </p:nvSpPr>
        <p:spPr>
          <a:xfrm>
            <a:off x="715409" y="9235479"/>
            <a:ext cx="54792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Helvetica Neue Light"/>
              <a:buNone/>
            </a:pPr>
            <a:r>
              <a:rPr lang="en-US">
                <a:solidFill>
                  <a:schemeClr val="dk2"/>
                </a:solidFill>
              </a:rPr>
              <a:t>Machine Learning &amp; FinTech 2025</a:t>
            </a:r>
            <a:endParaRPr/>
          </a:p>
        </p:txBody>
      </p:sp>
      <p:sp>
        <p:nvSpPr>
          <p:cNvPr id="273" name="Google Shape;273;p32"/>
          <p:cNvSpPr txBox="1"/>
          <p:nvPr>
            <p:ph idx="3" type="body"/>
          </p:nvPr>
        </p:nvSpPr>
        <p:spPr>
          <a:xfrm>
            <a:off x="761999" y="1581811"/>
            <a:ext cx="11467800" cy="23346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599E"/>
              </a:buClr>
              <a:buSzPts val="3000"/>
              <a:buFont typeface="Helvetica Neue"/>
              <a:buChar char="⊡"/>
            </a:pPr>
            <a:r>
              <a:rPr b="1" lang="en-US" sz="3000">
                <a:solidFill>
                  <a:srgbClr val="5A5F5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Cumulative returns (log scale)</a:t>
            </a:r>
            <a:endParaRPr b="1" sz="3000">
              <a:solidFill>
                <a:srgbClr val="5A5F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698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500"/>
              <a:buChar char="►"/>
            </a:pPr>
            <a:r>
              <a:rPr lang="en-US" sz="2500">
                <a:solidFill>
                  <a:srgbClr val="5A5F5E"/>
                </a:solidFill>
              </a:rPr>
              <a:t>The beta-neutral strategy (blue) shows a </a:t>
            </a:r>
            <a:r>
              <a:rPr lang="en-US" sz="2500">
                <a:solidFill>
                  <a:srgbClr val="FF0000"/>
                </a:solidFill>
              </a:rPr>
              <a:t>smooth</a:t>
            </a:r>
            <a:r>
              <a:rPr lang="en-US" sz="2500">
                <a:solidFill>
                  <a:srgbClr val="5A5F5E"/>
                </a:solidFill>
              </a:rPr>
              <a:t>, steadily rising curve, clearly outperforming BTC (gray) over the full sample</a:t>
            </a:r>
            <a:r>
              <a:rPr lang="en-US" sz="2500">
                <a:solidFill>
                  <a:srgbClr val="5A5F5E"/>
                </a:solidFill>
              </a:rPr>
              <a:t>.</a:t>
            </a:r>
            <a:endParaRPr sz="2500">
              <a:solidFill>
                <a:srgbClr val="5A5F5E"/>
              </a:solidFill>
            </a:endParaRPr>
          </a:p>
          <a:p>
            <a:pPr indent="698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500"/>
              <a:buChar char="►"/>
            </a:pPr>
            <a:r>
              <a:rPr lang="en-US" sz="2500">
                <a:solidFill>
                  <a:srgbClr val="5A5F5E"/>
                </a:solidFill>
              </a:rPr>
              <a:t>Log scale allows fair comparison across different compounding phases.</a:t>
            </a:r>
            <a:endParaRPr sz="2500">
              <a:solidFill>
                <a:srgbClr val="5A5F5E"/>
              </a:solidFill>
            </a:endParaRPr>
          </a:p>
        </p:txBody>
      </p:sp>
      <p:pic>
        <p:nvPicPr>
          <p:cNvPr id="274" name="Google Shape;274;p3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89000" y="4049236"/>
            <a:ext cx="10172700" cy="50534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>
            <p:ph idx="12" type="sldNum"/>
          </p:nvPr>
        </p:nvSpPr>
        <p:spPr>
          <a:xfrm>
            <a:off x="11741879" y="213147"/>
            <a:ext cx="494400" cy="3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fld id="{00000000-1234-1234-1234-123412341234}" type="slidenum"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/>
          </a:p>
        </p:txBody>
      </p:sp>
      <p:sp>
        <p:nvSpPr>
          <p:cNvPr id="280" name="Google Shape;280;p33"/>
          <p:cNvSpPr txBox="1"/>
          <p:nvPr>
            <p:ph idx="1" type="body"/>
          </p:nvPr>
        </p:nvSpPr>
        <p:spPr>
          <a:xfrm>
            <a:off x="755809" y="213147"/>
            <a:ext cx="95028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Section Title</a:t>
            </a:r>
            <a:endParaRPr/>
          </a:p>
        </p:txBody>
      </p:sp>
      <p:sp>
        <p:nvSpPr>
          <p:cNvPr id="281" name="Google Shape;281;p33"/>
          <p:cNvSpPr txBox="1"/>
          <p:nvPr>
            <p:ph idx="2" type="body"/>
          </p:nvPr>
        </p:nvSpPr>
        <p:spPr>
          <a:xfrm>
            <a:off x="762000" y="762000"/>
            <a:ext cx="11467800" cy="6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3500"/>
              <a:buFont typeface="Helvetica Neue"/>
              <a:buNone/>
            </a:pPr>
            <a:r>
              <a:rPr b="1" lang="en-US"/>
              <a:t>Results &amp; Interpretation</a:t>
            </a:r>
            <a:endParaRPr b="1"/>
          </a:p>
        </p:txBody>
      </p:sp>
      <p:sp>
        <p:nvSpPr>
          <p:cNvPr id="282" name="Google Shape;282;p33"/>
          <p:cNvSpPr txBox="1"/>
          <p:nvPr>
            <p:ph idx="4" type="body"/>
          </p:nvPr>
        </p:nvSpPr>
        <p:spPr>
          <a:xfrm>
            <a:off x="715409" y="9235479"/>
            <a:ext cx="54792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Helvetica Neue Light"/>
              <a:buNone/>
            </a:pPr>
            <a:r>
              <a:rPr lang="en-US">
                <a:solidFill>
                  <a:schemeClr val="dk2"/>
                </a:solidFill>
              </a:rPr>
              <a:t>Machine Learning &amp; FinTech 2025</a:t>
            </a:r>
            <a:endParaRPr/>
          </a:p>
        </p:txBody>
      </p:sp>
      <p:sp>
        <p:nvSpPr>
          <p:cNvPr id="283" name="Google Shape;283;p33"/>
          <p:cNvSpPr txBox="1"/>
          <p:nvPr>
            <p:ph idx="3" type="body"/>
          </p:nvPr>
        </p:nvSpPr>
        <p:spPr>
          <a:xfrm>
            <a:off x="761999" y="1581811"/>
            <a:ext cx="11467800" cy="5643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599E"/>
              </a:buClr>
              <a:buSzPts val="3000"/>
              <a:buFont typeface="Helvetica Neue"/>
              <a:buChar char="⊡"/>
            </a:pPr>
            <a:r>
              <a:rPr b="1" lang="en-US" sz="3000">
                <a:solidFill>
                  <a:srgbClr val="5A5F5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ML Strategy VS BTC Benchmark</a:t>
            </a:r>
            <a:endParaRPr sz="2500">
              <a:solidFill>
                <a:srgbClr val="5A5F5E"/>
              </a:solidFill>
            </a:endParaRPr>
          </a:p>
        </p:txBody>
      </p:sp>
      <p:graphicFrame>
        <p:nvGraphicFramePr>
          <p:cNvPr id="284" name="Google Shape;284;p33"/>
          <p:cNvGraphicFramePr/>
          <p:nvPr/>
        </p:nvGraphicFramePr>
        <p:xfrm>
          <a:off x="1414263" y="25762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{6FA531E2-5009-4B4C-8456-7487A1568E9E}</a:tableStyleId>
              </a:tblPr>
              <a:tblGrid>
                <a:gridCol w="2974150"/>
                <a:gridCol w="2974150"/>
                <a:gridCol w="2974150"/>
              </a:tblGrid>
              <a:tr h="71325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3000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000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Benchmark</a:t>
                      </a:r>
                      <a:endParaRPr sz="3000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000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Strategy</a:t>
                      </a:r>
                      <a:endParaRPr sz="3000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91425" marB="91425" marR="91425" marL="91425"/>
                </a:tc>
              </a:tr>
              <a:tr h="685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000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Annual Return</a:t>
                      </a:r>
                      <a:endParaRPr sz="3000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000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38%</a:t>
                      </a:r>
                      <a:endParaRPr sz="3000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000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75%</a:t>
                      </a:r>
                      <a:endParaRPr sz="3000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91425" marB="91425" marR="91425" marL="91425"/>
                </a:tc>
              </a:tr>
              <a:tr h="685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000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Annual </a:t>
                      </a:r>
                      <a:r>
                        <a:rPr lang="en-US" sz="3000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Volatility</a:t>
                      </a:r>
                      <a:endParaRPr sz="3000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000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95%</a:t>
                      </a:r>
                      <a:endParaRPr sz="3000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000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37%</a:t>
                      </a:r>
                      <a:endParaRPr sz="3000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91425" marB="91425" marR="91425" marL="91425"/>
                </a:tc>
              </a:tr>
              <a:tr h="685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000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Sharpe Ratio</a:t>
                      </a:r>
                      <a:endParaRPr sz="3000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000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0.4</a:t>
                      </a:r>
                      <a:endParaRPr sz="3000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000">
                          <a:solidFill>
                            <a:srgbClr val="FF0000"/>
                          </a:solidFill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2.03</a:t>
                      </a:r>
                      <a:endParaRPr sz="3000">
                        <a:solidFill>
                          <a:srgbClr val="FF0000"/>
                        </a:solidFill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91425" marB="91425" marR="91425" marL="91425"/>
                </a:tc>
              </a:tr>
              <a:tr h="685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000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Max Drawdown</a:t>
                      </a:r>
                      <a:endParaRPr sz="3000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000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-70.1%</a:t>
                      </a:r>
                      <a:endParaRPr sz="3000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000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-46.1%</a:t>
                      </a:r>
                      <a:endParaRPr sz="3000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91425" marB="91425" marR="91425" marL="91425"/>
                </a:tc>
              </a:tr>
              <a:tr h="685900"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000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Avg Turnover</a:t>
                      </a:r>
                      <a:endParaRPr sz="3000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000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0.72</a:t>
                      </a:r>
                      <a:endParaRPr sz="3000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91425" marB="91425" marR="91425" marL="91425"/>
                </a:tc>
                <a:tc>
                  <a:txBody>
                    <a:bodyPr/>
                    <a:lstStyle/>
                    <a:p>
                      <a:pPr indent="0" lvl="0" marL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3000">
                          <a:latin typeface="Helvetica Neue"/>
                          <a:ea typeface="Helvetica Neue"/>
                          <a:cs typeface="Helvetica Neue"/>
                          <a:sym typeface="Helvetica Neue"/>
                        </a:rPr>
                        <a:t>0.72</a:t>
                      </a:r>
                      <a:endParaRPr sz="3000">
                        <a:latin typeface="Helvetica Neue"/>
                        <a:ea typeface="Helvetica Neue"/>
                        <a:cs typeface="Helvetica Neue"/>
                        <a:sym typeface="Helvetica Neue"/>
                      </a:endParaRPr>
                    </a:p>
                  </a:txBody>
                  <a:tcPr marT="91425" marB="91425" marR="91425" marL="91425"/>
                </a:tc>
              </a:tr>
            </a:tbl>
          </a:graphicData>
        </a:graphic>
      </p:graphicFrame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p34"/>
          <p:cNvSpPr txBox="1"/>
          <p:nvPr>
            <p:ph idx="12" type="sldNum"/>
          </p:nvPr>
        </p:nvSpPr>
        <p:spPr>
          <a:xfrm>
            <a:off x="11741879" y="213147"/>
            <a:ext cx="494400" cy="3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fld id="{00000000-1234-1234-1234-123412341234}" type="slidenum"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/>
          </a:p>
        </p:txBody>
      </p:sp>
      <p:sp>
        <p:nvSpPr>
          <p:cNvPr id="290" name="Google Shape;290;p34"/>
          <p:cNvSpPr txBox="1"/>
          <p:nvPr>
            <p:ph idx="1" type="body"/>
          </p:nvPr>
        </p:nvSpPr>
        <p:spPr>
          <a:xfrm>
            <a:off x="755809" y="213147"/>
            <a:ext cx="95028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Section Title</a:t>
            </a:r>
            <a:endParaRPr/>
          </a:p>
        </p:txBody>
      </p:sp>
      <p:sp>
        <p:nvSpPr>
          <p:cNvPr id="291" name="Google Shape;291;p34"/>
          <p:cNvSpPr txBox="1"/>
          <p:nvPr>
            <p:ph idx="2" type="body"/>
          </p:nvPr>
        </p:nvSpPr>
        <p:spPr>
          <a:xfrm>
            <a:off x="762000" y="762000"/>
            <a:ext cx="11467800" cy="6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3500"/>
              <a:buFont typeface="Helvetica Neue"/>
              <a:buNone/>
            </a:pPr>
            <a:r>
              <a:rPr b="1" lang="en-US"/>
              <a:t>Results &amp; Interpretation</a:t>
            </a:r>
            <a:endParaRPr b="1"/>
          </a:p>
        </p:txBody>
      </p:sp>
      <p:sp>
        <p:nvSpPr>
          <p:cNvPr id="292" name="Google Shape;292;p34"/>
          <p:cNvSpPr txBox="1"/>
          <p:nvPr>
            <p:ph idx="4" type="body"/>
          </p:nvPr>
        </p:nvSpPr>
        <p:spPr>
          <a:xfrm>
            <a:off x="715409" y="9235479"/>
            <a:ext cx="54792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Helvetica Neue Light"/>
              <a:buNone/>
            </a:pPr>
            <a:r>
              <a:rPr lang="en-US">
                <a:solidFill>
                  <a:schemeClr val="dk2"/>
                </a:solidFill>
              </a:rPr>
              <a:t>Machine Learning &amp; FinTech 2025</a:t>
            </a:r>
            <a:endParaRPr/>
          </a:p>
        </p:txBody>
      </p:sp>
      <p:sp>
        <p:nvSpPr>
          <p:cNvPr id="293" name="Google Shape;293;p34"/>
          <p:cNvSpPr txBox="1"/>
          <p:nvPr>
            <p:ph idx="3" type="body"/>
          </p:nvPr>
        </p:nvSpPr>
        <p:spPr>
          <a:xfrm>
            <a:off x="761999" y="1581811"/>
            <a:ext cx="11467800" cy="23346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599E"/>
              </a:buClr>
              <a:buSzPts val="3000"/>
              <a:buFont typeface="Helvetica Neue"/>
              <a:buChar char="⊡"/>
            </a:pPr>
            <a:r>
              <a:rPr b="1" lang="en-US" sz="3000">
                <a:solidFill>
                  <a:srgbClr val="5A5F5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Drawdown</a:t>
            </a:r>
            <a:endParaRPr b="1" sz="3000">
              <a:solidFill>
                <a:srgbClr val="5A5F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698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500"/>
              <a:buChar char="►"/>
            </a:pPr>
            <a:r>
              <a:rPr lang="en-US" sz="2500">
                <a:solidFill>
                  <a:srgbClr val="5A5F5E"/>
                </a:solidFill>
              </a:rPr>
              <a:t>Strategy max drawdown is around </a:t>
            </a:r>
            <a:r>
              <a:rPr lang="en-US" sz="2500">
                <a:solidFill>
                  <a:srgbClr val="FF0000"/>
                </a:solidFill>
              </a:rPr>
              <a:t>-20% to -25%</a:t>
            </a:r>
            <a:r>
              <a:rPr lang="en-US" sz="2500">
                <a:solidFill>
                  <a:srgbClr val="5A5F5E"/>
                </a:solidFill>
              </a:rPr>
              <a:t>, with most periods within </a:t>
            </a:r>
            <a:r>
              <a:rPr lang="en-US" sz="2500">
                <a:solidFill>
                  <a:srgbClr val="FF0000"/>
                </a:solidFill>
              </a:rPr>
              <a:t>-10%</a:t>
            </a:r>
            <a:r>
              <a:rPr lang="en-US" sz="2500">
                <a:solidFill>
                  <a:srgbClr val="5A5F5E"/>
                </a:solidFill>
              </a:rPr>
              <a:t>.</a:t>
            </a:r>
            <a:endParaRPr sz="2500">
              <a:solidFill>
                <a:srgbClr val="5A5F5E"/>
              </a:solidFill>
            </a:endParaRPr>
          </a:p>
          <a:p>
            <a:pPr indent="698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500"/>
              <a:buChar char="►"/>
            </a:pPr>
            <a:r>
              <a:rPr lang="en-US" sz="2500">
                <a:solidFill>
                  <a:srgbClr val="5A5F5E"/>
                </a:solidFill>
              </a:rPr>
              <a:t>BTC experiences multiple drawdowns beyond </a:t>
            </a:r>
            <a:r>
              <a:rPr lang="en-US" sz="2500">
                <a:solidFill>
                  <a:srgbClr val="FF0000"/>
                </a:solidFill>
              </a:rPr>
              <a:t>-50%</a:t>
            </a:r>
            <a:r>
              <a:rPr lang="en-US" sz="2500">
                <a:solidFill>
                  <a:srgbClr val="5A5F5E"/>
                </a:solidFill>
              </a:rPr>
              <a:t>, approaching </a:t>
            </a:r>
            <a:r>
              <a:rPr lang="en-US" sz="2500">
                <a:solidFill>
                  <a:srgbClr val="FF0000"/>
                </a:solidFill>
              </a:rPr>
              <a:t>-70%</a:t>
            </a:r>
            <a:r>
              <a:rPr lang="en-US" sz="2500">
                <a:solidFill>
                  <a:srgbClr val="5A5F5E"/>
                </a:solidFill>
              </a:rPr>
              <a:t>.</a:t>
            </a:r>
            <a:endParaRPr sz="2500">
              <a:solidFill>
                <a:srgbClr val="5A5F5E"/>
              </a:solidFill>
            </a:endParaRPr>
          </a:p>
        </p:txBody>
      </p:sp>
      <p:pic>
        <p:nvPicPr>
          <p:cNvPr id="294" name="Google Shape;294;p3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715400" y="4208497"/>
            <a:ext cx="11026476" cy="364353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8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35"/>
          <p:cNvSpPr txBox="1"/>
          <p:nvPr>
            <p:ph idx="12" type="sldNum"/>
          </p:nvPr>
        </p:nvSpPr>
        <p:spPr>
          <a:xfrm>
            <a:off x="11741879" y="213147"/>
            <a:ext cx="494400" cy="3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fld id="{00000000-1234-1234-1234-123412341234}" type="slidenum"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/>
          </a:p>
        </p:txBody>
      </p:sp>
      <p:sp>
        <p:nvSpPr>
          <p:cNvPr id="300" name="Google Shape;300;p35"/>
          <p:cNvSpPr txBox="1"/>
          <p:nvPr>
            <p:ph idx="1" type="body"/>
          </p:nvPr>
        </p:nvSpPr>
        <p:spPr>
          <a:xfrm>
            <a:off x="755809" y="213147"/>
            <a:ext cx="95028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Section Title</a:t>
            </a:r>
            <a:endParaRPr/>
          </a:p>
        </p:txBody>
      </p:sp>
      <p:sp>
        <p:nvSpPr>
          <p:cNvPr id="301" name="Google Shape;301;p35"/>
          <p:cNvSpPr txBox="1"/>
          <p:nvPr>
            <p:ph idx="2" type="body"/>
          </p:nvPr>
        </p:nvSpPr>
        <p:spPr>
          <a:xfrm>
            <a:off x="762000" y="762000"/>
            <a:ext cx="11467800" cy="6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3500"/>
              <a:buFont typeface="Helvetica Neue"/>
              <a:buNone/>
            </a:pPr>
            <a:r>
              <a:rPr b="1" lang="en-US"/>
              <a:t>Results &amp; Interpretation</a:t>
            </a:r>
            <a:endParaRPr b="1"/>
          </a:p>
        </p:txBody>
      </p:sp>
      <p:sp>
        <p:nvSpPr>
          <p:cNvPr id="302" name="Google Shape;302;p35"/>
          <p:cNvSpPr txBox="1"/>
          <p:nvPr>
            <p:ph idx="4" type="body"/>
          </p:nvPr>
        </p:nvSpPr>
        <p:spPr>
          <a:xfrm>
            <a:off x="715409" y="9235479"/>
            <a:ext cx="54792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Helvetica Neue Light"/>
              <a:buNone/>
            </a:pPr>
            <a:r>
              <a:rPr lang="en-US">
                <a:solidFill>
                  <a:schemeClr val="dk2"/>
                </a:solidFill>
              </a:rPr>
              <a:t>Machine Learning &amp; FinTech 2025</a:t>
            </a:r>
            <a:endParaRPr/>
          </a:p>
        </p:txBody>
      </p:sp>
      <p:sp>
        <p:nvSpPr>
          <p:cNvPr id="303" name="Google Shape;303;p35"/>
          <p:cNvSpPr txBox="1"/>
          <p:nvPr>
            <p:ph idx="3" type="body"/>
          </p:nvPr>
        </p:nvSpPr>
        <p:spPr>
          <a:xfrm>
            <a:off x="761999" y="1581811"/>
            <a:ext cx="11467800" cy="52206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599E"/>
              </a:buClr>
              <a:buSzPts val="3000"/>
              <a:buFont typeface="Helvetica Neue"/>
              <a:buChar char="⊡"/>
            </a:pPr>
            <a:r>
              <a:rPr b="1" lang="en-US" sz="3000">
                <a:solidFill>
                  <a:srgbClr val="5A5F5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Feature Importance &amp; Signal Inversion</a:t>
            </a:r>
            <a:endParaRPr b="1" sz="3000">
              <a:solidFill>
                <a:srgbClr val="5A5F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698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500"/>
              <a:buChar char="►"/>
            </a:pPr>
            <a:r>
              <a:rPr lang="en-US" sz="2500">
                <a:solidFill>
                  <a:srgbClr val="FF0000"/>
                </a:solidFill>
              </a:rPr>
              <a:t>LightGBM</a:t>
            </a:r>
            <a:r>
              <a:rPr lang="en-US" sz="2500">
                <a:solidFill>
                  <a:srgbClr val="5A5F5E"/>
                </a:solidFill>
              </a:rPr>
              <a:t> primarily relies on momentum + technical + volatility features:</a:t>
            </a:r>
            <a:endParaRPr sz="2500">
              <a:solidFill>
                <a:srgbClr val="5A5F5E"/>
              </a:solidFill>
            </a:endParaRPr>
          </a:p>
          <a:p>
            <a:pPr indent="698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500"/>
              <a:buChar char="►"/>
            </a:pPr>
            <a:r>
              <a:rPr lang="en-US" sz="2500">
                <a:solidFill>
                  <a:srgbClr val="FF0000"/>
                </a:solidFill>
              </a:rPr>
              <a:t>High-scoring</a:t>
            </a:r>
            <a:r>
              <a:rPr lang="en-US" sz="2500">
                <a:solidFill>
                  <a:srgbClr val="5A5F5E"/>
                </a:solidFill>
              </a:rPr>
              <a:t> assets are typically “</a:t>
            </a:r>
            <a:r>
              <a:rPr lang="en-US" sz="2500">
                <a:solidFill>
                  <a:srgbClr val="FF0000"/>
                </a:solidFill>
              </a:rPr>
              <a:t>recent high flyers with elevated volatility and overheated technicals.</a:t>
            </a:r>
            <a:r>
              <a:rPr lang="en-US" sz="2500">
                <a:solidFill>
                  <a:srgbClr val="5A5F5E"/>
                </a:solidFill>
              </a:rPr>
              <a:t>”</a:t>
            </a:r>
            <a:endParaRPr sz="2500">
              <a:solidFill>
                <a:srgbClr val="5A5F5E"/>
              </a:solidFill>
            </a:endParaRPr>
          </a:p>
          <a:p>
            <a:pPr indent="698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500"/>
              <a:buChar char="►"/>
            </a:pPr>
            <a:r>
              <a:rPr lang="en-US" sz="2500">
                <a:solidFill>
                  <a:srgbClr val="FF0000"/>
                </a:solidFill>
              </a:rPr>
              <a:t>Mean Rank IC</a:t>
            </a:r>
            <a:r>
              <a:rPr lang="en-US" sz="2500">
                <a:solidFill>
                  <a:srgbClr val="5A5F5E"/>
                </a:solidFill>
              </a:rPr>
              <a:t> shows volatility and ATR-type features carry </a:t>
            </a:r>
            <a:r>
              <a:rPr lang="en-US" sz="2500">
                <a:solidFill>
                  <a:srgbClr val="FF0000"/>
                </a:solidFill>
              </a:rPr>
              <a:t>negative</a:t>
            </a:r>
            <a:r>
              <a:rPr lang="en-US" sz="2500">
                <a:solidFill>
                  <a:srgbClr val="5A5F5E"/>
                </a:solidFill>
              </a:rPr>
              <a:t> signals:</a:t>
            </a:r>
            <a:endParaRPr sz="2500">
              <a:solidFill>
                <a:srgbClr val="5A5F5E"/>
              </a:solidFill>
            </a:endParaRPr>
          </a:p>
          <a:p>
            <a:pPr indent="698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500"/>
              <a:buChar char="►"/>
            </a:pPr>
            <a:r>
              <a:rPr lang="en-US" sz="2500">
                <a:solidFill>
                  <a:srgbClr val="5A5F5E"/>
                </a:solidFill>
              </a:rPr>
              <a:t>The more volatile the asset, the worse it tends to perform next week.</a:t>
            </a:r>
            <a:endParaRPr sz="2500">
              <a:solidFill>
                <a:srgbClr val="5A5F5E"/>
              </a:solidFill>
            </a:endParaRPr>
          </a:p>
          <a:p>
            <a:pPr indent="698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500"/>
              <a:buChar char="►"/>
            </a:pPr>
            <a:r>
              <a:rPr lang="en-US" sz="2500">
                <a:solidFill>
                  <a:srgbClr val="5A5F5E"/>
                </a:solidFill>
              </a:rPr>
              <a:t>⇒ </a:t>
            </a:r>
            <a:r>
              <a:rPr lang="en-US" sz="2500">
                <a:solidFill>
                  <a:srgbClr val="FF0000"/>
                </a:solidFill>
              </a:rPr>
              <a:t>Over-extended assets likely to underperform</a:t>
            </a:r>
            <a:r>
              <a:rPr lang="en-US" sz="2500">
                <a:solidFill>
                  <a:srgbClr val="5A5F5E"/>
                </a:solidFill>
              </a:rPr>
              <a:t>,</a:t>
            </a:r>
            <a:endParaRPr sz="2500">
              <a:solidFill>
                <a:srgbClr val="5A5F5E"/>
              </a:solidFill>
            </a:endParaRPr>
          </a:p>
          <a:p>
            <a:pPr indent="698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500"/>
              <a:buChar char="►"/>
            </a:pPr>
            <a:r>
              <a:rPr lang="en-US" sz="2500">
                <a:solidFill>
                  <a:srgbClr val="5A5F5E"/>
                </a:solidFill>
              </a:rPr>
              <a:t>Inverting the signal (long low scores, short high scores) with a </a:t>
            </a:r>
            <a:r>
              <a:rPr lang="en-US" sz="2500">
                <a:solidFill>
                  <a:srgbClr val="FF0000"/>
                </a:solidFill>
              </a:rPr>
              <a:t>mean-reversion</a:t>
            </a:r>
            <a:r>
              <a:rPr lang="en-US" sz="2500">
                <a:solidFill>
                  <a:srgbClr val="5A5F5E"/>
                </a:solidFill>
              </a:rPr>
              <a:t> strategy.</a:t>
            </a:r>
            <a:endParaRPr sz="2500">
              <a:solidFill>
                <a:srgbClr val="5A5F5E"/>
              </a:solidFill>
            </a:endParaRP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7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36"/>
          <p:cNvSpPr txBox="1"/>
          <p:nvPr>
            <p:ph idx="12" type="sldNum"/>
          </p:nvPr>
        </p:nvSpPr>
        <p:spPr>
          <a:xfrm>
            <a:off x="11741879" y="213147"/>
            <a:ext cx="494400" cy="3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fld id="{00000000-1234-1234-1234-123412341234}" type="slidenum"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/>
          </a:p>
        </p:txBody>
      </p:sp>
      <p:sp>
        <p:nvSpPr>
          <p:cNvPr id="309" name="Google Shape;309;p36"/>
          <p:cNvSpPr txBox="1"/>
          <p:nvPr>
            <p:ph idx="1" type="body"/>
          </p:nvPr>
        </p:nvSpPr>
        <p:spPr>
          <a:xfrm>
            <a:off x="755809" y="213147"/>
            <a:ext cx="95028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Section Title</a:t>
            </a:r>
            <a:endParaRPr/>
          </a:p>
        </p:txBody>
      </p:sp>
      <p:sp>
        <p:nvSpPr>
          <p:cNvPr id="310" name="Google Shape;310;p36"/>
          <p:cNvSpPr txBox="1"/>
          <p:nvPr>
            <p:ph idx="2" type="body"/>
          </p:nvPr>
        </p:nvSpPr>
        <p:spPr>
          <a:xfrm>
            <a:off x="762000" y="762000"/>
            <a:ext cx="11467800" cy="6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3500"/>
              <a:buFont typeface="Helvetica Neue"/>
              <a:buNone/>
            </a:pPr>
            <a:r>
              <a:rPr b="1" lang="en-US"/>
              <a:t>Results &amp; Interpretation</a:t>
            </a:r>
            <a:endParaRPr b="1"/>
          </a:p>
        </p:txBody>
      </p:sp>
      <p:sp>
        <p:nvSpPr>
          <p:cNvPr id="311" name="Google Shape;311;p36"/>
          <p:cNvSpPr txBox="1"/>
          <p:nvPr>
            <p:ph idx="4" type="body"/>
          </p:nvPr>
        </p:nvSpPr>
        <p:spPr>
          <a:xfrm>
            <a:off x="715409" y="9235479"/>
            <a:ext cx="54792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Helvetica Neue Light"/>
              <a:buNone/>
            </a:pPr>
            <a:r>
              <a:rPr lang="en-US">
                <a:solidFill>
                  <a:schemeClr val="dk2"/>
                </a:solidFill>
              </a:rPr>
              <a:t>Machine Learning &amp; FinTech 2025</a:t>
            </a:r>
            <a:endParaRPr/>
          </a:p>
        </p:txBody>
      </p:sp>
      <p:sp>
        <p:nvSpPr>
          <p:cNvPr id="312" name="Google Shape;312;p36"/>
          <p:cNvSpPr txBox="1"/>
          <p:nvPr>
            <p:ph idx="3" type="body"/>
          </p:nvPr>
        </p:nvSpPr>
        <p:spPr>
          <a:xfrm>
            <a:off x="761999" y="1594511"/>
            <a:ext cx="11467800" cy="5643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599E"/>
              </a:buClr>
              <a:buSzPts val="3000"/>
              <a:buFont typeface="Helvetica Neue"/>
              <a:buChar char="⊡"/>
            </a:pPr>
            <a:r>
              <a:rPr b="1" lang="en-US" sz="3000">
                <a:solidFill>
                  <a:srgbClr val="5A5F5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Cumulative Rank IC </a:t>
            </a:r>
            <a:endParaRPr sz="2500">
              <a:solidFill>
                <a:srgbClr val="5A5F5E"/>
              </a:solidFill>
            </a:endParaRPr>
          </a:p>
        </p:txBody>
      </p:sp>
      <p:pic>
        <p:nvPicPr>
          <p:cNvPr id="313" name="Google Shape;313;p3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231900" y="2381411"/>
            <a:ext cx="9677400" cy="4857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7" name="Shape 3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8" name="Google Shape;318;p37"/>
          <p:cNvSpPr txBox="1"/>
          <p:nvPr>
            <p:ph idx="12" type="sldNum"/>
          </p:nvPr>
        </p:nvSpPr>
        <p:spPr>
          <a:xfrm>
            <a:off x="11741879" y="213147"/>
            <a:ext cx="494400" cy="3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fld id="{00000000-1234-1234-1234-123412341234}" type="slidenum"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/>
          </a:p>
        </p:txBody>
      </p:sp>
      <p:sp>
        <p:nvSpPr>
          <p:cNvPr id="319" name="Google Shape;319;p37"/>
          <p:cNvSpPr txBox="1"/>
          <p:nvPr>
            <p:ph idx="1" type="body"/>
          </p:nvPr>
        </p:nvSpPr>
        <p:spPr>
          <a:xfrm>
            <a:off x="755809" y="213147"/>
            <a:ext cx="95028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Section Title</a:t>
            </a:r>
            <a:endParaRPr/>
          </a:p>
        </p:txBody>
      </p:sp>
      <p:sp>
        <p:nvSpPr>
          <p:cNvPr id="320" name="Google Shape;320;p37"/>
          <p:cNvSpPr txBox="1"/>
          <p:nvPr>
            <p:ph idx="2" type="body"/>
          </p:nvPr>
        </p:nvSpPr>
        <p:spPr>
          <a:xfrm>
            <a:off x="762000" y="762000"/>
            <a:ext cx="11467800" cy="6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3500"/>
              <a:buFont typeface="Helvetica Neue"/>
              <a:buNone/>
            </a:pPr>
            <a:r>
              <a:rPr b="1" lang="en-US"/>
              <a:t>Results &amp; Interpretation</a:t>
            </a:r>
            <a:endParaRPr b="1"/>
          </a:p>
        </p:txBody>
      </p:sp>
      <p:sp>
        <p:nvSpPr>
          <p:cNvPr id="321" name="Google Shape;321;p37"/>
          <p:cNvSpPr txBox="1"/>
          <p:nvPr>
            <p:ph idx="4" type="body"/>
          </p:nvPr>
        </p:nvSpPr>
        <p:spPr>
          <a:xfrm>
            <a:off x="715409" y="9235479"/>
            <a:ext cx="54792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Helvetica Neue Light"/>
              <a:buNone/>
            </a:pPr>
            <a:r>
              <a:rPr lang="en-US">
                <a:solidFill>
                  <a:schemeClr val="dk2"/>
                </a:solidFill>
              </a:rPr>
              <a:t>Machine Learning &amp; FinTech 2025</a:t>
            </a:r>
            <a:endParaRPr/>
          </a:p>
        </p:txBody>
      </p:sp>
      <p:sp>
        <p:nvSpPr>
          <p:cNvPr id="322" name="Google Shape;322;p37"/>
          <p:cNvSpPr txBox="1"/>
          <p:nvPr>
            <p:ph idx="3" type="body"/>
          </p:nvPr>
        </p:nvSpPr>
        <p:spPr>
          <a:xfrm>
            <a:off x="761999" y="1581811"/>
            <a:ext cx="11467800" cy="40662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-4445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599E"/>
              </a:buClr>
              <a:buSzPts val="3000"/>
              <a:buFont typeface="Helvetica Neue"/>
              <a:buChar char="⊡"/>
            </a:pPr>
            <a:r>
              <a:rPr b="1" lang="en-US" sz="30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Cumulative Rank IC </a:t>
            </a:r>
            <a:endParaRPr b="1" sz="3000">
              <a:solidFill>
                <a:srgbClr val="5A5F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698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500"/>
              <a:buChar char="►"/>
            </a:pPr>
            <a:r>
              <a:rPr lang="en-US" sz="2500">
                <a:solidFill>
                  <a:srgbClr val="5A5F5E"/>
                </a:solidFill>
              </a:rPr>
              <a:t>Large-cap, liquid, high-attention assets consistently outperform on a risk-adjusted basis, creating a </a:t>
            </a:r>
            <a:r>
              <a:rPr lang="en-US" sz="2500">
                <a:solidFill>
                  <a:srgbClr val="FF0000"/>
                </a:solidFill>
              </a:rPr>
              <a:t>structural quality/liquidity alpha</a:t>
            </a:r>
            <a:r>
              <a:rPr lang="en-US" sz="2500">
                <a:solidFill>
                  <a:srgbClr val="5A5F5E"/>
                </a:solidFill>
              </a:rPr>
              <a:t>.</a:t>
            </a:r>
            <a:endParaRPr sz="2500">
              <a:solidFill>
                <a:srgbClr val="5A5F5E"/>
              </a:solidFill>
            </a:endParaRPr>
          </a:p>
          <a:p>
            <a:pPr indent="698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500"/>
              <a:buChar char="►"/>
            </a:pPr>
            <a:r>
              <a:rPr lang="en-US" sz="2500">
                <a:solidFill>
                  <a:srgbClr val="5A5F5E"/>
                </a:solidFill>
              </a:rPr>
              <a:t>The strategy effectively combines two core components:</a:t>
            </a:r>
            <a:endParaRPr sz="2500">
              <a:solidFill>
                <a:srgbClr val="5A5F5E"/>
              </a:solidFill>
            </a:endParaRPr>
          </a:p>
          <a:p>
            <a:pPr indent="698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500"/>
              <a:buChar char="►"/>
            </a:pPr>
            <a:r>
              <a:rPr lang="en-US" sz="2500">
                <a:solidFill>
                  <a:srgbClr val="5A5F5E"/>
                </a:solidFill>
              </a:rPr>
              <a:t>A </a:t>
            </a:r>
            <a:r>
              <a:rPr lang="en-US" sz="2500">
                <a:solidFill>
                  <a:srgbClr val="FF0000"/>
                </a:solidFill>
              </a:rPr>
              <a:t>quality/liquidity tilt</a:t>
            </a:r>
            <a:r>
              <a:rPr lang="en-US" sz="2500">
                <a:solidFill>
                  <a:srgbClr val="5A5F5E"/>
                </a:solidFill>
              </a:rPr>
              <a:t> toward </a:t>
            </a:r>
            <a:r>
              <a:rPr lang="en-US" sz="2500">
                <a:solidFill>
                  <a:srgbClr val="FF0000"/>
                </a:solidFill>
              </a:rPr>
              <a:t>large, liquid names</a:t>
            </a:r>
            <a:r>
              <a:rPr lang="en-US" sz="2500">
                <a:solidFill>
                  <a:srgbClr val="5A5F5E"/>
                </a:solidFill>
              </a:rPr>
              <a:t>.</a:t>
            </a:r>
            <a:endParaRPr sz="2500">
              <a:solidFill>
                <a:srgbClr val="5A5F5E"/>
              </a:solidFill>
            </a:endParaRPr>
          </a:p>
          <a:p>
            <a:pPr indent="698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500"/>
              <a:buChar char="►"/>
            </a:pPr>
            <a:r>
              <a:rPr lang="en-US" sz="2500">
                <a:solidFill>
                  <a:srgbClr val="5A5F5E"/>
                </a:solidFill>
              </a:rPr>
              <a:t>A </a:t>
            </a:r>
            <a:r>
              <a:rPr lang="en-US" sz="2500">
                <a:solidFill>
                  <a:srgbClr val="FF0000"/>
                </a:solidFill>
              </a:rPr>
              <a:t>mean-reversion</a:t>
            </a:r>
            <a:r>
              <a:rPr lang="en-US" sz="2500">
                <a:solidFill>
                  <a:srgbClr val="5A5F5E"/>
                </a:solidFill>
              </a:rPr>
              <a:t> short/underweight leg against </a:t>
            </a:r>
            <a:r>
              <a:rPr lang="en-US" sz="2500">
                <a:solidFill>
                  <a:srgbClr val="FF0000"/>
                </a:solidFill>
              </a:rPr>
              <a:t>short-term over-extended</a:t>
            </a:r>
            <a:r>
              <a:rPr lang="en-US" sz="2500">
                <a:solidFill>
                  <a:srgbClr val="5A5F5E"/>
                </a:solidFill>
              </a:rPr>
              <a:t>, </a:t>
            </a:r>
            <a:r>
              <a:rPr lang="en-US" sz="2500">
                <a:solidFill>
                  <a:srgbClr val="FF0000"/>
                </a:solidFill>
              </a:rPr>
              <a:t>high-volatility names</a:t>
            </a:r>
            <a:r>
              <a:rPr lang="en-US" sz="2500">
                <a:solidFill>
                  <a:srgbClr val="5A5F5E"/>
                </a:solidFill>
              </a:rPr>
              <a:t>.</a:t>
            </a:r>
            <a:endParaRPr sz="2500">
              <a:solidFill>
                <a:srgbClr val="FF0000"/>
              </a:solidFill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38"/>
          <p:cNvSpPr txBox="1"/>
          <p:nvPr>
            <p:ph idx="12" type="sldNum"/>
          </p:nvPr>
        </p:nvSpPr>
        <p:spPr>
          <a:xfrm>
            <a:off x="11741879" y="213147"/>
            <a:ext cx="494400" cy="3990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fld id="{00000000-1234-1234-1234-123412341234}" type="slidenum"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‹#›</a:t>
            </a:fld>
            <a:endParaRPr/>
          </a:p>
        </p:txBody>
      </p:sp>
      <p:sp>
        <p:nvSpPr>
          <p:cNvPr id="328" name="Google Shape;328;p38"/>
          <p:cNvSpPr txBox="1"/>
          <p:nvPr>
            <p:ph idx="1" type="body"/>
          </p:nvPr>
        </p:nvSpPr>
        <p:spPr>
          <a:xfrm>
            <a:off x="755809" y="213147"/>
            <a:ext cx="95028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000"/>
              <a:buFont typeface="Helvetica Neue Light"/>
              <a:buNone/>
            </a:pPr>
            <a:r>
              <a:rPr lang="en-US" sz="2000">
                <a:solidFill>
                  <a:srgbClr val="5A5F5E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Section Title</a:t>
            </a:r>
            <a:endParaRPr/>
          </a:p>
        </p:txBody>
      </p:sp>
      <p:sp>
        <p:nvSpPr>
          <p:cNvPr id="329" name="Google Shape;329;p38"/>
          <p:cNvSpPr txBox="1"/>
          <p:nvPr>
            <p:ph idx="2" type="body"/>
          </p:nvPr>
        </p:nvSpPr>
        <p:spPr>
          <a:xfrm>
            <a:off x="762000" y="762000"/>
            <a:ext cx="11467800" cy="6099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3500"/>
              <a:buFont typeface="Helvetica Neue"/>
              <a:buNone/>
            </a:pPr>
            <a:r>
              <a:rPr b="1" lang="en-US"/>
              <a:t>Results &amp; Interpretation</a:t>
            </a:r>
            <a:endParaRPr b="1"/>
          </a:p>
        </p:txBody>
      </p:sp>
      <p:sp>
        <p:nvSpPr>
          <p:cNvPr id="330" name="Google Shape;330;p38"/>
          <p:cNvSpPr txBox="1"/>
          <p:nvPr>
            <p:ph idx="4" type="body"/>
          </p:nvPr>
        </p:nvSpPr>
        <p:spPr>
          <a:xfrm>
            <a:off x="715409" y="9235479"/>
            <a:ext cx="5479200" cy="410400"/>
          </a:xfrm>
          <a:prstGeom prst="rect">
            <a:avLst/>
          </a:prstGeom>
          <a:noFill/>
          <a:ln>
            <a:noFill/>
          </a:ln>
        </p:spPr>
        <p:txBody>
          <a:bodyPr anchorCtr="0" anchor="b" bIns="50800" lIns="50800" spcFirstLastPara="1" rIns="50800" wrap="square" tIns="5080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000"/>
              <a:buFont typeface="Helvetica Neue Light"/>
              <a:buNone/>
            </a:pPr>
            <a:r>
              <a:rPr lang="en-US">
                <a:solidFill>
                  <a:schemeClr val="dk2"/>
                </a:solidFill>
              </a:rPr>
              <a:t>Machine Learning &amp; FinTech 2025</a:t>
            </a:r>
            <a:endParaRPr/>
          </a:p>
        </p:txBody>
      </p:sp>
      <p:sp>
        <p:nvSpPr>
          <p:cNvPr id="331" name="Google Shape;331;p38"/>
          <p:cNvSpPr txBox="1"/>
          <p:nvPr>
            <p:ph idx="3" type="body"/>
          </p:nvPr>
        </p:nvSpPr>
        <p:spPr>
          <a:xfrm>
            <a:off x="761999" y="1581811"/>
            <a:ext cx="11467800" cy="69444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spAutoFit/>
          </a:bodyPr>
          <a:lstStyle/>
          <a:p>
            <a:pPr indent="-431800" lvl="0" marL="4445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599E"/>
              </a:buClr>
              <a:buSzPts val="2800"/>
              <a:buFont typeface="Helvetica Neue"/>
              <a:buChar char="⊡"/>
            </a:pPr>
            <a:r>
              <a:rPr b="1" lang="en-US" sz="2800">
                <a:solidFill>
                  <a:schemeClr val="dk2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Conclusion</a:t>
            </a:r>
            <a:endParaRPr b="1" sz="2800">
              <a:solidFill>
                <a:srgbClr val="5A5F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825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300"/>
              <a:buChar char="►"/>
            </a:pPr>
            <a:r>
              <a:rPr lang="en-US" sz="2300">
                <a:solidFill>
                  <a:srgbClr val="5A5F5E"/>
                </a:solidFill>
              </a:rPr>
              <a:t>Starting from the motivation: in a noisy, highly volatile crypto market, we aim for a risk-controlled, beta-neutral alpha strategy.</a:t>
            </a:r>
            <a:endParaRPr sz="2300">
              <a:solidFill>
                <a:srgbClr val="5A5F5E"/>
              </a:solidFill>
            </a:endParaRPr>
          </a:p>
          <a:p>
            <a:pPr indent="825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300"/>
              <a:buChar char="►"/>
            </a:pPr>
            <a:r>
              <a:rPr lang="en-US" sz="2300">
                <a:solidFill>
                  <a:srgbClr val="5A5F5E"/>
                </a:solidFill>
              </a:rPr>
              <a:t>Through data filtering and feature engineering, we focus on the annual top-30 large-cap universe and build momentum, technical, volatility, liquidity, and size factors.</a:t>
            </a:r>
            <a:endParaRPr sz="2300">
              <a:solidFill>
                <a:srgbClr val="5A5F5E"/>
              </a:solidFill>
            </a:endParaRPr>
          </a:p>
          <a:p>
            <a:pPr indent="825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300"/>
              <a:buChar char="►"/>
            </a:pPr>
            <a:r>
              <a:rPr lang="en-US" sz="2300">
                <a:solidFill>
                  <a:srgbClr val="5A5F5E"/>
                </a:solidFill>
              </a:rPr>
              <a:t>Using a volatility-scaled target with DART-LightGBM and Ridge ensemble, we learn which assets will outperform on a risk-adjusted basis in the next week.</a:t>
            </a:r>
            <a:endParaRPr sz="2300">
              <a:solidFill>
                <a:srgbClr val="5A5F5E"/>
              </a:solidFill>
            </a:endParaRPr>
          </a:p>
          <a:p>
            <a:pPr indent="825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300"/>
              <a:buChar char="►"/>
            </a:pPr>
            <a:r>
              <a:rPr lang="en-US" sz="2300">
                <a:solidFill>
                  <a:srgbClr val="5A5F5E"/>
                </a:solidFill>
              </a:rPr>
              <a:t>Empirically, model scores detect “over-extended vs stable high-quality” assets, which naturally leads to signal inversion plus long–short, beta neutrality, and volatility targeting.</a:t>
            </a:r>
            <a:endParaRPr sz="2300">
              <a:solidFill>
                <a:srgbClr val="5A5F5E"/>
              </a:solidFill>
            </a:endParaRPr>
          </a:p>
          <a:p>
            <a:pPr indent="825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300"/>
              <a:buChar char="►"/>
            </a:pPr>
            <a:r>
              <a:rPr lang="en-US" sz="2300">
                <a:solidFill>
                  <a:srgbClr val="5A5F5E"/>
                </a:solidFill>
              </a:rPr>
              <a:t>Final outcome:</a:t>
            </a:r>
            <a:endParaRPr sz="2300">
              <a:solidFill>
                <a:srgbClr val="5A5F5E"/>
              </a:solidFill>
            </a:endParaRPr>
          </a:p>
          <a:p>
            <a:pPr indent="825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300"/>
              <a:buChar char="►"/>
            </a:pPr>
            <a:r>
              <a:rPr lang="en-US" sz="2300">
                <a:solidFill>
                  <a:srgbClr val="FF0000"/>
                </a:solidFill>
              </a:rPr>
              <a:t>Cumulative returns </a:t>
            </a:r>
            <a:r>
              <a:rPr lang="en-US" sz="2300">
                <a:solidFill>
                  <a:srgbClr val="5A5F5E"/>
                </a:solidFill>
              </a:rPr>
              <a:t>consistently</a:t>
            </a:r>
            <a:r>
              <a:rPr lang="en-US" sz="2300">
                <a:solidFill>
                  <a:srgbClr val="FF0000"/>
                </a:solidFill>
              </a:rPr>
              <a:t> outperform BTC</a:t>
            </a:r>
            <a:r>
              <a:rPr lang="en-US" sz="2300">
                <a:solidFill>
                  <a:srgbClr val="5A5F5E"/>
                </a:solidFill>
              </a:rPr>
              <a:t>;</a:t>
            </a:r>
            <a:endParaRPr sz="2300">
              <a:solidFill>
                <a:srgbClr val="5A5F5E"/>
              </a:solidFill>
            </a:endParaRPr>
          </a:p>
          <a:p>
            <a:pPr indent="825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300"/>
              <a:buChar char="►"/>
            </a:pPr>
            <a:r>
              <a:rPr lang="en-US" sz="2300">
                <a:solidFill>
                  <a:srgbClr val="FF0000"/>
                </a:solidFill>
              </a:rPr>
              <a:t>Annual volatility </a:t>
            </a:r>
            <a:r>
              <a:rPr lang="en-US" sz="2300">
                <a:solidFill>
                  <a:srgbClr val="5A5F5E"/>
                </a:solidFill>
              </a:rPr>
              <a:t>and </a:t>
            </a:r>
            <a:r>
              <a:rPr lang="en-US" sz="2300">
                <a:solidFill>
                  <a:srgbClr val="FF0000"/>
                </a:solidFill>
              </a:rPr>
              <a:t>max drawdown </a:t>
            </a:r>
            <a:r>
              <a:rPr lang="en-US" sz="2300">
                <a:solidFill>
                  <a:srgbClr val="5A5F5E"/>
                </a:solidFill>
              </a:rPr>
              <a:t>are greatly</a:t>
            </a:r>
            <a:r>
              <a:rPr lang="en-US" sz="2300">
                <a:solidFill>
                  <a:srgbClr val="FF0000"/>
                </a:solidFill>
              </a:rPr>
              <a:t> reduced</a:t>
            </a:r>
            <a:r>
              <a:rPr lang="en-US" sz="2300">
                <a:solidFill>
                  <a:srgbClr val="5A5F5E"/>
                </a:solidFill>
              </a:rPr>
              <a:t>;</a:t>
            </a:r>
            <a:endParaRPr sz="2300">
              <a:solidFill>
                <a:srgbClr val="5A5F5E"/>
              </a:solidFill>
            </a:endParaRPr>
          </a:p>
          <a:p>
            <a:pPr indent="82550" lvl="1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2300"/>
              <a:buChar char="►"/>
            </a:pPr>
            <a:r>
              <a:rPr lang="en-US" sz="2300">
                <a:solidFill>
                  <a:srgbClr val="FF0000"/>
                </a:solidFill>
              </a:rPr>
              <a:t>Sharpe ≈ 2</a:t>
            </a:r>
            <a:r>
              <a:rPr lang="en-US" sz="2300">
                <a:solidFill>
                  <a:srgbClr val="5A5F5E"/>
                </a:solidFill>
              </a:rPr>
              <a:t> with a clear, interpretable strategy (</a:t>
            </a:r>
            <a:r>
              <a:rPr lang="en-US" sz="2300">
                <a:solidFill>
                  <a:srgbClr val="FF0000"/>
                </a:solidFill>
              </a:rPr>
              <a:t>mean reversion + quality/liquidity</a:t>
            </a:r>
            <a:r>
              <a:rPr lang="en-US" sz="2300">
                <a:solidFill>
                  <a:srgbClr val="5A5F5E"/>
                </a:solidFill>
              </a:rPr>
              <a:t>).</a:t>
            </a:r>
            <a:endParaRPr sz="2300">
              <a:solidFill>
                <a:srgbClr val="5A5F5E"/>
              </a:solidFill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5A5F5E">
            <a:alpha val="15690"/>
          </a:srgbClr>
        </a:solidFill>
      </p:bgPr>
    </p:bg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39"/>
          <p:cNvSpPr txBox="1"/>
          <p:nvPr>
            <p:ph idx="1" type="body"/>
          </p:nvPr>
        </p:nvSpPr>
        <p:spPr>
          <a:xfrm>
            <a:off x="773350" y="3116013"/>
            <a:ext cx="11458200" cy="2117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 fontScale="92500" lnSpcReduction="20000"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ct val="100000"/>
              <a:buFont typeface="Helvetica Neue Light"/>
              <a:buNone/>
            </a:pPr>
            <a:r>
              <a:rPr lang="en-US">
                <a:solidFill>
                  <a:srgbClr val="D30F11"/>
                </a:solidFill>
              </a:rPr>
              <a:t>A Beta-Neutral Crypto ML Strategy: From Signal Inversion to Robust Alpha</a:t>
            </a:r>
            <a:endParaRPr>
              <a:solidFill>
                <a:srgbClr val="D30F11"/>
              </a:solidFill>
            </a:endParaRPr>
          </a:p>
          <a:p>
            <a:pPr indent="0" lvl="0" marL="0" rtl="0"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buClr>
                <a:srgbClr val="C00000"/>
              </a:buClr>
              <a:buSzPct val="100000"/>
              <a:buFont typeface="Helvetica Neue Light"/>
              <a:buNone/>
            </a:pPr>
            <a:r>
              <a:t/>
            </a:r>
            <a:endParaRPr>
              <a:solidFill>
                <a:srgbClr val="C00000"/>
              </a:solidFill>
            </a:endParaRPr>
          </a:p>
        </p:txBody>
      </p:sp>
      <p:sp>
        <p:nvSpPr>
          <p:cNvPr id="337" name="Google Shape;337;p39"/>
          <p:cNvSpPr txBox="1"/>
          <p:nvPr/>
        </p:nvSpPr>
        <p:spPr>
          <a:xfrm>
            <a:off x="9519751" y="9237870"/>
            <a:ext cx="3163500" cy="3246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D30F11"/>
              </a:buClr>
              <a:buSzPts val="1500"/>
              <a:buFont typeface="Helvetica Neue Light"/>
              <a:buNone/>
            </a:pPr>
            <a:r>
              <a:rPr b="0" i="0" lang="en-US" sz="1500" u="none" cap="none" strike="noStrike">
                <a:solidFill>
                  <a:srgbClr val="D30F1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2025 Machine Learning &amp; Fintech</a:t>
            </a:r>
            <a:endParaRPr b="0" i="0" sz="1500" u="none" cap="none" strike="noStrike">
              <a:solidFill>
                <a:srgbClr val="D30F11"/>
              </a:solidFill>
              <a:latin typeface="Helvetica Neue Light"/>
              <a:ea typeface="Helvetica Neue Light"/>
              <a:cs typeface="Helvetica Neue Light"/>
              <a:sym typeface="Helvetica Neue Light"/>
            </a:endParaRPr>
          </a:p>
        </p:txBody>
      </p:sp>
      <p:sp>
        <p:nvSpPr>
          <p:cNvPr id="338" name="Google Shape;338;p39"/>
          <p:cNvSpPr txBox="1"/>
          <p:nvPr>
            <p:ph idx="12" type="sldNum"/>
          </p:nvPr>
        </p:nvSpPr>
        <p:spPr>
          <a:xfrm>
            <a:off x="6325920" y="9271000"/>
            <a:ext cx="340200" cy="3246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rmAutofit lnSpcReduction="10000"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535353"/>
              </a:buClr>
              <a:buSzPts val="1600"/>
              <a:buFont typeface="Helvetica Neue"/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39" name="Google Shape;339;p39"/>
          <p:cNvSpPr txBox="1"/>
          <p:nvPr/>
        </p:nvSpPr>
        <p:spPr>
          <a:xfrm>
            <a:off x="773448" y="5361937"/>
            <a:ext cx="11457900" cy="3027300"/>
          </a:xfrm>
          <a:prstGeom prst="rect">
            <a:avLst/>
          </a:prstGeom>
          <a:noFill/>
          <a:ln>
            <a:noFill/>
          </a:ln>
        </p:spPr>
        <p:txBody>
          <a:bodyPr anchorCtr="0" anchor="t" bIns="50800" lIns="50800" spcFirstLastPara="1" rIns="50800" wrap="square" tIns="50800">
            <a:noAutofit/>
          </a:bodyPr>
          <a:lstStyle/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Font typeface="Helvetica Neue"/>
              <a:buNone/>
            </a:pPr>
            <a:r>
              <a:rPr b="0" i="0" lang="en-US" sz="3000" u="none" cap="none" strike="noStrike">
                <a:solidFill>
                  <a:srgbClr val="5A5F5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Student Name: </a:t>
            </a:r>
            <a:r>
              <a:rPr lang="en-US" sz="3100">
                <a:solidFill>
                  <a:schemeClr val="dk2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rPr>
              <a:t>Sam, Bill, Jannis</a:t>
            </a:r>
            <a:endParaRPr sz="3000">
              <a:solidFill>
                <a:srgbClr val="5A5F5E"/>
              </a:solidFill>
              <a:latin typeface="Helvetica Neue"/>
              <a:ea typeface="Helvetica Neue"/>
              <a:cs typeface="Helvetica Neue"/>
              <a:sym typeface="Helvetica Neue"/>
            </a:endParaRPr>
          </a:p>
          <a:p>
            <a:pPr indent="0" lvl="0" marL="0" marR="0" rtl="0" algn="l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>
                <a:srgbClr val="5A5F5E"/>
              </a:buClr>
              <a:buSzPts val="3000"/>
              <a:buFont typeface="Helvetica Neue"/>
              <a:buNone/>
            </a:pPr>
            <a:r>
              <a:rPr b="0" i="0" lang="en-US" sz="3000" u="none" cap="none" strike="noStrike">
                <a:solidFill>
                  <a:srgbClr val="5A5F5E"/>
                </a:solidFill>
                <a:latin typeface="Helvetica Neue"/>
                <a:ea typeface="Helvetica Neue"/>
                <a:cs typeface="Helvetica Neue"/>
                <a:sym typeface="Helvetica Neue"/>
              </a:rPr>
              <a:t>Advisor Name: Hui Wen Teng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40" name="Google Shape;340;p39" title="download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1098199" y="7570850"/>
            <a:ext cx="1585177" cy="1585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howroom">
  <a:themeElements>
    <a:clrScheme name="Showroom">
      <a:dk1>
        <a:srgbClr val="C4D3D3"/>
      </a:dk1>
      <a:lt1>
        <a:srgbClr val="D37A7B"/>
      </a:lt1>
      <a:dk2>
        <a:srgbClr val="5A5F5E"/>
      </a:dk2>
      <a:lt2>
        <a:srgbClr val="B4B4B4"/>
      </a:lt2>
      <a:accent1>
        <a:srgbClr val="78AAB3"/>
      </a:accent1>
      <a:accent2>
        <a:srgbClr val="9A9671"/>
      </a:accent2>
      <a:accent3>
        <a:srgbClr val="D9971A"/>
      </a:accent3>
      <a:accent4>
        <a:srgbClr val="D7620E"/>
      </a:accent4>
      <a:accent5>
        <a:srgbClr val="A61702"/>
      </a:accent5>
      <a:accent6>
        <a:srgbClr val="606B7E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howroom">
  <a:themeElements>
    <a:clrScheme name="Showroom">
      <a:dk1>
        <a:srgbClr val="000000"/>
      </a:dk1>
      <a:lt1>
        <a:srgbClr val="FFFFFF"/>
      </a:lt1>
      <a:dk2>
        <a:srgbClr val="5A5F5E"/>
      </a:dk2>
      <a:lt2>
        <a:srgbClr val="B4B4B4"/>
      </a:lt2>
      <a:accent1>
        <a:srgbClr val="78AAB3"/>
      </a:accent1>
      <a:accent2>
        <a:srgbClr val="9A9671"/>
      </a:accent2>
      <a:accent3>
        <a:srgbClr val="D9971A"/>
      </a:accent3>
      <a:accent4>
        <a:srgbClr val="D7620E"/>
      </a:accent4>
      <a:accent5>
        <a:srgbClr val="A61702"/>
      </a:accent5>
      <a:accent6>
        <a:srgbClr val="606B7E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Showroom">
  <a:themeElements>
    <a:clrScheme name="Showroom">
      <a:dk1>
        <a:srgbClr val="C4D3D3"/>
      </a:dk1>
      <a:lt1>
        <a:srgbClr val="D30F11"/>
      </a:lt1>
      <a:dk2>
        <a:srgbClr val="5A5F5E"/>
      </a:dk2>
      <a:lt2>
        <a:srgbClr val="B4B4B4"/>
      </a:lt2>
      <a:accent1>
        <a:srgbClr val="78AAB3"/>
      </a:accent1>
      <a:accent2>
        <a:srgbClr val="9A9671"/>
      </a:accent2>
      <a:accent3>
        <a:srgbClr val="D9971A"/>
      </a:accent3>
      <a:accent4>
        <a:srgbClr val="D7620E"/>
      </a:accent4>
      <a:accent5>
        <a:srgbClr val="A61702"/>
      </a:accent5>
      <a:accent6>
        <a:srgbClr val="606B7E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