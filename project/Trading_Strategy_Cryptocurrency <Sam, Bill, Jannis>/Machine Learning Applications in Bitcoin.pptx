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9753600" cx="130048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  <p:embeddedFont>
      <p:font typeface="Helvetica Neue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HelveticaNeueLight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italic.fntdata"/><Relationship Id="rId25" Type="http://schemas.openxmlformats.org/officeDocument/2006/relationships/font" Target="fonts/HelveticaNeueLight-bold.fntdata"/><Relationship Id="rId27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e49735378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ae49735378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1baab6856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a1baab6856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baab685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1baab6856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1baab6856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1baab6856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baab6856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1baab6856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baab6856_0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1baab6856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baab6856_0_1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1baab6856_0_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1baab6856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1baab6856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baab6856_0_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1baab6856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baab6856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1baab6856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baab6856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1baab6856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500"/>
              <a:buFont typeface="Helvetica Neue Light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 副本" showMasterSp="0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761999" y="1581811"/>
            <a:ext cx="11467783" cy="292595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24" name="Google Shape;24;p3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30" name="Google Shape;30;p4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about:bl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None/>
            </a:pPr>
            <a:r>
              <a:t/>
            </a:r>
            <a:endParaRPr b="0" i="0" sz="30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774700" y="4432300"/>
            <a:ext cx="114580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Name (HWTeng)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affiliation</a:t>
            </a:r>
            <a:endParaRPr b="0" i="0" sz="55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694"/>
              </a:buClr>
              <a:buSzPts val="3000"/>
              <a:buFont typeface="Helvetica Neue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Your Webpage</a:t>
            </a:r>
            <a:endParaRPr/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73350" y="2649953"/>
            <a:ext cx="11458200" cy="1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/>
              <a:t>Machine Learning Applications in Bitcoin: Forecasting, Trading, and Risk Management</a:t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</a:t>
            </a:r>
            <a:r>
              <a:rPr lang="en-US" sz="15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51</a:t>
            </a: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</a:t>
            </a:r>
            <a:r>
              <a:rPr lang="en-US" sz="15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</a:t>
            </a: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IDA Template Keynote.key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773350" y="4410650"/>
            <a:ext cx="5495400" cy="66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 (and HWTeng)</a:t>
            </a:r>
            <a:endParaRPr sz="31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729950" y="7036125"/>
            <a:ext cx="9156900" cy="15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National Yang-Ming Chiao-Tung University</a:t>
            </a:r>
            <a:endParaRPr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 and FinTech</a:t>
            </a:r>
            <a:endParaRPr i="1"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https://github.com/HWTeng-Teaching/202509-ML-FinTech</a:t>
            </a:r>
            <a:endParaRPr sz="2800">
              <a:solidFill>
                <a:srgbClr val="535353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40" name="Google Shape;40;p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974" y="7036125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IDA Template</a:t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1154150" y="829050"/>
            <a:ext cx="9900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 Preprocessing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Factor Engineering &amp; EDA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Cross-Sectional ML Prediction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Portfolio strategy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Future Work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7" title="output-onlinepngtoo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925"/>
            <a:ext cx="12699998" cy="714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 sz="3500">
                <a:latin typeface="Helvetica Neue"/>
                <a:ea typeface="Helvetica Neue"/>
                <a:cs typeface="Helvetica Neue"/>
                <a:sym typeface="Helvetica Neue"/>
              </a:rPr>
              <a:t>Motivation</a:t>
            </a:r>
            <a:endParaRPr/>
          </a:p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761999" y="1581811"/>
            <a:ext cx="114678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Cryptomarket is highly volatile, non-linear and noisy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Predicting concrete values highly complex task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Instead try to rank assets relatively to each other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IDA Template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69" name="Google Shape;69;p9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Data sources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Open, High, Low, Close, Volume 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daily OHLC, market capitalization, and volume data (CoinGecko)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4-week Treasury Bill rate (DTB4WK)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Build dataset with weekly frequency</a:t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Universe: Top 30 assets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0" name="Google Shape;70;p9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lang="en-US">
                <a:solidFill>
                  <a:schemeClr val="lt1"/>
                </a:solidFill>
              </a:rPr>
              <a:t>Data Preprocessing</a:t>
            </a:r>
            <a:endParaRPr/>
          </a:p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Exploratory Data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Missing value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Descriptive statistics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Cross-sectional correlation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Factor Distribution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Time Series Stability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Principal Component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Information Coefficient Analysis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86" name="Google Shape;86;p1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Data Analysis</a:t>
            </a:r>
            <a:endParaRPr/>
          </a:p>
        </p:txBody>
      </p:sp>
      <p:sp>
        <p:nvSpPr>
          <p:cNvPr id="87" name="Google Shape;87;p1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  <p:pic>
        <p:nvPicPr>
          <p:cNvPr id="88" name="Google Shape;88;p11" title="output-onlinepngtool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50" y="3590725"/>
            <a:ext cx="6057660" cy="29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 title="output-onlinepngtools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009" y="1674695"/>
            <a:ext cx="6505391" cy="651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95" name="Google Shape;95;p1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96" name="Google Shape;96;p1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lang="en-US">
                <a:solidFill>
                  <a:schemeClr val="lt1"/>
                </a:solidFill>
              </a:rPr>
              <a:t>Factor Engineering &amp; EDA</a:t>
            </a:r>
            <a:endParaRPr/>
          </a:p>
        </p:txBody>
      </p:sp>
      <p:sp>
        <p:nvSpPr>
          <p:cNvPr id="97" name="Google Shape;97;p12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Engineer features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Momentum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Value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Size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chemeClr val="dk2"/>
                </a:solidFill>
              </a:rPr>
              <a:t>Fama-MacBeth Regression: </a:t>
            </a:r>
            <a:r>
              <a:rPr lang="en-US" sz="3000">
                <a:solidFill>
                  <a:srgbClr val="5A5F5E"/>
                </a:solidFill>
              </a:rPr>
              <a:t>Assess feature predictive power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Factor-Mimicking portfolios: risk exposure and contribution to return dynamics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Preprocessing: Weekly cross-sectional standardization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98" name="Google Shape;98;p1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05" name="Google Shape;105;p1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Cross-Sectional ML Prediction</a:t>
            </a:r>
            <a:endParaRPr/>
          </a:p>
        </p:txBody>
      </p:sp>
      <p:sp>
        <p:nvSpPr>
          <p:cNvPr id="106" name="Google Shape;106;p13"/>
          <p:cNvSpPr txBox="1"/>
          <p:nvPr>
            <p:ph idx="3" type="body"/>
          </p:nvPr>
        </p:nvSpPr>
        <p:spPr>
          <a:xfrm>
            <a:off x="761999" y="1581811"/>
            <a:ext cx="11467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Goal: Rank assets each week to predict next-week performance for portfolio formation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Predict next-week excess return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Model: LightGBM, XGBoost, CatBoost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Ensemble: 0.4x LightGBM, 0.3x XGBoost, 0.3x CatBoost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Rolling training: 52-week lookback window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07" name="Google Shape;107;p1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Portfolio strategy</a:t>
            </a:r>
            <a:endParaRPr/>
          </a:p>
        </p:txBody>
      </p:sp>
      <p:sp>
        <p:nvSpPr>
          <p:cNvPr id="115" name="Google Shape;115;p14"/>
          <p:cNvSpPr txBox="1"/>
          <p:nvPr>
            <p:ph idx="3" type="body"/>
          </p:nvPr>
        </p:nvSpPr>
        <p:spPr>
          <a:xfrm>
            <a:off x="761999" y="1581811"/>
            <a:ext cx="114678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Sort each week by model prediction (excess return)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Strategy: long top 5, short bottom 5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Trading cost: 10 bps/side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Advantage: market (beta) neutral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6" name="Google Shape;116;p1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124" name="Google Shape;124;p15"/>
          <p:cNvSpPr txBox="1"/>
          <p:nvPr>
            <p:ph idx="3" type="body"/>
          </p:nvPr>
        </p:nvSpPr>
        <p:spPr>
          <a:xfrm>
            <a:off x="761999" y="1581811"/>
            <a:ext cx="114678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Better machine model / ensemble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Optimize hyperparameters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31" name="Google Shape;131;p1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32" name="Google Shape;132;p1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Strategy Performance</a:t>
            </a:r>
            <a:endParaRPr/>
          </a:p>
        </p:txBody>
      </p:sp>
      <p:sp>
        <p:nvSpPr>
          <p:cNvPr id="133" name="Google Shape;133;p16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Benchmark</a:t>
            </a:r>
            <a:r>
              <a:rPr lang="en-US" sz="3000">
                <a:solidFill>
                  <a:srgbClr val="5A5F5E"/>
                </a:solidFill>
              </a:rPr>
              <a:t>: BTC buy &amp; hold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Sharpe: 0.4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Return: 411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MDD: -0.66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Ensemble model: </a:t>
            </a:r>
            <a:r>
              <a:rPr lang="en-US" sz="3000">
                <a:solidFill>
                  <a:schemeClr val="dk2"/>
                </a:solidFill>
              </a:rPr>
              <a:t>LightGBM, CatBoost, XGBoost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Sharpe: 0.4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Return: 1516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MDD: -0.669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Turnover: 0.7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34" name="Google Shape;134;p1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41" name="Google Shape;141;p1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Strategy Performance</a:t>
            </a:r>
            <a:endParaRPr/>
          </a:p>
        </p:txBody>
      </p:sp>
      <p:sp>
        <p:nvSpPr>
          <p:cNvPr id="142" name="Google Shape;142;p1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  <p:pic>
        <p:nvPicPr>
          <p:cNvPr id="143" name="Google Shape;143;p17" title="output-onlinepngtool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25" y="2726500"/>
            <a:ext cx="12377750" cy="48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50" name="Google Shape;150;p1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51" name="Google Shape;151;p18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chemeClr val="dk2"/>
                </a:solidFill>
              </a:rPr>
              <a:t>Highly complex task due to volatility, noise, non-linearity</a:t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Strategy: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High annual return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High volatility (risk)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=&gt; same sharpe ratio</a:t>
            </a:r>
            <a:endParaRPr sz="3000">
              <a:solidFill>
                <a:schemeClr val="dk2"/>
              </a:solidFill>
            </a:endParaRPr>
          </a:p>
          <a:p>
            <a:pPr indent="-1905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Traditional asset-pricing factors improves Machine Learning</a:t>
            </a:r>
            <a:endParaRPr sz="3000">
              <a:solidFill>
                <a:schemeClr val="dk2"/>
              </a:solidFill>
            </a:endParaRPr>
          </a:p>
          <a:p>
            <a:pPr indent="-1905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Still improvement in the volatility of the portfolio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52" name="Google Shape;152;p1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773350" y="2649953"/>
            <a:ext cx="11458200" cy="1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/>
              <a:t>Machine Learning Applications in Bitcoin: Forecasting, Trading, and Risk Management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9519751" y="9237870"/>
            <a:ext cx="3163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 Light"/>
              <a:buNone/>
            </a:pPr>
            <a:r>
              <a:rPr lang="en-US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20251110 IDA Template Keynote.key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t/>
            </a:r>
            <a:endParaRPr sz="15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773350" y="4410650"/>
            <a:ext cx="5495400" cy="66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 (and HWTeng)</a:t>
            </a:r>
            <a:endParaRPr sz="31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729950" y="7036125"/>
            <a:ext cx="9156900" cy="15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National Yang-Ming Chiao-Tung University</a:t>
            </a:r>
            <a:endParaRPr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 and FinTech</a:t>
            </a:r>
            <a:endParaRPr i="1"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https://github.com/HWTeng-Teaching/202509-ML-FinTech</a:t>
            </a:r>
            <a:endParaRPr sz="2800">
              <a:solidFill>
                <a:srgbClr val="535353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61" name="Google Shape;161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912" y="7036125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