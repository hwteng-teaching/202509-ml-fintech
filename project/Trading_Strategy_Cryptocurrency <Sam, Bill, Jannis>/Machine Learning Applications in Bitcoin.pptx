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9753600" cx="13004800"/>
  <p:notesSz cx="6858000" cy="9144000"/>
  <p:embeddedFontLst>
    <p:embeddedFont>
      <p:font typeface="Helvetica Neue"/>
      <p:regular r:id="rId20"/>
      <p:bold r:id="rId21"/>
      <p:italic r:id="rId22"/>
      <p:boldItalic r:id="rId23"/>
    </p:embeddedFont>
    <p:embeddedFont>
      <p:font typeface="Helvetica Neue Light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HelveticaNeue-regular.fntdata"/><Relationship Id="rId22" Type="http://schemas.openxmlformats.org/officeDocument/2006/relationships/font" Target="fonts/HelveticaNeue-italic.fntdata"/><Relationship Id="rId21" Type="http://schemas.openxmlformats.org/officeDocument/2006/relationships/font" Target="fonts/HelveticaNeue-bold.fntdata"/><Relationship Id="rId24" Type="http://schemas.openxmlformats.org/officeDocument/2006/relationships/font" Target="fonts/HelveticaNeueLight-regular.fntdata"/><Relationship Id="rId23" Type="http://schemas.openxmlformats.org/officeDocument/2006/relationships/font" Target="fonts/HelveticaNeue-bold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HelveticaNeueLight-italic.fntdata"/><Relationship Id="rId25" Type="http://schemas.openxmlformats.org/officeDocument/2006/relationships/font" Target="fonts/HelveticaNeueLight-bold.fntdata"/><Relationship Id="rId27" Type="http://schemas.openxmlformats.org/officeDocument/2006/relationships/font" Target="fonts/HelveticaNeueLight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1pPr>
            <a:lvl2pPr indent="-228600" lvl="1" marL="914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2pPr>
            <a:lvl3pPr indent="-228600" lvl="2" marL="1371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3pPr>
            <a:lvl4pPr indent="-228600" lvl="3" marL="1828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4pPr>
            <a:lvl5pPr indent="-228600" lvl="4" marL="22860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5pPr>
            <a:lvl6pPr indent="-228600" lvl="5" marL="2743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6pPr>
            <a:lvl7pPr indent="-228600" lvl="6" marL="3200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7pPr>
            <a:lvl8pPr indent="-228600" lvl="7" marL="3657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8pPr>
            <a:lvl9pPr indent="-228600" lvl="8" marL="4114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ae49735378_1_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ae49735378_1_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a1baab6856_0_7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g3a1baab6856_0_7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1baab6856_0_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a1baab6856_0_4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1baab6856_0_1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a1baab6856_0_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1baab6856_0_4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a1baab6856_0_4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1baab6856_0_10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3a1baab6856_0_10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1baab6856_0_12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g3a1baab6856_0_12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1baab6856_0_8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3a1baab6856_0_8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1baab6856_0_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g3a1baab6856_0_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a1baab6856_0_1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3a1baab6856_0_1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a1baab6856_0_5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g3a1baab6856_0_5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copy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idx="1" type="body"/>
          </p:nvPr>
        </p:nvSpPr>
        <p:spPr>
          <a:xfrm>
            <a:off x="773350" y="2345153"/>
            <a:ext cx="11458100" cy="1760787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500"/>
              <a:buFont typeface="Helvetica Neue Light"/>
              <a:buNone/>
              <a:defRPr sz="55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 副本" showMasterSp="0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600">
              <a:solidFill>
                <a:srgbClr val="53535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18" name="Google Shape;18;p3"/>
          <p:cNvCxnSpPr/>
          <p:nvPr/>
        </p:nvCxnSpPr>
        <p:spPr>
          <a:xfrm>
            <a:off x="761999" y="624879"/>
            <a:ext cx="11474292" cy="1"/>
          </a:xfrm>
          <a:prstGeom prst="straightConnector1">
            <a:avLst/>
          </a:prstGeom>
          <a:noFill/>
          <a:ln cap="flat" cmpd="sng" w="25400">
            <a:solidFill>
              <a:srgbClr val="5A5F5E">
                <a:alpha val="15686"/>
              </a:srgbClr>
            </a:solidFill>
            <a:prstDash val="solid"/>
            <a:miter lim="400000"/>
            <a:headEnd len="sm" w="sm" type="none"/>
            <a:tailEnd len="sm" w="sm" type="none"/>
          </a:ln>
        </p:spPr>
      </p:cxn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755809" y="213147"/>
            <a:ext cx="9502858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2" type="body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  <a:defRPr sz="35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3" type="body"/>
          </p:nvPr>
        </p:nvSpPr>
        <p:spPr>
          <a:xfrm>
            <a:off x="761999" y="1581811"/>
            <a:ext cx="11467783" cy="292595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4" type="body"/>
          </p:nvPr>
        </p:nvSpPr>
        <p:spPr>
          <a:xfrm>
            <a:off x="715409" y="9235479"/>
            <a:ext cx="5479247" cy="399033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  <a:defRPr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cxnSp>
        <p:nvCxnSpPr>
          <p:cNvPr id="23" name="Google Shape;23;p3"/>
          <p:cNvCxnSpPr/>
          <p:nvPr/>
        </p:nvCxnSpPr>
        <p:spPr>
          <a:xfrm>
            <a:off x="700892" y="9159279"/>
            <a:ext cx="10543492" cy="1"/>
          </a:xfrm>
          <a:prstGeom prst="straightConnector1">
            <a:avLst/>
          </a:prstGeom>
          <a:noFill/>
          <a:ln cap="flat" cmpd="sng" w="25400">
            <a:solidFill>
              <a:srgbClr val="5A5F5E">
                <a:alpha val="15686"/>
              </a:srgbClr>
            </a:solidFill>
            <a:prstDash val="solid"/>
            <a:miter lim="400000"/>
            <a:headEnd len="sm" w="sm" type="none"/>
            <a:tailEnd len="sm" w="sm" type="none"/>
          </a:ln>
        </p:spPr>
      </p:cxnSp>
      <p:pic>
        <p:nvPicPr>
          <p:cNvPr descr="norm_quant.jpg" id="24" name="Google Shape;24;p3"/>
          <p:cNvPicPr preferRelativeResize="0"/>
          <p:nvPr/>
        </p:nvPicPr>
        <p:blipFill rotWithShape="1">
          <a:blip r:embed="rId2">
            <a:alphaModFix/>
          </a:blip>
          <a:srcRect b="13992" l="7684" r="6266" t="12299"/>
          <a:stretch/>
        </p:blipFill>
        <p:spPr>
          <a:xfrm>
            <a:off x="11456784" y="8603504"/>
            <a:ext cx="1259216" cy="763127"/>
          </a:xfrm>
          <a:custGeom>
            <a:rect b="b" l="l" r="r" t="t"/>
            <a:pathLst>
              <a:path extrusionOk="0" h="21575" w="21588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tline" showMasterSp="0">
  <p:cSld name="Outline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idx="1" type="body"/>
          </p:nvPr>
        </p:nvSpPr>
        <p:spPr>
          <a:xfrm>
            <a:off x="768509" y="9159279"/>
            <a:ext cx="5733892" cy="399033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/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0" i="0" lang="en-US" sz="35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Outline</a:t>
            </a:r>
            <a:endParaRPr/>
          </a:p>
        </p:txBody>
      </p:sp>
      <p:sp>
        <p:nvSpPr>
          <p:cNvPr id="28" name="Google Shape;28;p4"/>
          <p:cNvSpPr txBox="1"/>
          <p:nvPr>
            <p:ph idx="2" type="body"/>
          </p:nvPr>
        </p:nvSpPr>
        <p:spPr>
          <a:xfrm>
            <a:off x="761999" y="1581811"/>
            <a:ext cx="11467783" cy="635001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cxnSp>
        <p:nvCxnSpPr>
          <p:cNvPr id="29" name="Google Shape;29;p4"/>
          <p:cNvCxnSpPr/>
          <p:nvPr/>
        </p:nvCxnSpPr>
        <p:spPr>
          <a:xfrm>
            <a:off x="700892" y="9159279"/>
            <a:ext cx="10543492" cy="1"/>
          </a:xfrm>
          <a:prstGeom prst="straightConnector1">
            <a:avLst/>
          </a:prstGeom>
          <a:noFill/>
          <a:ln cap="flat" cmpd="sng" w="25400">
            <a:solidFill>
              <a:srgbClr val="5A5F5E">
                <a:alpha val="15686"/>
              </a:srgbClr>
            </a:solidFill>
            <a:prstDash val="solid"/>
            <a:miter lim="400000"/>
            <a:headEnd len="sm" w="sm" type="none"/>
            <a:tailEnd len="sm" w="sm" type="none"/>
          </a:ln>
        </p:spPr>
      </p:cxnSp>
      <p:pic>
        <p:nvPicPr>
          <p:cNvPr descr="norm_quant.jpg" id="30" name="Google Shape;30;p4"/>
          <p:cNvPicPr preferRelativeResize="0"/>
          <p:nvPr/>
        </p:nvPicPr>
        <p:blipFill rotWithShape="1">
          <a:blip r:embed="rId2">
            <a:alphaModFix/>
          </a:blip>
          <a:srcRect b="13992" l="7684" r="6266" t="12299"/>
          <a:stretch/>
        </p:blipFill>
        <p:spPr>
          <a:xfrm>
            <a:off x="11456784" y="8603504"/>
            <a:ext cx="1259216" cy="763127"/>
          </a:xfrm>
          <a:custGeom>
            <a:rect b="b" l="l" r="r" t="t"/>
            <a:pathLst>
              <a:path extrusionOk="0" h="21575" w="21588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600">
              <a:solidFill>
                <a:srgbClr val="53535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hyperlink" Target="about:bl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FFFFF"/>
            </a:gs>
            <a:gs pos="72824">
              <a:srgbClr val="ECECEC"/>
            </a:gs>
            <a:gs pos="100000">
              <a:srgbClr val="DADADA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asted-image.png"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687950" y="230380"/>
            <a:ext cx="2370215" cy="22989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/>
        </p:nvSpPr>
        <p:spPr>
          <a:xfrm>
            <a:off x="773350" y="6475983"/>
            <a:ext cx="7488751" cy="2058079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None/>
            </a:pPr>
            <a:r>
              <a:t/>
            </a:r>
            <a:endParaRPr b="0" i="0" sz="3000" u="none" cap="none" strike="noStrike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8" name="Google Shape;8;p1"/>
          <p:cNvSpPr txBox="1"/>
          <p:nvPr/>
        </p:nvSpPr>
        <p:spPr>
          <a:xfrm>
            <a:off x="774700" y="4432300"/>
            <a:ext cx="11458002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"/>
              <a:buNone/>
            </a:pPr>
            <a:r>
              <a:rPr b="0" i="0" lang="en-US" sz="3000" u="none" cap="none" strike="noStrike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Your Name (HWTeng)</a:t>
            </a:r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774700" y="6985000"/>
            <a:ext cx="11455400" cy="264522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"/>
              <a:buNone/>
            </a:pPr>
            <a:r>
              <a:rPr b="0" i="0" lang="en-US" sz="3000" u="none" cap="none" strike="noStrike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Your affiliation</a:t>
            </a:r>
            <a:endParaRPr b="0" i="0" sz="5500" u="none" cap="none" strike="noStrike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5694"/>
              </a:buClr>
              <a:buSzPts val="3000"/>
              <a:buFont typeface="Helvetica Neue"/>
              <a:buNone/>
            </a:pPr>
            <a:r>
              <a:rPr b="0" i="0" lang="en-US" sz="3000" u="sng" cap="none" strike="noStrike">
                <a:solidFill>
                  <a:schemeClr val="hlink"/>
                </a:solidFill>
                <a:latin typeface="Helvetica Neue"/>
                <a:ea typeface="Helvetica Neue"/>
                <a:cs typeface="Helvetica Neue"/>
                <a:sym typeface="Helvetica Neue"/>
                <a:hlinkClick r:id="rId2"/>
              </a:rPr>
              <a:t>Your Webpage</a:t>
            </a:r>
            <a:endParaRPr/>
          </a:p>
        </p:txBody>
      </p:sp>
      <p:sp>
        <p:nvSpPr>
          <p:cNvPr id="10" name="Google Shape;10;p1"/>
          <p:cNvSpPr txBox="1"/>
          <p:nvPr>
            <p:ph type="title"/>
          </p:nvPr>
        </p:nvSpPr>
        <p:spPr>
          <a:xfrm>
            <a:off x="773350" y="1733550"/>
            <a:ext cx="11458100" cy="1996629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55599" y="5270500"/>
            <a:ext cx="12293601" cy="12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idx="1" type="body"/>
          </p:nvPr>
        </p:nvSpPr>
        <p:spPr>
          <a:xfrm>
            <a:off x="773350" y="2649953"/>
            <a:ext cx="11458200" cy="17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fontScale="85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ct val="100000"/>
              <a:buFont typeface="Helvetica Neue Light"/>
              <a:buNone/>
            </a:pPr>
            <a:r>
              <a:rPr lang="en-US"/>
              <a:t>Machine Learning Applications in Bitcoin: Forecasting, Trading, and Risk Management</a:t>
            </a:r>
            <a:endParaRPr/>
          </a:p>
        </p:txBody>
      </p:sp>
      <p:sp>
        <p:nvSpPr>
          <p:cNvPr id="37" name="Google Shape;37;p5"/>
          <p:cNvSpPr txBox="1"/>
          <p:nvPr/>
        </p:nvSpPr>
        <p:spPr>
          <a:xfrm>
            <a:off x="9519751" y="9237870"/>
            <a:ext cx="3163634" cy="32467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500"/>
              <a:buFont typeface="Helvetica Neue Light"/>
              <a:buNone/>
            </a:pPr>
            <a:r>
              <a:rPr b="0" i="0" lang="en-US" sz="15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202</a:t>
            </a:r>
            <a:r>
              <a:rPr lang="en-US" sz="1500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51</a:t>
            </a:r>
            <a:r>
              <a:rPr b="0" i="0" lang="en-US" sz="15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1</a:t>
            </a:r>
            <a:r>
              <a:rPr lang="en-US" sz="1500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10</a:t>
            </a:r>
            <a:r>
              <a:rPr b="0" i="0" lang="en-US" sz="15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IDA Template Keynote.key</a:t>
            </a:r>
            <a:endParaRPr/>
          </a:p>
        </p:txBody>
      </p:sp>
      <p:sp>
        <p:nvSpPr>
          <p:cNvPr id="38" name="Google Shape;38;p5"/>
          <p:cNvSpPr txBox="1"/>
          <p:nvPr/>
        </p:nvSpPr>
        <p:spPr>
          <a:xfrm>
            <a:off x="773350" y="4410650"/>
            <a:ext cx="5495400" cy="661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Sam, Bill, Jannis (and HWTeng)</a:t>
            </a:r>
            <a:endParaRPr sz="3100">
              <a:solidFill>
                <a:schemeClr val="dk2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39" name="Google Shape;39;p5"/>
          <p:cNvSpPr txBox="1"/>
          <p:nvPr/>
        </p:nvSpPr>
        <p:spPr>
          <a:xfrm>
            <a:off x="729950" y="7036125"/>
            <a:ext cx="9156900" cy="158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National Yang-Ming Chiao-Tung University</a:t>
            </a:r>
            <a:endParaRPr sz="2800">
              <a:solidFill>
                <a:srgbClr val="D30F1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800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Machine Learning and FinTech</a:t>
            </a:r>
            <a:endParaRPr i="1" sz="2800">
              <a:solidFill>
                <a:srgbClr val="D30F1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35353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https://github.com/HWTeng-Teaching/202509-ML-FinTech</a:t>
            </a:r>
            <a:endParaRPr sz="2800">
              <a:solidFill>
                <a:srgbClr val="535353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40" name="Google Shape;40;p5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8974" y="7036125"/>
            <a:ext cx="1585177" cy="158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/>
          <p:nvPr>
            <p:ph idx="1" type="body"/>
          </p:nvPr>
        </p:nvSpPr>
        <p:spPr>
          <a:xfrm>
            <a:off x="768509" y="9159279"/>
            <a:ext cx="5733892" cy="399033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IDA Template</a:t>
            </a:r>
            <a:endParaRPr/>
          </a:p>
        </p:txBody>
      </p:sp>
      <p:sp>
        <p:nvSpPr>
          <p:cNvPr id="46" name="Google Shape;46;p6"/>
          <p:cNvSpPr txBox="1"/>
          <p:nvPr/>
        </p:nvSpPr>
        <p:spPr>
          <a:xfrm>
            <a:off x="1154150" y="829050"/>
            <a:ext cx="9900000" cy="48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Motivation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Data Preprocessing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Factor Engineering &amp; EDA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Cross-Sectional ML Prediction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Portfolio strategy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Future Work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idx="1" type="body"/>
          </p:nvPr>
        </p:nvSpPr>
        <p:spPr>
          <a:xfrm>
            <a:off x="768509" y="9159279"/>
            <a:ext cx="5733900" cy="410400"/>
          </a:xfrm>
          <a:prstGeom prst="rect">
            <a:avLst/>
          </a:prstGeom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2" name="Google Shape;52;p7" title="output-onlinepngtool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4925"/>
            <a:ext cx="12699998" cy="7143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58" name="Google Shape;58;p8"/>
          <p:cNvSpPr txBox="1"/>
          <p:nvPr>
            <p:ph idx="1" type="body"/>
          </p:nvPr>
        </p:nvSpPr>
        <p:spPr>
          <a:xfrm>
            <a:off x="755809" y="213147"/>
            <a:ext cx="9502858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Motivation</a:t>
            </a:r>
            <a:endParaRPr/>
          </a:p>
        </p:txBody>
      </p:sp>
      <p:sp>
        <p:nvSpPr>
          <p:cNvPr id="59" name="Google Shape;59;p8"/>
          <p:cNvSpPr txBox="1"/>
          <p:nvPr>
            <p:ph idx="2" type="body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lang="en-US" sz="3500">
                <a:latin typeface="Helvetica Neue"/>
                <a:ea typeface="Helvetica Neue"/>
                <a:cs typeface="Helvetica Neue"/>
                <a:sym typeface="Helvetica Neue"/>
              </a:rPr>
              <a:t>Motivation</a:t>
            </a:r>
            <a:endParaRPr/>
          </a:p>
        </p:txBody>
      </p:sp>
      <p:sp>
        <p:nvSpPr>
          <p:cNvPr id="60" name="Google Shape;60;p8"/>
          <p:cNvSpPr txBox="1"/>
          <p:nvPr>
            <p:ph idx="3" type="body"/>
          </p:nvPr>
        </p:nvSpPr>
        <p:spPr>
          <a:xfrm>
            <a:off x="761999" y="1581811"/>
            <a:ext cx="11467800" cy="19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</a:rPr>
              <a:t>Cryptomarket is highly volatile, non-linear and noisy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</a:rPr>
              <a:t>Predicting concrete values highly complex task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Instead try to rank assets relatively to each other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61" name="Google Shape;61;p8"/>
          <p:cNvSpPr txBox="1"/>
          <p:nvPr>
            <p:ph idx="4" type="body"/>
          </p:nvPr>
        </p:nvSpPr>
        <p:spPr>
          <a:xfrm>
            <a:off x="715409" y="9235479"/>
            <a:ext cx="5479247" cy="399033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IDA Template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67" name="Google Shape;67;p9"/>
          <p:cNvSpPr txBox="1"/>
          <p:nvPr>
            <p:ph idx="1" type="body"/>
          </p:nvPr>
        </p:nvSpPr>
        <p:spPr>
          <a:xfrm>
            <a:off x="755809" y="213147"/>
            <a:ext cx="9502858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lang="en-US"/>
              <a:t>Data Preprocessing</a:t>
            </a:r>
            <a:endParaRPr/>
          </a:p>
        </p:txBody>
      </p:sp>
      <p:sp>
        <p:nvSpPr>
          <p:cNvPr id="69" name="Google Shape;69;p9"/>
          <p:cNvSpPr txBox="1"/>
          <p:nvPr>
            <p:ph idx="3" type="body"/>
          </p:nvPr>
        </p:nvSpPr>
        <p:spPr>
          <a:xfrm>
            <a:off x="761999" y="1581811"/>
            <a:ext cx="11467800" cy="47202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</a:rPr>
              <a:t>Data sources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Open, High, Low, Close, Volume (Binance Spot Market)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daily OHLC, market capitalization, and volume data (CoinGecko)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4-week Treasury Bill rate (DTB4WK)</a:t>
            </a:r>
            <a:endParaRPr sz="3000">
              <a:solidFill>
                <a:srgbClr val="5A5F5E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2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Char char="⊡"/>
            </a:pPr>
            <a:r>
              <a:rPr lang="en-US" sz="3000">
                <a:solidFill>
                  <a:schemeClr val="dk2"/>
                </a:solidFill>
              </a:rPr>
              <a:t>Build dataset with weekly frequency</a:t>
            </a:r>
            <a:endParaRPr sz="3000">
              <a:solidFill>
                <a:schemeClr val="dk2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⊡"/>
            </a:pPr>
            <a:r>
              <a:rPr lang="en-US" sz="3000">
                <a:solidFill>
                  <a:schemeClr val="dk2"/>
                </a:solidFill>
              </a:rPr>
              <a:t>Universe: Top 30 assets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70" name="Google Shape;70;p9"/>
          <p:cNvSpPr txBox="1"/>
          <p:nvPr>
            <p:ph idx="4" type="body"/>
          </p:nvPr>
        </p:nvSpPr>
        <p:spPr>
          <a:xfrm>
            <a:off x="715409" y="9235479"/>
            <a:ext cx="5479247" cy="399033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76" name="Google Shape;76;p10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77" name="Google Shape;77;p10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Helvetica Neue"/>
              <a:buNone/>
            </a:pPr>
            <a:r>
              <a:rPr lang="en-US">
                <a:solidFill>
                  <a:schemeClr val="lt1"/>
                </a:solidFill>
              </a:rPr>
              <a:t>Data Preprocessing</a:t>
            </a:r>
            <a:endParaRPr/>
          </a:p>
        </p:txBody>
      </p:sp>
      <p:sp>
        <p:nvSpPr>
          <p:cNvPr id="78" name="Google Shape;78;p10"/>
          <p:cNvSpPr txBox="1"/>
          <p:nvPr>
            <p:ph idx="3" type="body"/>
          </p:nvPr>
        </p:nvSpPr>
        <p:spPr>
          <a:xfrm>
            <a:off x="761999" y="1581811"/>
            <a:ext cx="11467800" cy="54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Exploratory Data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Missing value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Descriptive statistics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Cross-sectional correlation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Factor Distribution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Time Series Stability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Principal Component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Information Coefficient Analysis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79" name="Google Shape;79;p10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85" name="Google Shape;85;p11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86" name="Google Shape;86;p11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lang="en-US"/>
              <a:t>Data Analysis</a:t>
            </a:r>
            <a:endParaRPr/>
          </a:p>
        </p:txBody>
      </p:sp>
      <p:sp>
        <p:nvSpPr>
          <p:cNvPr id="87" name="Google Shape;87;p11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  <p:pic>
        <p:nvPicPr>
          <p:cNvPr id="88" name="Google Shape;88;p11" title="output-onlinepngtools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950" y="3590725"/>
            <a:ext cx="6057660" cy="297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1" title="output-onlinepngtools (4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47009" y="1674695"/>
            <a:ext cx="6505391" cy="65108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2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95" name="Google Shape;95;p12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96" name="Google Shape;96;p12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Helvetica Neue"/>
              <a:buNone/>
            </a:pPr>
            <a:r>
              <a:rPr lang="en-US">
                <a:solidFill>
                  <a:schemeClr val="lt1"/>
                </a:solidFill>
              </a:rPr>
              <a:t>Factor Engineering &amp; EDA</a:t>
            </a:r>
            <a:endParaRPr/>
          </a:p>
        </p:txBody>
      </p:sp>
      <p:sp>
        <p:nvSpPr>
          <p:cNvPr id="97" name="Google Shape;97;p12"/>
          <p:cNvSpPr txBox="1"/>
          <p:nvPr>
            <p:ph idx="3" type="body"/>
          </p:nvPr>
        </p:nvSpPr>
        <p:spPr>
          <a:xfrm>
            <a:off x="761999" y="1581811"/>
            <a:ext cx="11467800" cy="54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</a:rPr>
              <a:t>Engineer features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Momentum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Value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Size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chemeClr val="dk2"/>
                </a:solidFill>
              </a:rPr>
              <a:t>Fama-MacBeth Regression: </a:t>
            </a:r>
            <a:r>
              <a:rPr lang="en-US" sz="3000">
                <a:solidFill>
                  <a:srgbClr val="5A5F5E"/>
                </a:solidFill>
              </a:rPr>
              <a:t>Assess feature predictive power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Factor-Mimicking portfolios: risk exposure and contribution to return dynamics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Preprocessing: Weekly cross-sectional standardization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98" name="Google Shape;98;p12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3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04" name="Google Shape;104;p13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05" name="Google Shape;105;p13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lang="en-US"/>
              <a:t>Cross-Sectional ML Prediction</a:t>
            </a:r>
            <a:endParaRPr/>
          </a:p>
        </p:txBody>
      </p:sp>
      <p:sp>
        <p:nvSpPr>
          <p:cNvPr id="106" name="Google Shape;106;p13"/>
          <p:cNvSpPr txBox="1"/>
          <p:nvPr>
            <p:ph idx="3" type="body"/>
          </p:nvPr>
        </p:nvSpPr>
        <p:spPr>
          <a:xfrm>
            <a:off x="761999" y="1581811"/>
            <a:ext cx="11467800" cy="40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Goal: Rank assets each week to predict next-week performance for portfolio formation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Predict next-week excess return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Primary model: LightGBM, XGBoost, CatBoost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Ensemble: 0.4x LightGBM, 0.3x XGBoost, 0.3x CatBoost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Rolling training: 52-week lookback window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107" name="Google Shape;107;p13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14" name="Google Shape;114;p14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lang="en-US"/>
              <a:t>Portfolio strategy</a:t>
            </a:r>
            <a:endParaRPr/>
          </a:p>
        </p:txBody>
      </p:sp>
      <p:sp>
        <p:nvSpPr>
          <p:cNvPr id="115" name="Google Shape;115;p14"/>
          <p:cNvSpPr txBox="1"/>
          <p:nvPr>
            <p:ph idx="3" type="body"/>
          </p:nvPr>
        </p:nvSpPr>
        <p:spPr>
          <a:xfrm>
            <a:off x="761999" y="1581811"/>
            <a:ext cx="11467800" cy="2642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Sort each week by model prediction (excess return)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Strategy: long top 5, short bottom 5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Trading cost: 10 bps/side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Advantage: market (beta) neutral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116" name="Google Shape;116;p14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5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22" name="Google Shape;122;p15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23" name="Google Shape;123;p15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lang="en-US"/>
              <a:t>Future Work</a:t>
            </a:r>
            <a:endParaRPr/>
          </a:p>
        </p:txBody>
      </p:sp>
      <p:sp>
        <p:nvSpPr>
          <p:cNvPr id="124" name="Google Shape;124;p15"/>
          <p:cNvSpPr txBox="1"/>
          <p:nvPr>
            <p:ph idx="3" type="body"/>
          </p:nvPr>
        </p:nvSpPr>
        <p:spPr>
          <a:xfrm>
            <a:off x="761999" y="1581811"/>
            <a:ext cx="11467800" cy="1257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Better machine model / ensemble</a:t>
            </a:r>
            <a:endParaRPr sz="3000">
              <a:solidFill>
                <a:srgbClr val="5A5F5E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⊡"/>
            </a:pPr>
            <a:r>
              <a:rPr lang="en-US" sz="3000">
                <a:solidFill>
                  <a:srgbClr val="5A5F5E"/>
                </a:solidFill>
              </a:rPr>
              <a:t>Optimize hyperparameters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125" name="Google Shape;125;p15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6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31" name="Google Shape;131;p16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32" name="Google Shape;132;p16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lang="en-US"/>
              <a:t>Strategy Performance</a:t>
            </a:r>
            <a:endParaRPr/>
          </a:p>
        </p:txBody>
      </p:sp>
      <p:sp>
        <p:nvSpPr>
          <p:cNvPr id="133" name="Google Shape;133;p16"/>
          <p:cNvSpPr txBox="1"/>
          <p:nvPr>
            <p:ph idx="3" type="body"/>
          </p:nvPr>
        </p:nvSpPr>
        <p:spPr>
          <a:xfrm>
            <a:off x="761999" y="1581811"/>
            <a:ext cx="11467800" cy="67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</a:rPr>
              <a:t>Benchmark</a:t>
            </a:r>
            <a:r>
              <a:rPr lang="en-US" sz="3000">
                <a:solidFill>
                  <a:srgbClr val="5A5F5E"/>
                </a:solidFill>
              </a:rPr>
              <a:t>: BTC buy &amp; hold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Sharpe: 0.4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Return: 411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MDD: -0.66</a:t>
            </a:r>
            <a:endParaRPr sz="3000">
              <a:solidFill>
                <a:srgbClr val="5A5F5E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2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Char char="⊡"/>
            </a:pPr>
            <a:r>
              <a:rPr lang="en-US" sz="3000">
                <a:solidFill>
                  <a:schemeClr val="dk2"/>
                </a:solidFill>
              </a:rPr>
              <a:t>Ensemble model: </a:t>
            </a:r>
            <a:r>
              <a:rPr lang="en-US" sz="3000">
                <a:solidFill>
                  <a:schemeClr val="dk2"/>
                </a:solidFill>
              </a:rPr>
              <a:t>LightGBM, CatBoost, XGBoost</a:t>
            </a:r>
            <a:endParaRPr sz="3000">
              <a:solidFill>
                <a:schemeClr val="dk2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►"/>
            </a:pPr>
            <a:r>
              <a:rPr lang="en-US" sz="3000">
                <a:solidFill>
                  <a:schemeClr val="dk2"/>
                </a:solidFill>
              </a:rPr>
              <a:t>Sharpe: 0.4</a:t>
            </a:r>
            <a:endParaRPr sz="3000">
              <a:solidFill>
                <a:schemeClr val="dk2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►"/>
            </a:pPr>
            <a:r>
              <a:rPr lang="en-US" sz="3000">
                <a:solidFill>
                  <a:schemeClr val="dk2"/>
                </a:solidFill>
              </a:rPr>
              <a:t>Return: 1516</a:t>
            </a:r>
            <a:endParaRPr sz="3000">
              <a:solidFill>
                <a:schemeClr val="dk2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►"/>
            </a:pPr>
            <a:r>
              <a:rPr lang="en-US" sz="3000">
                <a:solidFill>
                  <a:schemeClr val="dk2"/>
                </a:solidFill>
              </a:rPr>
              <a:t>MDD: -0.669</a:t>
            </a:r>
            <a:endParaRPr sz="3000">
              <a:solidFill>
                <a:schemeClr val="dk2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►"/>
            </a:pPr>
            <a:r>
              <a:rPr lang="en-US" sz="3000">
                <a:solidFill>
                  <a:schemeClr val="dk2"/>
                </a:solidFill>
              </a:rPr>
              <a:t>Turnover: 0.7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34" name="Google Shape;134;p16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40" name="Google Shape;140;p17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41" name="Google Shape;141;p17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lang="en-US"/>
              <a:t>Strategy Performance</a:t>
            </a:r>
            <a:endParaRPr/>
          </a:p>
        </p:txBody>
      </p:sp>
      <p:sp>
        <p:nvSpPr>
          <p:cNvPr id="142" name="Google Shape;142;p17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  <p:pic>
        <p:nvPicPr>
          <p:cNvPr id="143" name="Google Shape;143;p17" title="output-onlinepngtools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7025" y="2726500"/>
            <a:ext cx="12377750" cy="4881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8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49" name="Google Shape;149;p18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50" name="Google Shape;150;p18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151" name="Google Shape;151;p18"/>
          <p:cNvSpPr txBox="1"/>
          <p:nvPr>
            <p:ph idx="3" type="body"/>
          </p:nvPr>
        </p:nvSpPr>
        <p:spPr>
          <a:xfrm>
            <a:off x="761999" y="1581811"/>
            <a:ext cx="11467800" cy="47202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chemeClr val="dk2"/>
                </a:solidFill>
              </a:rPr>
              <a:t>Highly complex task due to volatility, noise, non-linearity</a:t>
            </a:r>
            <a:endParaRPr sz="3000">
              <a:solidFill>
                <a:schemeClr val="dk2"/>
              </a:solidFill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⊡"/>
            </a:pPr>
            <a:r>
              <a:rPr lang="en-US" sz="3000">
                <a:solidFill>
                  <a:schemeClr val="dk2"/>
                </a:solidFill>
              </a:rPr>
              <a:t>Strategy:</a:t>
            </a:r>
            <a:endParaRPr sz="3000">
              <a:solidFill>
                <a:schemeClr val="dk2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►"/>
            </a:pPr>
            <a:r>
              <a:rPr lang="en-US" sz="3000">
                <a:solidFill>
                  <a:schemeClr val="dk2"/>
                </a:solidFill>
              </a:rPr>
              <a:t>High annual return</a:t>
            </a:r>
            <a:endParaRPr sz="3000">
              <a:solidFill>
                <a:schemeClr val="dk2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►"/>
            </a:pPr>
            <a:r>
              <a:rPr lang="en-US" sz="3000">
                <a:solidFill>
                  <a:schemeClr val="dk2"/>
                </a:solidFill>
              </a:rPr>
              <a:t>High volatility (risk)</a:t>
            </a:r>
            <a:endParaRPr sz="3000">
              <a:solidFill>
                <a:schemeClr val="dk2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►"/>
            </a:pPr>
            <a:r>
              <a:rPr lang="en-US" sz="3000">
                <a:solidFill>
                  <a:schemeClr val="dk2"/>
                </a:solidFill>
              </a:rPr>
              <a:t>=&gt; same sharpe ratio</a:t>
            </a:r>
            <a:endParaRPr sz="3000">
              <a:solidFill>
                <a:schemeClr val="dk2"/>
              </a:solidFill>
            </a:endParaRPr>
          </a:p>
          <a:p>
            <a:pPr indent="-1905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⊡"/>
            </a:pPr>
            <a:r>
              <a:rPr lang="en-US" sz="3000">
                <a:solidFill>
                  <a:schemeClr val="dk2"/>
                </a:solidFill>
              </a:rPr>
              <a:t>Traditional asset-pricing factors improves Machine Learning</a:t>
            </a:r>
            <a:endParaRPr sz="3000">
              <a:solidFill>
                <a:schemeClr val="dk2"/>
              </a:solidFill>
            </a:endParaRPr>
          </a:p>
          <a:p>
            <a:pPr indent="-1905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⊡"/>
            </a:pPr>
            <a:r>
              <a:rPr lang="en-US" sz="3000">
                <a:solidFill>
                  <a:schemeClr val="dk2"/>
                </a:solidFill>
              </a:rPr>
              <a:t>Still improvement in the volatility of the portfolio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52" name="Google Shape;152;p18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Title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9"/>
          <p:cNvSpPr txBox="1"/>
          <p:nvPr>
            <p:ph idx="1" type="body"/>
          </p:nvPr>
        </p:nvSpPr>
        <p:spPr>
          <a:xfrm>
            <a:off x="773350" y="2649953"/>
            <a:ext cx="11458200" cy="17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fontScale="85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ct val="100000"/>
              <a:buFont typeface="Helvetica Neue Light"/>
              <a:buNone/>
            </a:pPr>
            <a:r>
              <a:rPr lang="en-US"/>
              <a:t>Machine Learning Applications in Bitcoin: Forecasting, Trading, and Risk Management</a:t>
            </a:r>
            <a:endParaRPr/>
          </a:p>
        </p:txBody>
      </p:sp>
      <p:sp>
        <p:nvSpPr>
          <p:cNvPr id="158" name="Google Shape;158;p19"/>
          <p:cNvSpPr txBox="1"/>
          <p:nvPr/>
        </p:nvSpPr>
        <p:spPr>
          <a:xfrm>
            <a:off x="9519751" y="9237870"/>
            <a:ext cx="3163500" cy="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Helvetica Neue Light"/>
              <a:buNone/>
            </a:pPr>
            <a:r>
              <a:rPr lang="en-US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20251110 IDA Template Keynote.key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500"/>
              <a:buFont typeface="Helvetica Neue Light"/>
              <a:buNone/>
            </a:pPr>
            <a:r>
              <a:t/>
            </a:r>
            <a:endParaRPr sz="1500">
              <a:solidFill>
                <a:srgbClr val="D30F1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59" name="Google Shape;159;p19"/>
          <p:cNvSpPr txBox="1"/>
          <p:nvPr/>
        </p:nvSpPr>
        <p:spPr>
          <a:xfrm>
            <a:off x="773350" y="4410650"/>
            <a:ext cx="5495400" cy="661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Sam, Bill, Jannis (and HWTeng)</a:t>
            </a:r>
            <a:endParaRPr sz="3100">
              <a:solidFill>
                <a:schemeClr val="dk2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60" name="Google Shape;160;p19"/>
          <p:cNvSpPr txBox="1"/>
          <p:nvPr/>
        </p:nvSpPr>
        <p:spPr>
          <a:xfrm>
            <a:off x="729950" y="7036125"/>
            <a:ext cx="9156900" cy="158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National Yang-Ming Chiao-Tung University</a:t>
            </a:r>
            <a:endParaRPr sz="2800">
              <a:solidFill>
                <a:srgbClr val="D30F1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800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Machine Learning and FinTech</a:t>
            </a:r>
            <a:endParaRPr i="1" sz="2800">
              <a:solidFill>
                <a:srgbClr val="D30F1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35353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https://github.com/HWTeng-Teaching/202509-ML-FinTech</a:t>
            </a:r>
            <a:endParaRPr sz="2800">
              <a:solidFill>
                <a:srgbClr val="535353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161" name="Google Shape;161;p19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8912" y="7036125"/>
            <a:ext cx="1585177" cy="158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owroom">
  <a:themeElements>
    <a:clrScheme name="Showroom">
      <a:dk1>
        <a:srgbClr val="000000"/>
      </a:dk1>
      <a:lt1>
        <a:srgbClr val="FFFFFF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owroom">
  <a:themeElements>
    <a:clrScheme name="Showroom">
      <a:dk1>
        <a:srgbClr val="C4D3D3"/>
      </a:dk1>
      <a:lt1>
        <a:srgbClr val="D30F11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