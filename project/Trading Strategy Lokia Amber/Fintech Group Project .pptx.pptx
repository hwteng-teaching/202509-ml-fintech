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753600" cy="7315200"/>
  <p:notesSz cx="6858000" cy="9144000"/>
  <p:embeddedFontLst>
    <p:embeddedFont>
      <p:font typeface="Arial" charset="1" panose="020B0604020202020204"/>
      <p:regular r:id="rId20"/>
    </p:embeddedFont>
    <p:embeddedFont>
      <p:font typeface="Arial Bold" charset="1" panose="020B07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7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9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embeddings/oleObject4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4.png" Type="http://schemas.openxmlformats.org/officeDocument/2006/relationships/image"/><Relationship Id="rId5" Target="../embeddings/oleObject5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516088" y="172826"/>
            <a:ext cx="1778095" cy="1724655"/>
            <a:chOff x="0" y="0"/>
            <a:chExt cx="2370793" cy="22995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0836" cy="2299589"/>
            </a:xfrm>
            <a:custGeom>
              <a:avLst/>
              <a:gdLst/>
              <a:ahLst/>
              <a:cxnLst/>
              <a:rect r="r" b="b" t="t" l="l"/>
              <a:pathLst>
                <a:path h="2299589" w="2370836">
                  <a:moveTo>
                    <a:pt x="0" y="0"/>
                  </a:moveTo>
                  <a:lnTo>
                    <a:pt x="2370836" y="0"/>
                  </a:lnTo>
                  <a:lnTo>
                    <a:pt x="2370836" y="2299589"/>
                  </a:lnTo>
                  <a:lnTo>
                    <a:pt x="0" y="2299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09749" y="3741149"/>
            <a:ext cx="706603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spc="-82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250" spc="-82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o Thi Quynh Tram, Lai Chiu Lok, Huei-Wen Teng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749" y="6889173"/>
            <a:ext cx="569185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">
                <a:solidFill>
                  <a:srgbClr val="0A5694"/>
                </a:solidFill>
                <a:latin typeface="Arial"/>
                <a:ea typeface="Arial"/>
                <a:cs typeface="Arial"/>
                <a:sym typeface="Arial"/>
              </a:rPr>
              <a:t>https://www.overleaf.com/project/68c75b0aa8f3648d0d354604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9749" y="2517290"/>
            <a:ext cx="851971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spc="-58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The Tech Domino Effect: Volatility Transmission from Mega-Caps to the S&amp;P 500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70138" y="6946323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20251012 Linear Regession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63131" y="2765237"/>
            <a:ext cx="6027338" cy="3443117"/>
          </a:xfrm>
          <a:custGeom>
            <a:avLst/>
            <a:gdLst/>
            <a:ahLst/>
            <a:cxnLst/>
            <a:rect r="r" b="b" t="t" l="l"/>
            <a:pathLst>
              <a:path h="3443117" w="6027338">
                <a:moveTo>
                  <a:pt x="0" y="0"/>
                </a:moveTo>
                <a:lnTo>
                  <a:pt x="6027338" y="0"/>
                </a:lnTo>
                <a:lnTo>
                  <a:pt x="6027338" y="3443117"/>
                </a:lnTo>
                <a:lnTo>
                  <a:pt x="0" y="34431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5577" y="174128"/>
            <a:ext cx="819350" cy="25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0222" y="561149"/>
            <a:ext cx="52266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221" y="1237448"/>
            <a:ext cx="8187308" cy="1222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150" spc="-28">
                <a:solidFill>
                  <a:srgbClr val="00599E"/>
                </a:solidFill>
                <a:latin typeface="Arial"/>
                <a:ea typeface="Arial"/>
                <a:cs typeface="Arial"/>
                <a:sym typeface="Arial"/>
              </a:rPr>
              <a:t>⊡ Rising dominance of mega-cap tech firms in the market.</a:t>
            </a:r>
          </a:p>
          <a:p>
            <a:pPr algn="l">
              <a:lnSpc>
                <a:spcPts val="3225"/>
              </a:lnSpc>
            </a:pPr>
            <a:r>
              <a:rPr lang="en-US" sz="2150" spc="-28">
                <a:solidFill>
                  <a:srgbClr val="00599E"/>
                </a:solidFill>
                <a:latin typeface="Arial"/>
                <a:ea typeface="Arial"/>
                <a:cs typeface="Arial"/>
                <a:sym typeface="Arial"/>
              </a:rPr>
              <a:t>⊡ Potential volatility spillovers affecting overall market movements.</a:t>
            </a:r>
          </a:p>
          <a:p>
            <a:pPr algn="l">
              <a:lnSpc>
                <a:spcPts val="3225"/>
              </a:lnSpc>
            </a:pPr>
            <a:r>
              <a:rPr lang="en-US" sz="2150" spc="-28">
                <a:solidFill>
                  <a:srgbClr val="00599E"/>
                </a:solidFill>
                <a:latin typeface="Arial"/>
                <a:ea typeface="Arial"/>
                <a:cs typeface="Arial"/>
                <a:sym typeface="Arial"/>
              </a:rPr>
              <a:t>⊡ Need to assess systemic risk from concentrated market influence.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03769" y="1168098"/>
            <a:ext cx="683599" cy="501590"/>
          </a:xfrm>
          <a:custGeom>
            <a:avLst/>
            <a:gdLst/>
            <a:ahLst/>
            <a:cxnLst/>
            <a:rect r="r" b="b" t="t" l="l"/>
            <a:pathLst>
              <a:path h="501590" w="683599">
                <a:moveTo>
                  <a:pt x="0" y="0"/>
                </a:moveTo>
                <a:lnTo>
                  <a:pt x="683599" y="0"/>
                </a:lnTo>
                <a:lnTo>
                  <a:pt x="683599" y="501590"/>
                </a:lnTo>
                <a:lnTo>
                  <a:pt x="0" y="501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00222" y="561149"/>
            <a:ext cx="522669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0221" y="1189823"/>
            <a:ext cx="8187308" cy="235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304" indent="-232152" lvl="1">
              <a:lnSpc>
                <a:spcPts val="3763"/>
              </a:lnSpc>
              <a:buAutoNum type="arabicPeriod" startAt="1"/>
            </a:pPr>
            <a:r>
              <a:rPr lang="en-US" sz="2150" spc="-28">
                <a:solidFill>
                  <a:srgbClr val="0A5694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</a:p>
          <a:p>
            <a:pPr algn="l" marL="464304" indent="-232152" lvl="1">
              <a:lnSpc>
                <a:spcPts val="3763"/>
              </a:lnSpc>
              <a:buAutoNum type="arabicPeriod" startAt="1"/>
            </a:pPr>
            <a:r>
              <a:rPr lang="en-US" sz="2150" spc="-28">
                <a:solidFill>
                  <a:srgbClr val="0A5694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  <a:p>
            <a:pPr algn="l" marL="464304" indent="-232152" lvl="1">
              <a:lnSpc>
                <a:spcPts val="3763"/>
              </a:lnSpc>
              <a:buAutoNum type="arabicPeriod" startAt="1"/>
            </a:pPr>
            <a:r>
              <a:rPr lang="en-US" sz="2150" spc="-27">
                <a:solidFill>
                  <a:srgbClr val="0A5694"/>
                </a:solidFill>
                <a:latin typeface="Arial"/>
                <a:ea typeface="Arial"/>
                <a:cs typeface="Arial"/>
                <a:sym typeface="Arial"/>
              </a:rPr>
              <a:t>Multiple Linear Regression</a:t>
            </a:r>
          </a:p>
          <a:p>
            <a:pPr algn="l" marL="464304" indent="-232152" lvl="1">
              <a:lnSpc>
                <a:spcPts val="3763"/>
              </a:lnSpc>
              <a:buAutoNum type="arabicPeriod" startAt="1"/>
            </a:pPr>
            <a:r>
              <a:rPr lang="en-US" sz="2150" spc="-27">
                <a:solidFill>
                  <a:srgbClr val="0A5694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  <a:p>
            <a:pPr algn="l" marL="464304" indent="-232152" lvl="1">
              <a:lnSpc>
                <a:spcPts val="3763"/>
              </a:lnSpc>
              <a:buAutoNum type="arabicPeriod" startAt="1"/>
            </a:pPr>
            <a:r>
              <a:rPr lang="en-US" sz="2150" spc="-28">
                <a:solidFill>
                  <a:srgbClr val="0A5694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Preprocess_Data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1435" y="1703883"/>
            <a:ext cx="8437139" cy="378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3"/>
              </a:lnSpc>
              <a:spcBef>
                <a:spcPct val="0"/>
              </a:spcBef>
            </a:pPr>
            <a:r>
              <a:rPr lang="en-US" sz="2150" spc="-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Period: 2015–2024 (Daily)</a:t>
            </a:r>
          </a:p>
          <a:p>
            <a:pPr algn="l">
              <a:lnSpc>
                <a:spcPts val="3763"/>
              </a:lnSpc>
              <a:spcBef>
                <a:spcPct val="0"/>
              </a:spcBef>
            </a:pPr>
            <a:r>
              <a:rPr lang="en-US" sz="2150" spc="-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 Yahoo Finance (Adjusted Close)</a:t>
            </a:r>
          </a:p>
          <a:p>
            <a:pPr algn="l">
              <a:lnSpc>
                <a:spcPts val="3763"/>
              </a:lnSpc>
              <a:spcBef>
                <a:spcPct val="0"/>
              </a:spcBef>
            </a:pPr>
            <a:r>
              <a:rPr lang="en-US" sz="2150" spc="-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Assets analyzed:</a:t>
            </a:r>
          </a:p>
          <a:p>
            <a:pPr algn="l">
              <a:lnSpc>
                <a:spcPts val="3763"/>
              </a:lnSpc>
              <a:spcBef>
                <a:spcPct val="0"/>
              </a:spcBef>
            </a:pPr>
            <a:r>
              <a:rPr lang="en-US" sz="2150" spc="-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Apple (AAPL)</a:t>
            </a:r>
          </a:p>
          <a:p>
            <a:pPr algn="l">
              <a:lnSpc>
                <a:spcPts val="3763"/>
              </a:lnSpc>
              <a:spcBef>
                <a:spcPct val="0"/>
              </a:spcBef>
            </a:pPr>
            <a:r>
              <a:rPr lang="en-US" sz="2150" spc="-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Nvidia (NVDA)</a:t>
            </a:r>
          </a:p>
          <a:p>
            <a:pPr algn="l">
              <a:lnSpc>
                <a:spcPts val="3763"/>
              </a:lnSpc>
              <a:spcBef>
                <a:spcPct val="0"/>
              </a:spcBef>
            </a:pPr>
            <a:r>
              <a:rPr lang="en-US" sz="2150" spc="-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Tesla (TSLA)</a:t>
            </a:r>
          </a:p>
          <a:p>
            <a:pPr algn="l">
              <a:lnSpc>
                <a:spcPts val="3763"/>
              </a:lnSpc>
              <a:spcBef>
                <a:spcPct val="0"/>
              </a:spcBef>
            </a:pPr>
            <a:r>
              <a:rPr lang="en-US" sz="2150" spc="-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S&amp;P 500 (Benchmark)</a:t>
            </a:r>
          </a:p>
          <a:p>
            <a:pPr algn="l">
              <a:lnSpc>
                <a:spcPts val="3763"/>
              </a:lnSpc>
              <a:spcBef>
                <a:spcPct val="0"/>
              </a:spcBef>
            </a:pPr>
            <a:r>
              <a:rPr lang="en-US" sz="2150" spc="-2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Transformation: Log returns → Rolling Volatility (annualized)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595577" y="1903355"/>
          <a:ext cx="5657850" cy="2514600"/>
        </p:xfrm>
        <a:graphic>
          <a:graphicData uri="http://schemas.openxmlformats.org/presentationml/2006/ole">
            <p:oleObj imgW="6781800" imgH="364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Preprocess_Variables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595577" y="1395428"/>
          <a:ext cx="15087600" cy="2095500"/>
        </p:xfrm>
        <a:graphic>
          <a:graphicData uri="http://schemas.openxmlformats.org/presentationml/2006/ole">
            <p:oleObj imgW="18097500" imgH="51054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Preprocess_Descriptive Statistics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4745355"/>
            <a:ext cx="7349728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4392" indent="-222196" lvl="1">
              <a:lnSpc>
                <a:spcPts val="2469"/>
              </a:lnSpc>
              <a:buFont typeface="Arial"/>
              <a:buChar char="•"/>
            </a:pPr>
            <a:r>
              <a:rPr lang="en-US" b="true" sz="2058" spc="-3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All assets: Mean ≈ 0, high variance (Std highest for TSLA)</a:t>
            </a:r>
          </a:p>
          <a:p>
            <a:pPr algn="l" marL="444392" indent="-222196" lvl="1">
              <a:lnSpc>
                <a:spcPts val="2469"/>
              </a:lnSpc>
              <a:buFont typeface="Arial"/>
              <a:buChar char="•"/>
            </a:pPr>
            <a:r>
              <a:rPr lang="en-US" b="true" sz="2058" spc="-3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Evidence of non-normality:</a:t>
            </a:r>
          </a:p>
          <a:p>
            <a:pPr algn="l" marL="888784" indent="-296261" lvl="2">
              <a:lnSpc>
                <a:spcPts val="2469"/>
              </a:lnSpc>
              <a:buFont typeface="Arial"/>
              <a:buChar char="⚬"/>
            </a:pPr>
            <a:r>
              <a:rPr lang="en-US" b="true" sz="2058" spc="-3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Positive/negative skew → asymmetric risk</a:t>
            </a:r>
          </a:p>
          <a:p>
            <a:pPr algn="l" marL="888784" indent="-296261" lvl="2">
              <a:lnSpc>
                <a:spcPts val="2469"/>
              </a:lnSpc>
              <a:buFont typeface="Arial"/>
              <a:buChar char="⚬"/>
            </a:pPr>
            <a:r>
              <a:rPr lang="en-US" b="true" sz="2058" spc="-3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High kurtosis → heavy tails</a:t>
            </a:r>
          </a:p>
          <a:p>
            <a:pPr algn="l" marL="888784" indent="-296261" lvl="2">
              <a:lnSpc>
                <a:spcPts val="2469"/>
              </a:lnSpc>
              <a:buFont typeface="Arial"/>
              <a:buChar char="⚬"/>
            </a:pPr>
            <a:r>
              <a:rPr lang="en-US" b="true" sz="2058" spc="-3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JB-test → rejects normality (p = 0)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992041" y="1731229"/>
          <a:ext cx="3771900" cy="3143250"/>
        </p:xfrm>
        <a:graphic>
          <a:graphicData uri="http://schemas.openxmlformats.org/presentationml/2006/ole">
            <p:oleObj imgW="4521200" imgH="3886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Preprocess_Extreme Events (|z| &gt; 3)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5511158"/>
            <a:ext cx="829056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spc="-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TSLA &amp; AAPL most prone to tail shocks → candidates for volatility domino effects.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19300" y="2546747"/>
            <a:ext cx="5715000" cy="2221706"/>
          </a:xfrm>
          <a:custGeom>
            <a:avLst/>
            <a:gdLst/>
            <a:ahLst/>
            <a:cxnLst/>
            <a:rect r="r" b="b" t="t" l="l"/>
            <a:pathLst>
              <a:path h="2221706" w="5715000">
                <a:moveTo>
                  <a:pt x="0" y="0"/>
                </a:moveTo>
                <a:lnTo>
                  <a:pt x="5715000" y="0"/>
                </a:lnTo>
                <a:lnTo>
                  <a:pt x="5715000" y="2221706"/>
                </a:lnTo>
                <a:lnTo>
                  <a:pt x="0" y="2221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Preprocess_Rolling Volatility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787" y="5087090"/>
            <a:ext cx="868840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TSLA &amp; NVDA show sharp volatility spikes (2020–2021)</a:t>
            </a:r>
          </a:p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SPX volatility rises after mega-cap spikes → Possible contagion</a:t>
            </a:r>
          </a:p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AAPL = moderate, smoothed volatility (market stabilizer)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19300" y="2546747"/>
            <a:ext cx="5715000" cy="2221706"/>
          </a:xfrm>
          <a:custGeom>
            <a:avLst/>
            <a:gdLst/>
            <a:ahLst/>
            <a:cxnLst/>
            <a:rect r="r" b="b" t="t" l="l"/>
            <a:pathLst>
              <a:path h="2221706" w="5715000">
                <a:moveTo>
                  <a:pt x="0" y="0"/>
                </a:moveTo>
                <a:lnTo>
                  <a:pt x="5715000" y="0"/>
                </a:lnTo>
                <a:lnTo>
                  <a:pt x="5715000" y="2221706"/>
                </a:lnTo>
                <a:lnTo>
                  <a:pt x="0" y="2221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Preprocess_Rolling Volatility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787" y="5087090"/>
            <a:ext cx="868840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TSLA &amp; NVDA show sharp volatility spikes (2020–2021)</a:t>
            </a:r>
          </a:p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SPX volatility rises after mega-cap spikes → Possible contagion</a:t>
            </a:r>
          </a:p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AAPL = moderate, smoothed volatility (market stabilizer)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19300" y="2546747"/>
            <a:ext cx="5715000" cy="2221706"/>
          </a:xfrm>
          <a:custGeom>
            <a:avLst/>
            <a:gdLst/>
            <a:ahLst/>
            <a:cxnLst/>
            <a:rect r="r" b="b" t="t" l="l"/>
            <a:pathLst>
              <a:path h="2221706" w="5715000">
                <a:moveTo>
                  <a:pt x="0" y="0"/>
                </a:moveTo>
                <a:lnTo>
                  <a:pt x="5715000" y="0"/>
                </a:lnTo>
                <a:lnTo>
                  <a:pt x="5715000" y="2221706"/>
                </a:lnTo>
                <a:lnTo>
                  <a:pt x="0" y="22217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Preprocess_Rolling Volatility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3787" y="5087090"/>
            <a:ext cx="8688407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TSLA &amp; NVDA show sharp volatility spikes (2020–2021)</a:t>
            </a:r>
          </a:p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SPX volatility rises after mega-cap spikes → Possible contagion</a:t>
            </a:r>
          </a:p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AAPL = moderate, smoothed volatility (market stabilizer)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992041" y="1888209"/>
          <a:ext cx="3771900" cy="2514600"/>
        </p:xfrm>
        <a:graphic>
          <a:graphicData uri="http://schemas.openxmlformats.org/presentationml/2006/ole">
            <p:oleObj imgW="4521200" imgH="3263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Preprocess_Market Sensitivity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2711" y="5196470"/>
            <a:ext cx="829056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NVDA &amp; TSLA amplify market risk (“leveraged exposure”)</a:t>
            </a:r>
          </a:p>
          <a:p>
            <a:pPr algn="l" marL="474986" indent="-237493" lvl="1">
              <a:lnSpc>
                <a:spcPts val="2640"/>
              </a:lnSpc>
              <a:buFont typeface="Arial"/>
              <a:buChar char="•"/>
            </a:pPr>
            <a:r>
              <a:rPr lang="en-US" sz="22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Beta supports volatility transmission hypothesis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047875" y="2085975"/>
          <a:ext cx="5657850" cy="3143250"/>
        </p:xfrm>
        <a:graphic>
          <a:graphicData uri="http://schemas.openxmlformats.org/presentationml/2006/ole">
            <p:oleObj imgW="6781800" imgH="4267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Preprocess_Risk Metrics (MaxDD,CVaR)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2711" y="5391150"/>
            <a:ext cx="829056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31807" indent="-215904" lvl="1">
              <a:lnSpc>
                <a:spcPts val="2400"/>
              </a:lnSpc>
              <a:buFont typeface="Arial"/>
              <a:buChar char="•"/>
            </a:pPr>
            <a:r>
              <a:rPr lang="en-US" sz="2000" spc="-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Mega-caps have deeper crash risk → Potential systemic propagation.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33675" y="1428750"/>
            <a:ext cx="4286250" cy="3671813"/>
          </a:xfrm>
          <a:custGeom>
            <a:avLst/>
            <a:gdLst/>
            <a:ahLst/>
            <a:cxnLst/>
            <a:rect r="r" b="b" t="t" l="l"/>
            <a:pathLst>
              <a:path h="3671813" w="4286250">
                <a:moveTo>
                  <a:pt x="0" y="0"/>
                </a:moveTo>
                <a:lnTo>
                  <a:pt x="4286250" y="0"/>
                </a:lnTo>
                <a:lnTo>
                  <a:pt x="4286250" y="3671813"/>
                </a:lnTo>
                <a:lnTo>
                  <a:pt x="0" y="3671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5577" y="561149"/>
            <a:ext cx="842650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Preprocess_Correlation &amp; Co-Movement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5091038"/>
            <a:ext cx="775478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7" indent="-215904" lvl="1">
              <a:lnSpc>
                <a:spcPts val="2400"/>
              </a:lnSpc>
              <a:buFont typeface="Arial"/>
              <a:buChar char="•"/>
            </a:pPr>
            <a:r>
              <a:rPr lang="en-US" sz="2000" spc="-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AAPL highly correlated with SPX (~0.75)</a:t>
            </a:r>
          </a:p>
          <a:p>
            <a:pPr algn="l" marL="431807" indent="-215904" lvl="1">
              <a:lnSpc>
                <a:spcPts val="2400"/>
              </a:lnSpc>
              <a:buFont typeface="Arial"/>
              <a:buChar char="•"/>
            </a:pPr>
            <a:r>
              <a:rPr lang="en-US" sz="2000" spc="-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TSLA shows episodic decoupling (idiosyncratic risk)</a:t>
            </a:r>
          </a:p>
          <a:p>
            <a:pPr algn="l" marL="431807" indent="-215904" lvl="1">
              <a:lnSpc>
                <a:spcPts val="2400"/>
              </a:lnSpc>
              <a:buFont typeface="Arial"/>
              <a:buChar char="•"/>
            </a:pPr>
            <a:r>
              <a:rPr lang="en-US" sz="2000" spc="-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NVDA moderately correlated, rising in AI boom</a:t>
            </a:r>
          </a:p>
          <a:p>
            <a:pPr algn="l" marL="431807" indent="-215904" lvl="1">
              <a:lnSpc>
                <a:spcPts val="2400"/>
              </a:lnSpc>
              <a:buFont typeface="Arial"/>
              <a:buChar char="•"/>
            </a:pPr>
            <a:r>
              <a:rPr lang="en-US" sz="2000" spc="-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Conclusion: Strong integration but not perfect coupling → transmission, not redundancy.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9755981" cy="7316986"/>
            <a:chOff x="0" y="0"/>
            <a:chExt cx="13007975" cy="97559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07975" cy="9756013"/>
            </a:xfrm>
            <a:custGeom>
              <a:avLst/>
              <a:gdLst/>
              <a:ahLst/>
              <a:cxnLst/>
              <a:rect r="r" b="b" t="t" l="l"/>
              <a:pathLst>
                <a:path h="9756013" w="13007975">
                  <a:moveTo>
                    <a:pt x="0" y="0"/>
                  </a:moveTo>
                  <a:lnTo>
                    <a:pt x="13007975" y="0"/>
                  </a:lnTo>
                  <a:lnTo>
                    <a:pt x="13007975" y="9756013"/>
                  </a:lnTo>
                  <a:lnTo>
                    <a:pt x="0" y="9756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" t="0" r="-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486302" y="6244601"/>
            <a:ext cx="1051666" cy="911006"/>
          </a:xfrm>
          <a:custGeom>
            <a:avLst/>
            <a:gdLst/>
            <a:ahLst/>
            <a:cxnLst/>
            <a:rect r="r" b="b" t="t" l="l"/>
            <a:pathLst>
              <a:path h="911006" w="1051666">
                <a:moveTo>
                  <a:pt x="0" y="0"/>
                </a:moveTo>
                <a:lnTo>
                  <a:pt x="1051666" y="0"/>
                </a:lnTo>
                <a:lnTo>
                  <a:pt x="1051666" y="911006"/>
                </a:lnTo>
                <a:lnTo>
                  <a:pt x="0" y="911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5577" y="561149"/>
            <a:ext cx="8426503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spc="-9">
                <a:solidFill>
                  <a:srgbClr val="D30F11"/>
                </a:solidFill>
                <a:latin typeface="Arial"/>
                <a:ea typeface="Arial"/>
                <a:cs typeface="Arial"/>
                <a:sym typeface="Arial"/>
              </a:rPr>
              <a:t>Data Preprocess_Key Findings (Volatility Transmission)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5577" y="6955582"/>
            <a:ext cx="2307042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59"/>
              </a:lnSpc>
            </a:pPr>
            <a:r>
              <a:rPr lang="en-US" b="true" sz="1299" spc="-21">
                <a:solidFill>
                  <a:srgbClr val="D30F11"/>
                </a:solidFill>
                <a:latin typeface="Arial Bold"/>
                <a:ea typeface="Arial Bold"/>
                <a:cs typeface="Arial Bold"/>
                <a:sym typeface="Arial Bold"/>
              </a:rPr>
              <a:t>Linear Regession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577" y="174128"/>
            <a:ext cx="8193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-56">
                <a:solidFill>
                  <a:srgbClr val="5A5F5E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890" y="3093751"/>
            <a:ext cx="778787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6" indent="-226698" lvl="1">
              <a:lnSpc>
                <a:spcPts val="2520"/>
              </a:lnSpc>
              <a:buFont typeface="Arial"/>
              <a:buChar char="•"/>
            </a:pPr>
            <a:r>
              <a:rPr lang="en-US" sz="21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Evidence of fat tails, extreme risk, and high Beta in mega-caps</a:t>
            </a:r>
          </a:p>
          <a:p>
            <a:pPr algn="l" marL="453396" indent="-226698" lvl="1">
              <a:lnSpc>
                <a:spcPts val="2520"/>
              </a:lnSpc>
              <a:buFont typeface="Arial"/>
              <a:buChar char="•"/>
            </a:pPr>
            <a:r>
              <a:rPr lang="en-US" sz="21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S&amp;P500 volatility spikes lag mega-cap volatility surges</a:t>
            </a:r>
          </a:p>
          <a:p>
            <a:pPr algn="l" marL="453396" indent="-226698" lvl="1">
              <a:lnSpc>
                <a:spcPts val="2520"/>
              </a:lnSpc>
              <a:buFont typeface="Arial"/>
              <a:buChar char="•"/>
            </a:pPr>
            <a:r>
              <a:rPr lang="en-US" sz="2100" spc="-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 sector acts as a volatility leader, not follower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DAG1jxfoR2E</dc:identifier>
  <dcterms:modified xsi:type="dcterms:W3CDTF">2011-08-01T06:04:30Z</dcterms:modified>
  <cp:revision>1</cp:revision>
  <dc:title>Fintech Group Project .pptx</dc:title>
</cp:coreProperties>
</file>