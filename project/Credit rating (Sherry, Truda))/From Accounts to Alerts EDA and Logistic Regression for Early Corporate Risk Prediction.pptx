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1" r:id="rId11"/>
    <p:sldId id="267" r:id="rId12"/>
    <p:sldId id="268" r:id="rId13"/>
    <p:sldId id="269" r:id="rId14"/>
    <p:sldId id="270" r:id="rId15"/>
    <p:sldId id="260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50800" cap="flat">
              <a:noFill/>
              <a:miter lim="400000"/>
            </a:ln>
          </a:left>
          <a:right>
            <a:ln w="50800" cap="flat">
              <a:noFill/>
              <a:miter lim="400000"/>
            </a:ln>
          </a:right>
          <a:top>
            <a:ln w="50800" cap="flat">
              <a:noFill/>
              <a:miter lim="400000"/>
            </a:ln>
          </a:top>
          <a:bottom>
            <a:ln w="50800" cap="flat">
              <a:noFill/>
              <a:miter lim="400000"/>
            </a:ln>
          </a:bottom>
          <a:insideH>
            <a:ln w="50800" cap="flat">
              <a:noFill/>
              <a:miter lim="400000"/>
            </a:ln>
          </a:insideH>
          <a:insideV>
            <a:ln w="508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5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" name="Shape 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Early Warning Systems</a:t>
            </a:r>
            <a:r>
              <a:rPr lang="en-US" altLang="zh-TW" dirty="0"/>
              <a:t> – Detect financial distress before it happens to help firms and investors act early.</a:t>
            </a:r>
          </a:p>
          <a:p>
            <a:r>
              <a:rPr lang="en-US" altLang="zh-TW" b="1" dirty="0"/>
              <a:t>Transparency and Interpretability</a:t>
            </a:r>
            <a:r>
              <a:rPr lang="en-US" altLang="zh-TW" dirty="0"/>
              <a:t> – Use clear, explainable models instead of black-box predictions.</a:t>
            </a:r>
          </a:p>
          <a:p>
            <a:r>
              <a:rPr lang="en-US" altLang="zh-TW" b="1" dirty="0"/>
              <a:t>Publicly Available Data</a:t>
            </a:r>
            <a:r>
              <a:rPr lang="en-US" altLang="zh-TW" dirty="0"/>
              <a:t> – Build reliable insights using only open financial statement information.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442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mplate Present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t>Title</a:t>
            </a:r>
          </a:p>
        </p:txBody>
      </p:sp>
      <p:sp>
        <p:nvSpPr>
          <p:cNvPr id="1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esentation Title"/>
          <p:cNvSpPr txBox="1">
            <a:spLocks noGrp="1"/>
          </p:cNvSpPr>
          <p:nvPr>
            <p:ph type="body" sz="quarter" idx="21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Outline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Outline</a:t>
            </a:r>
          </a:p>
        </p:txBody>
      </p:sp>
      <p:sp>
        <p:nvSpPr>
          <p:cNvPr id="25" name="文字"/>
          <p:cNvSpPr txBox="1">
            <a:spLocks noGrp="1"/>
          </p:cNvSpPr>
          <p:nvPr>
            <p:ph type="body" sz="quarter" idx="22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endParaRPr/>
          </a:p>
        </p:txBody>
      </p:sp>
      <p:sp>
        <p:nvSpPr>
          <p:cNvPr id="26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27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 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" name="線條"/>
          <p:cNvSpPr/>
          <p:nvPr/>
        </p:nvSpPr>
        <p:spPr>
          <a:xfrm>
            <a:off x="761999" y="624879"/>
            <a:ext cx="114742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" name="Sec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55809" y="213147"/>
            <a:ext cx="9502858" cy="399033"/>
          </a:xfrm>
          <a:prstGeom prst="rect">
            <a:avLst/>
          </a:prstGeom>
        </p:spPr>
        <p:txBody>
          <a:bodyPr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Section Title</a:t>
            </a:r>
          </a:p>
        </p:txBody>
      </p:sp>
      <p:sp>
        <p:nvSpPr>
          <p:cNvPr id="38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9" name="Use…"/>
          <p:cNvSpPr txBox="1">
            <a:spLocks noGrp="1"/>
          </p:cNvSpPr>
          <p:nvPr>
            <p:ph type="body" sz="half" idx="23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t>Use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t>All</a:t>
            </a:r>
          </a:p>
          <a:p>
            <a:pPr marL="889000" lvl="1" indent="-444500">
              <a:lnSpc>
                <a:spcPts val="4500"/>
              </a:lnSpc>
              <a:buClr>
                <a:srgbClr val="00599E"/>
              </a:buClr>
              <a:buSzPct val="80000"/>
              <a:buChar char="►"/>
              <a:defRPr sz="3000">
                <a:solidFill>
                  <a:srgbClr val="5A5F5E"/>
                </a:solidFill>
              </a:defRPr>
            </a:pPr>
            <a:r>
              <a:t>w2</a:t>
            </a:r>
          </a:p>
          <a:p>
            <a:pPr marL="889000" lvl="1" indent="-444500">
              <a:lnSpc>
                <a:spcPts val="4500"/>
              </a:lnSpc>
              <a:buClr>
                <a:srgbClr val="00599E"/>
              </a:buClr>
              <a:buSzPct val="80000"/>
              <a:buChar char="►"/>
              <a:defRPr sz="3000">
                <a:solidFill>
                  <a:srgbClr val="5A5F5E"/>
                </a:solidFill>
              </a:defRPr>
            </a:pPr>
            <a:r>
              <a:t>w3</a:t>
            </a:r>
          </a:p>
        </p:txBody>
      </p:sp>
      <p:sp>
        <p:nvSpPr>
          <p:cNvPr id="40" name="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Title</a:t>
            </a:r>
          </a:p>
        </p:txBody>
      </p:sp>
      <p:sp>
        <p:nvSpPr>
          <p:cNvPr id="41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42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50" y="230380"/>
            <a:ext cx="2370215" cy="229898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4" name="Your Name (HWTeng)"/>
          <p:cNvSpPr txBox="1"/>
          <p:nvPr/>
        </p:nvSpPr>
        <p:spPr>
          <a:xfrm>
            <a:off x="773399" y="4563964"/>
            <a:ext cx="11458002" cy="71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>
            <a:lvl1pPr defTabSz="457200">
              <a:defRPr sz="3000">
                <a:solidFill>
                  <a:srgbClr val="5A5F5E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5A5F5E"/>
                </a:solidFill>
              </a:rPr>
              <a:t>Yun-Hsuan Chang, Chia-Yen Chang, Huei-Wen Teng</a:t>
            </a:r>
            <a:endParaRPr dirty="0">
              <a:solidFill>
                <a:srgbClr val="5A5F5E"/>
              </a:solidFill>
            </a:endParaRPr>
          </a:p>
        </p:txBody>
      </p:sp>
      <p:sp>
        <p:nvSpPr>
          <p:cNvPr id="5" name="Your affiliation…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dirty="0">
              <a:solidFill>
                <a:srgbClr val="0A5694"/>
              </a:solidFill>
              <a:hlinkClick r:id="" action="ppaction://noaction"/>
            </a:endParaRPr>
          </a:p>
        </p:txBody>
      </p:sp>
      <p:sp>
        <p:nvSpPr>
          <p:cNvPr id="6" name="大標題文字"/>
          <p:cNvSpPr txBox="1">
            <a:spLocks noGrp="1"/>
          </p:cNvSpPr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大標題文字</a:t>
            </a:r>
          </a:p>
        </p:txBody>
      </p:sp>
      <p:sp>
        <p:nvSpPr>
          <p:cNvPr id="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 algn="ctr">
              <a:defRPr sz="16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N Template"/>
          <p:cNvSpPr txBox="1">
            <a:spLocks noGrp="1"/>
          </p:cNvSpPr>
          <p:nvPr>
            <p:ph type="body" idx="21"/>
          </p:nvPr>
        </p:nvSpPr>
        <p:spPr>
          <a:xfrm>
            <a:off x="704078" y="2720748"/>
            <a:ext cx="10157886" cy="1760787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US" dirty="0"/>
              <a:t>From Accounts to Alerts: EDA and Logistic Regression</a:t>
            </a:r>
            <a:r>
              <a:rPr lang="zh-TW" altLang="en-US" dirty="0"/>
              <a:t> </a:t>
            </a:r>
            <a:r>
              <a:rPr lang="en-US" dirty="0"/>
              <a:t>for Early Corporate Risk Prediction</a:t>
            </a:r>
            <a:endParaRPr dirty="0"/>
          </a:p>
        </p:txBody>
      </p:sp>
      <p:sp>
        <p:nvSpPr>
          <p:cNvPr id="52" name="20240125 IDA Template Keynote.key"/>
          <p:cNvSpPr txBox="1"/>
          <p:nvPr/>
        </p:nvSpPr>
        <p:spPr>
          <a:xfrm>
            <a:off x="9638782" y="9237870"/>
            <a:ext cx="3163634" cy="32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normAutofit lnSpcReduction="10000"/>
          </a:bodyPr>
          <a:lstStyle>
            <a:lvl1pPr>
              <a:defRPr sz="1500"/>
            </a:lvl1pPr>
          </a:lstStyle>
          <a:p>
            <a:r>
              <a:rPr dirty="0"/>
              <a:t>202</a:t>
            </a:r>
            <a:r>
              <a:rPr lang="en-US" altLang="zh-TW" dirty="0"/>
              <a:t>5/10/13</a:t>
            </a:r>
            <a:endParaRPr dirty="0"/>
          </a:p>
        </p:txBody>
      </p:sp>
      <p:pic>
        <p:nvPicPr>
          <p:cNvPr id="55" name="VenTeng_Webpage_QRCode.png" descr="VenTeng_Webpage_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865" y="3251819"/>
            <a:ext cx="1891682" cy="1891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eingesetztes-Bild.tiff" descr="eingesetztes-Bild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18" y="7428868"/>
            <a:ext cx="3091498" cy="83798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FIMA_transparent.png" descr="FIMA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875" y="5628572"/>
            <a:ext cx="4769663" cy="1315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DA Template"/>
          <p:cNvSpPr txBox="1">
            <a:spLocks noGrp="1"/>
          </p:cNvSpPr>
          <p:nvPr>
            <p:ph type="body" idx="21"/>
          </p:nvPr>
        </p:nvSpPr>
        <p:spPr>
          <a:xfrm>
            <a:off x="761999" y="8918159"/>
            <a:ext cx="10712291" cy="707886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sp>
        <p:nvSpPr>
          <p:cNvPr id="68" name="Motivation ✓…"/>
          <p:cNvSpPr txBox="1">
            <a:spLocks noGrp="1"/>
          </p:cNvSpPr>
          <p:nvPr>
            <p:ph type="body" idx="22"/>
          </p:nvPr>
        </p:nvSpPr>
        <p:spPr>
          <a:xfrm>
            <a:off x="761999" y="1581811"/>
            <a:ext cx="11467783" cy="20835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dirty="0"/>
              <a:t>Motivation </a:t>
            </a:r>
            <a:endParaRPr dirty="0">
              <a:latin typeface="Lucida Grande"/>
              <a:ea typeface="Lucida Grande"/>
              <a:cs typeface="Lucida Grande"/>
              <a:sym typeface="Lucida Grande"/>
            </a:endParaRPr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dirty="0"/>
              <a:t>Data</a:t>
            </a:r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dirty="0"/>
              <a:t>Methodology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60" name="Motiv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61" name="Motivation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Motivation</a:t>
            </a:r>
          </a:p>
        </p:txBody>
      </p:sp>
      <p:sp>
        <p:nvSpPr>
          <p:cNvPr id="62" name="Motivate your presentation on 3-10 slides…"/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1766125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Early Warning Systems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Transparency and Interpretability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Publicly Available Data</a:t>
            </a:r>
            <a:endParaRPr dirty="0"/>
          </a:p>
        </p:txBody>
      </p:sp>
      <p:sp>
        <p:nvSpPr>
          <p:cNvPr id="8" name="IDA Template">
            <a:extLst>
              <a:ext uri="{FF2B5EF4-FFF2-40B4-BE49-F238E27FC236}">
                <a16:creationId xmlns:a16="http://schemas.microsoft.com/office/drawing/2014/main" id="{794F6DA3-4E42-E6CA-A00F-23CCF3E9EF18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678128" y="9113463"/>
            <a:ext cx="11025916" cy="50517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1" name="Section 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3" name="Use…"/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1766125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companies: 23033 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features: 21 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Class imbalance (Y=1 ratio): 0.0470</a:t>
            </a: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F86F1AF-BC63-B3EB-16FC-4AF6ED08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09" y="4328057"/>
            <a:ext cx="5619750" cy="3714750"/>
          </a:xfrm>
          <a:prstGeom prst="rect">
            <a:avLst/>
          </a:prstGeom>
        </p:spPr>
      </p:pic>
      <p:sp>
        <p:nvSpPr>
          <p:cNvPr id="6" name="IDA Template">
            <a:extLst>
              <a:ext uri="{FF2B5EF4-FFF2-40B4-BE49-F238E27FC236}">
                <a16:creationId xmlns:a16="http://schemas.microsoft.com/office/drawing/2014/main" id="{6470635D-C994-E380-FFD7-731852459CD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563563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1AFCFB-CDC4-7AFF-54A7-1E6570D44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229" y="4276824"/>
            <a:ext cx="4819650" cy="38360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EB4D-F1AC-2559-0773-BF929878B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71C3BEB-BA6C-BD7A-AF2B-E47DA7F259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0D0B067B-516B-99AE-A6AD-3757D012677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4464BEA0-7C8F-7604-A2E6-E5269A9B6BAA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B2BBC06F-7683-0491-00BE-AD456A6512CE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1189043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Average missing rate across all features: 18.17%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Impute: SIC2×year median (train-only); else overall train median</a:t>
            </a:r>
            <a:endParaRPr dirty="0"/>
          </a:p>
        </p:txBody>
      </p:sp>
      <p:sp>
        <p:nvSpPr>
          <p:cNvPr id="6" name="IDA Template">
            <a:extLst>
              <a:ext uri="{FF2B5EF4-FFF2-40B4-BE49-F238E27FC236}">
                <a16:creationId xmlns:a16="http://schemas.microsoft.com/office/drawing/2014/main" id="{19C06A94-387A-C3E9-AD34-D6AB31A3B8A1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563563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729A982-BA2F-6423-78B9-E86AD89C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09" y="2980810"/>
            <a:ext cx="11188684" cy="555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2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6D80-300C-D10F-E604-249341D6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1BBA82E1-58A1-DD23-B285-790B0BB6DA6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512C1A39-6B6E-9177-C578-6BD76114C193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F31BEAAD-4FA1-558E-0990-D6A7B493947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06A568DD-890E-2BDA-397F-C247C01963D6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3512801" cy="611962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heavy-tailed and asymmetric distributions</a:t>
            </a:r>
          </a:p>
        </p:txBody>
      </p:sp>
      <p:sp>
        <p:nvSpPr>
          <p:cNvPr id="6" name="IDA Template">
            <a:extLst>
              <a:ext uri="{FF2B5EF4-FFF2-40B4-BE49-F238E27FC236}">
                <a16:creationId xmlns:a16="http://schemas.microsoft.com/office/drawing/2014/main" id="{11BAF146-A789-8D33-D26B-4019C08EB401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963169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E3278DD-E05B-6704-9DCB-F1C3148F9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09" y="2403729"/>
            <a:ext cx="9371612" cy="646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715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4821-1BF2-0A14-2EDE-0074DAE3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892D5B9F-E300-9C86-AE13-D15B181464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56395910-9C2D-474A-34A8-A422C76677E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1F202838-73AF-F78B-38B6-62A540CD8A3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F65BCB89-AE40-D8FB-D3E2-F4B04696FC8C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3512801" cy="1766125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Most variables are highly skewed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Several variables exhibit extreme kurtosis (&gt;10)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apply </a:t>
            </a:r>
            <a:r>
              <a:rPr lang="en-US" altLang="zh-TW" sz="3000" dirty="0" err="1"/>
              <a:t>winsorization</a:t>
            </a:r>
            <a:r>
              <a:rPr lang="en-US" altLang="zh-TW" sz="3000" dirty="0"/>
              <a:t> and log-transform before model estimation</a:t>
            </a:r>
            <a:endParaRPr dirty="0"/>
          </a:p>
        </p:txBody>
      </p:sp>
      <p:sp>
        <p:nvSpPr>
          <p:cNvPr id="6" name="IDA Template">
            <a:extLst>
              <a:ext uri="{FF2B5EF4-FFF2-40B4-BE49-F238E27FC236}">
                <a16:creationId xmlns:a16="http://schemas.microsoft.com/office/drawing/2014/main" id="{6594CA1E-E7D1-8728-40D8-19082CF59FBF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563563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5" name="圖片 4" descr="一張含有 文字, 螢幕擷取畫面, 黑與白, 黑色 的圖片">
            <a:extLst>
              <a:ext uri="{FF2B5EF4-FFF2-40B4-BE49-F238E27FC236}">
                <a16:creationId xmlns:a16="http://schemas.microsoft.com/office/drawing/2014/main" id="{8F871D8A-1D71-FD57-12F4-5C9B0DF4D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14" y="3893127"/>
            <a:ext cx="11938562" cy="373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722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7D28C-9AE9-2668-8494-26386A7B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41D8510-ECFF-CDB8-5D8B-4DB379147E7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7AE69530-9E67-3CDE-E6BA-0BC3F1ABE090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67EE47AA-F30E-1DBD-3B23-A6CA49F39EE9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6" name="IDA Template">
            <a:extLst>
              <a:ext uri="{FF2B5EF4-FFF2-40B4-BE49-F238E27FC236}">
                <a16:creationId xmlns:a16="http://schemas.microsoft.com/office/drawing/2014/main" id="{85ACD539-0DB4-9E53-796D-5BA97F19E5E9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563563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E713E9-A120-41CF-B8A7-32B24099C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716" y="1066927"/>
            <a:ext cx="7979248" cy="77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50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59A29-31EF-9669-8D73-0634C485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F3F56323-34E1-698E-231C-39B247BE6B6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F0E95D63-E2EA-BE33-76B6-20542CD6793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504D93C6-4E06-E86D-4CD6-539FBB05BA46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Data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14DDA9E1-9587-CB09-4C88-3CAB1866E095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3512801" cy="1766702"/>
          </a:xfrm>
          <a:prstGeom prst="rect">
            <a:avLst/>
          </a:prstGeom>
        </p:spPr>
        <p:txBody>
          <a:bodyPr/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Positive correlations among size-related variables (</a:t>
            </a:r>
            <a:r>
              <a:rPr lang="en-US" altLang="zh-TW" sz="3000" i="1" dirty="0"/>
              <a:t>at</a:t>
            </a:r>
            <a:r>
              <a:rPr lang="en-US" altLang="zh-TW" sz="3000" dirty="0"/>
              <a:t>, </a:t>
            </a:r>
            <a:r>
              <a:rPr lang="en-US" altLang="zh-TW" sz="3000" i="1" dirty="0" err="1"/>
              <a:t>lt</a:t>
            </a:r>
            <a:r>
              <a:rPr lang="en-US" altLang="zh-TW" sz="3000" dirty="0"/>
              <a:t>, </a:t>
            </a:r>
            <a:r>
              <a:rPr lang="en-US" altLang="zh-TW" sz="3000" i="1" dirty="0"/>
              <a:t>sale</a:t>
            </a:r>
            <a:r>
              <a:rPr lang="en-US" altLang="zh-TW" sz="3000" dirty="0"/>
              <a:t>, </a:t>
            </a:r>
            <a:r>
              <a:rPr lang="en-US" altLang="zh-TW" sz="3000" i="1" dirty="0" err="1"/>
              <a:t>ni</a:t>
            </a:r>
            <a:r>
              <a:rPr lang="en-US" altLang="zh-TW" sz="3000" dirty="0"/>
              <a:t>)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ROA inversely related to LEV (higher leverage, lower profitability)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 No major multicollinearity after data transformation</a:t>
            </a:r>
            <a:endParaRPr dirty="0"/>
          </a:p>
        </p:txBody>
      </p:sp>
      <p:sp>
        <p:nvSpPr>
          <p:cNvPr id="6" name="IDA Template">
            <a:extLst>
              <a:ext uri="{FF2B5EF4-FFF2-40B4-BE49-F238E27FC236}">
                <a16:creationId xmlns:a16="http://schemas.microsoft.com/office/drawing/2014/main" id="{6308DC09-B9E4-04C4-DC24-7378FDDE873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563563" y="9022928"/>
            <a:ext cx="11025916" cy="5175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C6BDA59-C556-E1E6-8C05-1EED47B2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028" y="3403178"/>
            <a:ext cx="72485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6942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C653-E375-A0D0-02D7-F673C539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C4C17262-3720-2B42-2ED3-0DCC1553978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E5BDA83B-248E-8F2B-DA04-307A161E1FC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73CD43B5-6D2F-AD12-DB79-37BE4540870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CC853FD6-0465-4DD4-17F8-D48C887E6B87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2915222"/>
          </a:xfrm>
          <a:prstGeom prst="rect">
            <a:avLst/>
          </a:prstGeom>
        </p:spPr>
        <p:txBody>
          <a:bodyPr/>
          <a:lstStyle/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zh-TW" altLang="zh-TW" sz="2800" dirty="0">
                <a:solidFill>
                  <a:srgbClr val="000000"/>
                </a:solidFill>
                <a:latin typeface="Arial" panose="020B0604020202020204" pitchFamily="34" charset="0"/>
              </a:rPr>
              <a:t>USA annual financial statements (2019–2024) + SEC Form 25 delisting labels</a:t>
            </a:r>
            <a:endParaRPr lang="en-US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zh-TW" altLang="zh-TW" sz="2800" dirty="0">
                <a:solidFill>
                  <a:srgbClr val="000000"/>
                </a:solidFill>
                <a:latin typeface="Arial" panose="020B0604020202020204" pitchFamily="34" charset="0"/>
              </a:rPr>
              <a:t>Label: Y=1 if a Form 25 becomes effective within 400 days after the financial statement date</a:t>
            </a:r>
            <a:endParaRPr lang="en-US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zh-TW" altLang="zh-TW" sz="2800" dirty="0">
                <a:solidFill>
                  <a:srgbClr val="000000"/>
                </a:solidFill>
                <a:latin typeface="Arial" panose="020B0604020202020204" pitchFamily="34" charset="0"/>
              </a:rPr>
              <a:t>Train: 2019–2023, Test: 2024</a:t>
            </a:r>
          </a:p>
        </p:txBody>
      </p:sp>
      <p:sp>
        <p:nvSpPr>
          <p:cNvPr id="3" name="IDA Template">
            <a:extLst>
              <a:ext uri="{FF2B5EF4-FFF2-40B4-BE49-F238E27FC236}">
                <a16:creationId xmlns:a16="http://schemas.microsoft.com/office/drawing/2014/main" id="{0F750999-EDE3-6DDD-1BD2-68F77974F6B3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963" y="9236075"/>
            <a:ext cx="10747904" cy="39903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59644960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9A1D-5A92-2A72-03C9-3E623267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3373337-BC15-3B25-A66B-E3B3DAAC024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BCCAF506-5B49-4BA6-3774-CA5DF6A0C68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B5D01536-E202-C744-755E-D8F41AE4C2B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Benchmark Model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A4B6359E-4757-49C6-F0CE-7632598B4AEF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1189621"/>
          </a:xfrm>
          <a:prstGeom prst="rect">
            <a:avLst/>
          </a:prstGeom>
        </p:spPr>
        <p:txBody>
          <a:bodyPr/>
          <a:lstStyle/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Penalized logistic regression (L1 / Lasso and L2 / Ridge variants)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Penalization reduces overfitting and selects relevant predictors</a:t>
            </a:r>
            <a:endParaRPr lang="zh-TW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IDA Template">
            <a:extLst>
              <a:ext uri="{FF2B5EF4-FFF2-40B4-BE49-F238E27FC236}">
                <a16:creationId xmlns:a16="http://schemas.microsoft.com/office/drawing/2014/main" id="{D3865D02-F0D2-D51B-3084-FC9DB5EDA8F1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963" y="9236075"/>
            <a:ext cx="10747904" cy="39903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334454741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AD45-631F-8C11-7992-E4366DF4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2E95ABB-E22A-ED43-6C9F-33E6CD16C7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BA3E779F-31D6-A215-A871-3DB6D391A26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B80B9957-B8D9-804C-2F6F-AF98CDDA693D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Class Imbalance Handling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65F8099B-4DD6-3AEB-7219-73504F3396B8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1189621"/>
          </a:xfrm>
          <a:prstGeom prst="rect">
            <a:avLst/>
          </a:prstGeom>
        </p:spPr>
        <p:txBody>
          <a:bodyPr/>
          <a:lstStyle/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Synthetic Minority Oversampling Technique (SMOTE) applied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Cost-sensitive weighting adjusts loss for rare default events</a:t>
            </a:r>
            <a:endParaRPr lang="zh-TW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IDA Template">
            <a:extLst>
              <a:ext uri="{FF2B5EF4-FFF2-40B4-BE49-F238E27FC236}">
                <a16:creationId xmlns:a16="http://schemas.microsoft.com/office/drawing/2014/main" id="{42CF9F90-6813-F019-42B5-9BE33E52E6BC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963" y="9236075"/>
            <a:ext cx="10747904" cy="39903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4040286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CE7D-4017-6DD9-F178-95AA4186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C7C71EF-029A-B8A5-3604-FAA96409356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987E19D8-F844-E99B-08C7-371A6920724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A5234996-780E-DBFC-38D8-7F34CE4AA61F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Design of Research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E3DD04F0-307D-4363-8F80-96D88C690544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3497945"/>
          </a:xfrm>
          <a:prstGeom prst="rect">
            <a:avLst/>
          </a:prstGeom>
        </p:spPr>
        <p:txBody>
          <a:bodyPr/>
          <a:lstStyle/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EDA and Feature Engineering: cleaning, transforming, visualizing ratios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Model Estimation: penalized logistic regression stratified by sector and time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Evaluation and Interpretation: performance metrics and SHAP analysis</a:t>
            </a:r>
            <a:endParaRPr lang="zh-TW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IDA Template">
            <a:extLst>
              <a:ext uri="{FF2B5EF4-FFF2-40B4-BE49-F238E27FC236}">
                <a16:creationId xmlns:a16="http://schemas.microsoft.com/office/drawing/2014/main" id="{8CE897F9-F004-59FA-368A-5E3B663E4D8F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963" y="9236075"/>
            <a:ext cx="10747904" cy="39903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24299815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BD589-E1D0-6F05-F577-89571CAA9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89AEC1B-0634-BD90-3F9C-50CF8C72B99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71" name="Section Title">
            <a:extLst>
              <a:ext uri="{FF2B5EF4-FFF2-40B4-BE49-F238E27FC236}">
                <a16:creationId xmlns:a16="http://schemas.microsoft.com/office/drawing/2014/main" id="{83C40AFF-8525-2DFC-1556-1759501264F0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72" name="Slide Title">
            <a:extLst>
              <a:ext uri="{FF2B5EF4-FFF2-40B4-BE49-F238E27FC236}">
                <a16:creationId xmlns:a16="http://schemas.microsoft.com/office/drawing/2014/main" id="{AC0FE69C-2CD6-A64D-4FAE-7CB8CFEEEA5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dirty="0"/>
              <a:t>Performance Measures</a:t>
            </a:r>
            <a:endParaRPr dirty="0"/>
          </a:p>
        </p:txBody>
      </p:sp>
      <p:sp>
        <p:nvSpPr>
          <p:cNvPr id="73" name="Use…">
            <a:extLst>
              <a:ext uri="{FF2B5EF4-FFF2-40B4-BE49-F238E27FC236}">
                <a16:creationId xmlns:a16="http://schemas.microsoft.com/office/drawing/2014/main" id="{17106665-084E-0473-B4E2-270349CA6CA9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2920864"/>
          </a:xfrm>
          <a:prstGeom prst="rect">
            <a:avLst/>
          </a:prstGeom>
        </p:spPr>
        <p:txBody>
          <a:bodyPr/>
          <a:lstStyle/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Discrimination: AUC / ROC, H-measure, and Precision–Recall curves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Calibration: Brier score and calibration plots</a:t>
            </a:r>
          </a:p>
          <a:p>
            <a:pPr marL="444500" indent="-444500" rtl="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 dirty="0"/>
              <a:t>Threshold-based metrics: accuracy, sensitivity, specificity, F1-score</a:t>
            </a:r>
            <a:endParaRPr lang="zh-TW" altLang="zh-TW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IDA Template">
            <a:extLst>
              <a:ext uri="{FF2B5EF4-FFF2-40B4-BE49-F238E27FC236}">
                <a16:creationId xmlns:a16="http://schemas.microsoft.com/office/drawing/2014/main" id="{16254FDB-3AED-3698-2CF0-1414E1CE9438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963" y="9236075"/>
            <a:ext cx="10747904" cy="399033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From Accounts to Alerts: EDA and Logistic Regression for Early Corporate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8687411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N Template"/>
          <p:cNvSpPr txBox="1">
            <a:spLocks noGrp="1"/>
          </p:cNvSpPr>
          <p:nvPr>
            <p:ph type="body" idx="21"/>
          </p:nvPr>
        </p:nvSpPr>
        <p:spPr>
          <a:xfrm>
            <a:off x="773350" y="2649953"/>
            <a:ext cx="11458100" cy="1760787"/>
          </a:xfrm>
          <a:prstGeom prst="rect">
            <a:avLst/>
          </a:prstGeom>
        </p:spPr>
        <p:txBody>
          <a:bodyPr/>
          <a:lstStyle/>
          <a:p>
            <a:r>
              <a:rPr lang="en-US" altLang="zh-TW" sz="4300" dirty="0"/>
              <a:t>From Accounts to Alerts: EDA and Logistic Regression for Early Corporate Risk Prediction</a:t>
            </a:r>
          </a:p>
        </p:txBody>
      </p:sp>
      <p:sp>
        <p:nvSpPr>
          <p:cNvPr id="77" name="20240125 IDA Template Keynote.key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normAutofit lnSpcReduction="10000"/>
          </a:bodyPr>
          <a:lstStyle>
            <a:lvl1pPr>
              <a:defRPr sz="1500"/>
            </a:lvl1pPr>
          </a:lstStyle>
          <a:p>
            <a:r>
              <a:rPr lang="en-US" dirty="0"/>
              <a:t>2025/10/13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547</Words>
  <Application>Microsoft Office PowerPoint</Application>
  <PresentationFormat>自訂</PresentationFormat>
  <Paragraphs>87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Avenir Roman</vt:lpstr>
      <vt:lpstr>Helvetica Neue</vt:lpstr>
      <vt:lpstr>Helvetica Neue Light</vt:lpstr>
      <vt:lpstr>Helvetica Neue Thin</vt:lpstr>
      <vt:lpstr>Lucida Grande</vt:lpstr>
      <vt:lpstr>Arial</vt:lpstr>
      <vt:lpstr>Showroom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chia-yen chang</cp:lastModifiedBy>
  <cp:revision>3</cp:revision>
  <dcterms:modified xsi:type="dcterms:W3CDTF">2025-10-13T02:10:28Z</dcterms:modified>
</cp:coreProperties>
</file>