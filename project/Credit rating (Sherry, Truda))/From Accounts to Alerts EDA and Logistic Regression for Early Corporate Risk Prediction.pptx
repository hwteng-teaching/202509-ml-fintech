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" ContentType="image/ti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7"/>
  </p:notesMasterIdLst>
  <p:sldIdLst>
    <p:sldId id="256" r:id="rId2"/>
    <p:sldId id="258" r:id="rId3"/>
    <p:sldId id="257" r:id="rId4"/>
    <p:sldId id="259" r:id="rId5"/>
    <p:sldId id="262" r:id="rId6"/>
    <p:sldId id="263" r:id="rId7"/>
    <p:sldId id="264" r:id="rId8"/>
    <p:sldId id="265" r:id="rId9"/>
    <p:sldId id="266" r:id="rId10"/>
    <p:sldId id="261" r:id="rId11"/>
    <p:sldId id="267" r:id="rId12"/>
    <p:sldId id="268" r:id="rId13"/>
    <p:sldId id="269" r:id="rId14"/>
    <p:sldId id="270" r:id="rId15"/>
    <p:sldId id="260" r:id="rId16"/>
  </p:sldIdLst>
  <p:sldSz cx="13004800" cy="97536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1800" b="0" i="0" u="none" strike="noStrike" cap="none" spc="0" normalizeH="0" baseline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5500" b="0" i="0" u="none" strike="noStrike" cap="none" spc="0" normalizeH="0" baseline="0">
        <a:ln>
          <a:noFill/>
        </a:ln>
        <a:solidFill>
          <a:srgbClr val="D30F11"/>
        </a:solidFill>
        <a:effectLst/>
        <a:uFillTx/>
        <a:latin typeface="Helvetica Neue Light"/>
        <a:ea typeface="Helvetica Neue Light"/>
        <a:cs typeface="Helvetica Neue Light"/>
        <a:sym typeface="Helvetica Neue Light"/>
      </a:defRPr>
    </a:lvl1pPr>
    <a:lvl2pPr marL="0" marR="0" indent="228600" algn="l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5500" b="0" i="0" u="none" strike="noStrike" cap="none" spc="0" normalizeH="0" baseline="0">
        <a:ln>
          <a:noFill/>
        </a:ln>
        <a:solidFill>
          <a:srgbClr val="D30F11"/>
        </a:solidFill>
        <a:effectLst/>
        <a:uFillTx/>
        <a:latin typeface="Helvetica Neue Light"/>
        <a:ea typeface="Helvetica Neue Light"/>
        <a:cs typeface="Helvetica Neue Light"/>
        <a:sym typeface="Helvetica Neue Light"/>
      </a:defRPr>
    </a:lvl2pPr>
    <a:lvl3pPr marL="0" marR="0" indent="457200" algn="l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5500" b="0" i="0" u="none" strike="noStrike" cap="none" spc="0" normalizeH="0" baseline="0">
        <a:ln>
          <a:noFill/>
        </a:ln>
        <a:solidFill>
          <a:srgbClr val="D30F11"/>
        </a:solidFill>
        <a:effectLst/>
        <a:uFillTx/>
        <a:latin typeface="Helvetica Neue Light"/>
        <a:ea typeface="Helvetica Neue Light"/>
        <a:cs typeface="Helvetica Neue Light"/>
        <a:sym typeface="Helvetica Neue Light"/>
      </a:defRPr>
    </a:lvl3pPr>
    <a:lvl4pPr marL="0" marR="0" indent="685800" algn="l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5500" b="0" i="0" u="none" strike="noStrike" cap="none" spc="0" normalizeH="0" baseline="0">
        <a:ln>
          <a:noFill/>
        </a:ln>
        <a:solidFill>
          <a:srgbClr val="D30F11"/>
        </a:solidFill>
        <a:effectLst/>
        <a:uFillTx/>
        <a:latin typeface="Helvetica Neue Light"/>
        <a:ea typeface="Helvetica Neue Light"/>
        <a:cs typeface="Helvetica Neue Light"/>
        <a:sym typeface="Helvetica Neue Light"/>
      </a:defRPr>
    </a:lvl4pPr>
    <a:lvl5pPr marL="0" marR="0" indent="914400" algn="l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5500" b="0" i="0" u="none" strike="noStrike" cap="none" spc="0" normalizeH="0" baseline="0">
        <a:ln>
          <a:noFill/>
        </a:ln>
        <a:solidFill>
          <a:srgbClr val="D30F11"/>
        </a:solidFill>
        <a:effectLst/>
        <a:uFillTx/>
        <a:latin typeface="Helvetica Neue Light"/>
        <a:ea typeface="Helvetica Neue Light"/>
        <a:cs typeface="Helvetica Neue Light"/>
        <a:sym typeface="Helvetica Neue Light"/>
      </a:defRPr>
    </a:lvl5pPr>
    <a:lvl6pPr marL="0" marR="0" indent="1143000" algn="l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5500" b="0" i="0" u="none" strike="noStrike" cap="none" spc="0" normalizeH="0" baseline="0">
        <a:ln>
          <a:noFill/>
        </a:ln>
        <a:solidFill>
          <a:srgbClr val="D30F11"/>
        </a:solidFill>
        <a:effectLst/>
        <a:uFillTx/>
        <a:latin typeface="Helvetica Neue Light"/>
        <a:ea typeface="Helvetica Neue Light"/>
        <a:cs typeface="Helvetica Neue Light"/>
        <a:sym typeface="Helvetica Neue Light"/>
      </a:defRPr>
    </a:lvl6pPr>
    <a:lvl7pPr marL="0" marR="0" indent="1371600" algn="l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5500" b="0" i="0" u="none" strike="noStrike" cap="none" spc="0" normalizeH="0" baseline="0">
        <a:ln>
          <a:noFill/>
        </a:ln>
        <a:solidFill>
          <a:srgbClr val="D30F11"/>
        </a:solidFill>
        <a:effectLst/>
        <a:uFillTx/>
        <a:latin typeface="Helvetica Neue Light"/>
        <a:ea typeface="Helvetica Neue Light"/>
        <a:cs typeface="Helvetica Neue Light"/>
        <a:sym typeface="Helvetica Neue Light"/>
      </a:defRPr>
    </a:lvl7pPr>
    <a:lvl8pPr marL="0" marR="0" indent="1600200" algn="l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5500" b="0" i="0" u="none" strike="noStrike" cap="none" spc="0" normalizeH="0" baseline="0">
        <a:ln>
          <a:noFill/>
        </a:ln>
        <a:solidFill>
          <a:srgbClr val="D30F11"/>
        </a:solidFill>
        <a:effectLst/>
        <a:uFillTx/>
        <a:latin typeface="Helvetica Neue Light"/>
        <a:ea typeface="Helvetica Neue Light"/>
        <a:cs typeface="Helvetica Neue Light"/>
        <a:sym typeface="Helvetica Neue Light"/>
      </a:defRPr>
    </a:lvl8pPr>
    <a:lvl9pPr marL="0" marR="0" indent="1828800" algn="l" defTabSz="584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kumimoji="0" sz="5500" b="0" i="0" u="none" strike="noStrike" cap="none" spc="0" normalizeH="0" baseline="0">
        <a:ln>
          <a:noFill/>
        </a:ln>
        <a:solidFill>
          <a:srgbClr val="D30F11"/>
        </a:solidFill>
        <a:effectLst/>
        <a:uFillTx/>
        <a:latin typeface="Helvetica Neue Light"/>
        <a:ea typeface="Helvetica Neue Light"/>
        <a:cs typeface="Helvetica Neue Light"/>
        <a:sym typeface="Helvetica Neue Light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940675A-B579-460E-94D1-54222C63F5DA}">
  <a:tblStyle styleId="{4C3C2611-4C71-4FC5-86AE-919BDF0F9419}" styleName="">
    <a:tblBg/>
    <a:wholeTbl>
      <a:tcTxStyle b="off" i="off">
        <a:font>
          <a:latin typeface="Helvetica Neue Light"/>
          <a:ea typeface="Helvetica Neue Light"/>
          <a:cs typeface="Helvetica Neue Light"/>
        </a:font>
        <a:srgbClr val="5A5F5E"/>
      </a:tcTxStyle>
      <a:tcStyle>
        <a:tcBdr>
          <a:left>
            <a:ln w="12700" cap="flat">
              <a:solidFill>
                <a:srgbClr val="B4B4B4"/>
              </a:solidFill>
              <a:prstDash val="solid"/>
              <a:miter lim="400000"/>
            </a:ln>
          </a:left>
          <a:right>
            <a:ln w="12700" cap="flat">
              <a:solidFill>
                <a:srgbClr val="B4B4B4"/>
              </a:solidFill>
              <a:prstDash val="solid"/>
              <a:miter lim="400000"/>
            </a:ln>
          </a:right>
          <a:top>
            <a:ln w="12700" cap="flat">
              <a:solidFill>
                <a:srgbClr val="B4B4B4"/>
              </a:solidFill>
              <a:prstDash val="solid"/>
              <a:miter lim="400000"/>
            </a:ln>
          </a:top>
          <a:bottom>
            <a:ln w="12700" cap="flat">
              <a:solidFill>
                <a:srgbClr val="B4B4B4"/>
              </a:solidFill>
              <a:prstDash val="solid"/>
              <a:miter lim="400000"/>
            </a:ln>
          </a:bottom>
          <a:insideH>
            <a:ln w="12700" cap="flat">
              <a:solidFill>
                <a:srgbClr val="B4B4B4"/>
              </a:solidFill>
              <a:prstDash val="solid"/>
              <a:miter lim="400000"/>
            </a:ln>
          </a:insideH>
          <a:insideV>
            <a:ln w="12700" cap="flat">
              <a:solidFill>
                <a:srgbClr val="B4B4B4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000000">
              <a:alpha val="5000"/>
            </a:srgbClr>
          </a:solidFill>
        </a:fill>
      </a:tcStyle>
    </a:band2H>
    <a:firstCol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B4B4B4"/>
              </a:solidFill>
              <a:prstDash val="solid"/>
              <a:miter lim="400000"/>
            </a:ln>
          </a:left>
          <a:right>
            <a:ln w="12700" cap="flat">
              <a:solidFill>
                <a:srgbClr val="B4B4B4"/>
              </a:solidFill>
              <a:prstDash val="solid"/>
              <a:miter lim="400000"/>
            </a:ln>
          </a:right>
          <a:top>
            <a:ln w="12700" cap="flat">
              <a:solidFill>
                <a:srgbClr val="B4B4B4"/>
              </a:solidFill>
              <a:prstDash val="solid"/>
              <a:miter lim="400000"/>
            </a:ln>
          </a:top>
          <a:bottom>
            <a:ln w="12700" cap="flat">
              <a:solidFill>
                <a:srgbClr val="B4B4B4"/>
              </a:solidFill>
              <a:prstDash val="solid"/>
              <a:miter lim="400000"/>
            </a:ln>
          </a:bottom>
          <a:insideH>
            <a:ln w="12700" cap="flat">
              <a:solidFill>
                <a:srgbClr val="B4B4B4"/>
              </a:solidFill>
              <a:prstDash val="solid"/>
              <a:miter lim="400000"/>
            </a:ln>
          </a:insideH>
          <a:insideV>
            <a:ln w="12700" cap="flat">
              <a:solidFill>
                <a:srgbClr val="B4B4B4"/>
              </a:solidFill>
              <a:prstDash val="solid"/>
              <a:miter lim="400000"/>
            </a:ln>
          </a:insideV>
        </a:tcBdr>
        <a:fill>
          <a:solidFill>
            <a:srgbClr val="AB1802"/>
          </a:solidFill>
        </a:fill>
      </a:tcStyle>
    </a:firstCol>
    <a:lastRow>
      <a:tcTxStyle b="off" i="off">
        <a:font>
          <a:latin typeface="Gill Sans Light"/>
          <a:ea typeface="Gill Sans Light"/>
          <a:cs typeface="Gill Sans Light"/>
        </a:font>
        <a:srgbClr val="000000"/>
      </a:tcTxStyle>
      <a:tcStyle>
        <a:tcBdr>
          <a:left>
            <a:ln w="12700" cap="flat">
              <a:solidFill>
                <a:srgbClr val="B4B4B4"/>
              </a:solidFill>
              <a:prstDash val="solid"/>
              <a:miter lim="400000"/>
            </a:ln>
          </a:left>
          <a:right>
            <a:ln w="12700" cap="flat">
              <a:solidFill>
                <a:srgbClr val="B4B4B4"/>
              </a:solidFill>
              <a:prstDash val="solid"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miter lim="400000"/>
            </a:ln>
          </a:top>
          <a:bottom>
            <a:ln w="12700" cap="flat">
              <a:solidFill>
                <a:srgbClr val="B4B4B4"/>
              </a:solidFill>
              <a:prstDash val="solid"/>
              <a:miter lim="400000"/>
            </a:ln>
          </a:bottom>
          <a:insideH>
            <a:ln w="12700" cap="flat">
              <a:solidFill>
                <a:srgbClr val="B4B4B4"/>
              </a:solidFill>
              <a:prstDash val="solid"/>
              <a:miter lim="400000"/>
            </a:ln>
          </a:insideH>
          <a:insideV>
            <a:ln w="12700" cap="flat">
              <a:solidFill>
                <a:srgbClr val="B4B4B4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B4B4B4"/>
              </a:solidFill>
              <a:prstDash val="solid"/>
              <a:miter lim="400000"/>
            </a:ln>
          </a:left>
          <a:right>
            <a:ln w="12700" cap="flat">
              <a:solidFill>
                <a:srgbClr val="B4B4B4"/>
              </a:solidFill>
              <a:prstDash val="solid"/>
              <a:miter lim="400000"/>
            </a:ln>
          </a:right>
          <a:top>
            <a:ln w="12700" cap="flat">
              <a:solidFill>
                <a:srgbClr val="B4B4B4"/>
              </a:solidFill>
              <a:prstDash val="solid"/>
              <a:miter lim="400000"/>
            </a:ln>
          </a:top>
          <a:bottom>
            <a:ln w="12700" cap="flat">
              <a:solidFill>
                <a:srgbClr val="B4B4B4"/>
              </a:solidFill>
              <a:prstDash val="solid"/>
              <a:miter lim="400000"/>
            </a:ln>
          </a:bottom>
          <a:insideH>
            <a:ln w="12700" cap="flat">
              <a:solidFill>
                <a:srgbClr val="B4B4B4"/>
              </a:solidFill>
              <a:prstDash val="solid"/>
              <a:miter lim="400000"/>
            </a:ln>
          </a:insideH>
          <a:insideV>
            <a:ln w="12700" cap="flat">
              <a:solidFill>
                <a:srgbClr val="B4B4B4"/>
              </a:solidFill>
              <a:prstDash val="solid"/>
              <a:miter lim="400000"/>
            </a:ln>
          </a:insideV>
        </a:tcBdr>
        <a:fill>
          <a:solidFill>
            <a:srgbClr val="808785"/>
          </a:solidFill>
        </a:fill>
      </a:tcStyle>
    </a:firstRow>
  </a:tblStyle>
  <a:tblStyle styleId="{C7B018BB-80A7-4F77-B60F-C8B233D01FF8}" styleName="">
    <a:tblBg/>
    <a:wholeTbl>
      <a:tcTxStyle b="off" i="off">
        <a:font>
          <a:latin typeface="Helvetica Neue Light"/>
          <a:ea typeface="Helvetica Neue Light"/>
          <a:cs typeface="Helvetica Neue Light"/>
        </a:font>
        <a:srgbClr val="5A5F5E"/>
      </a:tcTxStyle>
      <a:tcStyle>
        <a:tcBdr>
          <a:left>
            <a:ln w="12700" cap="flat">
              <a:solidFill>
                <a:srgbClr val="B4B4B4"/>
              </a:solidFill>
              <a:prstDash val="solid"/>
              <a:miter lim="400000"/>
            </a:ln>
          </a:left>
          <a:right>
            <a:ln w="12700" cap="flat">
              <a:solidFill>
                <a:srgbClr val="B4B4B4"/>
              </a:solidFill>
              <a:prstDash val="solid"/>
              <a:miter lim="400000"/>
            </a:ln>
          </a:right>
          <a:top>
            <a:ln w="12700" cap="flat">
              <a:solidFill>
                <a:srgbClr val="B4B4B4"/>
              </a:solidFill>
              <a:prstDash val="solid"/>
              <a:miter lim="400000"/>
            </a:ln>
          </a:top>
          <a:bottom>
            <a:ln w="12700" cap="flat">
              <a:solidFill>
                <a:srgbClr val="B4B4B4"/>
              </a:solidFill>
              <a:prstDash val="solid"/>
              <a:miter lim="400000"/>
            </a:ln>
          </a:bottom>
          <a:insideH>
            <a:ln w="12700" cap="flat">
              <a:solidFill>
                <a:srgbClr val="B4B4B4"/>
              </a:solidFill>
              <a:prstDash val="solid"/>
              <a:miter lim="400000"/>
            </a:ln>
          </a:insideH>
          <a:insideV>
            <a:ln w="12700" cap="flat">
              <a:solidFill>
                <a:srgbClr val="B4B4B4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000000">
              <a:alpha val="5000"/>
            </a:srgbClr>
          </a:solidFill>
        </a:fill>
      </a:tcStyle>
    </a:band2H>
    <a:firstCol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B4B4B4"/>
              </a:solidFill>
              <a:prstDash val="solid"/>
              <a:miter lim="400000"/>
            </a:ln>
          </a:left>
          <a:right>
            <a:ln w="12700" cap="flat">
              <a:solidFill>
                <a:srgbClr val="B4B4B4"/>
              </a:solidFill>
              <a:prstDash val="solid"/>
              <a:miter lim="400000"/>
            </a:ln>
          </a:right>
          <a:top>
            <a:ln w="12700" cap="flat">
              <a:solidFill>
                <a:srgbClr val="B4B4B4"/>
              </a:solidFill>
              <a:prstDash val="solid"/>
              <a:miter lim="400000"/>
            </a:ln>
          </a:top>
          <a:bottom>
            <a:ln w="12700" cap="flat">
              <a:solidFill>
                <a:srgbClr val="B4B4B4"/>
              </a:solidFill>
              <a:prstDash val="solid"/>
              <a:miter lim="400000"/>
            </a:ln>
          </a:bottom>
          <a:insideH>
            <a:ln w="12700" cap="flat">
              <a:solidFill>
                <a:srgbClr val="B4B4B4"/>
              </a:solidFill>
              <a:prstDash val="solid"/>
              <a:miter lim="400000"/>
            </a:ln>
          </a:insideH>
          <a:insideV>
            <a:ln w="12700" cap="flat">
              <a:solidFill>
                <a:srgbClr val="B4B4B4"/>
              </a:solidFill>
              <a:prstDash val="solid"/>
              <a:miter lim="400000"/>
            </a:ln>
          </a:insideV>
        </a:tcBdr>
        <a:fill>
          <a:solidFill>
            <a:srgbClr val="808785"/>
          </a:solidFill>
        </a:fill>
      </a:tcStyle>
    </a:firstCol>
    <a:lastRow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B4B4B4"/>
              </a:solidFill>
              <a:prstDash val="solid"/>
              <a:miter lim="400000"/>
            </a:ln>
          </a:left>
          <a:right>
            <a:ln w="12700" cap="flat">
              <a:solidFill>
                <a:srgbClr val="B4B4B4"/>
              </a:solidFill>
              <a:prstDash val="solid"/>
              <a:miter lim="400000"/>
            </a:ln>
          </a:right>
          <a:top>
            <a:ln w="12700" cap="flat">
              <a:solidFill>
                <a:srgbClr val="B4B4B4"/>
              </a:solidFill>
              <a:prstDash val="solid"/>
              <a:miter lim="400000"/>
            </a:ln>
          </a:top>
          <a:bottom>
            <a:ln w="12700" cap="flat">
              <a:solidFill>
                <a:srgbClr val="B4B4B4"/>
              </a:solidFill>
              <a:prstDash val="solid"/>
              <a:miter lim="400000"/>
            </a:ln>
          </a:bottom>
          <a:insideH>
            <a:ln w="12700" cap="flat">
              <a:solidFill>
                <a:srgbClr val="B4B4B4"/>
              </a:solidFill>
              <a:prstDash val="solid"/>
              <a:miter lim="400000"/>
            </a:ln>
          </a:insideH>
          <a:insideV>
            <a:ln w="12700" cap="flat">
              <a:solidFill>
                <a:srgbClr val="B4B4B4"/>
              </a:solidFill>
              <a:prstDash val="solid"/>
              <a:miter lim="400000"/>
            </a:ln>
          </a:insideV>
        </a:tcBdr>
        <a:fill>
          <a:solidFill>
            <a:srgbClr val="AB1802"/>
          </a:solidFill>
        </a:fill>
      </a:tcStyle>
    </a:lastRow>
    <a:firstRow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B4B4B4"/>
              </a:solidFill>
              <a:prstDash val="solid"/>
              <a:miter lim="400000"/>
            </a:ln>
          </a:left>
          <a:right>
            <a:ln w="12700" cap="flat">
              <a:solidFill>
                <a:srgbClr val="B4B4B4"/>
              </a:solidFill>
              <a:prstDash val="solid"/>
              <a:miter lim="400000"/>
            </a:ln>
          </a:right>
          <a:top>
            <a:ln w="12700" cap="flat">
              <a:solidFill>
                <a:srgbClr val="B4B4B4"/>
              </a:solidFill>
              <a:prstDash val="solid"/>
              <a:miter lim="400000"/>
            </a:ln>
          </a:top>
          <a:bottom>
            <a:ln w="12700" cap="flat">
              <a:solidFill>
                <a:srgbClr val="B4B4B4"/>
              </a:solidFill>
              <a:prstDash val="solid"/>
              <a:miter lim="400000"/>
            </a:ln>
          </a:bottom>
          <a:insideH>
            <a:ln w="12700" cap="flat">
              <a:solidFill>
                <a:srgbClr val="B4B4B4"/>
              </a:solidFill>
              <a:prstDash val="solid"/>
              <a:miter lim="400000"/>
            </a:ln>
          </a:insideH>
          <a:insideV>
            <a:ln w="12700" cap="flat">
              <a:solidFill>
                <a:srgbClr val="B4B4B4"/>
              </a:solidFill>
              <a:prstDash val="solid"/>
              <a:miter lim="400000"/>
            </a:ln>
          </a:insideV>
        </a:tcBdr>
        <a:fill>
          <a:solidFill>
            <a:srgbClr val="AB1802"/>
          </a:solidFill>
        </a:fill>
      </a:tcStyle>
    </a:firstRow>
  </a:tblStyle>
  <a:tblStyle styleId="{EEE7283C-3CF3-47DC-8721-378D4A62B228}" styleName="">
    <a:tblBg/>
    <a:wholeTbl>
      <a:tcTxStyle b="off" i="off">
        <a:font>
          <a:latin typeface="Helvetica Neue Light"/>
          <a:ea typeface="Helvetica Neue Light"/>
          <a:cs typeface="Helvetica Neue Light"/>
        </a:font>
        <a:srgbClr val="5A5F5E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000000">
              <a:alpha val="5000"/>
            </a:srgbClr>
          </a:solidFill>
        </a:fill>
      </a:tcStyle>
    </a:band2H>
    <a:firstCol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B4B4B4"/>
              </a:solidFill>
              <a:prstDash val="solid"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6">
              <a:satOff val="1848"/>
              <a:lumOff val="-15262"/>
            </a:schemeClr>
          </a:solidFill>
        </a:fill>
      </a:tcStyle>
    </a:firstCol>
    <a:lastRow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solidFill>
                <a:srgbClr val="B4B4B4"/>
              </a:solidFill>
              <a:prstDash val="solid"/>
              <a:miter lim="400000"/>
            </a:ln>
          </a:bottom>
          <a:insideH>
            <a:ln w="12700" cap="flat">
              <a:solidFill>
                <a:schemeClr val="accent6">
                  <a:satOff val="1848"/>
                  <a:lumOff val="-15262"/>
                </a:schemeClr>
              </a:solidFill>
              <a:prstDash val="solid"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6"/>
          </a:solidFill>
        </a:fill>
      </a:tcStyle>
    </a:lastRow>
    <a:firstRow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solidFill>
                <a:srgbClr val="B4B4B4"/>
              </a:solidFill>
              <a:prstDash val="solid"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solidFill>
                <a:schemeClr val="accent6">
                  <a:satOff val="1848"/>
                  <a:lumOff val="-15262"/>
                </a:schemeClr>
              </a:solidFill>
              <a:prstDash val="solid"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>
          <a:latin typeface="Helvetica Neue Light"/>
          <a:ea typeface="Helvetica Neue Light"/>
          <a:cs typeface="Helvetica Neue Light"/>
        </a:font>
        <a:srgbClr val="5A5F5E"/>
      </a:tcTxStyle>
      <a:tcStyle>
        <a:tcBdr>
          <a:left>
            <a:ln w="50800" cap="flat">
              <a:noFill/>
              <a:miter lim="400000"/>
            </a:ln>
          </a:left>
          <a:right>
            <a:ln w="50800" cap="flat">
              <a:noFill/>
              <a:miter lim="400000"/>
            </a:ln>
          </a:right>
          <a:top>
            <a:ln w="50800" cap="flat">
              <a:noFill/>
              <a:miter lim="400000"/>
            </a:ln>
          </a:top>
          <a:bottom>
            <a:ln w="50800" cap="flat">
              <a:noFill/>
              <a:miter lim="400000"/>
            </a:ln>
          </a:bottom>
          <a:insideH>
            <a:ln w="50800" cap="flat">
              <a:noFill/>
              <a:miter lim="400000"/>
            </a:ln>
          </a:insideH>
          <a:insideV>
            <a:ln w="50800" cap="flat">
              <a:noFill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000000">
              <a:alpha val="5000"/>
            </a:srgbClr>
          </a:solidFill>
        </a:fill>
      </a:tcStyle>
    </a:band2H>
    <a:firstCol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B4B4B4"/>
              </a:solidFill>
              <a:prstDash val="solid"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808785"/>
          </a:solidFill>
        </a:fill>
      </a:tcStyle>
    </a:firstCol>
    <a:lastRow>
      <a:tcTxStyle b="off" i="off">
        <a:font>
          <a:latin typeface="Gill Sans Light"/>
          <a:ea typeface="Gill Sans Light"/>
          <a:cs typeface="Gill Sans Light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solidFill>
                <a:srgbClr val="B4B4B4"/>
              </a:solidFill>
              <a:prstDash val="solid"/>
              <a:miter lim="400000"/>
            </a:ln>
          </a:top>
          <a:bottom>
            <a:ln w="12700" cap="flat">
              <a:solidFill>
                <a:srgbClr val="B4B4B4"/>
              </a:solidFill>
              <a:prstDash val="solid"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5E6E5"/>
          </a:solidFill>
        </a:fill>
      </a:tcStyle>
    </a:lastRow>
    <a:firstRow>
      <a:tcTxStyle b="off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solidFill>
                <a:srgbClr val="B4B4B4"/>
              </a:solidFill>
              <a:prstDash val="solid"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5A5F5E"/>
          </a:solidFill>
        </a:fill>
      </a:tcStyle>
    </a:firstRow>
  </a:tblStyle>
  <a:tblStyle styleId="{33BA23B1-9221-436E-865A-0063620EA4FD}" styleName="">
    <a:tblBg/>
    <a:wholeTbl>
      <a:tcTxStyle b="off" i="off">
        <a:font>
          <a:latin typeface="Helvetica Neue Light"/>
          <a:ea typeface="Helvetica Neue Light"/>
          <a:cs typeface="Helvetica Neue Light"/>
        </a:font>
        <a:srgbClr val="5A5F5E"/>
      </a:tcTxStyle>
      <a:tcStyle>
        <a:tcBdr>
          <a:left>
            <a:ln w="12700" cap="flat">
              <a:solidFill>
                <a:srgbClr val="B4B4B4"/>
              </a:solidFill>
              <a:prstDash val="solid"/>
              <a:miter lim="400000"/>
            </a:ln>
          </a:left>
          <a:right>
            <a:ln w="12700" cap="flat">
              <a:solidFill>
                <a:srgbClr val="B4B4B4"/>
              </a:solidFill>
              <a:prstDash val="solid"/>
              <a:miter lim="400000"/>
            </a:ln>
          </a:right>
          <a:top>
            <a:ln w="12700" cap="flat">
              <a:solidFill>
                <a:srgbClr val="B4B4B4"/>
              </a:solidFill>
              <a:prstDash val="solid"/>
              <a:miter lim="400000"/>
            </a:ln>
          </a:top>
          <a:bottom>
            <a:ln w="12700" cap="flat">
              <a:solidFill>
                <a:srgbClr val="B4B4B4"/>
              </a:solidFill>
              <a:prstDash val="solid"/>
              <a:miter lim="400000"/>
            </a:ln>
          </a:bottom>
          <a:insideH>
            <a:ln w="12700" cap="flat">
              <a:solidFill>
                <a:srgbClr val="B4B4B4"/>
              </a:solidFill>
              <a:prstDash val="solid"/>
              <a:miter lim="400000"/>
            </a:ln>
          </a:insideH>
          <a:insideV>
            <a:ln w="12700" cap="flat">
              <a:solidFill>
                <a:srgbClr val="B4B4B4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EBEBEB"/>
          </a:solidFill>
        </a:fill>
      </a:tcStyle>
    </a:band2H>
    <a:firstCol>
      <a:tcTxStyle b="off" i="off">
        <a:font>
          <a:latin typeface="Helvetica Neue Light"/>
          <a:ea typeface="Helvetica Neue Light"/>
          <a:cs typeface="Helvetica Neue Light"/>
        </a:font>
        <a:srgbClr val="5A5F5E"/>
      </a:tcTxStyle>
      <a:tcStyle>
        <a:tcBdr>
          <a:left>
            <a:ln w="12700" cap="flat">
              <a:solidFill>
                <a:srgbClr val="B4B4B4"/>
              </a:solidFill>
              <a:prstDash val="solid"/>
              <a:miter lim="400000"/>
            </a:ln>
          </a:left>
          <a:right>
            <a:ln w="12700" cap="flat">
              <a:solidFill>
                <a:srgbClr val="B4B4B4"/>
              </a:solidFill>
              <a:prstDash val="solid"/>
              <a:miter lim="400000"/>
            </a:ln>
          </a:right>
          <a:top>
            <a:ln w="12700" cap="flat">
              <a:solidFill>
                <a:srgbClr val="B4B4B4"/>
              </a:solidFill>
              <a:prstDash val="solid"/>
              <a:miter lim="400000"/>
            </a:ln>
          </a:top>
          <a:bottom>
            <a:ln w="12700" cap="flat">
              <a:solidFill>
                <a:srgbClr val="B4B4B4"/>
              </a:solidFill>
              <a:prstDash val="solid"/>
              <a:miter lim="400000"/>
            </a:ln>
          </a:bottom>
          <a:insideH>
            <a:ln w="12700" cap="flat">
              <a:solidFill>
                <a:srgbClr val="B4B4B4"/>
              </a:solidFill>
              <a:prstDash val="solid"/>
              <a:miter lim="400000"/>
            </a:ln>
          </a:insideH>
          <a:insideV>
            <a:ln w="12700" cap="flat">
              <a:solidFill>
                <a:srgbClr val="B4B4B4"/>
              </a:solidFill>
              <a:prstDash val="solid"/>
              <a:miter lim="400000"/>
            </a:ln>
          </a:insideV>
        </a:tcBdr>
        <a:fill>
          <a:solidFill>
            <a:srgbClr val="E5E6E5"/>
          </a:solidFill>
        </a:fill>
      </a:tcStyle>
    </a:firstCol>
    <a:lastRow>
      <a:tcTxStyle b="off" i="off">
        <a:font>
          <a:latin typeface="Helvetica Neue Light"/>
          <a:ea typeface="Helvetica Neue Light"/>
          <a:cs typeface="Helvetica Neue Light"/>
        </a:font>
        <a:srgbClr val="5A5F5E"/>
      </a:tcTxStyle>
      <a:tcStyle>
        <a:tcBdr>
          <a:left>
            <a:ln w="12700" cap="flat">
              <a:solidFill>
                <a:srgbClr val="B4B4B4"/>
              </a:solidFill>
              <a:prstDash val="solid"/>
              <a:miter lim="400000"/>
            </a:ln>
          </a:left>
          <a:right>
            <a:ln w="12700" cap="flat">
              <a:solidFill>
                <a:srgbClr val="B4B4B4"/>
              </a:solidFill>
              <a:prstDash val="solid"/>
              <a:miter lim="400000"/>
            </a:ln>
          </a:right>
          <a:top>
            <a:ln w="12700" cap="flat">
              <a:solidFill>
                <a:srgbClr val="B4B4B4"/>
              </a:solidFill>
              <a:prstDash val="solid"/>
              <a:miter lim="400000"/>
            </a:ln>
          </a:top>
          <a:bottom>
            <a:ln w="12700" cap="flat">
              <a:solidFill>
                <a:srgbClr val="B4B4B4"/>
              </a:solidFill>
              <a:prstDash val="solid"/>
              <a:miter lim="400000"/>
            </a:ln>
          </a:bottom>
          <a:insideH>
            <a:ln w="12700" cap="flat">
              <a:solidFill>
                <a:srgbClr val="B4B4B4"/>
              </a:solidFill>
              <a:prstDash val="solid"/>
              <a:miter lim="400000"/>
            </a:ln>
          </a:insideH>
          <a:insideV>
            <a:ln w="12700" cap="flat">
              <a:solidFill>
                <a:srgbClr val="B4B4B4"/>
              </a:solidFill>
              <a:prstDash val="solid"/>
              <a:miter lim="400000"/>
            </a:ln>
          </a:insideV>
        </a:tcBdr>
        <a:fill>
          <a:solidFill>
            <a:srgbClr val="CCCCCC"/>
          </a:solidFill>
        </a:fill>
      </a:tcStyle>
    </a:lastRow>
    <a:firstRow>
      <a:tcTxStyle b="off" i="off">
        <a:font>
          <a:latin typeface="Helvetica Neue Light"/>
          <a:ea typeface="Helvetica Neue Light"/>
          <a:cs typeface="Helvetica Neue Light"/>
        </a:font>
        <a:srgbClr val="5A5F5E"/>
      </a:tcTxStyle>
      <a:tcStyle>
        <a:tcBdr>
          <a:left>
            <a:ln w="12700" cap="flat">
              <a:solidFill>
                <a:srgbClr val="B4B4B4"/>
              </a:solidFill>
              <a:prstDash val="solid"/>
              <a:miter lim="400000"/>
            </a:ln>
          </a:left>
          <a:right>
            <a:ln w="12700" cap="flat">
              <a:solidFill>
                <a:srgbClr val="B4B4B4"/>
              </a:solidFill>
              <a:prstDash val="solid"/>
              <a:miter lim="400000"/>
            </a:ln>
          </a:right>
          <a:top>
            <a:ln w="12700" cap="flat">
              <a:solidFill>
                <a:srgbClr val="B4B4B4"/>
              </a:solidFill>
              <a:prstDash val="solid"/>
              <a:miter lim="400000"/>
            </a:ln>
          </a:top>
          <a:bottom>
            <a:ln w="12700" cap="flat">
              <a:solidFill>
                <a:srgbClr val="B4B4B4"/>
              </a:solidFill>
              <a:prstDash val="solid"/>
              <a:miter lim="400000"/>
            </a:ln>
          </a:bottom>
          <a:insideH>
            <a:ln w="12700" cap="flat">
              <a:solidFill>
                <a:srgbClr val="B4B4B4"/>
              </a:solidFill>
              <a:prstDash val="solid"/>
              <a:miter lim="400000"/>
            </a:ln>
          </a:insideH>
          <a:insideV>
            <a:ln w="12700" cap="flat">
              <a:solidFill>
                <a:srgbClr val="B4B4B4"/>
              </a:solidFill>
              <a:prstDash val="solid"/>
              <a:miter lim="400000"/>
            </a:ln>
          </a:insideV>
        </a:tcBdr>
        <a:fill>
          <a:solidFill>
            <a:srgbClr val="CCCCCC"/>
          </a:solidFill>
        </a:fill>
      </a:tcStyle>
    </a:firstRow>
  </a:tblStyle>
  <a:tblStyle styleId="{2708684C-4D16-4618-839F-0558EEFCDFE6}" styleName="">
    <a:tblBg/>
    <a:wholeTbl>
      <a:tcTxStyle b="off" i="off">
        <a:font>
          <a:latin typeface="Gill Sans Light"/>
          <a:ea typeface="Gill Sans Light"/>
          <a:cs typeface="Gill Sans Light"/>
        </a:font>
        <a:srgbClr val="000000"/>
      </a:tcTxStyle>
      <a:tcStyle>
        <a:tcBdr>
          <a:left>
            <a:ln w="12700" cap="flat">
              <a:solidFill>
                <a:srgbClr val="C8C8C8"/>
              </a:solidFill>
              <a:prstDash val="solid"/>
              <a:miter lim="400000"/>
            </a:ln>
          </a:left>
          <a:right>
            <a:ln w="12700" cap="flat">
              <a:solidFill>
                <a:srgbClr val="C8C8C8"/>
              </a:solidFill>
              <a:prstDash val="solid"/>
              <a:miter lim="400000"/>
            </a:ln>
          </a:right>
          <a:top>
            <a:ln w="12700" cap="flat">
              <a:solidFill>
                <a:srgbClr val="5A5F5E"/>
              </a:solidFill>
              <a:custDash>
                <a:ds d="200000" sp="200000"/>
              </a:custDash>
              <a:miter lim="400000"/>
            </a:ln>
          </a:top>
          <a:bottom>
            <a:ln w="12700" cap="flat">
              <a:solidFill>
                <a:srgbClr val="5A5F5E"/>
              </a:solidFill>
              <a:custDash>
                <a:ds d="200000" sp="200000"/>
              </a:custDash>
              <a:miter lim="400000"/>
            </a:ln>
          </a:bottom>
          <a:insideH>
            <a:ln w="12700" cap="flat">
              <a:solidFill>
                <a:srgbClr val="5A5F5E"/>
              </a:solidFill>
              <a:custDash>
                <a:ds d="200000" sp="200000"/>
              </a:custDash>
              <a:miter lim="400000"/>
            </a:ln>
          </a:insideH>
          <a:insideV>
            <a:ln w="12700" cap="flat">
              <a:solidFill>
                <a:srgbClr val="C8C8C8"/>
              </a:solidFill>
              <a:prstDash val="solid"/>
              <a:miter lim="400000"/>
            </a:ln>
          </a:insideV>
        </a:tcBdr>
        <a:fill>
          <a:noFill/>
        </a:fill>
      </a:tcStyle>
    </a:wholeTbl>
    <a:band2H>
      <a:tcTxStyle/>
      <a:tcStyle>
        <a:tcBdr/>
        <a:fill>
          <a:solidFill>
            <a:srgbClr val="000000">
              <a:alpha val="5000"/>
            </a:srgbClr>
          </a:solidFill>
        </a:fill>
      </a:tcStyle>
    </a:band2H>
    <a:firstCol>
      <a:tcTxStyle b="off" i="off">
        <a:font>
          <a:latin typeface="Gill Sans Light"/>
          <a:ea typeface="Gill Sans Light"/>
          <a:cs typeface="Gill Sans Light"/>
        </a:font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solidFill>
                <a:srgbClr val="5A5F5E"/>
              </a:solidFill>
              <a:prstDash val="solid"/>
              <a:miter lim="400000"/>
            </a:ln>
          </a:right>
          <a:top>
            <a:ln w="12700" cap="flat">
              <a:solidFill>
                <a:srgbClr val="C8C8C8"/>
              </a:solidFill>
              <a:prstDash val="solid"/>
              <a:miter lim="400000"/>
            </a:ln>
          </a:top>
          <a:bottom>
            <a:ln w="12700" cap="flat">
              <a:solidFill>
                <a:srgbClr val="C8C8C8"/>
              </a:solidFill>
              <a:prstDash val="solid"/>
              <a:miter lim="400000"/>
            </a:ln>
          </a:bottom>
          <a:insideH>
            <a:ln w="12700" cap="flat">
              <a:solidFill>
                <a:srgbClr val="C8C8C8"/>
              </a:solidFill>
              <a:prstDash val="solid"/>
              <a:miter lim="400000"/>
            </a:ln>
          </a:insideH>
          <a:insideV>
            <a:ln w="12700" cap="flat">
              <a:solidFill>
                <a:srgbClr val="C8C8C8"/>
              </a:solidFill>
              <a:prstDash val="solid"/>
              <a:miter lim="400000"/>
            </a:ln>
          </a:insideV>
        </a:tcBdr>
        <a:fill>
          <a:noFill/>
        </a:fill>
      </a:tcStyle>
    </a:firstCol>
    <a:lastRow>
      <a:tcTxStyle b="off" i="off">
        <a:font>
          <a:latin typeface="Gill Sans Light"/>
          <a:ea typeface="Gill Sans Light"/>
          <a:cs typeface="Gill Sans Light"/>
        </a:font>
        <a:srgbClr val="000000"/>
      </a:tcTxStyle>
      <a:tcStyle>
        <a:tcBdr>
          <a:left>
            <a:ln w="12700" cap="flat">
              <a:solidFill>
                <a:srgbClr val="C8C8C8"/>
              </a:solidFill>
              <a:prstDash val="solid"/>
              <a:miter lim="400000"/>
            </a:ln>
          </a:left>
          <a:right>
            <a:ln w="12700" cap="flat">
              <a:solidFill>
                <a:srgbClr val="C8C8C8"/>
              </a:solidFill>
              <a:prstDash val="solid"/>
              <a:miter lim="400000"/>
            </a:ln>
          </a:right>
          <a:top>
            <a:ln w="12700" cap="flat">
              <a:solidFill>
                <a:srgbClr val="5A5F5E"/>
              </a:solidFill>
              <a:prstDash val="solid"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solidFill>
                <a:srgbClr val="C8C8C8"/>
              </a:solidFill>
              <a:prstDash val="solid"/>
              <a:miter lim="400000"/>
            </a:ln>
          </a:insideH>
          <a:insideV>
            <a:ln w="12700" cap="flat">
              <a:solidFill>
                <a:srgbClr val="C8C8C8"/>
              </a:solidFill>
              <a:prstDash val="solid"/>
              <a:miter lim="400000"/>
            </a:ln>
          </a:insideV>
        </a:tcBdr>
        <a:fill>
          <a:noFill/>
        </a:fill>
      </a:tcStyle>
    </a:lastRow>
    <a:firstRow>
      <a:tcTxStyle b="off" i="off">
        <a:font>
          <a:latin typeface="Gill Sans Light"/>
          <a:ea typeface="Gill Sans Light"/>
          <a:cs typeface="Gill Sans Light"/>
        </a:font>
        <a:srgbClr val="000000"/>
      </a:tcTxStyle>
      <a:tcStyle>
        <a:tcBdr>
          <a:left>
            <a:ln w="12700" cap="flat">
              <a:solidFill>
                <a:srgbClr val="C8C8C8"/>
              </a:solidFill>
              <a:prstDash val="solid"/>
              <a:miter lim="400000"/>
            </a:ln>
          </a:left>
          <a:right>
            <a:ln w="12700" cap="flat">
              <a:solidFill>
                <a:srgbClr val="C8C8C8"/>
              </a:solidFill>
              <a:prstDash val="solid"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solidFill>
                <a:srgbClr val="5A5F5E"/>
              </a:solidFill>
              <a:prstDash val="solid"/>
              <a:miter lim="400000"/>
            </a:ln>
          </a:bottom>
          <a:insideH>
            <a:ln w="12700" cap="flat">
              <a:solidFill>
                <a:srgbClr val="C8C8C8"/>
              </a:solidFill>
              <a:prstDash val="solid"/>
              <a:miter lim="400000"/>
            </a:ln>
          </a:insideH>
          <a:insideV>
            <a:ln w="12700" cap="flat">
              <a:solidFill>
                <a:srgbClr val="C8C8C8"/>
              </a:solidFill>
              <a:prstDash val="solid"/>
              <a:miter lim="400000"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55" d="100"/>
          <a:sy n="55" d="100"/>
        </p:scale>
        <p:origin x="1574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Shape 48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9" name="Shape 49"/>
          <p:cNvSpPr>
            <a:spLocks noGrp="1"/>
          </p:cNvSpPr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lnSpc>
        <a:spcPct val="125000"/>
      </a:lnSpc>
      <a:defRPr sz="2400">
        <a:latin typeface="Avenir Roman"/>
        <a:ea typeface="Avenir Roman"/>
        <a:cs typeface="Avenir Roman"/>
        <a:sym typeface="Avenir Roman"/>
      </a:defRPr>
    </a:lvl1pPr>
    <a:lvl2pPr indent="228600" defTabSz="457200" latinLnBrk="0">
      <a:lnSpc>
        <a:spcPct val="125000"/>
      </a:lnSpc>
      <a:defRPr sz="2400">
        <a:latin typeface="Avenir Roman"/>
        <a:ea typeface="Avenir Roman"/>
        <a:cs typeface="Avenir Roman"/>
        <a:sym typeface="Avenir Roman"/>
      </a:defRPr>
    </a:lvl2pPr>
    <a:lvl3pPr indent="457200" defTabSz="457200" latinLnBrk="0">
      <a:lnSpc>
        <a:spcPct val="125000"/>
      </a:lnSpc>
      <a:defRPr sz="2400">
        <a:latin typeface="Avenir Roman"/>
        <a:ea typeface="Avenir Roman"/>
        <a:cs typeface="Avenir Roman"/>
        <a:sym typeface="Avenir Roman"/>
      </a:defRPr>
    </a:lvl3pPr>
    <a:lvl4pPr indent="685800" defTabSz="457200" latinLnBrk="0">
      <a:lnSpc>
        <a:spcPct val="125000"/>
      </a:lnSpc>
      <a:defRPr sz="2400">
        <a:latin typeface="Avenir Roman"/>
        <a:ea typeface="Avenir Roman"/>
        <a:cs typeface="Avenir Roman"/>
        <a:sym typeface="Avenir Roman"/>
      </a:defRPr>
    </a:lvl4pPr>
    <a:lvl5pPr indent="914400" defTabSz="457200" latinLnBrk="0">
      <a:lnSpc>
        <a:spcPct val="125000"/>
      </a:lnSpc>
      <a:defRPr sz="2400">
        <a:latin typeface="Avenir Roman"/>
        <a:ea typeface="Avenir Roman"/>
        <a:cs typeface="Avenir Roman"/>
        <a:sym typeface="Avenir Roman"/>
      </a:defRPr>
    </a:lvl5pPr>
    <a:lvl6pPr indent="1143000" defTabSz="457200" latinLnBrk="0">
      <a:lnSpc>
        <a:spcPct val="125000"/>
      </a:lnSpc>
      <a:defRPr sz="2400">
        <a:latin typeface="Avenir Roman"/>
        <a:ea typeface="Avenir Roman"/>
        <a:cs typeface="Avenir Roman"/>
        <a:sym typeface="Avenir Roman"/>
      </a:defRPr>
    </a:lvl6pPr>
    <a:lvl7pPr indent="1371600" defTabSz="457200" latinLnBrk="0">
      <a:lnSpc>
        <a:spcPct val="125000"/>
      </a:lnSpc>
      <a:defRPr sz="2400">
        <a:latin typeface="Avenir Roman"/>
        <a:ea typeface="Avenir Roman"/>
        <a:cs typeface="Avenir Roman"/>
        <a:sym typeface="Avenir Roman"/>
      </a:defRPr>
    </a:lvl7pPr>
    <a:lvl8pPr indent="1600200" defTabSz="457200" latinLnBrk="0">
      <a:lnSpc>
        <a:spcPct val="125000"/>
      </a:lnSpc>
      <a:defRPr sz="2400">
        <a:latin typeface="Avenir Roman"/>
        <a:ea typeface="Avenir Roman"/>
        <a:cs typeface="Avenir Roman"/>
        <a:sym typeface="Avenir Roman"/>
      </a:defRPr>
    </a:lvl8pPr>
    <a:lvl9pPr indent="1828800" defTabSz="457200" latinLnBrk="0">
      <a:lnSpc>
        <a:spcPct val="125000"/>
      </a:lnSpc>
      <a:defRPr sz="2400">
        <a:latin typeface="Avenir Roman"/>
        <a:ea typeface="Avenir Roman"/>
        <a:cs typeface="Avenir Roman"/>
        <a:sym typeface="Avenir Roman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b="1" dirty="0"/>
              <a:t>Early Warning Systems</a:t>
            </a:r>
            <a:r>
              <a:rPr lang="en-US" altLang="zh-TW" dirty="0"/>
              <a:t> – Detect financial distress before it happens to help firms and investors act early.</a:t>
            </a:r>
          </a:p>
          <a:p>
            <a:r>
              <a:rPr lang="en-US" altLang="zh-TW" b="1" dirty="0"/>
              <a:t>Transparency and Interpretability</a:t>
            </a:r>
            <a:r>
              <a:rPr lang="en-US" altLang="zh-TW" dirty="0"/>
              <a:t> – Use clear, explainable models instead of black-box predictions.</a:t>
            </a:r>
          </a:p>
          <a:p>
            <a:r>
              <a:rPr lang="en-US" altLang="zh-TW" b="1" dirty="0"/>
              <a:t>Publicly Available Data</a:t>
            </a:r>
            <a:r>
              <a:rPr lang="en-US" altLang="zh-TW" dirty="0"/>
              <a:t> – Build reliable insights using only open financial statement information.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8444247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 cop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mplate Presentation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773350" y="2345153"/>
            <a:ext cx="11458100" cy="1760787"/>
          </a:xfrm>
          <a:prstGeom prst="rect">
            <a:avLst/>
          </a:prstGeom>
        </p:spPr>
        <p:txBody>
          <a:bodyPr/>
          <a:lstStyle>
            <a:lvl1pPr>
              <a:defRPr sz="5500"/>
            </a:lvl1pPr>
          </a:lstStyle>
          <a:p>
            <a:r>
              <a:t>Title</a:t>
            </a:r>
          </a:p>
        </p:txBody>
      </p:sp>
      <p:sp>
        <p:nvSpPr>
          <p:cNvPr id="16" name="幻燈片編號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Out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resentation Title"/>
          <p:cNvSpPr txBox="1">
            <a:spLocks noGrp="1"/>
          </p:cNvSpPr>
          <p:nvPr>
            <p:ph type="body" sz="quarter" idx="21"/>
          </p:nvPr>
        </p:nvSpPr>
        <p:spPr>
          <a:xfrm>
            <a:off x="768509" y="9159279"/>
            <a:ext cx="5733892" cy="399033"/>
          </a:xfrm>
          <a:prstGeom prst="rect">
            <a:avLst/>
          </a:prstGeom>
        </p:spPr>
        <p:txBody>
          <a:bodyPr anchor="b">
            <a:spAutoFit/>
          </a:bodyPr>
          <a:lstStyle>
            <a:lvl1pPr defTabSz="457200">
              <a:spcBef>
                <a:spcPts val="1200"/>
              </a:spcBef>
              <a:defRPr sz="2000">
                <a:solidFill>
                  <a:srgbClr val="5A5F5E"/>
                </a:solidFill>
                <a:latin typeface="Helvetica Neue Thin"/>
                <a:ea typeface="Helvetica Neue Thin"/>
                <a:cs typeface="Helvetica Neue Thin"/>
                <a:sym typeface="Helvetica Neue Thin"/>
              </a:defRPr>
            </a:lvl1pPr>
          </a:lstStyle>
          <a:p>
            <a:r>
              <a:t>Presentation Title</a:t>
            </a:r>
          </a:p>
        </p:txBody>
      </p:sp>
      <p:sp>
        <p:nvSpPr>
          <p:cNvPr id="24" name="Outline"/>
          <p:cNvSpPr txBox="1"/>
          <p:nvPr/>
        </p:nvSpPr>
        <p:spPr>
          <a:xfrm>
            <a:off x="762000" y="762000"/>
            <a:ext cx="11467783" cy="60985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normAutofit lnSpcReduction="10000"/>
          </a:bodyPr>
          <a:lstStyle>
            <a:lvl1pPr>
              <a:defRPr sz="3500">
                <a:latin typeface="+mn-lt"/>
                <a:ea typeface="+mn-ea"/>
                <a:cs typeface="+mn-cs"/>
                <a:sym typeface="Helvetica Neue"/>
              </a:defRPr>
            </a:lvl1pPr>
          </a:lstStyle>
          <a:p>
            <a:r>
              <a:t>Outline</a:t>
            </a:r>
          </a:p>
        </p:txBody>
      </p:sp>
      <p:sp>
        <p:nvSpPr>
          <p:cNvPr id="25" name="文字"/>
          <p:cNvSpPr txBox="1">
            <a:spLocks noGrp="1"/>
          </p:cNvSpPr>
          <p:nvPr>
            <p:ph type="body" sz="quarter" idx="22"/>
          </p:nvPr>
        </p:nvSpPr>
        <p:spPr>
          <a:xfrm>
            <a:off x="761999" y="1581811"/>
            <a:ext cx="11467783" cy="635001"/>
          </a:xfrm>
          <a:prstGeom prst="rect">
            <a:avLst/>
          </a:prstGeom>
        </p:spPr>
        <p:txBody>
          <a:bodyPr>
            <a:spAutoFit/>
          </a:bodyPr>
          <a:lstStyle/>
          <a:p>
            <a:pPr marL="444500" indent="-444500">
              <a:lnSpc>
                <a:spcPct val="150000"/>
              </a:lnSpc>
              <a:buClr>
                <a:srgbClr val="5A5F5E"/>
              </a:buClr>
              <a:buSzPct val="100000"/>
              <a:buAutoNum type="arabicPeriod"/>
              <a:defRPr sz="3000">
                <a:solidFill>
                  <a:srgbClr val="5A5F5E"/>
                </a:solidFill>
              </a:defRPr>
            </a:pPr>
            <a:endParaRPr/>
          </a:p>
        </p:txBody>
      </p:sp>
      <p:sp>
        <p:nvSpPr>
          <p:cNvPr id="26" name="線條"/>
          <p:cNvSpPr/>
          <p:nvPr/>
        </p:nvSpPr>
        <p:spPr>
          <a:xfrm>
            <a:off x="700892" y="9159279"/>
            <a:ext cx="10543492" cy="1"/>
          </a:xfrm>
          <a:prstGeom prst="line">
            <a:avLst/>
          </a:prstGeom>
          <a:ln w="25400">
            <a:solidFill>
              <a:srgbClr val="5A5F5E">
                <a:alpha val="15947"/>
              </a:srgbClr>
            </a:solidFill>
            <a:miter lim="400000"/>
          </a:ln>
        </p:spPr>
        <p:txBody>
          <a:bodyPr lIns="50800" tIns="50800" rIns="50800" bIns="50800" anchor="ctr"/>
          <a:lstStyle/>
          <a:p>
            <a:endParaRPr/>
          </a:p>
        </p:txBody>
      </p:sp>
      <p:pic>
        <p:nvPicPr>
          <p:cNvPr id="27" name="norm_quant.jpg" descr="norm_quant.jpg"/>
          <p:cNvPicPr>
            <a:picLocks noChangeAspect="1"/>
          </p:cNvPicPr>
          <p:nvPr/>
        </p:nvPicPr>
        <p:blipFill>
          <a:blip r:embed="rId2"/>
          <a:srcRect l="7685" t="12299" r="6266" b="13992"/>
          <a:stretch>
            <a:fillRect/>
          </a:stretch>
        </p:blipFill>
        <p:spPr>
          <a:xfrm>
            <a:off x="11456784" y="8603504"/>
            <a:ext cx="1259216" cy="76312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88" h="21575" extrusionOk="0">
                <a:moveTo>
                  <a:pt x="10967" y="0"/>
                </a:moveTo>
                <a:cubicBezTo>
                  <a:pt x="10620" y="33"/>
                  <a:pt x="10344" y="274"/>
                  <a:pt x="10014" y="819"/>
                </a:cubicBezTo>
                <a:cubicBezTo>
                  <a:pt x="9987" y="865"/>
                  <a:pt x="9960" y="917"/>
                  <a:pt x="9933" y="965"/>
                </a:cubicBezTo>
                <a:cubicBezTo>
                  <a:pt x="9318" y="2043"/>
                  <a:pt x="8762" y="3752"/>
                  <a:pt x="7544" y="8281"/>
                </a:cubicBezTo>
                <a:cubicBezTo>
                  <a:pt x="7443" y="8658"/>
                  <a:pt x="7392" y="8837"/>
                  <a:pt x="7306" y="9156"/>
                </a:cubicBezTo>
                <a:cubicBezTo>
                  <a:pt x="7307" y="9189"/>
                  <a:pt x="7299" y="9214"/>
                  <a:pt x="7286" y="9223"/>
                </a:cubicBezTo>
                <a:cubicBezTo>
                  <a:pt x="7153" y="9714"/>
                  <a:pt x="7023" y="10202"/>
                  <a:pt x="6918" y="10581"/>
                </a:cubicBezTo>
                <a:cubicBezTo>
                  <a:pt x="6916" y="10589"/>
                  <a:pt x="6915" y="10608"/>
                  <a:pt x="6912" y="10614"/>
                </a:cubicBezTo>
                <a:cubicBezTo>
                  <a:pt x="6699" y="11385"/>
                  <a:pt x="6514" y="12030"/>
                  <a:pt x="6354" y="12567"/>
                </a:cubicBezTo>
                <a:cubicBezTo>
                  <a:pt x="6353" y="12580"/>
                  <a:pt x="6344" y="12593"/>
                  <a:pt x="6340" y="12600"/>
                </a:cubicBezTo>
                <a:cubicBezTo>
                  <a:pt x="6308" y="12707"/>
                  <a:pt x="6270" y="12843"/>
                  <a:pt x="6238" y="12948"/>
                </a:cubicBezTo>
                <a:cubicBezTo>
                  <a:pt x="6194" y="13093"/>
                  <a:pt x="6152" y="13213"/>
                  <a:pt x="6109" y="13352"/>
                </a:cubicBezTo>
                <a:cubicBezTo>
                  <a:pt x="6109" y="13372"/>
                  <a:pt x="6110" y="13379"/>
                  <a:pt x="6102" y="13386"/>
                </a:cubicBezTo>
                <a:cubicBezTo>
                  <a:pt x="6074" y="13476"/>
                  <a:pt x="6041" y="13567"/>
                  <a:pt x="6013" y="13655"/>
                </a:cubicBezTo>
                <a:cubicBezTo>
                  <a:pt x="6009" y="13667"/>
                  <a:pt x="6011" y="13664"/>
                  <a:pt x="6007" y="13678"/>
                </a:cubicBezTo>
                <a:cubicBezTo>
                  <a:pt x="6005" y="13683"/>
                  <a:pt x="6002" y="13684"/>
                  <a:pt x="6000" y="13689"/>
                </a:cubicBezTo>
                <a:cubicBezTo>
                  <a:pt x="5386" y="15618"/>
                  <a:pt x="4805" y="17096"/>
                  <a:pt x="4197" y="18177"/>
                </a:cubicBezTo>
                <a:cubicBezTo>
                  <a:pt x="4193" y="18190"/>
                  <a:pt x="4197" y="18196"/>
                  <a:pt x="4190" y="18211"/>
                </a:cubicBezTo>
                <a:cubicBezTo>
                  <a:pt x="4177" y="18236"/>
                  <a:pt x="4160" y="18264"/>
                  <a:pt x="4142" y="18278"/>
                </a:cubicBezTo>
                <a:cubicBezTo>
                  <a:pt x="4111" y="18331"/>
                  <a:pt x="4078" y="18383"/>
                  <a:pt x="4047" y="18435"/>
                </a:cubicBezTo>
                <a:cubicBezTo>
                  <a:pt x="4033" y="18470"/>
                  <a:pt x="4019" y="18495"/>
                  <a:pt x="3999" y="18525"/>
                </a:cubicBezTo>
                <a:cubicBezTo>
                  <a:pt x="3988" y="18543"/>
                  <a:pt x="3981" y="18547"/>
                  <a:pt x="3972" y="18558"/>
                </a:cubicBezTo>
                <a:cubicBezTo>
                  <a:pt x="3371" y="19526"/>
                  <a:pt x="2740" y="20155"/>
                  <a:pt x="2013" y="20556"/>
                </a:cubicBezTo>
                <a:cubicBezTo>
                  <a:pt x="1944" y="20594"/>
                  <a:pt x="1865" y="20631"/>
                  <a:pt x="1788" y="20668"/>
                </a:cubicBezTo>
                <a:cubicBezTo>
                  <a:pt x="1784" y="20671"/>
                  <a:pt x="1777" y="20679"/>
                  <a:pt x="1775" y="20679"/>
                </a:cubicBezTo>
                <a:cubicBezTo>
                  <a:pt x="1442" y="20836"/>
                  <a:pt x="1063" y="20965"/>
                  <a:pt x="795" y="21016"/>
                </a:cubicBezTo>
                <a:cubicBezTo>
                  <a:pt x="633" y="21046"/>
                  <a:pt x="600" y="21072"/>
                  <a:pt x="577" y="21173"/>
                </a:cubicBezTo>
                <a:cubicBezTo>
                  <a:pt x="551" y="21285"/>
                  <a:pt x="537" y="21296"/>
                  <a:pt x="284" y="21296"/>
                </a:cubicBezTo>
                <a:cubicBezTo>
                  <a:pt x="56" y="21296"/>
                  <a:pt x="17" y="21301"/>
                  <a:pt x="5" y="21375"/>
                </a:cubicBezTo>
                <a:cubicBezTo>
                  <a:pt x="-2" y="21422"/>
                  <a:pt x="-1" y="21487"/>
                  <a:pt x="5" y="21521"/>
                </a:cubicBezTo>
                <a:cubicBezTo>
                  <a:pt x="22" y="21600"/>
                  <a:pt x="21568" y="21589"/>
                  <a:pt x="21561" y="21509"/>
                </a:cubicBezTo>
                <a:cubicBezTo>
                  <a:pt x="21558" y="21482"/>
                  <a:pt x="21567" y="21428"/>
                  <a:pt x="21581" y="21386"/>
                </a:cubicBezTo>
                <a:cubicBezTo>
                  <a:pt x="21598" y="21334"/>
                  <a:pt x="21584" y="21269"/>
                  <a:pt x="21540" y="21184"/>
                </a:cubicBezTo>
                <a:cubicBezTo>
                  <a:pt x="21484" y="21076"/>
                  <a:pt x="21424" y="21043"/>
                  <a:pt x="21146" y="20971"/>
                </a:cubicBezTo>
                <a:cubicBezTo>
                  <a:pt x="21141" y="20972"/>
                  <a:pt x="21142" y="20972"/>
                  <a:pt x="21139" y="20971"/>
                </a:cubicBezTo>
                <a:cubicBezTo>
                  <a:pt x="21006" y="20936"/>
                  <a:pt x="20876" y="20891"/>
                  <a:pt x="20751" y="20847"/>
                </a:cubicBezTo>
                <a:cubicBezTo>
                  <a:pt x="20709" y="20840"/>
                  <a:pt x="20670" y="20832"/>
                  <a:pt x="20656" y="20814"/>
                </a:cubicBezTo>
                <a:cubicBezTo>
                  <a:pt x="20474" y="20746"/>
                  <a:pt x="20298" y="20667"/>
                  <a:pt x="20132" y="20578"/>
                </a:cubicBezTo>
                <a:cubicBezTo>
                  <a:pt x="20125" y="20578"/>
                  <a:pt x="20118" y="20574"/>
                  <a:pt x="20111" y="20567"/>
                </a:cubicBezTo>
                <a:cubicBezTo>
                  <a:pt x="19679" y="20332"/>
                  <a:pt x="19291" y="20019"/>
                  <a:pt x="18928" y="19613"/>
                </a:cubicBezTo>
                <a:cubicBezTo>
                  <a:pt x="18919" y="19605"/>
                  <a:pt x="18916" y="19600"/>
                  <a:pt x="18907" y="19591"/>
                </a:cubicBezTo>
                <a:cubicBezTo>
                  <a:pt x="18900" y="19583"/>
                  <a:pt x="18893" y="19576"/>
                  <a:pt x="18887" y="19568"/>
                </a:cubicBezTo>
                <a:cubicBezTo>
                  <a:pt x="18830" y="19503"/>
                  <a:pt x="18779" y="19436"/>
                  <a:pt x="18723" y="19366"/>
                </a:cubicBezTo>
                <a:cubicBezTo>
                  <a:pt x="18720" y="19367"/>
                  <a:pt x="18714" y="19365"/>
                  <a:pt x="18710" y="19366"/>
                </a:cubicBezTo>
                <a:cubicBezTo>
                  <a:pt x="18686" y="19371"/>
                  <a:pt x="18627" y="19281"/>
                  <a:pt x="18587" y="19198"/>
                </a:cubicBezTo>
                <a:cubicBezTo>
                  <a:pt x="18510" y="19095"/>
                  <a:pt x="18432" y="18985"/>
                  <a:pt x="18356" y="18873"/>
                </a:cubicBezTo>
                <a:cubicBezTo>
                  <a:pt x="18353" y="18871"/>
                  <a:pt x="18351" y="18864"/>
                  <a:pt x="18349" y="18861"/>
                </a:cubicBezTo>
                <a:cubicBezTo>
                  <a:pt x="18294" y="18780"/>
                  <a:pt x="18240" y="18702"/>
                  <a:pt x="18186" y="18614"/>
                </a:cubicBezTo>
                <a:cubicBezTo>
                  <a:pt x="17775" y="17959"/>
                  <a:pt x="17463" y="17349"/>
                  <a:pt x="17104" y="16483"/>
                </a:cubicBezTo>
                <a:cubicBezTo>
                  <a:pt x="17087" y="16455"/>
                  <a:pt x="17076" y="16412"/>
                  <a:pt x="17063" y="16370"/>
                </a:cubicBezTo>
                <a:cubicBezTo>
                  <a:pt x="17061" y="16363"/>
                  <a:pt x="17058" y="16366"/>
                  <a:pt x="17056" y="16359"/>
                </a:cubicBezTo>
                <a:cubicBezTo>
                  <a:pt x="17037" y="16312"/>
                  <a:pt x="17022" y="16274"/>
                  <a:pt x="17002" y="16225"/>
                </a:cubicBezTo>
                <a:cubicBezTo>
                  <a:pt x="16863" y="15881"/>
                  <a:pt x="16729" y="15535"/>
                  <a:pt x="16601" y="15181"/>
                </a:cubicBezTo>
                <a:cubicBezTo>
                  <a:pt x="16592" y="15163"/>
                  <a:pt x="16592" y="15152"/>
                  <a:pt x="16587" y="15136"/>
                </a:cubicBezTo>
                <a:cubicBezTo>
                  <a:pt x="16315" y="14383"/>
                  <a:pt x="16029" y="13464"/>
                  <a:pt x="15696" y="12320"/>
                </a:cubicBezTo>
                <a:cubicBezTo>
                  <a:pt x="15679" y="12291"/>
                  <a:pt x="15664" y="12242"/>
                  <a:pt x="15648" y="12163"/>
                </a:cubicBezTo>
                <a:cubicBezTo>
                  <a:pt x="15514" y="11699"/>
                  <a:pt x="15366" y="11192"/>
                  <a:pt x="15206" y="10614"/>
                </a:cubicBezTo>
                <a:cubicBezTo>
                  <a:pt x="15192" y="10579"/>
                  <a:pt x="15181" y="10530"/>
                  <a:pt x="15172" y="10480"/>
                </a:cubicBezTo>
                <a:cubicBezTo>
                  <a:pt x="15085" y="10167"/>
                  <a:pt x="14989" y="9822"/>
                  <a:pt x="14893" y="9470"/>
                </a:cubicBezTo>
                <a:cubicBezTo>
                  <a:pt x="14885" y="9463"/>
                  <a:pt x="14879" y="9447"/>
                  <a:pt x="14879" y="9425"/>
                </a:cubicBezTo>
                <a:cubicBezTo>
                  <a:pt x="14786" y="9084"/>
                  <a:pt x="14717" y="8830"/>
                  <a:pt x="14614" y="8449"/>
                </a:cubicBezTo>
                <a:cubicBezTo>
                  <a:pt x="14560" y="8250"/>
                  <a:pt x="14541" y="8183"/>
                  <a:pt x="14491" y="8000"/>
                </a:cubicBezTo>
                <a:cubicBezTo>
                  <a:pt x="13853" y="5643"/>
                  <a:pt x="13510" y="4430"/>
                  <a:pt x="13233" y="3579"/>
                </a:cubicBezTo>
                <a:cubicBezTo>
                  <a:pt x="12600" y="1643"/>
                  <a:pt x="12102" y="617"/>
                  <a:pt x="11593" y="202"/>
                </a:cubicBezTo>
                <a:cubicBezTo>
                  <a:pt x="11414" y="56"/>
                  <a:pt x="11335" y="16"/>
                  <a:pt x="11157" y="0"/>
                </a:cubicBezTo>
                <a:lnTo>
                  <a:pt x="11008" y="0"/>
                </a:lnTo>
                <a:lnTo>
                  <a:pt x="10967" y="0"/>
                </a:lnTo>
                <a:close/>
                <a:moveTo>
                  <a:pt x="16988" y="17190"/>
                </a:moveTo>
                <a:cubicBezTo>
                  <a:pt x="17071" y="17171"/>
                  <a:pt x="17192" y="17226"/>
                  <a:pt x="17192" y="17313"/>
                </a:cubicBezTo>
                <a:cubicBezTo>
                  <a:pt x="17192" y="17341"/>
                  <a:pt x="17221" y="17424"/>
                  <a:pt x="17254" y="17492"/>
                </a:cubicBezTo>
                <a:cubicBezTo>
                  <a:pt x="17286" y="17561"/>
                  <a:pt x="17304" y="17636"/>
                  <a:pt x="17295" y="17661"/>
                </a:cubicBezTo>
                <a:cubicBezTo>
                  <a:pt x="17285" y="17685"/>
                  <a:pt x="17273" y="17771"/>
                  <a:pt x="17267" y="17852"/>
                </a:cubicBezTo>
                <a:cubicBezTo>
                  <a:pt x="17255" y="18013"/>
                  <a:pt x="17313" y="18045"/>
                  <a:pt x="17376" y="17919"/>
                </a:cubicBezTo>
                <a:cubicBezTo>
                  <a:pt x="17419" y="17833"/>
                  <a:pt x="17474" y="17875"/>
                  <a:pt x="17451" y="17975"/>
                </a:cubicBezTo>
                <a:cubicBezTo>
                  <a:pt x="17441" y="18018"/>
                  <a:pt x="17458" y="18042"/>
                  <a:pt x="17492" y="18042"/>
                </a:cubicBezTo>
                <a:cubicBezTo>
                  <a:pt x="17571" y="18042"/>
                  <a:pt x="17588" y="18100"/>
                  <a:pt x="17539" y="18188"/>
                </a:cubicBezTo>
                <a:cubicBezTo>
                  <a:pt x="17501" y="18258"/>
                  <a:pt x="17509" y="18267"/>
                  <a:pt x="17594" y="18267"/>
                </a:cubicBezTo>
                <a:cubicBezTo>
                  <a:pt x="17687" y="18266"/>
                  <a:pt x="17689" y="18275"/>
                  <a:pt x="17689" y="18491"/>
                </a:cubicBezTo>
                <a:cubicBezTo>
                  <a:pt x="17689" y="18679"/>
                  <a:pt x="17701" y="18747"/>
                  <a:pt x="17737" y="18727"/>
                </a:cubicBezTo>
                <a:cubicBezTo>
                  <a:pt x="17858" y="18660"/>
                  <a:pt x="17941" y="18760"/>
                  <a:pt x="17921" y="18951"/>
                </a:cubicBezTo>
                <a:cubicBezTo>
                  <a:pt x="17904" y="19108"/>
                  <a:pt x="17935" y="19195"/>
                  <a:pt x="17982" y="19131"/>
                </a:cubicBezTo>
                <a:cubicBezTo>
                  <a:pt x="18004" y="19101"/>
                  <a:pt x="18026" y="19091"/>
                  <a:pt x="18036" y="19108"/>
                </a:cubicBezTo>
                <a:cubicBezTo>
                  <a:pt x="18047" y="19125"/>
                  <a:pt x="18074" y="19118"/>
                  <a:pt x="18097" y="19086"/>
                </a:cubicBezTo>
                <a:cubicBezTo>
                  <a:pt x="18143" y="19023"/>
                  <a:pt x="18196" y="19093"/>
                  <a:pt x="18165" y="19176"/>
                </a:cubicBezTo>
                <a:cubicBezTo>
                  <a:pt x="18156" y="19200"/>
                  <a:pt x="18172" y="19226"/>
                  <a:pt x="18199" y="19243"/>
                </a:cubicBezTo>
                <a:cubicBezTo>
                  <a:pt x="18237" y="19267"/>
                  <a:pt x="18240" y="19289"/>
                  <a:pt x="18213" y="19333"/>
                </a:cubicBezTo>
                <a:cubicBezTo>
                  <a:pt x="18165" y="19412"/>
                  <a:pt x="18168" y="19477"/>
                  <a:pt x="18220" y="19445"/>
                </a:cubicBezTo>
                <a:cubicBezTo>
                  <a:pt x="18283" y="19405"/>
                  <a:pt x="18455" y="19617"/>
                  <a:pt x="18417" y="19692"/>
                </a:cubicBezTo>
                <a:cubicBezTo>
                  <a:pt x="18388" y="19750"/>
                  <a:pt x="18407" y="19910"/>
                  <a:pt x="18444" y="19916"/>
                </a:cubicBezTo>
                <a:cubicBezTo>
                  <a:pt x="18455" y="19918"/>
                  <a:pt x="18504" y="19927"/>
                  <a:pt x="18560" y="19938"/>
                </a:cubicBezTo>
                <a:cubicBezTo>
                  <a:pt x="18616" y="19950"/>
                  <a:pt x="18683" y="19944"/>
                  <a:pt x="18703" y="19916"/>
                </a:cubicBezTo>
                <a:cubicBezTo>
                  <a:pt x="18786" y="19803"/>
                  <a:pt x="18895" y="19993"/>
                  <a:pt x="18880" y="20219"/>
                </a:cubicBezTo>
                <a:cubicBezTo>
                  <a:pt x="18872" y="20332"/>
                  <a:pt x="18886" y="20343"/>
                  <a:pt x="18975" y="20331"/>
                </a:cubicBezTo>
                <a:cubicBezTo>
                  <a:pt x="19073" y="20318"/>
                  <a:pt x="19157" y="20413"/>
                  <a:pt x="19125" y="20499"/>
                </a:cubicBezTo>
                <a:cubicBezTo>
                  <a:pt x="19116" y="20524"/>
                  <a:pt x="19132" y="20584"/>
                  <a:pt x="19166" y="20634"/>
                </a:cubicBezTo>
                <a:cubicBezTo>
                  <a:pt x="19214" y="20707"/>
                  <a:pt x="19282" y="20726"/>
                  <a:pt x="19485" y="20735"/>
                </a:cubicBezTo>
                <a:cubicBezTo>
                  <a:pt x="19821" y="20750"/>
                  <a:pt x="19863" y="20769"/>
                  <a:pt x="19866" y="20881"/>
                </a:cubicBezTo>
                <a:cubicBezTo>
                  <a:pt x="19875" y="21141"/>
                  <a:pt x="20018" y="21220"/>
                  <a:pt x="20173" y="21061"/>
                </a:cubicBezTo>
                <a:cubicBezTo>
                  <a:pt x="20222" y="21009"/>
                  <a:pt x="20252" y="21011"/>
                  <a:pt x="20295" y="21049"/>
                </a:cubicBezTo>
                <a:cubicBezTo>
                  <a:pt x="20327" y="21078"/>
                  <a:pt x="20364" y="21088"/>
                  <a:pt x="20377" y="21083"/>
                </a:cubicBezTo>
                <a:cubicBezTo>
                  <a:pt x="20426" y="21065"/>
                  <a:pt x="20564" y="21193"/>
                  <a:pt x="20547" y="21240"/>
                </a:cubicBezTo>
                <a:cubicBezTo>
                  <a:pt x="20525" y="21298"/>
                  <a:pt x="16894" y="21309"/>
                  <a:pt x="16893" y="21251"/>
                </a:cubicBezTo>
                <a:cubicBezTo>
                  <a:pt x="16879" y="20452"/>
                  <a:pt x="16907" y="17275"/>
                  <a:pt x="16927" y="17234"/>
                </a:cubicBezTo>
                <a:cubicBezTo>
                  <a:pt x="16940" y="17209"/>
                  <a:pt x="16961" y="17196"/>
                  <a:pt x="16988" y="17190"/>
                </a:cubicBezTo>
                <a:close/>
              </a:path>
            </a:pathLst>
          </a:custGeom>
          <a:ln w="12700">
            <a:miter lim="400000"/>
          </a:ln>
        </p:spPr>
      </p:pic>
      <p:sp>
        <p:nvSpPr>
          <p:cNvPr id="28" name="幻燈片編號"/>
          <p:cNvSpPr txBox="1">
            <a:spLocks noGrp="1"/>
          </p:cNvSpPr>
          <p:nvPr>
            <p:ph type="sldNum" sz="quarter" idx="2"/>
          </p:nvPr>
        </p:nvSpPr>
        <p:spPr>
          <a:xfrm>
            <a:off x="11741879" y="213147"/>
            <a:ext cx="494413" cy="399033"/>
          </a:xfrm>
          <a:prstGeom prst="rect">
            <a:avLst/>
          </a:prstGeom>
        </p:spPr>
        <p:txBody>
          <a:bodyPr wrap="square"/>
          <a:lstStyle>
            <a:lvl1pPr algn="r" defTabSz="457200">
              <a:spcBef>
                <a:spcPts val="1200"/>
              </a:spcBef>
              <a:defRPr sz="2000">
                <a:solidFill>
                  <a:srgbClr val="5A5F5E"/>
                </a:solidFill>
                <a:latin typeface="Helvetica Neue Thin"/>
                <a:ea typeface="Helvetica Neue Thin"/>
                <a:cs typeface="Helvetica Neue Thin"/>
                <a:sym typeface="Helvetica Neue Thin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Conten 副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幻燈片編號"/>
          <p:cNvSpPr txBox="1">
            <a:spLocks noGrp="1"/>
          </p:cNvSpPr>
          <p:nvPr>
            <p:ph type="sldNum" sz="quarter" idx="2"/>
          </p:nvPr>
        </p:nvSpPr>
        <p:spPr>
          <a:xfrm>
            <a:off x="11741879" y="213147"/>
            <a:ext cx="494413" cy="399033"/>
          </a:xfrm>
          <a:prstGeom prst="rect">
            <a:avLst/>
          </a:prstGeom>
        </p:spPr>
        <p:txBody>
          <a:bodyPr wrap="square"/>
          <a:lstStyle>
            <a:lvl1pPr algn="r" defTabSz="457200">
              <a:spcBef>
                <a:spcPts val="1200"/>
              </a:spcBef>
              <a:defRPr sz="2000">
                <a:solidFill>
                  <a:srgbClr val="5A5F5E"/>
                </a:solidFill>
                <a:latin typeface="Helvetica Neue Thin"/>
                <a:ea typeface="Helvetica Neue Thin"/>
                <a:cs typeface="Helvetica Neue Thin"/>
                <a:sym typeface="Helvetica Neue Thin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  <p:sp>
        <p:nvSpPr>
          <p:cNvPr id="36" name="線條"/>
          <p:cNvSpPr/>
          <p:nvPr/>
        </p:nvSpPr>
        <p:spPr>
          <a:xfrm>
            <a:off x="761999" y="624879"/>
            <a:ext cx="11474292" cy="1"/>
          </a:xfrm>
          <a:prstGeom prst="line">
            <a:avLst/>
          </a:prstGeom>
          <a:ln w="25400">
            <a:solidFill>
              <a:srgbClr val="5A5F5E">
                <a:alpha val="15947"/>
              </a:srgbClr>
            </a:solidFill>
            <a:miter lim="400000"/>
          </a:ln>
        </p:spPr>
        <p:txBody>
          <a:bodyPr lIns="50800" tIns="50800" rIns="50800" bIns="50800" anchor="ctr"/>
          <a:lstStyle/>
          <a:p>
            <a:endParaRPr/>
          </a:p>
        </p:txBody>
      </p:sp>
      <p:sp>
        <p:nvSpPr>
          <p:cNvPr id="37" name="Section Title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755809" y="213147"/>
            <a:ext cx="9502858" cy="399033"/>
          </a:xfrm>
          <a:prstGeom prst="rect">
            <a:avLst/>
          </a:prstGeom>
        </p:spPr>
        <p:txBody>
          <a:bodyPr>
            <a:spAutoFit/>
          </a:bodyPr>
          <a:lstStyle>
            <a:lvl1pPr defTabSz="457200">
              <a:spcBef>
                <a:spcPts val="1200"/>
              </a:spcBef>
              <a:defRPr sz="2000">
                <a:solidFill>
                  <a:srgbClr val="5A5F5E"/>
                </a:solidFill>
                <a:latin typeface="Helvetica Neue Thin"/>
                <a:ea typeface="Helvetica Neue Thin"/>
                <a:cs typeface="Helvetica Neue Thin"/>
                <a:sym typeface="Helvetica Neue Thin"/>
              </a:defRPr>
            </a:lvl1pPr>
          </a:lstStyle>
          <a:p>
            <a:r>
              <a:t>Section Title</a:t>
            </a:r>
          </a:p>
        </p:txBody>
      </p:sp>
      <p:sp>
        <p:nvSpPr>
          <p:cNvPr id="38" name="Slide Title"/>
          <p:cNvSpPr txBox="1">
            <a:spLocks noGrp="1"/>
          </p:cNvSpPr>
          <p:nvPr>
            <p:ph type="body" sz="quarter" idx="22" hasCustomPrompt="1"/>
          </p:nvPr>
        </p:nvSpPr>
        <p:spPr>
          <a:xfrm>
            <a:off x="762000" y="762000"/>
            <a:ext cx="11467783" cy="609855"/>
          </a:xfrm>
          <a:prstGeom prst="rect">
            <a:avLst/>
          </a:prstGeom>
        </p:spPr>
        <p:txBody>
          <a:bodyPr/>
          <a:lstStyle>
            <a:lvl1pPr>
              <a:defRPr sz="3500">
                <a:latin typeface="+mn-lt"/>
                <a:ea typeface="+mn-ea"/>
                <a:cs typeface="+mn-cs"/>
                <a:sym typeface="Helvetica Neue"/>
              </a:defRPr>
            </a:lvl1pPr>
          </a:lstStyle>
          <a:p>
            <a:r>
              <a:t>Slide Title</a:t>
            </a:r>
          </a:p>
        </p:txBody>
      </p:sp>
      <p:sp>
        <p:nvSpPr>
          <p:cNvPr id="39" name="Use…"/>
          <p:cNvSpPr txBox="1">
            <a:spLocks noGrp="1"/>
          </p:cNvSpPr>
          <p:nvPr>
            <p:ph type="body" sz="half" idx="23"/>
          </p:nvPr>
        </p:nvSpPr>
        <p:spPr>
          <a:xfrm>
            <a:off x="761999" y="1581811"/>
            <a:ext cx="11467783" cy="2925953"/>
          </a:xfrm>
          <a:prstGeom prst="rect">
            <a:avLst/>
          </a:prstGeom>
        </p:spPr>
        <p:txBody>
          <a:bodyPr>
            <a:spAutoFit/>
          </a:bodyPr>
          <a:lstStyle/>
          <a:p>
            <a:pPr marL="444500" indent="-444500">
              <a:lnSpc>
                <a:spcPts val="4500"/>
              </a:lnSpc>
              <a:buClr>
                <a:srgbClr val="00599E"/>
              </a:buClr>
              <a:buSzPct val="100000"/>
              <a:buChar char="⊡"/>
              <a:defRPr sz="3000">
                <a:solidFill>
                  <a:srgbClr val="5A5F5E"/>
                </a:solidFill>
              </a:defRPr>
            </a:pPr>
            <a:r>
              <a:t>Use</a:t>
            </a:r>
          </a:p>
          <a:p>
            <a:pPr marL="444500" indent="-444500">
              <a:lnSpc>
                <a:spcPts val="4500"/>
              </a:lnSpc>
              <a:buClr>
                <a:srgbClr val="00599E"/>
              </a:buClr>
              <a:buSzPct val="100000"/>
              <a:buChar char="⊡"/>
              <a:defRPr sz="3000">
                <a:solidFill>
                  <a:srgbClr val="5A5F5E"/>
                </a:solidFill>
              </a:defRPr>
            </a:pPr>
            <a:r>
              <a:t>All</a:t>
            </a:r>
          </a:p>
          <a:p>
            <a:pPr marL="889000" lvl="1" indent="-444500">
              <a:lnSpc>
                <a:spcPts val="4500"/>
              </a:lnSpc>
              <a:buClr>
                <a:srgbClr val="00599E"/>
              </a:buClr>
              <a:buSzPct val="80000"/>
              <a:buChar char="►"/>
              <a:defRPr sz="3000">
                <a:solidFill>
                  <a:srgbClr val="5A5F5E"/>
                </a:solidFill>
              </a:defRPr>
            </a:pPr>
            <a:r>
              <a:t>w2</a:t>
            </a:r>
          </a:p>
          <a:p>
            <a:pPr marL="889000" lvl="1" indent="-444500">
              <a:lnSpc>
                <a:spcPts val="4500"/>
              </a:lnSpc>
              <a:buClr>
                <a:srgbClr val="00599E"/>
              </a:buClr>
              <a:buSzPct val="80000"/>
              <a:buChar char="►"/>
              <a:defRPr sz="3000">
                <a:solidFill>
                  <a:srgbClr val="5A5F5E"/>
                </a:solidFill>
              </a:defRPr>
            </a:pPr>
            <a:r>
              <a:t>w3</a:t>
            </a:r>
          </a:p>
        </p:txBody>
      </p:sp>
      <p:sp>
        <p:nvSpPr>
          <p:cNvPr id="40" name="Title"/>
          <p:cNvSpPr txBox="1">
            <a:spLocks noGrp="1"/>
          </p:cNvSpPr>
          <p:nvPr>
            <p:ph type="body" sz="quarter" idx="24" hasCustomPrompt="1"/>
          </p:nvPr>
        </p:nvSpPr>
        <p:spPr>
          <a:xfrm>
            <a:off x="715409" y="9235479"/>
            <a:ext cx="5479247" cy="399033"/>
          </a:xfrm>
          <a:prstGeom prst="rect">
            <a:avLst/>
          </a:prstGeom>
        </p:spPr>
        <p:txBody>
          <a:bodyPr anchor="b">
            <a:spAutoFit/>
          </a:bodyPr>
          <a:lstStyle>
            <a:lvl1pPr defTabSz="457200">
              <a:spcBef>
                <a:spcPts val="1200"/>
              </a:spcBef>
              <a:defRPr sz="2000">
                <a:solidFill>
                  <a:srgbClr val="000000"/>
                </a:solidFill>
                <a:latin typeface="Helvetica Neue Thin"/>
                <a:ea typeface="Helvetica Neue Thin"/>
                <a:cs typeface="Helvetica Neue Thin"/>
                <a:sym typeface="Helvetica Neue Thin"/>
              </a:defRPr>
            </a:lvl1pPr>
          </a:lstStyle>
          <a:p>
            <a:r>
              <a:t>Title</a:t>
            </a:r>
          </a:p>
        </p:txBody>
      </p:sp>
      <p:sp>
        <p:nvSpPr>
          <p:cNvPr id="41" name="線條"/>
          <p:cNvSpPr/>
          <p:nvPr/>
        </p:nvSpPr>
        <p:spPr>
          <a:xfrm>
            <a:off x="700892" y="9159279"/>
            <a:ext cx="10543492" cy="1"/>
          </a:xfrm>
          <a:prstGeom prst="line">
            <a:avLst/>
          </a:prstGeom>
          <a:ln w="25400">
            <a:solidFill>
              <a:srgbClr val="5A5F5E">
                <a:alpha val="15947"/>
              </a:srgbClr>
            </a:solidFill>
            <a:miter lim="400000"/>
          </a:ln>
        </p:spPr>
        <p:txBody>
          <a:bodyPr lIns="50800" tIns="50800" rIns="50800" bIns="50800" anchor="ctr"/>
          <a:lstStyle/>
          <a:p>
            <a:endParaRPr/>
          </a:p>
        </p:txBody>
      </p:sp>
      <p:pic>
        <p:nvPicPr>
          <p:cNvPr id="42" name="norm_quant.jpg" descr="norm_quant.jpg"/>
          <p:cNvPicPr>
            <a:picLocks noChangeAspect="1"/>
          </p:cNvPicPr>
          <p:nvPr/>
        </p:nvPicPr>
        <p:blipFill>
          <a:blip r:embed="rId2"/>
          <a:srcRect l="7685" t="12299" r="6266" b="13992"/>
          <a:stretch>
            <a:fillRect/>
          </a:stretch>
        </p:blipFill>
        <p:spPr>
          <a:xfrm>
            <a:off x="11456784" y="8603504"/>
            <a:ext cx="1259216" cy="76312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588" h="21575" extrusionOk="0">
                <a:moveTo>
                  <a:pt x="10967" y="0"/>
                </a:moveTo>
                <a:cubicBezTo>
                  <a:pt x="10620" y="33"/>
                  <a:pt x="10344" y="274"/>
                  <a:pt x="10014" y="819"/>
                </a:cubicBezTo>
                <a:cubicBezTo>
                  <a:pt x="9987" y="865"/>
                  <a:pt x="9960" y="917"/>
                  <a:pt x="9933" y="965"/>
                </a:cubicBezTo>
                <a:cubicBezTo>
                  <a:pt x="9318" y="2043"/>
                  <a:pt x="8762" y="3752"/>
                  <a:pt x="7544" y="8281"/>
                </a:cubicBezTo>
                <a:cubicBezTo>
                  <a:pt x="7443" y="8658"/>
                  <a:pt x="7392" y="8837"/>
                  <a:pt x="7306" y="9156"/>
                </a:cubicBezTo>
                <a:cubicBezTo>
                  <a:pt x="7307" y="9189"/>
                  <a:pt x="7299" y="9214"/>
                  <a:pt x="7286" y="9223"/>
                </a:cubicBezTo>
                <a:cubicBezTo>
                  <a:pt x="7153" y="9714"/>
                  <a:pt x="7023" y="10202"/>
                  <a:pt x="6918" y="10581"/>
                </a:cubicBezTo>
                <a:cubicBezTo>
                  <a:pt x="6916" y="10589"/>
                  <a:pt x="6915" y="10608"/>
                  <a:pt x="6912" y="10614"/>
                </a:cubicBezTo>
                <a:cubicBezTo>
                  <a:pt x="6699" y="11385"/>
                  <a:pt x="6514" y="12030"/>
                  <a:pt x="6354" y="12567"/>
                </a:cubicBezTo>
                <a:cubicBezTo>
                  <a:pt x="6353" y="12580"/>
                  <a:pt x="6344" y="12593"/>
                  <a:pt x="6340" y="12600"/>
                </a:cubicBezTo>
                <a:cubicBezTo>
                  <a:pt x="6308" y="12707"/>
                  <a:pt x="6270" y="12843"/>
                  <a:pt x="6238" y="12948"/>
                </a:cubicBezTo>
                <a:cubicBezTo>
                  <a:pt x="6194" y="13093"/>
                  <a:pt x="6152" y="13213"/>
                  <a:pt x="6109" y="13352"/>
                </a:cubicBezTo>
                <a:cubicBezTo>
                  <a:pt x="6109" y="13372"/>
                  <a:pt x="6110" y="13379"/>
                  <a:pt x="6102" y="13386"/>
                </a:cubicBezTo>
                <a:cubicBezTo>
                  <a:pt x="6074" y="13476"/>
                  <a:pt x="6041" y="13567"/>
                  <a:pt x="6013" y="13655"/>
                </a:cubicBezTo>
                <a:cubicBezTo>
                  <a:pt x="6009" y="13667"/>
                  <a:pt x="6011" y="13664"/>
                  <a:pt x="6007" y="13678"/>
                </a:cubicBezTo>
                <a:cubicBezTo>
                  <a:pt x="6005" y="13683"/>
                  <a:pt x="6002" y="13684"/>
                  <a:pt x="6000" y="13689"/>
                </a:cubicBezTo>
                <a:cubicBezTo>
                  <a:pt x="5386" y="15618"/>
                  <a:pt x="4805" y="17096"/>
                  <a:pt x="4197" y="18177"/>
                </a:cubicBezTo>
                <a:cubicBezTo>
                  <a:pt x="4193" y="18190"/>
                  <a:pt x="4197" y="18196"/>
                  <a:pt x="4190" y="18211"/>
                </a:cubicBezTo>
                <a:cubicBezTo>
                  <a:pt x="4177" y="18236"/>
                  <a:pt x="4160" y="18264"/>
                  <a:pt x="4142" y="18278"/>
                </a:cubicBezTo>
                <a:cubicBezTo>
                  <a:pt x="4111" y="18331"/>
                  <a:pt x="4078" y="18383"/>
                  <a:pt x="4047" y="18435"/>
                </a:cubicBezTo>
                <a:cubicBezTo>
                  <a:pt x="4033" y="18470"/>
                  <a:pt x="4019" y="18495"/>
                  <a:pt x="3999" y="18525"/>
                </a:cubicBezTo>
                <a:cubicBezTo>
                  <a:pt x="3988" y="18543"/>
                  <a:pt x="3981" y="18547"/>
                  <a:pt x="3972" y="18558"/>
                </a:cubicBezTo>
                <a:cubicBezTo>
                  <a:pt x="3371" y="19526"/>
                  <a:pt x="2740" y="20155"/>
                  <a:pt x="2013" y="20556"/>
                </a:cubicBezTo>
                <a:cubicBezTo>
                  <a:pt x="1944" y="20594"/>
                  <a:pt x="1865" y="20631"/>
                  <a:pt x="1788" y="20668"/>
                </a:cubicBezTo>
                <a:cubicBezTo>
                  <a:pt x="1784" y="20671"/>
                  <a:pt x="1777" y="20679"/>
                  <a:pt x="1775" y="20679"/>
                </a:cubicBezTo>
                <a:cubicBezTo>
                  <a:pt x="1442" y="20836"/>
                  <a:pt x="1063" y="20965"/>
                  <a:pt x="795" y="21016"/>
                </a:cubicBezTo>
                <a:cubicBezTo>
                  <a:pt x="633" y="21046"/>
                  <a:pt x="600" y="21072"/>
                  <a:pt x="577" y="21173"/>
                </a:cubicBezTo>
                <a:cubicBezTo>
                  <a:pt x="551" y="21285"/>
                  <a:pt x="537" y="21296"/>
                  <a:pt x="284" y="21296"/>
                </a:cubicBezTo>
                <a:cubicBezTo>
                  <a:pt x="56" y="21296"/>
                  <a:pt x="17" y="21301"/>
                  <a:pt x="5" y="21375"/>
                </a:cubicBezTo>
                <a:cubicBezTo>
                  <a:pt x="-2" y="21422"/>
                  <a:pt x="-1" y="21487"/>
                  <a:pt x="5" y="21521"/>
                </a:cubicBezTo>
                <a:cubicBezTo>
                  <a:pt x="22" y="21600"/>
                  <a:pt x="21568" y="21589"/>
                  <a:pt x="21561" y="21509"/>
                </a:cubicBezTo>
                <a:cubicBezTo>
                  <a:pt x="21558" y="21482"/>
                  <a:pt x="21567" y="21428"/>
                  <a:pt x="21581" y="21386"/>
                </a:cubicBezTo>
                <a:cubicBezTo>
                  <a:pt x="21598" y="21334"/>
                  <a:pt x="21584" y="21269"/>
                  <a:pt x="21540" y="21184"/>
                </a:cubicBezTo>
                <a:cubicBezTo>
                  <a:pt x="21484" y="21076"/>
                  <a:pt x="21424" y="21043"/>
                  <a:pt x="21146" y="20971"/>
                </a:cubicBezTo>
                <a:cubicBezTo>
                  <a:pt x="21141" y="20972"/>
                  <a:pt x="21142" y="20972"/>
                  <a:pt x="21139" y="20971"/>
                </a:cubicBezTo>
                <a:cubicBezTo>
                  <a:pt x="21006" y="20936"/>
                  <a:pt x="20876" y="20891"/>
                  <a:pt x="20751" y="20847"/>
                </a:cubicBezTo>
                <a:cubicBezTo>
                  <a:pt x="20709" y="20840"/>
                  <a:pt x="20670" y="20832"/>
                  <a:pt x="20656" y="20814"/>
                </a:cubicBezTo>
                <a:cubicBezTo>
                  <a:pt x="20474" y="20746"/>
                  <a:pt x="20298" y="20667"/>
                  <a:pt x="20132" y="20578"/>
                </a:cubicBezTo>
                <a:cubicBezTo>
                  <a:pt x="20125" y="20578"/>
                  <a:pt x="20118" y="20574"/>
                  <a:pt x="20111" y="20567"/>
                </a:cubicBezTo>
                <a:cubicBezTo>
                  <a:pt x="19679" y="20332"/>
                  <a:pt x="19291" y="20019"/>
                  <a:pt x="18928" y="19613"/>
                </a:cubicBezTo>
                <a:cubicBezTo>
                  <a:pt x="18919" y="19605"/>
                  <a:pt x="18916" y="19600"/>
                  <a:pt x="18907" y="19591"/>
                </a:cubicBezTo>
                <a:cubicBezTo>
                  <a:pt x="18900" y="19583"/>
                  <a:pt x="18893" y="19576"/>
                  <a:pt x="18887" y="19568"/>
                </a:cubicBezTo>
                <a:cubicBezTo>
                  <a:pt x="18830" y="19503"/>
                  <a:pt x="18779" y="19436"/>
                  <a:pt x="18723" y="19366"/>
                </a:cubicBezTo>
                <a:cubicBezTo>
                  <a:pt x="18720" y="19367"/>
                  <a:pt x="18714" y="19365"/>
                  <a:pt x="18710" y="19366"/>
                </a:cubicBezTo>
                <a:cubicBezTo>
                  <a:pt x="18686" y="19371"/>
                  <a:pt x="18627" y="19281"/>
                  <a:pt x="18587" y="19198"/>
                </a:cubicBezTo>
                <a:cubicBezTo>
                  <a:pt x="18510" y="19095"/>
                  <a:pt x="18432" y="18985"/>
                  <a:pt x="18356" y="18873"/>
                </a:cubicBezTo>
                <a:cubicBezTo>
                  <a:pt x="18353" y="18871"/>
                  <a:pt x="18351" y="18864"/>
                  <a:pt x="18349" y="18861"/>
                </a:cubicBezTo>
                <a:cubicBezTo>
                  <a:pt x="18294" y="18780"/>
                  <a:pt x="18240" y="18702"/>
                  <a:pt x="18186" y="18614"/>
                </a:cubicBezTo>
                <a:cubicBezTo>
                  <a:pt x="17775" y="17959"/>
                  <a:pt x="17463" y="17349"/>
                  <a:pt x="17104" y="16483"/>
                </a:cubicBezTo>
                <a:cubicBezTo>
                  <a:pt x="17087" y="16455"/>
                  <a:pt x="17076" y="16412"/>
                  <a:pt x="17063" y="16370"/>
                </a:cubicBezTo>
                <a:cubicBezTo>
                  <a:pt x="17061" y="16363"/>
                  <a:pt x="17058" y="16366"/>
                  <a:pt x="17056" y="16359"/>
                </a:cubicBezTo>
                <a:cubicBezTo>
                  <a:pt x="17037" y="16312"/>
                  <a:pt x="17022" y="16274"/>
                  <a:pt x="17002" y="16225"/>
                </a:cubicBezTo>
                <a:cubicBezTo>
                  <a:pt x="16863" y="15881"/>
                  <a:pt x="16729" y="15535"/>
                  <a:pt x="16601" y="15181"/>
                </a:cubicBezTo>
                <a:cubicBezTo>
                  <a:pt x="16592" y="15163"/>
                  <a:pt x="16592" y="15152"/>
                  <a:pt x="16587" y="15136"/>
                </a:cubicBezTo>
                <a:cubicBezTo>
                  <a:pt x="16315" y="14383"/>
                  <a:pt x="16029" y="13464"/>
                  <a:pt x="15696" y="12320"/>
                </a:cubicBezTo>
                <a:cubicBezTo>
                  <a:pt x="15679" y="12291"/>
                  <a:pt x="15664" y="12242"/>
                  <a:pt x="15648" y="12163"/>
                </a:cubicBezTo>
                <a:cubicBezTo>
                  <a:pt x="15514" y="11699"/>
                  <a:pt x="15366" y="11192"/>
                  <a:pt x="15206" y="10614"/>
                </a:cubicBezTo>
                <a:cubicBezTo>
                  <a:pt x="15192" y="10579"/>
                  <a:pt x="15181" y="10530"/>
                  <a:pt x="15172" y="10480"/>
                </a:cubicBezTo>
                <a:cubicBezTo>
                  <a:pt x="15085" y="10167"/>
                  <a:pt x="14989" y="9822"/>
                  <a:pt x="14893" y="9470"/>
                </a:cubicBezTo>
                <a:cubicBezTo>
                  <a:pt x="14885" y="9463"/>
                  <a:pt x="14879" y="9447"/>
                  <a:pt x="14879" y="9425"/>
                </a:cubicBezTo>
                <a:cubicBezTo>
                  <a:pt x="14786" y="9084"/>
                  <a:pt x="14717" y="8830"/>
                  <a:pt x="14614" y="8449"/>
                </a:cubicBezTo>
                <a:cubicBezTo>
                  <a:pt x="14560" y="8250"/>
                  <a:pt x="14541" y="8183"/>
                  <a:pt x="14491" y="8000"/>
                </a:cubicBezTo>
                <a:cubicBezTo>
                  <a:pt x="13853" y="5643"/>
                  <a:pt x="13510" y="4430"/>
                  <a:pt x="13233" y="3579"/>
                </a:cubicBezTo>
                <a:cubicBezTo>
                  <a:pt x="12600" y="1643"/>
                  <a:pt x="12102" y="617"/>
                  <a:pt x="11593" y="202"/>
                </a:cubicBezTo>
                <a:cubicBezTo>
                  <a:pt x="11414" y="56"/>
                  <a:pt x="11335" y="16"/>
                  <a:pt x="11157" y="0"/>
                </a:cubicBezTo>
                <a:lnTo>
                  <a:pt x="11008" y="0"/>
                </a:lnTo>
                <a:lnTo>
                  <a:pt x="10967" y="0"/>
                </a:lnTo>
                <a:close/>
                <a:moveTo>
                  <a:pt x="16988" y="17190"/>
                </a:moveTo>
                <a:cubicBezTo>
                  <a:pt x="17071" y="17171"/>
                  <a:pt x="17192" y="17226"/>
                  <a:pt x="17192" y="17313"/>
                </a:cubicBezTo>
                <a:cubicBezTo>
                  <a:pt x="17192" y="17341"/>
                  <a:pt x="17221" y="17424"/>
                  <a:pt x="17254" y="17492"/>
                </a:cubicBezTo>
                <a:cubicBezTo>
                  <a:pt x="17286" y="17561"/>
                  <a:pt x="17304" y="17636"/>
                  <a:pt x="17295" y="17661"/>
                </a:cubicBezTo>
                <a:cubicBezTo>
                  <a:pt x="17285" y="17685"/>
                  <a:pt x="17273" y="17771"/>
                  <a:pt x="17267" y="17852"/>
                </a:cubicBezTo>
                <a:cubicBezTo>
                  <a:pt x="17255" y="18013"/>
                  <a:pt x="17313" y="18045"/>
                  <a:pt x="17376" y="17919"/>
                </a:cubicBezTo>
                <a:cubicBezTo>
                  <a:pt x="17419" y="17833"/>
                  <a:pt x="17474" y="17875"/>
                  <a:pt x="17451" y="17975"/>
                </a:cubicBezTo>
                <a:cubicBezTo>
                  <a:pt x="17441" y="18018"/>
                  <a:pt x="17458" y="18042"/>
                  <a:pt x="17492" y="18042"/>
                </a:cubicBezTo>
                <a:cubicBezTo>
                  <a:pt x="17571" y="18042"/>
                  <a:pt x="17588" y="18100"/>
                  <a:pt x="17539" y="18188"/>
                </a:cubicBezTo>
                <a:cubicBezTo>
                  <a:pt x="17501" y="18258"/>
                  <a:pt x="17509" y="18267"/>
                  <a:pt x="17594" y="18267"/>
                </a:cubicBezTo>
                <a:cubicBezTo>
                  <a:pt x="17687" y="18266"/>
                  <a:pt x="17689" y="18275"/>
                  <a:pt x="17689" y="18491"/>
                </a:cubicBezTo>
                <a:cubicBezTo>
                  <a:pt x="17689" y="18679"/>
                  <a:pt x="17701" y="18747"/>
                  <a:pt x="17737" y="18727"/>
                </a:cubicBezTo>
                <a:cubicBezTo>
                  <a:pt x="17858" y="18660"/>
                  <a:pt x="17941" y="18760"/>
                  <a:pt x="17921" y="18951"/>
                </a:cubicBezTo>
                <a:cubicBezTo>
                  <a:pt x="17904" y="19108"/>
                  <a:pt x="17935" y="19195"/>
                  <a:pt x="17982" y="19131"/>
                </a:cubicBezTo>
                <a:cubicBezTo>
                  <a:pt x="18004" y="19101"/>
                  <a:pt x="18026" y="19091"/>
                  <a:pt x="18036" y="19108"/>
                </a:cubicBezTo>
                <a:cubicBezTo>
                  <a:pt x="18047" y="19125"/>
                  <a:pt x="18074" y="19118"/>
                  <a:pt x="18097" y="19086"/>
                </a:cubicBezTo>
                <a:cubicBezTo>
                  <a:pt x="18143" y="19023"/>
                  <a:pt x="18196" y="19093"/>
                  <a:pt x="18165" y="19176"/>
                </a:cubicBezTo>
                <a:cubicBezTo>
                  <a:pt x="18156" y="19200"/>
                  <a:pt x="18172" y="19226"/>
                  <a:pt x="18199" y="19243"/>
                </a:cubicBezTo>
                <a:cubicBezTo>
                  <a:pt x="18237" y="19267"/>
                  <a:pt x="18240" y="19289"/>
                  <a:pt x="18213" y="19333"/>
                </a:cubicBezTo>
                <a:cubicBezTo>
                  <a:pt x="18165" y="19412"/>
                  <a:pt x="18168" y="19477"/>
                  <a:pt x="18220" y="19445"/>
                </a:cubicBezTo>
                <a:cubicBezTo>
                  <a:pt x="18283" y="19405"/>
                  <a:pt x="18455" y="19617"/>
                  <a:pt x="18417" y="19692"/>
                </a:cubicBezTo>
                <a:cubicBezTo>
                  <a:pt x="18388" y="19750"/>
                  <a:pt x="18407" y="19910"/>
                  <a:pt x="18444" y="19916"/>
                </a:cubicBezTo>
                <a:cubicBezTo>
                  <a:pt x="18455" y="19918"/>
                  <a:pt x="18504" y="19927"/>
                  <a:pt x="18560" y="19938"/>
                </a:cubicBezTo>
                <a:cubicBezTo>
                  <a:pt x="18616" y="19950"/>
                  <a:pt x="18683" y="19944"/>
                  <a:pt x="18703" y="19916"/>
                </a:cubicBezTo>
                <a:cubicBezTo>
                  <a:pt x="18786" y="19803"/>
                  <a:pt x="18895" y="19993"/>
                  <a:pt x="18880" y="20219"/>
                </a:cubicBezTo>
                <a:cubicBezTo>
                  <a:pt x="18872" y="20332"/>
                  <a:pt x="18886" y="20343"/>
                  <a:pt x="18975" y="20331"/>
                </a:cubicBezTo>
                <a:cubicBezTo>
                  <a:pt x="19073" y="20318"/>
                  <a:pt x="19157" y="20413"/>
                  <a:pt x="19125" y="20499"/>
                </a:cubicBezTo>
                <a:cubicBezTo>
                  <a:pt x="19116" y="20524"/>
                  <a:pt x="19132" y="20584"/>
                  <a:pt x="19166" y="20634"/>
                </a:cubicBezTo>
                <a:cubicBezTo>
                  <a:pt x="19214" y="20707"/>
                  <a:pt x="19282" y="20726"/>
                  <a:pt x="19485" y="20735"/>
                </a:cubicBezTo>
                <a:cubicBezTo>
                  <a:pt x="19821" y="20750"/>
                  <a:pt x="19863" y="20769"/>
                  <a:pt x="19866" y="20881"/>
                </a:cubicBezTo>
                <a:cubicBezTo>
                  <a:pt x="19875" y="21141"/>
                  <a:pt x="20018" y="21220"/>
                  <a:pt x="20173" y="21061"/>
                </a:cubicBezTo>
                <a:cubicBezTo>
                  <a:pt x="20222" y="21009"/>
                  <a:pt x="20252" y="21011"/>
                  <a:pt x="20295" y="21049"/>
                </a:cubicBezTo>
                <a:cubicBezTo>
                  <a:pt x="20327" y="21078"/>
                  <a:pt x="20364" y="21088"/>
                  <a:pt x="20377" y="21083"/>
                </a:cubicBezTo>
                <a:cubicBezTo>
                  <a:pt x="20426" y="21065"/>
                  <a:pt x="20564" y="21193"/>
                  <a:pt x="20547" y="21240"/>
                </a:cubicBezTo>
                <a:cubicBezTo>
                  <a:pt x="20525" y="21298"/>
                  <a:pt x="16894" y="21309"/>
                  <a:pt x="16893" y="21251"/>
                </a:cubicBezTo>
                <a:cubicBezTo>
                  <a:pt x="16879" y="20452"/>
                  <a:pt x="16907" y="17275"/>
                  <a:pt x="16927" y="17234"/>
                </a:cubicBezTo>
                <a:cubicBezTo>
                  <a:pt x="16940" y="17209"/>
                  <a:pt x="16961" y="17196"/>
                  <a:pt x="16988" y="17190"/>
                </a:cubicBezTo>
                <a:close/>
              </a:path>
            </a:pathLst>
          </a:custGeom>
          <a:ln w="12700">
            <a:miter lim="400000"/>
          </a:ln>
        </p:spPr>
      </p:pic>
    </p:spTree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FFFFFF"/>
            </a:gs>
            <a:gs pos="72824">
              <a:srgbClr val="ECECEC"/>
            </a:gs>
            <a:gs pos="100000">
              <a:srgbClr val="DADADA"/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asted-image.png" descr="pasted-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7950" y="230380"/>
            <a:ext cx="2370215" cy="2298980"/>
          </a:xfrm>
          <a:prstGeom prst="rect">
            <a:avLst/>
          </a:prstGeom>
          <a:ln w="12700">
            <a:miter lim="400000"/>
          </a:ln>
        </p:spPr>
      </p:pic>
      <p:sp>
        <p:nvSpPr>
          <p:cNvPr id="3" name="矩形"/>
          <p:cNvSpPr txBox="1"/>
          <p:nvPr/>
        </p:nvSpPr>
        <p:spPr>
          <a:xfrm>
            <a:off x="773350" y="6475983"/>
            <a:ext cx="7488751" cy="205807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/>
          <a:lstStyle/>
          <a:p>
            <a:pPr defTabSz="457200">
              <a:defRPr sz="3000">
                <a:solidFill>
                  <a:srgbClr val="5A5F5E"/>
                </a:solidFill>
                <a:latin typeface="Helvetica Neue Thin"/>
                <a:ea typeface="Helvetica Neue Thin"/>
                <a:cs typeface="Helvetica Neue Thin"/>
                <a:sym typeface="Helvetica Neue Thin"/>
              </a:defRPr>
            </a:pPr>
            <a:endParaRPr/>
          </a:p>
        </p:txBody>
      </p:sp>
      <p:sp>
        <p:nvSpPr>
          <p:cNvPr id="4" name="Your Name (HWTeng)"/>
          <p:cNvSpPr txBox="1"/>
          <p:nvPr/>
        </p:nvSpPr>
        <p:spPr>
          <a:xfrm>
            <a:off x="773399" y="4563964"/>
            <a:ext cx="11458002" cy="7112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/>
          <a:lstStyle>
            <a:lvl1pPr defTabSz="457200">
              <a:defRPr sz="3000">
                <a:solidFill>
                  <a:srgbClr val="5A5F5E"/>
                </a:solidFill>
                <a:latin typeface="+mn-lt"/>
                <a:ea typeface="+mn-ea"/>
                <a:cs typeface="+mn-cs"/>
                <a:sym typeface="Helvetica Neue"/>
              </a:defRPr>
            </a:lvl1pPr>
          </a:lstStyle>
          <a:p>
            <a:pPr>
              <a:defRPr>
                <a:solidFill>
                  <a:srgbClr val="000000"/>
                </a:solidFill>
              </a:defRPr>
            </a:pPr>
            <a:r>
              <a:rPr lang="en-US" dirty="0">
                <a:solidFill>
                  <a:srgbClr val="5A5F5E"/>
                </a:solidFill>
              </a:rPr>
              <a:t>Yun-Hsuan Chang, Chia-Yen Chang, Huei-Wen Teng</a:t>
            </a:r>
            <a:endParaRPr dirty="0">
              <a:solidFill>
                <a:srgbClr val="5A5F5E"/>
              </a:solidFill>
            </a:endParaRPr>
          </a:p>
        </p:txBody>
      </p:sp>
      <p:sp>
        <p:nvSpPr>
          <p:cNvPr id="5" name="Your affiliation…"/>
          <p:cNvSpPr txBox="1"/>
          <p:nvPr/>
        </p:nvSpPr>
        <p:spPr>
          <a:xfrm>
            <a:off x="774700" y="6985000"/>
            <a:ext cx="11455400" cy="26452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/>
          <a:lstStyle/>
          <a:p>
            <a:pPr defTabSz="457200">
              <a:defRPr sz="3000">
                <a:solidFill>
                  <a:srgbClr val="000000"/>
                </a:solidFill>
                <a:latin typeface="+mn-lt"/>
                <a:ea typeface="+mn-ea"/>
                <a:cs typeface="+mn-cs"/>
                <a:sym typeface="Helvetica Neue"/>
              </a:defRPr>
            </a:pPr>
            <a:endParaRPr dirty="0">
              <a:solidFill>
                <a:srgbClr val="0A5694"/>
              </a:solidFill>
              <a:hlinkClick r:id=""/>
            </a:endParaRPr>
          </a:p>
        </p:txBody>
      </p:sp>
      <p:sp>
        <p:nvSpPr>
          <p:cNvPr id="6" name="大標題文字"/>
          <p:cNvSpPr txBox="1">
            <a:spLocks noGrp="1"/>
          </p:cNvSpPr>
          <p:nvPr>
            <p:ph type="title"/>
          </p:nvPr>
        </p:nvSpPr>
        <p:spPr>
          <a:xfrm>
            <a:off x="773350" y="1733550"/>
            <a:ext cx="11458100" cy="1996629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50800" tIns="50800" rIns="50800" bIns="50800">
            <a:normAutofit/>
          </a:bodyPr>
          <a:lstStyle/>
          <a:p>
            <a:r>
              <a:t>大標題文字</a:t>
            </a:r>
          </a:p>
        </p:txBody>
      </p:sp>
      <p:sp>
        <p:nvSpPr>
          <p:cNvPr id="8" name="幻燈片編號"/>
          <p:cNvSpPr txBox="1">
            <a:spLocks noGrp="1"/>
          </p:cNvSpPr>
          <p:nvPr>
            <p:ph type="sldNum" sz="quarter" idx="2"/>
          </p:nvPr>
        </p:nvSpPr>
        <p:spPr>
          <a:xfrm>
            <a:off x="6325920" y="9271000"/>
            <a:ext cx="340260" cy="324511"/>
          </a:xfrm>
          <a:prstGeom prst="rect">
            <a:avLst/>
          </a:prstGeom>
          <a:ln w="12700">
            <a:miter lim="400000"/>
          </a:ln>
        </p:spPr>
        <p:txBody>
          <a:bodyPr wrap="none" lIns="50800" tIns="50800" rIns="50800" bIns="50800">
            <a:normAutofit/>
          </a:bodyPr>
          <a:lstStyle>
            <a:lvl1pPr algn="ctr">
              <a:defRPr sz="1600">
                <a:solidFill>
                  <a:srgbClr val="535353"/>
                </a:solidFill>
                <a:latin typeface="+mn-lt"/>
                <a:ea typeface="+mn-ea"/>
                <a:cs typeface="+mn-cs"/>
                <a:sym typeface="Helvetica Neue"/>
              </a:defRPr>
            </a:lvl1pPr>
          </a:lstStyle>
          <a:p>
            <a:fld id="{86CB4B4D-7CA3-9044-876B-883B54F8677D}" type="slidenum">
              <a:t>‹#›</a:t>
            </a:fld>
            <a:endParaRPr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transition spd="med"/>
  <p:txStyles>
    <p:titleStyle>
      <a:lvl1pPr marL="0" marR="0" indent="0" algn="l" defTabSz="5842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400" b="0" i="0" u="none" strike="noStrike" cap="none" spc="0" baseline="0">
          <a:solidFill>
            <a:srgbClr val="D30F11"/>
          </a:solidFill>
          <a:uFillTx/>
          <a:latin typeface="+mn-lt"/>
          <a:ea typeface="+mn-ea"/>
          <a:cs typeface="+mn-cs"/>
          <a:sym typeface="Helvetica Neue"/>
        </a:defRPr>
      </a:lvl1pPr>
      <a:lvl2pPr marL="0" marR="0" indent="228600" algn="l" defTabSz="5842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400" b="0" i="0" u="none" strike="noStrike" cap="none" spc="0" baseline="0">
          <a:solidFill>
            <a:srgbClr val="D30F11"/>
          </a:solidFill>
          <a:uFillTx/>
          <a:latin typeface="+mn-lt"/>
          <a:ea typeface="+mn-ea"/>
          <a:cs typeface="+mn-cs"/>
          <a:sym typeface="Helvetica Neue"/>
        </a:defRPr>
      </a:lvl2pPr>
      <a:lvl3pPr marL="0" marR="0" indent="457200" algn="l" defTabSz="5842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400" b="0" i="0" u="none" strike="noStrike" cap="none" spc="0" baseline="0">
          <a:solidFill>
            <a:srgbClr val="D30F11"/>
          </a:solidFill>
          <a:uFillTx/>
          <a:latin typeface="+mn-lt"/>
          <a:ea typeface="+mn-ea"/>
          <a:cs typeface="+mn-cs"/>
          <a:sym typeface="Helvetica Neue"/>
        </a:defRPr>
      </a:lvl3pPr>
      <a:lvl4pPr marL="0" marR="0" indent="685800" algn="l" defTabSz="5842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400" b="0" i="0" u="none" strike="noStrike" cap="none" spc="0" baseline="0">
          <a:solidFill>
            <a:srgbClr val="D30F11"/>
          </a:solidFill>
          <a:uFillTx/>
          <a:latin typeface="+mn-lt"/>
          <a:ea typeface="+mn-ea"/>
          <a:cs typeface="+mn-cs"/>
          <a:sym typeface="Helvetica Neue"/>
        </a:defRPr>
      </a:lvl4pPr>
      <a:lvl5pPr marL="0" marR="0" indent="914400" algn="l" defTabSz="5842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400" b="0" i="0" u="none" strike="noStrike" cap="none" spc="0" baseline="0">
          <a:solidFill>
            <a:srgbClr val="D30F11"/>
          </a:solidFill>
          <a:uFillTx/>
          <a:latin typeface="+mn-lt"/>
          <a:ea typeface="+mn-ea"/>
          <a:cs typeface="+mn-cs"/>
          <a:sym typeface="Helvetica Neue"/>
        </a:defRPr>
      </a:lvl5pPr>
      <a:lvl6pPr marL="0" marR="0" indent="1143000" algn="l" defTabSz="5842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400" b="0" i="0" u="none" strike="noStrike" cap="none" spc="0" baseline="0">
          <a:solidFill>
            <a:srgbClr val="D30F11"/>
          </a:solidFill>
          <a:uFillTx/>
          <a:latin typeface="+mn-lt"/>
          <a:ea typeface="+mn-ea"/>
          <a:cs typeface="+mn-cs"/>
          <a:sym typeface="Helvetica Neue"/>
        </a:defRPr>
      </a:lvl6pPr>
      <a:lvl7pPr marL="0" marR="0" indent="1371600" algn="l" defTabSz="5842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400" b="0" i="0" u="none" strike="noStrike" cap="none" spc="0" baseline="0">
          <a:solidFill>
            <a:srgbClr val="D30F11"/>
          </a:solidFill>
          <a:uFillTx/>
          <a:latin typeface="+mn-lt"/>
          <a:ea typeface="+mn-ea"/>
          <a:cs typeface="+mn-cs"/>
          <a:sym typeface="Helvetica Neue"/>
        </a:defRPr>
      </a:lvl7pPr>
      <a:lvl8pPr marL="0" marR="0" indent="1600200" algn="l" defTabSz="5842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400" b="0" i="0" u="none" strike="noStrike" cap="none" spc="0" baseline="0">
          <a:solidFill>
            <a:srgbClr val="D30F11"/>
          </a:solidFill>
          <a:uFillTx/>
          <a:latin typeface="+mn-lt"/>
          <a:ea typeface="+mn-ea"/>
          <a:cs typeface="+mn-cs"/>
          <a:sym typeface="Helvetica Neue"/>
        </a:defRPr>
      </a:lvl8pPr>
      <a:lvl9pPr marL="0" marR="0" indent="1828800" algn="l" defTabSz="5842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400" b="0" i="0" u="none" strike="noStrike" cap="none" spc="0" baseline="0">
          <a:solidFill>
            <a:srgbClr val="D30F11"/>
          </a:solidFill>
          <a:uFillTx/>
          <a:latin typeface="+mn-lt"/>
          <a:ea typeface="+mn-ea"/>
          <a:cs typeface="+mn-cs"/>
          <a:sym typeface="Helvetica Neue"/>
        </a:defRPr>
      </a:lvl9pPr>
    </p:titleStyle>
    <p:bodyStyle>
      <a:lvl1pPr marL="0" marR="0" indent="0" algn="l" defTabSz="5842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400" b="0" i="0" u="none" strike="noStrike" cap="none" spc="0" baseline="0">
          <a:solidFill>
            <a:srgbClr val="D30F11"/>
          </a:solidFill>
          <a:uFillTx/>
          <a:latin typeface="Helvetica Neue Light"/>
          <a:ea typeface="Helvetica Neue Light"/>
          <a:cs typeface="Helvetica Neue Light"/>
          <a:sym typeface="Helvetica Neue Light"/>
        </a:defRPr>
      </a:lvl1pPr>
      <a:lvl2pPr marL="0" marR="0" indent="228600" algn="l" defTabSz="5842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400" b="0" i="0" u="none" strike="noStrike" cap="none" spc="0" baseline="0">
          <a:solidFill>
            <a:srgbClr val="D30F11"/>
          </a:solidFill>
          <a:uFillTx/>
          <a:latin typeface="Helvetica Neue Light"/>
          <a:ea typeface="Helvetica Neue Light"/>
          <a:cs typeface="Helvetica Neue Light"/>
          <a:sym typeface="Helvetica Neue Light"/>
        </a:defRPr>
      </a:lvl2pPr>
      <a:lvl3pPr marL="0" marR="0" indent="457200" algn="l" defTabSz="5842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400" b="0" i="0" u="none" strike="noStrike" cap="none" spc="0" baseline="0">
          <a:solidFill>
            <a:srgbClr val="D30F11"/>
          </a:solidFill>
          <a:uFillTx/>
          <a:latin typeface="Helvetica Neue Light"/>
          <a:ea typeface="Helvetica Neue Light"/>
          <a:cs typeface="Helvetica Neue Light"/>
          <a:sym typeface="Helvetica Neue Light"/>
        </a:defRPr>
      </a:lvl3pPr>
      <a:lvl4pPr marL="0" marR="0" indent="685800" algn="l" defTabSz="5842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400" b="0" i="0" u="none" strike="noStrike" cap="none" spc="0" baseline="0">
          <a:solidFill>
            <a:srgbClr val="D30F11"/>
          </a:solidFill>
          <a:uFillTx/>
          <a:latin typeface="Helvetica Neue Light"/>
          <a:ea typeface="Helvetica Neue Light"/>
          <a:cs typeface="Helvetica Neue Light"/>
          <a:sym typeface="Helvetica Neue Light"/>
        </a:defRPr>
      </a:lvl4pPr>
      <a:lvl5pPr marL="0" marR="0" indent="914400" algn="l" defTabSz="5842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400" b="0" i="0" u="none" strike="noStrike" cap="none" spc="0" baseline="0">
          <a:solidFill>
            <a:srgbClr val="D30F11"/>
          </a:solidFill>
          <a:uFillTx/>
          <a:latin typeface="Helvetica Neue Light"/>
          <a:ea typeface="Helvetica Neue Light"/>
          <a:cs typeface="Helvetica Neue Light"/>
          <a:sym typeface="Helvetica Neue Light"/>
        </a:defRPr>
      </a:lvl5pPr>
      <a:lvl6pPr marL="0" marR="0" indent="1143000" algn="l" defTabSz="5842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400" b="0" i="0" u="none" strike="noStrike" cap="none" spc="0" baseline="0">
          <a:solidFill>
            <a:srgbClr val="D30F11"/>
          </a:solidFill>
          <a:uFillTx/>
          <a:latin typeface="Helvetica Neue Light"/>
          <a:ea typeface="Helvetica Neue Light"/>
          <a:cs typeface="Helvetica Neue Light"/>
          <a:sym typeface="Helvetica Neue Light"/>
        </a:defRPr>
      </a:lvl6pPr>
      <a:lvl7pPr marL="0" marR="0" indent="1371600" algn="l" defTabSz="5842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400" b="0" i="0" u="none" strike="noStrike" cap="none" spc="0" baseline="0">
          <a:solidFill>
            <a:srgbClr val="D30F11"/>
          </a:solidFill>
          <a:uFillTx/>
          <a:latin typeface="Helvetica Neue Light"/>
          <a:ea typeface="Helvetica Neue Light"/>
          <a:cs typeface="Helvetica Neue Light"/>
          <a:sym typeface="Helvetica Neue Light"/>
        </a:defRPr>
      </a:lvl7pPr>
      <a:lvl8pPr marL="0" marR="0" indent="1600200" algn="l" defTabSz="5842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400" b="0" i="0" u="none" strike="noStrike" cap="none" spc="0" baseline="0">
          <a:solidFill>
            <a:srgbClr val="D30F11"/>
          </a:solidFill>
          <a:uFillTx/>
          <a:latin typeface="Helvetica Neue Light"/>
          <a:ea typeface="Helvetica Neue Light"/>
          <a:cs typeface="Helvetica Neue Light"/>
          <a:sym typeface="Helvetica Neue Light"/>
        </a:defRPr>
      </a:lvl8pPr>
      <a:lvl9pPr marL="0" marR="0" indent="1828800" algn="l" defTabSz="5842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5400" b="0" i="0" u="none" strike="noStrike" cap="none" spc="0" baseline="0">
          <a:solidFill>
            <a:srgbClr val="D30F11"/>
          </a:solidFill>
          <a:uFillTx/>
          <a:latin typeface="Helvetica Neue Light"/>
          <a:ea typeface="Helvetica Neue Light"/>
          <a:cs typeface="Helvetica Neue Light"/>
          <a:sym typeface="Helvetica Neue Light"/>
        </a:defRPr>
      </a:lvl9pPr>
    </p:bodyStyle>
    <p:otherStyle>
      <a:lvl1pPr marL="0" marR="0" indent="0" algn="ctr" defTabSz="5842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1pPr>
      <a:lvl2pPr marL="0" marR="0" indent="228600" algn="ctr" defTabSz="5842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2pPr>
      <a:lvl3pPr marL="0" marR="0" indent="457200" algn="ctr" defTabSz="5842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3pPr>
      <a:lvl4pPr marL="0" marR="0" indent="685800" algn="ctr" defTabSz="5842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4pPr>
      <a:lvl5pPr marL="0" marR="0" indent="914400" algn="ctr" defTabSz="5842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5pPr>
      <a:lvl6pPr marL="0" marR="0" indent="1143000" algn="ctr" defTabSz="5842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6pPr>
      <a:lvl7pPr marL="0" marR="0" indent="1371600" algn="ctr" defTabSz="5842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7pPr>
      <a:lvl8pPr marL="0" marR="0" indent="1600200" algn="ctr" defTabSz="5842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8pPr>
      <a:lvl9pPr marL="0" marR="0" indent="1828800" algn="ctr" defTabSz="58420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1600" b="0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Helvetica Neue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tif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TEN Template"/>
          <p:cNvSpPr txBox="1">
            <a:spLocks noGrp="1"/>
          </p:cNvSpPr>
          <p:nvPr>
            <p:ph type="body" idx="21"/>
          </p:nvPr>
        </p:nvSpPr>
        <p:spPr>
          <a:xfrm>
            <a:off x="704078" y="2720748"/>
            <a:ext cx="10157886" cy="1760787"/>
          </a:xfrm>
          <a:prstGeom prst="rect">
            <a:avLst/>
          </a:prstGeom>
        </p:spPr>
        <p:txBody>
          <a:bodyPr>
            <a:normAutofit fontScale="77500" lnSpcReduction="20000"/>
          </a:bodyPr>
          <a:lstStyle/>
          <a:p>
            <a:r>
              <a:rPr lang="en-US" dirty="0"/>
              <a:t>From Accounts to Alerts: EDA and Logistic Regression</a:t>
            </a:r>
            <a:r>
              <a:rPr lang="zh-TW" altLang="en-US" dirty="0"/>
              <a:t> </a:t>
            </a:r>
            <a:r>
              <a:rPr lang="en-US" dirty="0"/>
              <a:t>for Early Corporate Risk Prediction</a:t>
            </a:r>
            <a:endParaRPr dirty="0"/>
          </a:p>
        </p:txBody>
      </p:sp>
      <p:sp>
        <p:nvSpPr>
          <p:cNvPr id="52" name="20240125 IDA Template Keynote.key"/>
          <p:cNvSpPr txBox="1"/>
          <p:nvPr/>
        </p:nvSpPr>
        <p:spPr>
          <a:xfrm>
            <a:off x="9638782" y="9237870"/>
            <a:ext cx="3163634" cy="32467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>
            <a:normAutofit lnSpcReduction="10000"/>
          </a:bodyPr>
          <a:lstStyle>
            <a:lvl1pPr>
              <a:defRPr sz="1500"/>
            </a:lvl1pPr>
          </a:lstStyle>
          <a:p>
            <a:r>
              <a:rPr dirty="0"/>
              <a:t>202</a:t>
            </a:r>
            <a:r>
              <a:rPr lang="en-US" altLang="zh-TW" dirty="0"/>
              <a:t>5/10/13</a:t>
            </a:r>
            <a:endParaRPr dirty="0"/>
          </a:p>
        </p:txBody>
      </p:sp>
      <p:pic>
        <p:nvPicPr>
          <p:cNvPr id="55" name="VenTeng_Webpage_QRCode.png" descr="VenTeng_Webpage_QRC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84865" y="3251819"/>
            <a:ext cx="1891682" cy="1891682"/>
          </a:xfrm>
          <a:prstGeom prst="rect">
            <a:avLst/>
          </a:prstGeom>
          <a:ln w="12700">
            <a:miter lim="400000"/>
          </a:ln>
        </p:spPr>
      </p:pic>
      <p:pic>
        <p:nvPicPr>
          <p:cNvPr id="56" name="eingesetztes-Bild.tiff" descr="eingesetztes-Bild.tif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10918" y="7428868"/>
            <a:ext cx="3091498" cy="837989"/>
          </a:xfrm>
          <a:prstGeom prst="rect">
            <a:avLst/>
          </a:prstGeom>
          <a:ln w="12700">
            <a:miter lim="400000"/>
          </a:ln>
        </p:spPr>
      </p:pic>
      <p:pic>
        <p:nvPicPr>
          <p:cNvPr id="57" name="FIMA_transparent.png" descr="FIMA_transpar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45875" y="5628572"/>
            <a:ext cx="4769663" cy="1315224"/>
          </a:xfrm>
          <a:prstGeom prst="rect">
            <a:avLst/>
          </a:prstGeom>
          <a:ln w="12700">
            <a:miter lim="400000"/>
          </a:ln>
        </p:spPr>
      </p:pic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IDA Template"/>
          <p:cNvSpPr txBox="1">
            <a:spLocks noGrp="1"/>
          </p:cNvSpPr>
          <p:nvPr>
            <p:ph type="body" idx="21"/>
          </p:nvPr>
        </p:nvSpPr>
        <p:spPr>
          <a:xfrm>
            <a:off x="761999" y="8918159"/>
            <a:ext cx="10712291" cy="707886"/>
          </a:xfrm>
          <a:prstGeom prst="rect">
            <a:avLst/>
          </a:prstGeom>
        </p:spPr>
        <p:txBody>
          <a:bodyPr/>
          <a:lstStyle/>
          <a:p>
            <a:r>
              <a:rPr lang="en-US" altLang="zh-TW" dirty="0"/>
              <a:t>From Accounts to Alerts: EDA and Logistic Regression for Early Corporate Risk Prediction</a:t>
            </a:r>
          </a:p>
        </p:txBody>
      </p:sp>
      <p:sp>
        <p:nvSpPr>
          <p:cNvPr id="68" name="Motivation ✓…"/>
          <p:cNvSpPr txBox="1">
            <a:spLocks noGrp="1"/>
          </p:cNvSpPr>
          <p:nvPr>
            <p:ph type="body" idx="22"/>
          </p:nvPr>
        </p:nvSpPr>
        <p:spPr>
          <a:xfrm>
            <a:off x="761999" y="1581811"/>
            <a:ext cx="11467783" cy="2083519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/>
          <a:lstStyle/>
          <a:p>
            <a:pPr marL="444500" indent="-444500">
              <a:lnSpc>
                <a:spcPct val="150000"/>
              </a:lnSpc>
              <a:buClr>
                <a:srgbClr val="5A5F5E"/>
              </a:buClr>
              <a:buSzPct val="100000"/>
              <a:buAutoNum type="arabicPeriod"/>
              <a:defRPr sz="3000">
                <a:solidFill>
                  <a:srgbClr val="5A5F5E"/>
                </a:solidFill>
              </a:defRPr>
            </a:pPr>
            <a:r>
              <a:rPr dirty="0"/>
              <a:t>Motivation </a:t>
            </a:r>
            <a:endParaRPr dirty="0">
              <a:latin typeface="Lucida Grande"/>
              <a:ea typeface="Lucida Grande"/>
              <a:cs typeface="Lucida Grande"/>
              <a:sym typeface="Lucida Grande"/>
            </a:endParaRPr>
          </a:p>
          <a:p>
            <a:pPr marL="444500" indent="-444500">
              <a:lnSpc>
                <a:spcPct val="150000"/>
              </a:lnSpc>
              <a:buClr>
                <a:srgbClr val="5A5F5E"/>
              </a:buClr>
              <a:buSzPct val="100000"/>
              <a:buAutoNum type="arabicPeriod"/>
              <a:defRPr sz="3000">
                <a:solidFill>
                  <a:srgbClr val="5A5F5E"/>
                </a:solidFill>
              </a:defRPr>
            </a:pPr>
            <a:r>
              <a:rPr lang="en-US" dirty="0"/>
              <a:t>Data</a:t>
            </a:r>
          </a:p>
          <a:p>
            <a:pPr marL="444500" indent="-444500">
              <a:lnSpc>
                <a:spcPct val="150000"/>
              </a:lnSpc>
              <a:buClr>
                <a:srgbClr val="5A5F5E"/>
              </a:buClr>
              <a:buSzPct val="100000"/>
              <a:buAutoNum type="arabicPeriod"/>
              <a:defRPr sz="3000">
                <a:solidFill>
                  <a:srgbClr val="5A5F5E"/>
                </a:solidFill>
              </a:defRPr>
            </a:pPr>
            <a:r>
              <a:rPr lang="en-US" dirty="0"/>
              <a:t>Methodology</a:t>
            </a:r>
            <a:endParaRPr dirty="0"/>
          </a:p>
        </p:txBody>
      </p:sp>
    </p:spTree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幻燈片編號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>
            <a:normAutofit lnSpcReduction="10000"/>
          </a:bodyPr>
          <a:lstStyle/>
          <a:p>
            <a:fld id="{86CB4B4D-7CA3-9044-876B-883B54F8677D}" type="slidenum">
              <a:rPr/>
              <a:t>3</a:t>
            </a:fld>
            <a:endParaRPr/>
          </a:p>
        </p:txBody>
      </p:sp>
      <p:sp>
        <p:nvSpPr>
          <p:cNvPr id="60" name="Motivation"/>
          <p:cNvSpPr txBox="1">
            <a:spLocks noGrp="1"/>
          </p:cNvSpPr>
          <p:nvPr>
            <p:ph type="body" idx="2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Motivation</a:t>
            </a:r>
          </a:p>
        </p:txBody>
      </p:sp>
      <p:sp>
        <p:nvSpPr>
          <p:cNvPr id="61" name="Motivation"/>
          <p:cNvSpPr txBox="1">
            <a:spLocks noGrp="1"/>
          </p:cNvSpPr>
          <p:nvPr>
            <p:ph type="body" idx="22"/>
          </p:nvPr>
        </p:nvSpPr>
        <p:spPr>
          <a:prstGeom prst="rect">
            <a:avLst/>
          </a:prstGeom>
        </p:spPr>
        <p:txBody>
          <a:bodyPr>
            <a:normAutofit lnSpcReduction="10000"/>
          </a:bodyPr>
          <a:lstStyle/>
          <a:p>
            <a:r>
              <a:t>Motivation</a:t>
            </a:r>
          </a:p>
        </p:txBody>
      </p:sp>
      <p:sp>
        <p:nvSpPr>
          <p:cNvPr id="62" name="Motivate your presentation on 3-10 slides…"/>
          <p:cNvSpPr txBox="1">
            <a:spLocks noGrp="1"/>
          </p:cNvSpPr>
          <p:nvPr>
            <p:ph type="body" idx="23"/>
          </p:nvPr>
        </p:nvSpPr>
        <p:spPr>
          <a:xfrm>
            <a:off x="761999" y="1581811"/>
            <a:ext cx="11467783" cy="1766125"/>
          </a:xfrm>
          <a:prstGeom prst="rect">
            <a:avLst/>
          </a:prstGeom>
        </p:spPr>
        <p:txBody>
          <a:bodyPr/>
          <a:lstStyle/>
          <a:p>
            <a:pPr marL="444500" indent="-444500">
              <a:lnSpc>
                <a:spcPts val="4500"/>
              </a:lnSpc>
              <a:buClr>
                <a:srgbClr val="00599E"/>
              </a:buClr>
              <a:buSzPct val="100000"/>
              <a:buChar char="⊡"/>
              <a:defRPr sz="3000">
                <a:solidFill>
                  <a:srgbClr val="5A5F5E"/>
                </a:solidFill>
              </a:defRPr>
            </a:pPr>
            <a:r>
              <a:rPr lang="en-US" altLang="zh-TW" sz="3000" dirty="0"/>
              <a:t>Early Warning Systems</a:t>
            </a:r>
          </a:p>
          <a:p>
            <a:pPr marL="444500" indent="-444500">
              <a:lnSpc>
                <a:spcPts val="4500"/>
              </a:lnSpc>
              <a:buClr>
                <a:srgbClr val="00599E"/>
              </a:buClr>
              <a:buSzPct val="100000"/>
              <a:buChar char="⊡"/>
              <a:defRPr sz="3000">
                <a:solidFill>
                  <a:srgbClr val="5A5F5E"/>
                </a:solidFill>
              </a:defRPr>
            </a:pPr>
            <a:r>
              <a:rPr lang="en-US" altLang="zh-TW" sz="3000" dirty="0"/>
              <a:t>Transparency and Interpretability</a:t>
            </a:r>
          </a:p>
          <a:p>
            <a:pPr marL="444500" indent="-444500">
              <a:lnSpc>
                <a:spcPts val="4500"/>
              </a:lnSpc>
              <a:buClr>
                <a:srgbClr val="00599E"/>
              </a:buClr>
              <a:buSzPct val="100000"/>
              <a:buChar char="⊡"/>
              <a:defRPr sz="3000">
                <a:solidFill>
                  <a:srgbClr val="5A5F5E"/>
                </a:solidFill>
              </a:defRPr>
            </a:pPr>
            <a:r>
              <a:rPr lang="en-US" altLang="zh-TW" sz="3000" dirty="0"/>
              <a:t>Publicly Available Data</a:t>
            </a:r>
            <a:endParaRPr dirty="0"/>
          </a:p>
        </p:txBody>
      </p:sp>
      <p:sp>
        <p:nvSpPr>
          <p:cNvPr id="8" name="IDA Template">
            <a:extLst>
              <a:ext uri="{FF2B5EF4-FFF2-40B4-BE49-F238E27FC236}">
                <a16:creationId xmlns:a16="http://schemas.microsoft.com/office/drawing/2014/main" id="{794F6DA3-4E42-E6CA-A00F-23CCF3E9EF18}"/>
              </a:ext>
            </a:extLst>
          </p:cNvPr>
          <p:cNvSpPr txBox="1">
            <a:spLocks noGrp="1"/>
          </p:cNvSpPr>
          <p:nvPr>
            <p:ph type="body" sz="quarter" idx="24"/>
          </p:nvPr>
        </p:nvSpPr>
        <p:spPr>
          <a:xfrm>
            <a:off x="678128" y="9113463"/>
            <a:ext cx="11025916" cy="505173"/>
          </a:xfrm>
          <a:prstGeom prst="rect">
            <a:avLst/>
          </a:prstGeom>
        </p:spPr>
        <p:txBody>
          <a:bodyPr/>
          <a:lstStyle/>
          <a:p>
            <a:r>
              <a:rPr lang="en-US" altLang="zh-TW" dirty="0"/>
              <a:t>From Accounts to Alerts: EDA and Logistic Regression for Early Corporate Risk Prediction</a:t>
            </a:r>
          </a:p>
        </p:txBody>
      </p:sp>
    </p:spTree>
  </p:cSld>
  <p:clrMapOvr>
    <a:masterClrMapping/>
  </p:clrMapOvr>
  <p:transition spd="med"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幻燈片編號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>
            <a:normAutofit lnSpcReduction="10000"/>
          </a:bodyPr>
          <a:lstStyle/>
          <a:p>
            <a:fld id="{86CB4B4D-7CA3-9044-876B-883B54F8677D}" type="slidenum">
              <a:rPr/>
              <a:t>4</a:t>
            </a:fld>
            <a:endParaRPr/>
          </a:p>
        </p:txBody>
      </p:sp>
      <p:sp>
        <p:nvSpPr>
          <p:cNvPr id="71" name="Section Title"/>
          <p:cNvSpPr txBox="1">
            <a:spLocks noGrp="1"/>
          </p:cNvSpPr>
          <p:nvPr>
            <p:ph type="body" idx="2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US" dirty="0"/>
              <a:t>Data</a:t>
            </a:r>
            <a:endParaRPr dirty="0"/>
          </a:p>
        </p:txBody>
      </p:sp>
      <p:sp>
        <p:nvSpPr>
          <p:cNvPr id="72" name="Slide Title"/>
          <p:cNvSpPr txBox="1">
            <a:spLocks noGrp="1"/>
          </p:cNvSpPr>
          <p:nvPr>
            <p:ph type="body" idx="22"/>
          </p:nvPr>
        </p:nvSpPr>
        <p:spPr>
          <a:prstGeom prst="rect">
            <a:avLst/>
          </a:prstGeom>
        </p:spPr>
        <p:txBody>
          <a:bodyPr>
            <a:normAutofit lnSpcReduction="10000"/>
          </a:bodyPr>
          <a:lstStyle/>
          <a:p>
            <a:r>
              <a:rPr lang="en-US" dirty="0"/>
              <a:t>Data</a:t>
            </a:r>
            <a:endParaRPr dirty="0"/>
          </a:p>
        </p:txBody>
      </p:sp>
      <p:sp>
        <p:nvSpPr>
          <p:cNvPr id="73" name="Use…"/>
          <p:cNvSpPr txBox="1">
            <a:spLocks noGrp="1"/>
          </p:cNvSpPr>
          <p:nvPr>
            <p:ph type="body" idx="23"/>
          </p:nvPr>
        </p:nvSpPr>
        <p:spPr>
          <a:xfrm>
            <a:off x="761999" y="1581811"/>
            <a:ext cx="11467783" cy="1766125"/>
          </a:xfrm>
          <a:prstGeom prst="rect">
            <a:avLst/>
          </a:prstGeom>
        </p:spPr>
        <p:txBody>
          <a:bodyPr/>
          <a:lstStyle/>
          <a:p>
            <a:pPr marL="444500" indent="-444500">
              <a:lnSpc>
                <a:spcPts val="4500"/>
              </a:lnSpc>
              <a:buClr>
                <a:srgbClr val="00599E"/>
              </a:buClr>
              <a:buSzPct val="100000"/>
              <a:buChar char="⊡"/>
              <a:defRPr sz="3000">
                <a:solidFill>
                  <a:srgbClr val="5A5F5E"/>
                </a:solidFill>
              </a:defRPr>
            </a:pPr>
            <a:r>
              <a:rPr lang="en-US" altLang="zh-TW" sz="3000" dirty="0"/>
              <a:t>companies: 23033 </a:t>
            </a:r>
          </a:p>
          <a:p>
            <a:pPr marL="444500" indent="-444500">
              <a:lnSpc>
                <a:spcPts val="4500"/>
              </a:lnSpc>
              <a:buClr>
                <a:srgbClr val="00599E"/>
              </a:buClr>
              <a:buSzPct val="100000"/>
              <a:buChar char="⊡"/>
              <a:defRPr sz="3000">
                <a:solidFill>
                  <a:srgbClr val="5A5F5E"/>
                </a:solidFill>
              </a:defRPr>
            </a:pPr>
            <a:r>
              <a:rPr lang="en-US" altLang="zh-TW" sz="3000" dirty="0"/>
              <a:t>features: 21 </a:t>
            </a:r>
          </a:p>
          <a:p>
            <a:pPr marL="444500" indent="-444500">
              <a:lnSpc>
                <a:spcPts val="4500"/>
              </a:lnSpc>
              <a:buClr>
                <a:srgbClr val="00599E"/>
              </a:buClr>
              <a:buSzPct val="100000"/>
              <a:buChar char="⊡"/>
              <a:defRPr sz="3000">
                <a:solidFill>
                  <a:srgbClr val="5A5F5E"/>
                </a:solidFill>
              </a:defRPr>
            </a:pPr>
            <a:r>
              <a:rPr lang="en-US" altLang="zh-TW" sz="3000" dirty="0"/>
              <a:t>Class imbalance (Y=1 ratio): 0.0470</a:t>
            </a:r>
            <a:endParaRPr dirty="0"/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BF86F1AF-BC63-B3EB-16FC-4AF6ED084B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809" y="4328057"/>
            <a:ext cx="5619750" cy="3714750"/>
          </a:xfrm>
          <a:prstGeom prst="rect">
            <a:avLst/>
          </a:prstGeom>
        </p:spPr>
      </p:pic>
      <p:sp>
        <p:nvSpPr>
          <p:cNvPr id="6" name="IDA Template">
            <a:extLst>
              <a:ext uri="{FF2B5EF4-FFF2-40B4-BE49-F238E27FC236}">
                <a16:creationId xmlns:a16="http://schemas.microsoft.com/office/drawing/2014/main" id="{6470635D-C994-E380-FFD7-731852459CD7}"/>
              </a:ext>
            </a:extLst>
          </p:cNvPr>
          <p:cNvSpPr txBox="1">
            <a:spLocks noGrp="1"/>
          </p:cNvSpPr>
          <p:nvPr>
            <p:ph type="body" idx="24"/>
          </p:nvPr>
        </p:nvSpPr>
        <p:spPr>
          <a:xfrm>
            <a:off x="563563" y="9022928"/>
            <a:ext cx="11025916" cy="517525"/>
          </a:xfrm>
          <a:prstGeom prst="rect">
            <a:avLst/>
          </a:prstGeom>
        </p:spPr>
        <p:txBody>
          <a:bodyPr/>
          <a:lstStyle/>
          <a:p>
            <a:r>
              <a:rPr lang="en-US" altLang="zh-TW" dirty="0"/>
              <a:t>From Accounts to Alerts: EDA and Logistic Regression for Early Corporate Risk Prediction</a:t>
            </a:r>
          </a:p>
        </p:txBody>
      </p:sp>
      <p:pic>
        <p:nvPicPr>
          <p:cNvPr id="8" name="圖片 7">
            <a:extLst>
              <a:ext uri="{FF2B5EF4-FFF2-40B4-BE49-F238E27FC236}">
                <a16:creationId xmlns:a16="http://schemas.microsoft.com/office/drawing/2014/main" id="{101AFCFB-CDC4-7AFF-54A7-1E6570D44D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2229" y="4276824"/>
            <a:ext cx="4819650" cy="3836048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6EEB4D-F1AC-2559-0773-BF929878BD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幻燈片編號">
            <a:extLst>
              <a:ext uri="{FF2B5EF4-FFF2-40B4-BE49-F238E27FC236}">
                <a16:creationId xmlns:a16="http://schemas.microsoft.com/office/drawing/2014/main" id="{871C3BEB-BA6C-BD7A-AF2B-E47DA7F25986}"/>
              </a:ext>
            </a:extLst>
          </p:cNvPr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>
            <a:normAutofit lnSpcReduction="10000"/>
          </a:bodyPr>
          <a:lstStyle/>
          <a:p>
            <a:fld id="{86CB4B4D-7CA3-9044-876B-883B54F8677D}" type="slidenum">
              <a:rPr/>
              <a:t>5</a:t>
            </a:fld>
            <a:endParaRPr/>
          </a:p>
        </p:txBody>
      </p:sp>
      <p:sp>
        <p:nvSpPr>
          <p:cNvPr id="71" name="Section Title">
            <a:extLst>
              <a:ext uri="{FF2B5EF4-FFF2-40B4-BE49-F238E27FC236}">
                <a16:creationId xmlns:a16="http://schemas.microsoft.com/office/drawing/2014/main" id="{0D0B067B-516B-99AE-A6AD-3757D0126774}"/>
              </a:ext>
            </a:extLst>
          </p:cNvPr>
          <p:cNvSpPr txBox="1">
            <a:spLocks noGrp="1"/>
          </p:cNvSpPr>
          <p:nvPr>
            <p:ph type="body" idx="2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US" dirty="0"/>
              <a:t>Data</a:t>
            </a:r>
            <a:endParaRPr dirty="0"/>
          </a:p>
        </p:txBody>
      </p:sp>
      <p:sp>
        <p:nvSpPr>
          <p:cNvPr id="72" name="Slide Title">
            <a:extLst>
              <a:ext uri="{FF2B5EF4-FFF2-40B4-BE49-F238E27FC236}">
                <a16:creationId xmlns:a16="http://schemas.microsoft.com/office/drawing/2014/main" id="{4464BEA0-7C8F-7604-A2E6-E5269A9B6BAA}"/>
              </a:ext>
            </a:extLst>
          </p:cNvPr>
          <p:cNvSpPr txBox="1">
            <a:spLocks noGrp="1"/>
          </p:cNvSpPr>
          <p:nvPr>
            <p:ph type="body" idx="22"/>
          </p:nvPr>
        </p:nvSpPr>
        <p:spPr>
          <a:prstGeom prst="rect">
            <a:avLst/>
          </a:prstGeom>
        </p:spPr>
        <p:txBody>
          <a:bodyPr>
            <a:normAutofit lnSpcReduction="10000"/>
          </a:bodyPr>
          <a:lstStyle/>
          <a:p>
            <a:r>
              <a:rPr lang="en-US" dirty="0"/>
              <a:t>Data</a:t>
            </a:r>
            <a:endParaRPr dirty="0"/>
          </a:p>
        </p:txBody>
      </p:sp>
      <p:sp>
        <p:nvSpPr>
          <p:cNvPr id="73" name="Use…">
            <a:extLst>
              <a:ext uri="{FF2B5EF4-FFF2-40B4-BE49-F238E27FC236}">
                <a16:creationId xmlns:a16="http://schemas.microsoft.com/office/drawing/2014/main" id="{B2BBC06F-7683-0491-00BE-AD456A6512CE}"/>
              </a:ext>
            </a:extLst>
          </p:cNvPr>
          <p:cNvSpPr txBox="1">
            <a:spLocks noGrp="1"/>
          </p:cNvSpPr>
          <p:nvPr>
            <p:ph type="body" idx="23"/>
          </p:nvPr>
        </p:nvSpPr>
        <p:spPr>
          <a:xfrm>
            <a:off x="761999" y="1581811"/>
            <a:ext cx="11467783" cy="621580"/>
          </a:xfrm>
          <a:prstGeom prst="rect">
            <a:avLst/>
          </a:prstGeom>
        </p:spPr>
        <p:txBody>
          <a:bodyPr/>
          <a:lstStyle/>
          <a:p>
            <a:pPr marL="444500" indent="-444500">
              <a:lnSpc>
                <a:spcPts val="4500"/>
              </a:lnSpc>
              <a:buClr>
                <a:srgbClr val="00599E"/>
              </a:buClr>
              <a:buSzPct val="100000"/>
              <a:buChar char="⊡"/>
              <a:defRPr sz="3000">
                <a:solidFill>
                  <a:srgbClr val="5A5F5E"/>
                </a:solidFill>
              </a:defRPr>
            </a:pPr>
            <a:r>
              <a:rPr lang="en-US" altLang="zh-TW" sz="3000" dirty="0"/>
              <a:t>Average missing rate across all features: 18.17%</a:t>
            </a:r>
            <a:endParaRPr dirty="0"/>
          </a:p>
        </p:txBody>
      </p:sp>
      <p:sp>
        <p:nvSpPr>
          <p:cNvPr id="6" name="IDA Template">
            <a:extLst>
              <a:ext uri="{FF2B5EF4-FFF2-40B4-BE49-F238E27FC236}">
                <a16:creationId xmlns:a16="http://schemas.microsoft.com/office/drawing/2014/main" id="{19C06A94-387A-C3E9-AD34-D6AB31A3B8A1}"/>
              </a:ext>
            </a:extLst>
          </p:cNvPr>
          <p:cNvSpPr txBox="1">
            <a:spLocks noGrp="1"/>
          </p:cNvSpPr>
          <p:nvPr>
            <p:ph type="body" idx="24"/>
          </p:nvPr>
        </p:nvSpPr>
        <p:spPr>
          <a:xfrm>
            <a:off x="563563" y="9022928"/>
            <a:ext cx="11025916" cy="517525"/>
          </a:xfrm>
          <a:prstGeom prst="rect">
            <a:avLst/>
          </a:prstGeom>
        </p:spPr>
        <p:txBody>
          <a:bodyPr/>
          <a:lstStyle/>
          <a:p>
            <a:r>
              <a:rPr lang="en-US" altLang="zh-TW" dirty="0"/>
              <a:t>From Accounts to Alerts: EDA and Logistic Regression for Early Corporate Risk Prediction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D729A982-BA2F-6423-78B9-E86AD89C24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809" y="2647257"/>
            <a:ext cx="11317658" cy="56159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22272"/>
      </p:ext>
    </p:extLst>
  </p:cSld>
  <p:clrMapOvr>
    <a:masterClrMapping/>
  </p:clrMapOvr>
  <p:transition spd="med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436D80-300C-D10F-E604-249341D68A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幻燈片編號">
            <a:extLst>
              <a:ext uri="{FF2B5EF4-FFF2-40B4-BE49-F238E27FC236}">
                <a16:creationId xmlns:a16="http://schemas.microsoft.com/office/drawing/2014/main" id="{1BBA82E1-58A1-DD23-B285-790B0BB6DA6E}"/>
              </a:ext>
            </a:extLst>
          </p:cNvPr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>
            <a:normAutofit lnSpcReduction="10000"/>
          </a:bodyPr>
          <a:lstStyle/>
          <a:p>
            <a:fld id="{86CB4B4D-7CA3-9044-876B-883B54F8677D}" type="slidenum">
              <a:rPr/>
              <a:t>6</a:t>
            </a:fld>
            <a:endParaRPr/>
          </a:p>
        </p:txBody>
      </p:sp>
      <p:sp>
        <p:nvSpPr>
          <p:cNvPr id="71" name="Section Title">
            <a:extLst>
              <a:ext uri="{FF2B5EF4-FFF2-40B4-BE49-F238E27FC236}">
                <a16:creationId xmlns:a16="http://schemas.microsoft.com/office/drawing/2014/main" id="{512C1A39-6B6E-9177-C578-6BD76114C193}"/>
              </a:ext>
            </a:extLst>
          </p:cNvPr>
          <p:cNvSpPr txBox="1">
            <a:spLocks noGrp="1"/>
          </p:cNvSpPr>
          <p:nvPr>
            <p:ph type="body" idx="2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US" dirty="0"/>
              <a:t>Data</a:t>
            </a:r>
            <a:endParaRPr dirty="0"/>
          </a:p>
        </p:txBody>
      </p:sp>
      <p:sp>
        <p:nvSpPr>
          <p:cNvPr id="72" name="Slide Title">
            <a:extLst>
              <a:ext uri="{FF2B5EF4-FFF2-40B4-BE49-F238E27FC236}">
                <a16:creationId xmlns:a16="http://schemas.microsoft.com/office/drawing/2014/main" id="{F31BEAAD-4FA1-558E-0990-D6A7B493947B}"/>
              </a:ext>
            </a:extLst>
          </p:cNvPr>
          <p:cNvSpPr txBox="1">
            <a:spLocks noGrp="1"/>
          </p:cNvSpPr>
          <p:nvPr>
            <p:ph type="body" idx="22"/>
          </p:nvPr>
        </p:nvSpPr>
        <p:spPr>
          <a:prstGeom prst="rect">
            <a:avLst/>
          </a:prstGeom>
        </p:spPr>
        <p:txBody>
          <a:bodyPr>
            <a:normAutofit lnSpcReduction="10000"/>
          </a:bodyPr>
          <a:lstStyle/>
          <a:p>
            <a:r>
              <a:rPr lang="en-US" dirty="0"/>
              <a:t>Data</a:t>
            </a:r>
            <a:endParaRPr dirty="0"/>
          </a:p>
        </p:txBody>
      </p:sp>
      <p:sp>
        <p:nvSpPr>
          <p:cNvPr id="73" name="Use…">
            <a:extLst>
              <a:ext uri="{FF2B5EF4-FFF2-40B4-BE49-F238E27FC236}">
                <a16:creationId xmlns:a16="http://schemas.microsoft.com/office/drawing/2014/main" id="{06A568DD-890E-2BDA-397F-C247C01963D6}"/>
              </a:ext>
            </a:extLst>
          </p:cNvPr>
          <p:cNvSpPr txBox="1">
            <a:spLocks noGrp="1"/>
          </p:cNvSpPr>
          <p:nvPr>
            <p:ph type="body" idx="23"/>
          </p:nvPr>
        </p:nvSpPr>
        <p:spPr>
          <a:xfrm>
            <a:off x="761999" y="1581811"/>
            <a:ext cx="13512801" cy="611962"/>
          </a:xfrm>
          <a:prstGeom prst="rect">
            <a:avLst/>
          </a:prstGeom>
        </p:spPr>
        <p:txBody>
          <a:bodyPr/>
          <a:lstStyle/>
          <a:p>
            <a:pPr marL="444500" indent="-444500">
              <a:lnSpc>
                <a:spcPts val="4500"/>
              </a:lnSpc>
              <a:buClr>
                <a:srgbClr val="00599E"/>
              </a:buClr>
              <a:buSzPct val="100000"/>
              <a:buChar char="⊡"/>
              <a:defRPr sz="3000">
                <a:solidFill>
                  <a:srgbClr val="5A5F5E"/>
                </a:solidFill>
              </a:defRPr>
            </a:pPr>
            <a:r>
              <a:rPr lang="en-US" altLang="zh-TW" sz="3000" dirty="0"/>
              <a:t>heavy-tailed and asymmetric distributions</a:t>
            </a:r>
          </a:p>
        </p:txBody>
      </p:sp>
      <p:sp>
        <p:nvSpPr>
          <p:cNvPr id="6" name="IDA Template">
            <a:extLst>
              <a:ext uri="{FF2B5EF4-FFF2-40B4-BE49-F238E27FC236}">
                <a16:creationId xmlns:a16="http://schemas.microsoft.com/office/drawing/2014/main" id="{11BAF146-A789-8D33-D26B-4019C08EB401}"/>
              </a:ext>
            </a:extLst>
          </p:cNvPr>
          <p:cNvSpPr txBox="1">
            <a:spLocks noGrp="1"/>
          </p:cNvSpPr>
          <p:nvPr>
            <p:ph type="body" idx="24"/>
          </p:nvPr>
        </p:nvSpPr>
        <p:spPr>
          <a:xfrm>
            <a:off x="963169" y="9022928"/>
            <a:ext cx="11025916" cy="517525"/>
          </a:xfrm>
          <a:prstGeom prst="rect">
            <a:avLst/>
          </a:prstGeom>
        </p:spPr>
        <p:txBody>
          <a:bodyPr/>
          <a:lstStyle/>
          <a:p>
            <a:r>
              <a:rPr lang="en-US" altLang="zh-TW" dirty="0"/>
              <a:t>From Accounts to Alerts: EDA and Logistic Regression for Early Corporate Risk Prediction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3E3278DD-E05B-6704-9DCB-F1C3148F9F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809" y="2403729"/>
            <a:ext cx="9371612" cy="64631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2771563"/>
      </p:ext>
    </p:extLst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FD4821-1BF2-0A14-2EDE-0074DAE324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幻燈片編號">
            <a:extLst>
              <a:ext uri="{FF2B5EF4-FFF2-40B4-BE49-F238E27FC236}">
                <a16:creationId xmlns:a16="http://schemas.microsoft.com/office/drawing/2014/main" id="{892D5B9F-E300-9C86-AE13-D15B18146468}"/>
              </a:ext>
            </a:extLst>
          </p:cNvPr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>
            <a:normAutofit lnSpcReduction="10000"/>
          </a:bodyPr>
          <a:lstStyle/>
          <a:p>
            <a:fld id="{86CB4B4D-7CA3-9044-876B-883B54F8677D}" type="slidenum">
              <a:rPr/>
              <a:t>7</a:t>
            </a:fld>
            <a:endParaRPr/>
          </a:p>
        </p:txBody>
      </p:sp>
      <p:sp>
        <p:nvSpPr>
          <p:cNvPr id="71" name="Section Title">
            <a:extLst>
              <a:ext uri="{FF2B5EF4-FFF2-40B4-BE49-F238E27FC236}">
                <a16:creationId xmlns:a16="http://schemas.microsoft.com/office/drawing/2014/main" id="{56395910-9C2D-474A-34A8-A422C76677E8}"/>
              </a:ext>
            </a:extLst>
          </p:cNvPr>
          <p:cNvSpPr txBox="1">
            <a:spLocks noGrp="1"/>
          </p:cNvSpPr>
          <p:nvPr>
            <p:ph type="body" idx="2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US" dirty="0"/>
              <a:t>Data</a:t>
            </a:r>
            <a:endParaRPr dirty="0"/>
          </a:p>
        </p:txBody>
      </p:sp>
      <p:sp>
        <p:nvSpPr>
          <p:cNvPr id="72" name="Slide Title">
            <a:extLst>
              <a:ext uri="{FF2B5EF4-FFF2-40B4-BE49-F238E27FC236}">
                <a16:creationId xmlns:a16="http://schemas.microsoft.com/office/drawing/2014/main" id="{1F202838-73AF-F78B-38B6-62A540CD8A37}"/>
              </a:ext>
            </a:extLst>
          </p:cNvPr>
          <p:cNvSpPr txBox="1">
            <a:spLocks noGrp="1"/>
          </p:cNvSpPr>
          <p:nvPr>
            <p:ph type="body" idx="22"/>
          </p:nvPr>
        </p:nvSpPr>
        <p:spPr>
          <a:prstGeom prst="rect">
            <a:avLst/>
          </a:prstGeom>
        </p:spPr>
        <p:txBody>
          <a:bodyPr>
            <a:normAutofit lnSpcReduction="10000"/>
          </a:bodyPr>
          <a:lstStyle/>
          <a:p>
            <a:r>
              <a:rPr lang="en-US" dirty="0"/>
              <a:t>Data</a:t>
            </a:r>
            <a:endParaRPr dirty="0"/>
          </a:p>
        </p:txBody>
      </p:sp>
      <p:sp>
        <p:nvSpPr>
          <p:cNvPr id="73" name="Use…">
            <a:extLst>
              <a:ext uri="{FF2B5EF4-FFF2-40B4-BE49-F238E27FC236}">
                <a16:creationId xmlns:a16="http://schemas.microsoft.com/office/drawing/2014/main" id="{F65BCB89-AE40-D8FB-D3E2-F4B04696FC8C}"/>
              </a:ext>
            </a:extLst>
          </p:cNvPr>
          <p:cNvSpPr txBox="1">
            <a:spLocks noGrp="1"/>
          </p:cNvSpPr>
          <p:nvPr>
            <p:ph type="body" idx="23"/>
          </p:nvPr>
        </p:nvSpPr>
        <p:spPr>
          <a:xfrm>
            <a:off x="761999" y="1581811"/>
            <a:ext cx="13512801" cy="1766125"/>
          </a:xfrm>
          <a:prstGeom prst="rect">
            <a:avLst/>
          </a:prstGeom>
        </p:spPr>
        <p:txBody>
          <a:bodyPr/>
          <a:lstStyle/>
          <a:p>
            <a:pPr marL="444500" indent="-444500">
              <a:lnSpc>
                <a:spcPts val="4500"/>
              </a:lnSpc>
              <a:buClr>
                <a:srgbClr val="00599E"/>
              </a:buClr>
              <a:buSzPct val="100000"/>
              <a:buChar char="⊡"/>
              <a:defRPr sz="3000">
                <a:solidFill>
                  <a:srgbClr val="5A5F5E"/>
                </a:solidFill>
              </a:defRPr>
            </a:pPr>
            <a:r>
              <a:rPr lang="en-US" altLang="zh-TW" sz="3000" dirty="0"/>
              <a:t>Most variables are highly skewed</a:t>
            </a:r>
          </a:p>
          <a:p>
            <a:pPr marL="444500" indent="-444500">
              <a:lnSpc>
                <a:spcPts val="4500"/>
              </a:lnSpc>
              <a:buClr>
                <a:srgbClr val="00599E"/>
              </a:buClr>
              <a:buSzPct val="100000"/>
              <a:buChar char="⊡"/>
              <a:defRPr sz="3000">
                <a:solidFill>
                  <a:srgbClr val="5A5F5E"/>
                </a:solidFill>
              </a:defRPr>
            </a:pPr>
            <a:r>
              <a:rPr lang="en-US" altLang="zh-TW" sz="3000" dirty="0"/>
              <a:t>Several variables exhibit extreme kurtosis (&gt;10)</a:t>
            </a:r>
          </a:p>
          <a:p>
            <a:pPr marL="444500" indent="-444500">
              <a:lnSpc>
                <a:spcPts val="4500"/>
              </a:lnSpc>
              <a:buClr>
                <a:srgbClr val="00599E"/>
              </a:buClr>
              <a:buSzPct val="100000"/>
              <a:buChar char="⊡"/>
              <a:defRPr sz="3000">
                <a:solidFill>
                  <a:srgbClr val="5A5F5E"/>
                </a:solidFill>
              </a:defRPr>
            </a:pPr>
            <a:r>
              <a:rPr lang="en-US" altLang="zh-TW" sz="3000" dirty="0"/>
              <a:t>apply </a:t>
            </a:r>
            <a:r>
              <a:rPr lang="en-US" altLang="zh-TW" sz="3000" dirty="0" err="1"/>
              <a:t>winsorization</a:t>
            </a:r>
            <a:r>
              <a:rPr lang="en-US" altLang="zh-TW" sz="3000" dirty="0"/>
              <a:t> and log-transform before model estimation</a:t>
            </a:r>
            <a:endParaRPr dirty="0"/>
          </a:p>
        </p:txBody>
      </p:sp>
      <p:sp>
        <p:nvSpPr>
          <p:cNvPr id="6" name="IDA Template">
            <a:extLst>
              <a:ext uri="{FF2B5EF4-FFF2-40B4-BE49-F238E27FC236}">
                <a16:creationId xmlns:a16="http://schemas.microsoft.com/office/drawing/2014/main" id="{6594CA1E-E7D1-8728-40D8-19082CF59FBF}"/>
              </a:ext>
            </a:extLst>
          </p:cNvPr>
          <p:cNvSpPr txBox="1">
            <a:spLocks noGrp="1"/>
          </p:cNvSpPr>
          <p:nvPr>
            <p:ph type="body" idx="24"/>
          </p:nvPr>
        </p:nvSpPr>
        <p:spPr>
          <a:xfrm>
            <a:off x="563563" y="9022928"/>
            <a:ext cx="11025916" cy="517525"/>
          </a:xfrm>
          <a:prstGeom prst="rect">
            <a:avLst/>
          </a:prstGeom>
        </p:spPr>
        <p:txBody>
          <a:bodyPr/>
          <a:lstStyle/>
          <a:p>
            <a:r>
              <a:rPr lang="en-US" altLang="zh-TW" dirty="0"/>
              <a:t>From Accounts to Alerts: EDA and Logistic Regression for Early Corporate Risk Prediction</a:t>
            </a:r>
          </a:p>
        </p:txBody>
      </p:sp>
      <p:pic>
        <p:nvPicPr>
          <p:cNvPr id="5" name="圖片 4" descr="一張含有 文字, 螢幕擷取畫面, 黑與白, 黑色 的圖片">
            <a:extLst>
              <a:ext uri="{FF2B5EF4-FFF2-40B4-BE49-F238E27FC236}">
                <a16:creationId xmlns:a16="http://schemas.microsoft.com/office/drawing/2014/main" id="{8F871D8A-1D71-FD57-12F4-5C9B0DF4D93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7214" y="3893127"/>
            <a:ext cx="11938562" cy="3730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2772281"/>
      </p:ext>
    </p:extLst>
  </p:cSld>
  <p:clrMapOvr>
    <a:masterClrMapping/>
  </p:clrMapOvr>
  <p:transition spd="med"/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A7D28C-9AE9-2668-8494-26386A7B76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幻燈片編號">
            <a:extLst>
              <a:ext uri="{FF2B5EF4-FFF2-40B4-BE49-F238E27FC236}">
                <a16:creationId xmlns:a16="http://schemas.microsoft.com/office/drawing/2014/main" id="{541D8510-ECFF-CDB8-5D8B-4DB379147E72}"/>
              </a:ext>
            </a:extLst>
          </p:cNvPr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>
            <a:normAutofit lnSpcReduction="10000"/>
          </a:bodyPr>
          <a:lstStyle/>
          <a:p>
            <a:fld id="{86CB4B4D-7CA3-9044-876B-883B54F8677D}" type="slidenum">
              <a:rPr/>
              <a:t>8</a:t>
            </a:fld>
            <a:endParaRPr/>
          </a:p>
        </p:txBody>
      </p:sp>
      <p:sp>
        <p:nvSpPr>
          <p:cNvPr id="71" name="Section Title">
            <a:extLst>
              <a:ext uri="{FF2B5EF4-FFF2-40B4-BE49-F238E27FC236}">
                <a16:creationId xmlns:a16="http://schemas.microsoft.com/office/drawing/2014/main" id="{7AE69530-9E67-3CDE-E6BA-0BC3F1ABE090}"/>
              </a:ext>
            </a:extLst>
          </p:cNvPr>
          <p:cNvSpPr txBox="1">
            <a:spLocks noGrp="1"/>
          </p:cNvSpPr>
          <p:nvPr>
            <p:ph type="body" idx="2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US" dirty="0"/>
              <a:t>Data</a:t>
            </a:r>
            <a:endParaRPr dirty="0"/>
          </a:p>
        </p:txBody>
      </p:sp>
      <p:sp>
        <p:nvSpPr>
          <p:cNvPr id="72" name="Slide Title">
            <a:extLst>
              <a:ext uri="{FF2B5EF4-FFF2-40B4-BE49-F238E27FC236}">
                <a16:creationId xmlns:a16="http://schemas.microsoft.com/office/drawing/2014/main" id="{67EE47AA-F30E-1DBD-3B23-A6CA49F39EE9}"/>
              </a:ext>
            </a:extLst>
          </p:cNvPr>
          <p:cNvSpPr txBox="1">
            <a:spLocks noGrp="1"/>
          </p:cNvSpPr>
          <p:nvPr>
            <p:ph type="body" idx="22"/>
          </p:nvPr>
        </p:nvSpPr>
        <p:spPr>
          <a:prstGeom prst="rect">
            <a:avLst/>
          </a:prstGeom>
        </p:spPr>
        <p:txBody>
          <a:bodyPr>
            <a:normAutofit lnSpcReduction="10000"/>
          </a:bodyPr>
          <a:lstStyle/>
          <a:p>
            <a:r>
              <a:rPr lang="en-US" dirty="0"/>
              <a:t>Data</a:t>
            </a:r>
            <a:endParaRPr dirty="0"/>
          </a:p>
        </p:txBody>
      </p:sp>
      <p:sp>
        <p:nvSpPr>
          <p:cNvPr id="6" name="IDA Template">
            <a:extLst>
              <a:ext uri="{FF2B5EF4-FFF2-40B4-BE49-F238E27FC236}">
                <a16:creationId xmlns:a16="http://schemas.microsoft.com/office/drawing/2014/main" id="{85ACD539-0DB4-9E53-796D-5BA97F19E5E9}"/>
              </a:ext>
            </a:extLst>
          </p:cNvPr>
          <p:cNvSpPr txBox="1">
            <a:spLocks noGrp="1"/>
          </p:cNvSpPr>
          <p:nvPr>
            <p:ph type="body" idx="24"/>
          </p:nvPr>
        </p:nvSpPr>
        <p:spPr>
          <a:xfrm>
            <a:off x="563563" y="9022928"/>
            <a:ext cx="11025916" cy="517525"/>
          </a:xfrm>
          <a:prstGeom prst="rect">
            <a:avLst/>
          </a:prstGeom>
        </p:spPr>
        <p:txBody>
          <a:bodyPr/>
          <a:lstStyle/>
          <a:p>
            <a:r>
              <a:rPr lang="en-US" altLang="zh-TW" dirty="0"/>
              <a:t>From Accounts to Alerts: EDA and Logistic Regression for Early Corporate Risk Prediction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38E713E9-A120-41CF-B8A7-32B24099C2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4716" y="1066927"/>
            <a:ext cx="7979248" cy="77445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9335055"/>
      </p:ext>
    </p:extLst>
  </p:cSld>
  <p:clrMapOvr>
    <a:masterClrMapping/>
  </p:clrMapOvr>
  <p:transition spd="med"/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859A29-31EF-9669-8D73-0634C485EB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幻燈片編號">
            <a:extLst>
              <a:ext uri="{FF2B5EF4-FFF2-40B4-BE49-F238E27FC236}">
                <a16:creationId xmlns:a16="http://schemas.microsoft.com/office/drawing/2014/main" id="{F3F56323-34E1-698E-231C-39B247BE6B64}"/>
              </a:ext>
            </a:extLst>
          </p:cNvPr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>
            <a:normAutofit lnSpcReduction="10000"/>
          </a:bodyPr>
          <a:lstStyle/>
          <a:p>
            <a:fld id="{86CB4B4D-7CA3-9044-876B-883B54F8677D}" type="slidenum">
              <a:rPr/>
              <a:t>9</a:t>
            </a:fld>
            <a:endParaRPr/>
          </a:p>
        </p:txBody>
      </p:sp>
      <p:sp>
        <p:nvSpPr>
          <p:cNvPr id="71" name="Section Title">
            <a:extLst>
              <a:ext uri="{FF2B5EF4-FFF2-40B4-BE49-F238E27FC236}">
                <a16:creationId xmlns:a16="http://schemas.microsoft.com/office/drawing/2014/main" id="{F0E95D63-E2EA-BE33-76B6-20542CD6793F}"/>
              </a:ext>
            </a:extLst>
          </p:cNvPr>
          <p:cNvSpPr txBox="1">
            <a:spLocks noGrp="1"/>
          </p:cNvSpPr>
          <p:nvPr>
            <p:ph type="body" idx="2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US" dirty="0"/>
              <a:t>Data</a:t>
            </a:r>
            <a:endParaRPr dirty="0"/>
          </a:p>
        </p:txBody>
      </p:sp>
      <p:sp>
        <p:nvSpPr>
          <p:cNvPr id="72" name="Slide Title">
            <a:extLst>
              <a:ext uri="{FF2B5EF4-FFF2-40B4-BE49-F238E27FC236}">
                <a16:creationId xmlns:a16="http://schemas.microsoft.com/office/drawing/2014/main" id="{504D93C6-4E06-E86D-4CD6-539FBB05BA46}"/>
              </a:ext>
            </a:extLst>
          </p:cNvPr>
          <p:cNvSpPr txBox="1">
            <a:spLocks noGrp="1"/>
          </p:cNvSpPr>
          <p:nvPr>
            <p:ph type="body" idx="22"/>
          </p:nvPr>
        </p:nvSpPr>
        <p:spPr>
          <a:prstGeom prst="rect">
            <a:avLst/>
          </a:prstGeom>
        </p:spPr>
        <p:txBody>
          <a:bodyPr>
            <a:normAutofit lnSpcReduction="10000"/>
          </a:bodyPr>
          <a:lstStyle/>
          <a:p>
            <a:r>
              <a:rPr lang="en-US" dirty="0"/>
              <a:t>Data</a:t>
            </a:r>
            <a:endParaRPr dirty="0"/>
          </a:p>
        </p:txBody>
      </p:sp>
      <p:sp>
        <p:nvSpPr>
          <p:cNvPr id="73" name="Use…">
            <a:extLst>
              <a:ext uri="{FF2B5EF4-FFF2-40B4-BE49-F238E27FC236}">
                <a16:creationId xmlns:a16="http://schemas.microsoft.com/office/drawing/2014/main" id="{14DDA9E1-9587-CB09-4C88-3CAB1866E095}"/>
              </a:ext>
            </a:extLst>
          </p:cNvPr>
          <p:cNvSpPr txBox="1">
            <a:spLocks noGrp="1"/>
          </p:cNvSpPr>
          <p:nvPr>
            <p:ph type="body" idx="23"/>
          </p:nvPr>
        </p:nvSpPr>
        <p:spPr>
          <a:xfrm>
            <a:off x="761999" y="1581811"/>
            <a:ext cx="13512801" cy="1766702"/>
          </a:xfrm>
          <a:prstGeom prst="rect">
            <a:avLst/>
          </a:prstGeom>
        </p:spPr>
        <p:txBody>
          <a:bodyPr/>
          <a:lstStyle/>
          <a:p>
            <a:pPr marL="444500" indent="-444500">
              <a:lnSpc>
                <a:spcPts val="4500"/>
              </a:lnSpc>
              <a:buClr>
                <a:srgbClr val="00599E"/>
              </a:buClr>
              <a:buSzPct val="100000"/>
              <a:buChar char="⊡"/>
              <a:defRPr sz="3000">
                <a:solidFill>
                  <a:srgbClr val="5A5F5E"/>
                </a:solidFill>
              </a:defRPr>
            </a:pPr>
            <a:r>
              <a:rPr lang="en-US" altLang="zh-TW" sz="3000" dirty="0"/>
              <a:t>Positive correlations among size-related variables (</a:t>
            </a:r>
            <a:r>
              <a:rPr lang="en-US" altLang="zh-TW" sz="3000" i="1" dirty="0"/>
              <a:t>at</a:t>
            </a:r>
            <a:r>
              <a:rPr lang="en-US" altLang="zh-TW" sz="3000" dirty="0"/>
              <a:t>, </a:t>
            </a:r>
            <a:r>
              <a:rPr lang="en-US" altLang="zh-TW" sz="3000" i="1" dirty="0" err="1"/>
              <a:t>lt</a:t>
            </a:r>
            <a:r>
              <a:rPr lang="en-US" altLang="zh-TW" sz="3000" dirty="0"/>
              <a:t>, </a:t>
            </a:r>
            <a:r>
              <a:rPr lang="en-US" altLang="zh-TW" sz="3000" i="1" dirty="0"/>
              <a:t>sale</a:t>
            </a:r>
            <a:r>
              <a:rPr lang="en-US" altLang="zh-TW" sz="3000" dirty="0"/>
              <a:t>, </a:t>
            </a:r>
            <a:r>
              <a:rPr lang="en-US" altLang="zh-TW" sz="3000" i="1" dirty="0" err="1"/>
              <a:t>ni</a:t>
            </a:r>
            <a:r>
              <a:rPr lang="en-US" altLang="zh-TW" sz="3000" dirty="0"/>
              <a:t>)</a:t>
            </a:r>
          </a:p>
          <a:p>
            <a:pPr marL="444500" indent="-444500">
              <a:lnSpc>
                <a:spcPts val="4500"/>
              </a:lnSpc>
              <a:buClr>
                <a:srgbClr val="00599E"/>
              </a:buClr>
              <a:buSzPct val="100000"/>
              <a:buChar char="⊡"/>
              <a:defRPr sz="3000">
                <a:solidFill>
                  <a:srgbClr val="5A5F5E"/>
                </a:solidFill>
              </a:defRPr>
            </a:pPr>
            <a:r>
              <a:rPr lang="en-US" altLang="zh-TW" sz="3000" dirty="0"/>
              <a:t>ROA inversely related to LEV (higher leverage, lower profitability)</a:t>
            </a:r>
          </a:p>
          <a:p>
            <a:pPr marL="444500" indent="-444500">
              <a:lnSpc>
                <a:spcPts val="4500"/>
              </a:lnSpc>
              <a:buClr>
                <a:srgbClr val="00599E"/>
              </a:buClr>
              <a:buSzPct val="100000"/>
              <a:buChar char="⊡"/>
              <a:defRPr sz="3000">
                <a:solidFill>
                  <a:srgbClr val="5A5F5E"/>
                </a:solidFill>
              </a:defRPr>
            </a:pPr>
            <a:r>
              <a:rPr lang="en-US" altLang="zh-TW" sz="3000" dirty="0"/>
              <a:t> No major multicollinearity after data transformation</a:t>
            </a:r>
            <a:endParaRPr dirty="0"/>
          </a:p>
        </p:txBody>
      </p:sp>
      <p:sp>
        <p:nvSpPr>
          <p:cNvPr id="6" name="IDA Template">
            <a:extLst>
              <a:ext uri="{FF2B5EF4-FFF2-40B4-BE49-F238E27FC236}">
                <a16:creationId xmlns:a16="http://schemas.microsoft.com/office/drawing/2014/main" id="{6308DC09-B9E4-04C4-DC24-7378FDDE873B}"/>
              </a:ext>
            </a:extLst>
          </p:cNvPr>
          <p:cNvSpPr txBox="1">
            <a:spLocks noGrp="1"/>
          </p:cNvSpPr>
          <p:nvPr>
            <p:ph type="body" idx="24"/>
          </p:nvPr>
        </p:nvSpPr>
        <p:spPr>
          <a:xfrm>
            <a:off x="563563" y="9022928"/>
            <a:ext cx="11025916" cy="517525"/>
          </a:xfrm>
          <a:prstGeom prst="rect">
            <a:avLst/>
          </a:prstGeom>
        </p:spPr>
        <p:txBody>
          <a:bodyPr/>
          <a:lstStyle/>
          <a:p>
            <a:r>
              <a:rPr lang="en-US" altLang="zh-TW" dirty="0"/>
              <a:t>From Accounts to Alerts: EDA and Logistic Regression for Early Corporate Risk Prediction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6C6BDA59-C556-E1E6-8C05-1EED47B2EF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8028" y="3403178"/>
            <a:ext cx="7248525" cy="5619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4969428"/>
      </p:ext>
    </p:extLst>
  </p:cSld>
  <p:clrMapOvr>
    <a:masterClrMapping/>
  </p:clrMapOvr>
  <p:transition spd="med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EBC653-E375-A0D0-02D7-F673C53939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幻燈片編號">
            <a:extLst>
              <a:ext uri="{FF2B5EF4-FFF2-40B4-BE49-F238E27FC236}">
                <a16:creationId xmlns:a16="http://schemas.microsoft.com/office/drawing/2014/main" id="{C4C17262-3720-2B42-2ED3-0DCC1553978A}"/>
              </a:ext>
            </a:extLst>
          </p:cNvPr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>
            <a:normAutofit lnSpcReduction="10000"/>
          </a:bodyPr>
          <a:lstStyle/>
          <a:p>
            <a:fld id="{86CB4B4D-7CA3-9044-876B-883B54F8677D}" type="slidenum">
              <a:rPr/>
              <a:t>10</a:t>
            </a:fld>
            <a:endParaRPr/>
          </a:p>
        </p:txBody>
      </p:sp>
      <p:sp>
        <p:nvSpPr>
          <p:cNvPr id="71" name="Section Title">
            <a:extLst>
              <a:ext uri="{FF2B5EF4-FFF2-40B4-BE49-F238E27FC236}">
                <a16:creationId xmlns:a16="http://schemas.microsoft.com/office/drawing/2014/main" id="{E5BDA83B-248E-8F2B-DA04-307A161E1FC8}"/>
              </a:ext>
            </a:extLst>
          </p:cNvPr>
          <p:cNvSpPr txBox="1">
            <a:spLocks noGrp="1"/>
          </p:cNvSpPr>
          <p:nvPr>
            <p:ph type="body" idx="2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US" dirty="0"/>
              <a:t>Methodology</a:t>
            </a:r>
            <a:endParaRPr dirty="0"/>
          </a:p>
        </p:txBody>
      </p:sp>
      <p:sp>
        <p:nvSpPr>
          <p:cNvPr id="72" name="Slide Title">
            <a:extLst>
              <a:ext uri="{FF2B5EF4-FFF2-40B4-BE49-F238E27FC236}">
                <a16:creationId xmlns:a16="http://schemas.microsoft.com/office/drawing/2014/main" id="{73CD43B5-6D2F-AD12-DB79-37BE45408704}"/>
              </a:ext>
            </a:extLst>
          </p:cNvPr>
          <p:cNvSpPr txBox="1">
            <a:spLocks noGrp="1"/>
          </p:cNvSpPr>
          <p:nvPr>
            <p:ph type="body" idx="22"/>
          </p:nvPr>
        </p:nvSpPr>
        <p:spPr>
          <a:prstGeom prst="rect">
            <a:avLst/>
          </a:prstGeom>
        </p:spPr>
        <p:txBody>
          <a:bodyPr>
            <a:normAutofit lnSpcReduction="10000"/>
          </a:bodyPr>
          <a:lstStyle/>
          <a:p>
            <a:r>
              <a:rPr lang="en-US" dirty="0"/>
              <a:t>Overview</a:t>
            </a:r>
            <a:endParaRPr dirty="0"/>
          </a:p>
        </p:txBody>
      </p:sp>
      <p:sp>
        <p:nvSpPr>
          <p:cNvPr id="73" name="Use…">
            <a:extLst>
              <a:ext uri="{FF2B5EF4-FFF2-40B4-BE49-F238E27FC236}">
                <a16:creationId xmlns:a16="http://schemas.microsoft.com/office/drawing/2014/main" id="{CC853FD6-0465-4DD4-17F8-D48C887E6B87}"/>
              </a:ext>
            </a:extLst>
          </p:cNvPr>
          <p:cNvSpPr txBox="1">
            <a:spLocks noGrp="1"/>
          </p:cNvSpPr>
          <p:nvPr>
            <p:ph type="body" idx="23"/>
          </p:nvPr>
        </p:nvSpPr>
        <p:spPr>
          <a:xfrm>
            <a:off x="761999" y="1581811"/>
            <a:ext cx="11467783" cy="2915222"/>
          </a:xfrm>
          <a:prstGeom prst="rect">
            <a:avLst/>
          </a:prstGeom>
        </p:spPr>
        <p:txBody>
          <a:bodyPr/>
          <a:lstStyle/>
          <a:p>
            <a:pPr marL="444500" indent="-444500" rtl="0">
              <a:lnSpc>
                <a:spcPts val="4500"/>
              </a:lnSpc>
              <a:buClr>
                <a:srgbClr val="00599E"/>
              </a:buClr>
              <a:buSzPct val="100000"/>
              <a:buFontTx/>
              <a:buChar char="⊡"/>
              <a:defRPr sz="3000">
                <a:solidFill>
                  <a:srgbClr val="5A5F5E"/>
                </a:solidFill>
              </a:defRPr>
            </a:pPr>
            <a:r>
              <a:rPr lang="zh-TW" altLang="zh-TW" sz="2800" dirty="0">
                <a:solidFill>
                  <a:srgbClr val="000000"/>
                </a:solidFill>
                <a:latin typeface="Arial" panose="020B0604020202020204" pitchFamily="34" charset="0"/>
              </a:rPr>
              <a:t>USA annual financial statements (2019–2024) + SEC Form 25 delisting labels</a:t>
            </a:r>
            <a:endParaRPr lang="en-US" altLang="zh-TW" sz="2800" dirty="0">
              <a:solidFill>
                <a:srgbClr val="000000"/>
              </a:solidFill>
              <a:latin typeface="Arial" panose="020B0604020202020204" pitchFamily="34" charset="0"/>
            </a:endParaRPr>
          </a:p>
          <a:p>
            <a:pPr marL="444500" indent="-444500" rtl="0">
              <a:lnSpc>
                <a:spcPts val="4500"/>
              </a:lnSpc>
              <a:buClr>
                <a:srgbClr val="00599E"/>
              </a:buClr>
              <a:buSzPct val="100000"/>
              <a:buFontTx/>
              <a:buChar char="⊡"/>
              <a:defRPr sz="3000">
                <a:solidFill>
                  <a:srgbClr val="5A5F5E"/>
                </a:solidFill>
              </a:defRPr>
            </a:pPr>
            <a:r>
              <a:rPr lang="zh-TW" altLang="zh-TW" sz="2800" dirty="0">
                <a:solidFill>
                  <a:srgbClr val="000000"/>
                </a:solidFill>
                <a:latin typeface="Arial" panose="020B0604020202020204" pitchFamily="34" charset="0"/>
              </a:rPr>
              <a:t>Label: Y=1 if a Form 25 becomes effective within 400 days after the financial statement date</a:t>
            </a:r>
            <a:endParaRPr lang="en-US" altLang="zh-TW" sz="2800" dirty="0">
              <a:solidFill>
                <a:srgbClr val="000000"/>
              </a:solidFill>
              <a:latin typeface="Arial" panose="020B0604020202020204" pitchFamily="34" charset="0"/>
            </a:endParaRPr>
          </a:p>
          <a:p>
            <a:pPr marL="444500" indent="-444500" rtl="0">
              <a:lnSpc>
                <a:spcPts val="4500"/>
              </a:lnSpc>
              <a:buClr>
                <a:srgbClr val="00599E"/>
              </a:buClr>
              <a:buSzPct val="100000"/>
              <a:buFontTx/>
              <a:buChar char="⊡"/>
              <a:defRPr sz="3000">
                <a:solidFill>
                  <a:srgbClr val="5A5F5E"/>
                </a:solidFill>
              </a:defRPr>
            </a:pPr>
            <a:r>
              <a:rPr lang="zh-TW" altLang="zh-TW" sz="2800" dirty="0">
                <a:solidFill>
                  <a:srgbClr val="000000"/>
                </a:solidFill>
                <a:latin typeface="Arial" panose="020B0604020202020204" pitchFamily="34" charset="0"/>
              </a:rPr>
              <a:t>Train: 2019–2023, Test: 2024</a:t>
            </a:r>
          </a:p>
        </p:txBody>
      </p:sp>
      <p:sp>
        <p:nvSpPr>
          <p:cNvPr id="3" name="IDA Template">
            <a:extLst>
              <a:ext uri="{FF2B5EF4-FFF2-40B4-BE49-F238E27FC236}">
                <a16:creationId xmlns:a16="http://schemas.microsoft.com/office/drawing/2014/main" id="{0F750999-EDE3-6DDD-1BD2-68F77974F6B3}"/>
              </a:ext>
            </a:extLst>
          </p:cNvPr>
          <p:cNvSpPr txBox="1">
            <a:spLocks noGrp="1"/>
          </p:cNvSpPr>
          <p:nvPr>
            <p:ph type="body" idx="24"/>
          </p:nvPr>
        </p:nvSpPr>
        <p:spPr>
          <a:xfrm>
            <a:off x="715963" y="9236075"/>
            <a:ext cx="10747904" cy="399033"/>
          </a:xfrm>
          <a:prstGeom prst="rect">
            <a:avLst/>
          </a:prstGeom>
        </p:spPr>
        <p:txBody>
          <a:bodyPr/>
          <a:lstStyle/>
          <a:p>
            <a:r>
              <a:rPr lang="en-US" altLang="zh-TW" dirty="0"/>
              <a:t>From Accounts to Alerts: EDA and Logistic Regression for Early Corporate Risk Prediction</a:t>
            </a:r>
          </a:p>
        </p:txBody>
      </p:sp>
    </p:spTree>
    <p:extLst>
      <p:ext uri="{BB962C8B-B14F-4D97-AF65-F5344CB8AC3E}">
        <p14:creationId xmlns:p14="http://schemas.microsoft.com/office/powerpoint/2010/main" val="596449606"/>
      </p:ext>
    </p:extLst>
  </p:cSld>
  <p:clrMapOvr>
    <a:masterClrMapping/>
  </p:clrMapOvr>
  <p:transition spd="med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149A1D-5A92-2A72-03C9-3E6232678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幻燈片編號">
            <a:extLst>
              <a:ext uri="{FF2B5EF4-FFF2-40B4-BE49-F238E27FC236}">
                <a16:creationId xmlns:a16="http://schemas.microsoft.com/office/drawing/2014/main" id="{53373337-BC15-3B25-A66B-E3B3DAAC024E}"/>
              </a:ext>
            </a:extLst>
          </p:cNvPr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>
            <a:normAutofit lnSpcReduction="10000"/>
          </a:bodyPr>
          <a:lstStyle/>
          <a:p>
            <a:fld id="{86CB4B4D-7CA3-9044-876B-883B54F8677D}" type="slidenum">
              <a:rPr/>
              <a:t>11</a:t>
            </a:fld>
            <a:endParaRPr/>
          </a:p>
        </p:txBody>
      </p:sp>
      <p:sp>
        <p:nvSpPr>
          <p:cNvPr id="71" name="Section Title">
            <a:extLst>
              <a:ext uri="{FF2B5EF4-FFF2-40B4-BE49-F238E27FC236}">
                <a16:creationId xmlns:a16="http://schemas.microsoft.com/office/drawing/2014/main" id="{BCCAF506-5B49-4BA6-3774-CA5DF6A0C687}"/>
              </a:ext>
            </a:extLst>
          </p:cNvPr>
          <p:cNvSpPr txBox="1">
            <a:spLocks noGrp="1"/>
          </p:cNvSpPr>
          <p:nvPr>
            <p:ph type="body" idx="2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US" dirty="0"/>
              <a:t>Methodology</a:t>
            </a:r>
            <a:endParaRPr dirty="0"/>
          </a:p>
        </p:txBody>
      </p:sp>
      <p:sp>
        <p:nvSpPr>
          <p:cNvPr id="72" name="Slide Title">
            <a:extLst>
              <a:ext uri="{FF2B5EF4-FFF2-40B4-BE49-F238E27FC236}">
                <a16:creationId xmlns:a16="http://schemas.microsoft.com/office/drawing/2014/main" id="{B5D01536-E202-C744-755E-D8F41AE4C2B4}"/>
              </a:ext>
            </a:extLst>
          </p:cNvPr>
          <p:cNvSpPr txBox="1">
            <a:spLocks noGrp="1"/>
          </p:cNvSpPr>
          <p:nvPr>
            <p:ph type="body" idx="22"/>
          </p:nvPr>
        </p:nvSpPr>
        <p:spPr>
          <a:prstGeom prst="rect">
            <a:avLst/>
          </a:prstGeom>
        </p:spPr>
        <p:txBody>
          <a:bodyPr>
            <a:normAutofit lnSpcReduction="10000"/>
          </a:bodyPr>
          <a:lstStyle/>
          <a:p>
            <a:r>
              <a:rPr lang="en-US" altLang="zh-TW" dirty="0"/>
              <a:t>Benchmark Model</a:t>
            </a:r>
            <a:endParaRPr dirty="0"/>
          </a:p>
        </p:txBody>
      </p:sp>
      <p:sp>
        <p:nvSpPr>
          <p:cNvPr id="73" name="Use…">
            <a:extLst>
              <a:ext uri="{FF2B5EF4-FFF2-40B4-BE49-F238E27FC236}">
                <a16:creationId xmlns:a16="http://schemas.microsoft.com/office/drawing/2014/main" id="{A4B6359E-4757-49C6-F0CE-7632598B4AEF}"/>
              </a:ext>
            </a:extLst>
          </p:cNvPr>
          <p:cNvSpPr txBox="1">
            <a:spLocks noGrp="1"/>
          </p:cNvSpPr>
          <p:nvPr>
            <p:ph type="body" idx="23"/>
          </p:nvPr>
        </p:nvSpPr>
        <p:spPr>
          <a:xfrm>
            <a:off x="761999" y="1581811"/>
            <a:ext cx="11467783" cy="1189621"/>
          </a:xfrm>
          <a:prstGeom prst="rect">
            <a:avLst/>
          </a:prstGeom>
        </p:spPr>
        <p:txBody>
          <a:bodyPr/>
          <a:lstStyle/>
          <a:p>
            <a:pPr marL="444500" indent="-444500" rtl="0">
              <a:lnSpc>
                <a:spcPts val="4500"/>
              </a:lnSpc>
              <a:buClr>
                <a:srgbClr val="00599E"/>
              </a:buClr>
              <a:buSzPct val="100000"/>
              <a:buFontTx/>
              <a:buChar char="⊡"/>
              <a:defRPr sz="3000">
                <a:solidFill>
                  <a:srgbClr val="5A5F5E"/>
                </a:solidFill>
              </a:defRPr>
            </a:pPr>
            <a:r>
              <a:rPr lang="en-US" altLang="zh-TW" sz="3000" dirty="0"/>
              <a:t>Penalized logistic regression (L1 / Lasso and L2 / Ridge variants)</a:t>
            </a:r>
          </a:p>
          <a:p>
            <a:pPr marL="444500" indent="-444500" rtl="0">
              <a:lnSpc>
                <a:spcPts val="4500"/>
              </a:lnSpc>
              <a:buClr>
                <a:srgbClr val="00599E"/>
              </a:buClr>
              <a:buSzPct val="100000"/>
              <a:buFontTx/>
              <a:buChar char="⊡"/>
              <a:defRPr sz="3000">
                <a:solidFill>
                  <a:srgbClr val="5A5F5E"/>
                </a:solidFill>
              </a:defRPr>
            </a:pPr>
            <a:r>
              <a:rPr lang="en-US" altLang="zh-TW" sz="3000" dirty="0"/>
              <a:t>Penalization reduces overfitting and selects relevant predictors</a:t>
            </a:r>
            <a:endParaRPr lang="zh-TW" altLang="zh-TW" sz="2800" dirty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3" name="IDA Template">
            <a:extLst>
              <a:ext uri="{FF2B5EF4-FFF2-40B4-BE49-F238E27FC236}">
                <a16:creationId xmlns:a16="http://schemas.microsoft.com/office/drawing/2014/main" id="{D3865D02-F0D2-D51B-3084-FC9DB5EDA8F1}"/>
              </a:ext>
            </a:extLst>
          </p:cNvPr>
          <p:cNvSpPr txBox="1">
            <a:spLocks noGrp="1"/>
          </p:cNvSpPr>
          <p:nvPr>
            <p:ph type="body" idx="24"/>
          </p:nvPr>
        </p:nvSpPr>
        <p:spPr>
          <a:xfrm>
            <a:off x="715963" y="9236075"/>
            <a:ext cx="10747904" cy="399033"/>
          </a:xfrm>
          <a:prstGeom prst="rect">
            <a:avLst/>
          </a:prstGeom>
        </p:spPr>
        <p:txBody>
          <a:bodyPr/>
          <a:lstStyle/>
          <a:p>
            <a:r>
              <a:rPr lang="en-US" altLang="zh-TW" dirty="0"/>
              <a:t>From Accounts to Alerts: EDA and Logistic Regression for Early Corporate Risk Prediction</a:t>
            </a:r>
          </a:p>
        </p:txBody>
      </p:sp>
    </p:spTree>
    <p:extLst>
      <p:ext uri="{BB962C8B-B14F-4D97-AF65-F5344CB8AC3E}">
        <p14:creationId xmlns:p14="http://schemas.microsoft.com/office/powerpoint/2010/main" val="3344547415"/>
      </p:ext>
    </p:extLst>
  </p:cSld>
  <p:clrMapOvr>
    <a:masterClrMapping/>
  </p:clrMapOvr>
  <p:transition spd="med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2EAD45-631F-8C11-7992-E4366DF496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幻燈片編號">
            <a:extLst>
              <a:ext uri="{FF2B5EF4-FFF2-40B4-BE49-F238E27FC236}">
                <a16:creationId xmlns:a16="http://schemas.microsoft.com/office/drawing/2014/main" id="{52E95ABB-E22A-ED43-6C9F-33E6CD16C7ED}"/>
              </a:ext>
            </a:extLst>
          </p:cNvPr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>
            <a:normAutofit lnSpcReduction="10000"/>
          </a:bodyPr>
          <a:lstStyle/>
          <a:p>
            <a:fld id="{86CB4B4D-7CA3-9044-876B-883B54F8677D}" type="slidenum">
              <a:rPr/>
              <a:t>12</a:t>
            </a:fld>
            <a:endParaRPr/>
          </a:p>
        </p:txBody>
      </p:sp>
      <p:sp>
        <p:nvSpPr>
          <p:cNvPr id="71" name="Section Title">
            <a:extLst>
              <a:ext uri="{FF2B5EF4-FFF2-40B4-BE49-F238E27FC236}">
                <a16:creationId xmlns:a16="http://schemas.microsoft.com/office/drawing/2014/main" id="{BA3E779F-31D6-A215-A871-3DB6D391A268}"/>
              </a:ext>
            </a:extLst>
          </p:cNvPr>
          <p:cNvSpPr txBox="1">
            <a:spLocks noGrp="1"/>
          </p:cNvSpPr>
          <p:nvPr>
            <p:ph type="body" idx="2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US" dirty="0"/>
              <a:t>Methodology</a:t>
            </a:r>
            <a:endParaRPr dirty="0"/>
          </a:p>
        </p:txBody>
      </p:sp>
      <p:sp>
        <p:nvSpPr>
          <p:cNvPr id="72" name="Slide Title">
            <a:extLst>
              <a:ext uri="{FF2B5EF4-FFF2-40B4-BE49-F238E27FC236}">
                <a16:creationId xmlns:a16="http://schemas.microsoft.com/office/drawing/2014/main" id="{B80B9957-B8D9-804C-2F6F-AF98CDDA693D}"/>
              </a:ext>
            </a:extLst>
          </p:cNvPr>
          <p:cNvSpPr txBox="1">
            <a:spLocks noGrp="1"/>
          </p:cNvSpPr>
          <p:nvPr>
            <p:ph type="body" idx="22"/>
          </p:nvPr>
        </p:nvSpPr>
        <p:spPr>
          <a:prstGeom prst="rect">
            <a:avLst/>
          </a:prstGeom>
        </p:spPr>
        <p:txBody>
          <a:bodyPr>
            <a:normAutofit lnSpcReduction="10000"/>
          </a:bodyPr>
          <a:lstStyle/>
          <a:p>
            <a:r>
              <a:rPr lang="en-US" altLang="zh-TW" dirty="0"/>
              <a:t>Class Imbalance Handling</a:t>
            </a:r>
            <a:endParaRPr dirty="0"/>
          </a:p>
        </p:txBody>
      </p:sp>
      <p:sp>
        <p:nvSpPr>
          <p:cNvPr id="73" name="Use…">
            <a:extLst>
              <a:ext uri="{FF2B5EF4-FFF2-40B4-BE49-F238E27FC236}">
                <a16:creationId xmlns:a16="http://schemas.microsoft.com/office/drawing/2014/main" id="{65F8099B-4DD6-3AEB-7219-73504F3396B8}"/>
              </a:ext>
            </a:extLst>
          </p:cNvPr>
          <p:cNvSpPr txBox="1">
            <a:spLocks noGrp="1"/>
          </p:cNvSpPr>
          <p:nvPr>
            <p:ph type="body" idx="23"/>
          </p:nvPr>
        </p:nvSpPr>
        <p:spPr>
          <a:xfrm>
            <a:off x="761999" y="1581811"/>
            <a:ext cx="11467783" cy="1189621"/>
          </a:xfrm>
          <a:prstGeom prst="rect">
            <a:avLst/>
          </a:prstGeom>
        </p:spPr>
        <p:txBody>
          <a:bodyPr/>
          <a:lstStyle/>
          <a:p>
            <a:pPr marL="444500" indent="-444500" rtl="0">
              <a:lnSpc>
                <a:spcPts val="4500"/>
              </a:lnSpc>
              <a:buClr>
                <a:srgbClr val="00599E"/>
              </a:buClr>
              <a:buSzPct val="100000"/>
              <a:buFontTx/>
              <a:buChar char="⊡"/>
              <a:defRPr sz="3000">
                <a:solidFill>
                  <a:srgbClr val="5A5F5E"/>
                </a:solidFill>
              </a:defRPr>
            </a:pPr>
            <a:r>
              <a:rPr lang="en-US" altLang="zh-TW" sz="3000" dirty="0"/>
              <a:t>Synthetic Minority Oversampling Technique (SMOTE) applied</a:t>
            </a:r>
          </a:p>
          <a:p>
            <a:pPr marL="444500" indent="-444500" rtl="0">
              <a:lnSpc>
                <a:spcPts val="4500"/>
              </a:lnSpc>
              <a:buClr>
                <a:srgbClr val="00599E"/>
              </a:buClr>
              <a:buSzPct val="100000"/>
              <a:buFontTx/>
              <a:buChar char="⊡"/>
              <a:defRPr sz="3000">
                <a:solidFill>
                  <a:srgbClr val="5A5F5E"/>
                </a:solidFill>
              </a:defRPr>
            </a:pPr>
            <a:r>
              <a:rPr lang="en-US" altLang="zh-TW" sz="3000" dirty="0"/>
              <a:t>Cost-sensitive weighting adjusts loss for rare default events</a:t>
            </a:r>
            <a:endParaRPr lang="zh-TW" altLang="zh-TW" sz="2800" dirty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3" name="IDA Template">
            <a:extLst>
              <a:ext uri="{FF2B5EF4-FFF2-40B4-BE49-F238E27FC236}">
                <a16:creationId xmlns:a16="http://schemas.microsoft.com/office/drawing/2014/main" id="{42CF9F90-6813-F019-42B5-9BE33E52E6BC}"/>
              </a:ext>
            </a:extLst>
          </p:cNvPr>
          <p:cNvSpPr txBox="1">
            <a:spLocks noGrp="1"/>
          </p:cNvSpPr>
          <p:nvPr>
            <p:ph type="body" idx="24"/>
          </p:nvPr>
        </p:nvSpPr>
        <p:spPr>
          <a:xfrm>
            <a:off x="715963" y="9236075"/>
            <a:ext cx="10747904" cy="399033"/>
          </a:xfrm>
          <a:prstGeom prst="rect">
            <a:avLst/>
          </a:prstGeom>
        </p:spPr>
        <p:txBody>
          <a:bodyPr/>
          <a:lstStyle/>
          <a:p>
            <a:r>
              <a:rPr lang="en-US" altLang="zh-TW" dirty="0"/>
              <a:t>From Accounts to Alerts: EDA and Logistic Regression for Early Corporate Risk Prediction</a:t>
            </a:r>
          </a:p>
        </p:txBody>
      </p:sp>
    </p:spTree>
    <p:extLst>
      <p:ext uri="{BB962C8B-B14F-4D97-AF65-F5344CB8AC3E}">
        <p14:creationId xmlns:p14="http://schemas.microsoft.com/office/powerpoint/2010/main" val="404028624"/>
      </p:ext>
    </p:extLst>
  </p:cSld>
  <p:clrMapOvr>
    <a:masterClrMapping/>
  </p:clrMapOvr>
  <p:transition spd="med"/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41CE7D-4017-6DD9-F178-95AA418615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幻燈片編號">
            <a:extLst>
              <a:ext uri="{FF2B5EF4-FFF2-40B4-BE49-F238E27FC236}">
                <a16:creationId xmlns:a16="http://schemas.microsoft.com/office/drawing/2014/main" id="{5C7C71EF-029A-B8A5-3604-FAA964093562}"/>
              </a:ext>
            </a:extLst>
          </p:cNvPr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>
            <a:normAutofit lnSpcReduction="10000"/>
          </a:bodyPr>
          <a:lstStyle/>
          <a:p>
            <a:fld id="{86CB4B4D-7CA3-9044-876B-883B54F8677D}" type="slidenum">
              <a:rPr/>
              <a:t>13</a:t>
            </a:fld>
            <a:endParaRPr/>
          </a:p>
        </p:txBody>
      </p:sp>
      <p:sp>
        <p:nvSpPr>
          <p:cNvPr id="71" name="Section Title">
            <a:extLst>
              <a:ext uri="{FF2B5EF4-FFF2-40B4-BE49-F238E27FC236}">
                <a16:creationId xmlns:a16="http://schemas.microsoft.com/office/drawing/2014/main" id="{987E19D8-F844-E99B-08C7-371A69207247}"/>
              </a:ext>
            </a:extLst>
          </p:cNvPr>
          <p:cNvSpPr txBox="1">
            <a:spLocks noGrp="1"/>
          </p:cNvSpPr>
          <p:nvPr>
            <p:ph type="body" idx="2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US" dirty="0"/>
              <a:t>Methodology</a:t>
            </a:r>
            <a:endParaRPr dirty="0"/>
          </a:p>
        </p:txBody>
      </p:sp>
      <p:sp>
        <p:nvSpPr>
          <p:cNvPr id="72" name="Slide Title">
            <a:extLst>
              <a:ext uri="{FF2B5EF4-FFF2-40B4-BE49-F238E27FC236}">
                <a16:creationId xmlns:a16="http://schemas.microsoft.com/office/drawing/2014/main" id="{A5234996-780E-DBFC-38D8-7F34CE4AA61F}"/>
              </a:ext>
            </a:extLst>
          </p:cNvPr>
          <p:cNvSpPr txBox="1">
            <a:spLocks noGrp="1"/>
          </p:cNvSpPr>
          <p:nvPr>
            <p:ph type="body" idx="22"/>
          </p:nvPr>
        </p:nvSpPr>
        <p:spPr>
          <a:prstGeom prst="rect">
            <a:avLst/>
          </a:prstGeom>
        </p:spPr>
        <p:txBody>
          <a:bodyPr>
            <a:normAutofit lnSpcReduction="10000"/>
          </a:bodyPr>
          <a:lstStyle/>
          <a:p>
            <a:r>
              <a:rPr lang="en-US" altLang="zh-TW" dirty="0"/>
              <a:t>Design of Research</a:t>
            </a:r>
            <a:endParaRPr dirty="0"/>
          </a:p>
        </p:txBody>
      </p:sp>
      <p:sp>
        <p:nvSpPr>
          <p:cNvPr id="73" name="Use…">
            <a:extLst>
              <a:ext uri="{FF2B5EF4-FFF2-40B4-BE49-F238E27FC236}">
                <a16:creationId xmlns:a16="http://schemas.microsoft.com/office/drawing/2014/main" id="{E3DD04F0-307D-4363-8F80-96D88C690544}"/>
              </a:ext>
            </a:extLst>
          </p:cNvPr>
          <p:cNvSpPr txBox="1">
            <a:spLocks noGrp="1"/>
          </p:cNvSpPr>
          <p:nvPr>
            <p:ph type="body" idx="23"/>
          </p:nvPr>
        </p:nvSpPr>
        <p:spPr>
          <a:xfrm>
            <a:off x="761999" y="1581811"/>
            <a:ext cx="11467783" cy="3497945"/>
          </a:xfrm>
          <a:prstGeom prst="rect">
            <a:avLst/>
          </a:prstGeom>
        </p:spPr>
        <p:txBody>
          <a:bodyPr/>
          <a:lstStyle/>
          <a:p>
            <a:pPr marL="444500" indent="-444500" rtl="0">
              <a:lnSpc>
                <a:spcPts val="4500"/>
              </a:lnSpc>
              <a:buClr>
                <a:srgbClr val="00599E"/>
              </a:buClr>
              <a:buSzPct val="100000"/>
              <a:buFontTx/>
              <a:buChar char="⊡"/>
              <a:defRPr sz="3000">
                <a:solidFill>
                  <a:srgbClr val="5A5F5E"/>
                </a:solidFill>
              </a:defRPr>
            </a:pPr>
            <a:r>
              <a:rPr lang="en-US" altLang="zh-TW" sz="3000" dirty="0"/>
              <a:t>EDA and Feature Engineering: cleaning, transforming, visualizing ratios</a:t>
            </a:r>
          </a:p>
          <a:p>
            <a:pPr marL="444500" indent="-444500" rtl="0">
              <a:lnSpc>
                <a:spcPts val="4500"/>
              </a:lnSpc>
              <a:buClr>
                <a:srgbClr val="00599E"/>
              </a:buClr>
              <a:buSzPct val="100000"/>
              <a:buFontTx/>
              <a:buChar char="⊡"/>
              <a:defRPr sz="3000">
                <a:solidFill>
                  <a:srgbClr val="5A5F5E"/>
                </a:solidFill>
              </a:defRPr>
            </a:pPr>
            <a:r>
              <a:rPr lang="en-US" altLang="zh-TW" sz="3000" dirty="0"/>
              <a:t>Model Estimation: penalized logistic regression stratified by sector and time</a:t>
            </a:r>
          </a:p>
          <a:p>
            <a:pPr marL="444500" indent="-444500" rtl="0">
              <a:lnSpc>
                <a:spcPts val="4500"/>
              </a:lnSpc>
              <a:buClr>
                <a:srgbClr val="00599E"/>
              </a:buClr>
              <a:buSzPct val="100000"/>
              <a:buFontTx/>
              <a:buChar char="⊡"/>
              <a:defRPr sz="3000">
                <a:solidFill>
                  <a:srgbClr val="5A5F5E"/>
                </a:solidFill>
              </a:defRPr>
            </a:pPr>
            <a:r>
              <a:rPr lang="en-US" altLang="zh-TW" sz="3000" dirty="0"/>
              <a:t>Evaluation and Interpretation: performance metrics and SHAP analysis</a:t>
            </a:r>
            <a:endParaRPr lang="zh-TW" altLang="zh-TW" sz="2800" dirty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3" name="IDA Template">
            <a:extLst>
              <a:ext uri="{FF2B5EF4-FFF2-40B4-BE49-F238E27FC236}">
                <a16:creationId xmlns:a16="http://schemas.microsoft.com/office/drawing/2014/main" id="{8CE897F9-F004-59FA-368A-5E3B663E4D8F}"/>
              </a:ext>
            </a:extLst>
          </p:cNvPr>
          <p:cNvSpPr txBox="1">
            <a:spLocks noGrp="1"/>
          </p:cNvSpPr>
          <p:nvPr>
            <p:ph type="body" idx="24"/>
          </p:nvPr>
        </p:nvSpPr>
        <p:spPr>
          <a:xfrm>
            <a:off x="715963" y="9236075"/>
            <a:ext cx="10747904" cy="399033"/>
          </a:xfrm>
          <a:prstGeom prst="rect">
            <a:avLst/>
          </a:prstGeom>
        </p:spPr>
        <p:txBody>
          <a:bodyPr/>
          <a:lstStyle/>
          <a:p>
            <a:r>
              <a:rPr lang="en-US" altLang="zh-TW" dirty="0"/>
              <a:t>From Accounts to Alerts: EDA and Logistic Regression for Early Corporate Risk Prediction</a:t>
            </a:r>
          </a:p>
        </p:txBody>
      </p:sp>
    </p:spTree>
    <p:extLst>
      <p:ext uri="{BB962C8B-B14F-4D97-AF65-F5344CB8AC3E}">
        <p14:creationId xmlns:p14="http://schemas.microsoft.com/office/powerpoint/2010/main" val="2429981512"/>
      </p:ext>
    </p:extLst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6BD589-E1D0-6F05-F577-89571CAA95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幻燈片編號">
            <a:extLst>
              <a:ext uri="{FF2B5EF4-FFF2-40B4-BE49-F238E27FC236}">
                <a16:creationId xmlns:a16="http://schemas.microsoft.com/office/drawing/2014/main" id="{589AEC1B-0634-BD90-3F9C-50CF8C72B99F}"/>
              </a:ext>
            </a:extLst>
          </p:cNvPr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>
            <a:normAutofit lnSpcReduction="10000"/>
          </a:bodyPr>
          <a:lstStyle/>
          <a:p>
            <a:fld id="{86CB4B4D-7CA3-9044-876B-883B54F8677D}" type="slidenum">
              <a:rPr/>
              <a:t>14</a:t>
            </a:fld>
            <a:endParaRPr/>
          </a:p>
        </p:txBody>
      </p:sp>
      <p:sp>
        <p:nvSpPr>
          <p:cNvPr id="71" name="Section Title">
            <a:extLst>
              <a:ext uri="{FF2B5EF4-FFF2-40B4-BE49-F238E27FC236}">
                <a16:creationId xmlns:a16="http://schemas.microsoft.com/office/drawing/2014/main" id="{83C40AFF-8525-2DFC-1556-1759501264F0}"/>
              </a:ext>
            </a:extLst>
          </p:cNvPr>
          <p:cNvSpPr txBox="1">
            <a:spLocks noGrp="1"/>
          </p:cNvSpPr>
          <p:nvPr>
            <p:ph type="body" idx="21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US" dirty="0"/>
              <a:t>Methodology</a:t>
            </a:r>
            <a:endParaRPr dirty="0"/>
          </a:p>
        </p:txBody>
      </p:sp>
      <p:sp>
        <p:nvSpPr>
          <p:cNvPr id="72" name="Slide Title">
            <a:extLst>
              <a:ext uri="{FF2B5EF4-FFF2-40B4-BE49-F238E27FC236}">
                <a16:creationId xmlns:a16="http://schemas.microsoft.com/office/drawing/2014/main" id="{AC0FE69C-2CD6-A64D-4FAE-7CB8CFEEEA54}"/>
              </a:ext>
            </a:extLst>
          </p:cNvPr>
          <p:cNvSpPr txBox="1">
            <a:spLocks noGrp="1"/>
          </p:cNvSpPr>
          <p:nvPr>
            <p:ph type="body" idx="22"/>
          </p:nvPr>
        </p:nvSpPr>
        <p:spPr>
          <a:prstGeom prst="rect">
            <a:avLst/>
          </a:prstGeom>
        </p:spPr>
        <p:txBody>
          <a:bodyPr>
            <a:normAutofit lnSpcReduction="10000"/>
          </a:bodyPr>
          <a:lstStyle/>
          <a:p>
            <a:r>
              <a:rPr lang="en-US" altLang="zh-TW" dirty="0"/>
              <a:t>Performance Measures</a:t>
            </a:r>
            <a:endParaRPr dirty="0"/>
          </a:p>
        </p:txBody>
      </p:sp>
      <p:sp>
        <p:nvSpPr>
          <p:cNvPr id="73" name="Use…">
            <a:extLst>
              <a:ext uri="{FF2B5EF4-FFF2-40B4-BE49-F238E27FC236}">
                <a16:creationId xmlns:a16="http://schemas.microsoft.com/office/drawing/2014/main" id="{17106665-084E-0473-B4E2-270349CA6CA9}"/>
              </a:ext>
            </a:extLst>
          </p:cNvPr>
          <p:cNvSpPr txBox="1">
            <a:spLocks noGrp="1"/>
          </p:cNvSpPr>
          <p:nvPr>
            <p:ph type="body" idx="23"/>
          </p:nvPr>
        </p:nvSpPr>
        <p:spPr>
          <a:xfrm>
            <a:off x="761999" y="1581811"/>
            <a:ext cx="11467783" cy="2920864"/>
          </a:xfrm>
          <a:prstGeom prst="rect">
            <a:avLst/>
          </a:prstGeom>
        </p:spPr>
        <p:txBody>
          <a:bodyPr/>
          <a:lstStyle/>
          <a:p>
            <a:pPr marL="444500" indent="-444500" rtl="0">
              <a:lnSpc>
                <a:spcPts val="4500"/>
              </a:lnSpc>
              <a:buClr>
                <a:srgbClr val="00599E"/>
              </a:buClr>
              <a:buSzPct val="100000"/>
              <a:buFontTx/>
              <a:buChar char="⊡"/>
              <a:defRPr sz="3000">
                <a:solidFill>
                  <a:srgbClr val="5A5F5E"/>
                </a:solidFill>
              </a:defRPr>
            </a:pPr>
            <a:r>
              <a:rPr lang="en-US" altLang="zh-TW" sz="3000" dirty="0"/>
              <a:t>Discrimination: AUC / ROC, H-measure, and Precision–Recall curves</a:t>
            </a:r>
          </a:p>
          <a:p>
            <a:pPr marL="444500" indent="-444500" rtl="0">
              <a:lnSpc>
                <a:spcPts val="4500"/>
              </a:lnSpc>
              <a:buClr>
                <a:srgbClr val="00599E"/>
              </a:buClr>
              <a:buSzPct val="100000"/>
              <a:buFontTx/>
              <a:buChar char="⊡"/>
              <a:defRPr sz="3000">
                <a:solidFill>
                  <a:srgbClr val="5A5F5E"/>
                </a:solidFill>
              </a:defRPr>
            </a:pPr>
            <a:r>
              <a:rPr lang="en-US" altLang="zh-TW" sz="3000" dirty="0"/>
              <a:t>Calibration: Brier score and calibration plots</a:t>
            </a:r>
          </a:p>
          <a:p>
            <a:pPr marL="444500" indent="-444500" rtl="0">
              <a:lnSpc>
                <a:spcPts val="4500"/>
              </a:lnSpc>
              <a:buClr>
                <a:srgbClr val="00599E"/>
              </a:buClr>
              <a:buSzPct val="100000"/>
              <a:buFontTx/>
              <a:buChar char="⊡"/>
              <a:defRPr sz="3000">
                <a:solidFill>
                  <a:srgbClr val="5A5F5E"/>
                </a:solidFill>
              </a:defRPr>
            </a:pPr>
            <a:r>
              <a:rPr lang="en-US" altLang="zh-TW" sz="3000" dirty="0"/>
              <a:t>Threshold-based metrics: accuracy, sensitivity, specificity, F1-score</a:t>
            </a:r>
            <a:endParaRPr lang="zh-TW" altLang="zh-TW" sz="2800" dirty="0">
              <a:solidFill>
                <a:srgbClr val="000000"/>
              </a:solidFill>
              <a:latin typeface="Arial" panose="020B0604020202020204" pitchFamily="34" charset="0"/>
            </a:endParaRPr>
          </a:p>
        </p:txBody>
      </p:sp>
      <p:sp>
        <p:nvSpPr>
          <p:cNvPr id="3" name="IDA Template">
            <a:extLst>
              <a:ext uri="{FF2B5EF4-FFF2-40B4-BE49-F238E27FC236}">
                <a16:creationId xmlns:a16="http://schemas.microsoft.com/office/drawing/2014/main" id="{16254FDB-3AED-3698-2CF0-1414E1CE9438}"/>
              </a:ext>
            </a:extLst>
          </p:cNvPr>
          <p:cNvSpPr txBox="1">
            <a:spLocks noGrp="1"/>
          </p:cNvSpPr>
          <p:nvPr>
            <p:ph type="body" idx="24"/>
          </p:nvPr>
        </p:nvSpPr>
        <p:spPr>
          <a:xfrm>
            <a:off x="715963" y="9236075"/>
            <a:ext cx="10747904" cy="399033"/>
          </a:xfrm>
          <a:prstGeom prst="rect">
            <a:avLst/>
          </a:prstGeom>
        </p:spPr>
        <p:txBody>
          <a:bodyPr/>
          <a:lstStyle/>
          <a:p>
            <a:r>
              <a:rPr lang="en-US" altLang="zh-TW" dirty="0"/>
              <a:t>From Accounts to Alerts: EDA and Logistic Regression for Early Corporate Risk Prediction</a:t>
            </a:r>
          </a:p>
        </p:txBody>
      </p:sp>
    </p:spTree>
    <p:extLst>
      <p:ext uri="{BB962C8B-B14F-4D97-AF65-F5344CB8AC3E}">
        <p14:creationId xmlns:p14="http://schemas.microsoft.com/office/powerpoint/2010/main" val="868741191"/>
      </p:ext>
    </p:extLst>
  </p:cSld>
  <p:clrMapOvr>
    <a:masterClrMapping/>
  </p:clrMapOvr>
  <p:transition spd="med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TEN Template"/>
          <p:cNvSpPr txBox="1">
            <a:spLocks noGrp="1"/>
          </p:cNvSpPr>
          <p:nvPr>
            <p:ph type="body" idx="21"/>
          </p:nvPr>
        </p:nvSpPr>
        <p:spPr>
          <a:xfrm>
            <a:off x="773350" y="2649953"/>
            <a:ext cx="11458100" cy="1760787"/>
          </a:xfrm>
          <a:prstGeom prst="rect">
            <a:avLst/>
          </a:prstGeom>
        </p:spPr>
        <p:txBody>
          <a:bodyPr/>
          <a:lstStyle/>
          <a:p>
            <a:r>
              <a:rPr lang="en-US" altLang="zh-TW" sz="4300" dirty="0"/>
              <a:t>From Accounts to Alerts: EDA and Logistic Regression for Early Corporate Risk Prediction</a:t>
            </a:r>
          </a:p>
        </p:txBody>
      </p:sp>
      <p:sp>
        <p:nvSpPr>
          <p:cNvPr id="77" name="20240125 IDA Template Keynote.key"/>
          <p:cNvSpPr txBox="1"/>
          <p:nvPr/>
        </p:nvSpPr>
        <p:spPr>
          <a:xfrm>
            <a:off x="9519751" y="9237870"/>
            <a:ext cx="3163634" cy="32467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50800" tIns="50800" rIns="50800" bIns="50800">
            <a:normAutofit lnSpcReduction="10000"/>
          </a:bodyPr>
          <a:lstStyle>
            <a:lvl1pPr>
              <a:defRPr sz="1500"/>
            </a:lvl1pPr>
          </a:lstStyle>
          <a:p>
            <a:r>
              <a:rPr lang="en-US" dirty="0"/>
              <a:t>2025/10/13</a:t>
            </a:r>
            <a:endParaRPr dirty="0"/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Showroom">
  <a:themeElements>
    <a:clrScheme name="Showroom">
      <a:dk1>
        <a:srgbClr val="C4D3D3"/>
      </a:dk1>
      <a:lt1>
        <a:srgbClr val="D30F11"/>
      </a:lt1>
      <a:dk2>
        <a:srgbClr val="5A5F5E"/>
      </a:dk2>
      <a:lt2>
        <a:srgbClr val="B4B4B4"/>
      </a:lt2>
      <a:accent1>
        <a:srgbClr val="78AAB3"/>
      </a:accent1>
      <a:accent2>
        <a:srgbClr val="9A9671"/>
      </a:accent2>
      <a:accent3>
        <a:srgbClr val="D9971A"/>
      </a:accent3>
      <a:accent4>
        <a:srgbClr val="D7620E"/>
      </a:accent4>
      <a:accent5>
        <a:srgbClr val="A61702"/>
      </a:accent5>
      <a:accent6>
        <a:srgbClr val="606B7E"/>
      </a:accent6>
      <a:hlink>
        <a:srgbClr val="0000FF"/>
      </a:hlink>
      <a:folHlink>
        <a:srgbClr val="FF00FF"/>
      </a:folHlink>
    </a:clrScheme>
    <a:fontScheme name="Showroom">
      <a:majorFont>
        <a:latin typeface="Helvetica Neue"/>
        <a:ea typeface="Helvetica Neue"/>
        <a:cs typeface="Helvetica Neue"/>
      </a:majorFont>
      <a:minorFont>
        <a:latin typeface="Helvetica Neue"/>
        <a:ea typeface="Helvetica Neue"/>
        <a:cs typeface="Helvetica Neue"/>
      </a:minorFont>
    </a:fontScheme>
    <a:fmtScheme name="Showroom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808785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l" defTabSz="584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5500" b="0" i="0" u="none" strike="noStrike" cap="none" spc="0" normalizeH="0" baseline="0">
            <a:ln>
              <a:noFill/>
            </a:ln>
            <a:solidFill>
              <a:srgbClr val="D30F11"/>
            </a:solidFill>
            <a:effectLst/>
            <a:uFillTx/>
            <a:latin typeface="Helvetica Neue Light"/>
            <a:ea typeface="Helvetica Neue Light"/>
            <a:cs typeface="Helvetica Neue Light"/>
            <a:sym typeface="Helvetica Neue Light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5A5F5E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t">
        <a:normAutofit/>
      </a:bodyPr>
      <a:lstStyle>
        <a:defPPr marL="0" marR="0" indent="0" algn="l" defTabSz="584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5500" b="0" i="0" u="none" strike="noStrike" cap="none" spc="0" normalizeH="0" baseline="0">
            <a:ln>
              <a:noFill/>
            </a:ln>
            <a:solidFill>
              <a:srgbClr val="D30F11"/>
            </a:solidFill>
            <a:effectLst/>
            <a:uFillTx/>
            <a:latin typeface="Helvetica Neue Light"/>
            <a:ea typeface="Helvetica Neue Light"/>
            <a:cs typeface="Helvetica Neue Light"/>
            <a:sym typeface="Helvetica Neue Light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Showroom">
  <a:themeElements>
    <a:clrScheme name="Showroom">
      <a:dk1>
        <a:srgbClr val="000000"/>
      </a:dk1>
      <a:lt1>
        <a:srgbClr val="FFFFFF"/>
      </a:lt1>
      <a:dk2>
        <a:srgbClr val="5A5F5E"/>
      </a:dk2>
      <a:lt2>
        <a:srgbClr val="B4B4B4"/>
      </a:lt2>
      <a:accent1>
        <a:srgbClr val="78AAB3"/>
      </a:accent1>
      <a:accent2>
        <a:srgbClr val="9A9671"/>
      </a:accent2>
      <a:accent3>
        <a:srgbClr val="D9971A"/>
      </a:accent3>
      <a:accent4>
        <a:srgbClr val="D7620E"/>
      </a:accent4>
      <a:accent5>
        <a:srgbClr val="A61702"/>
      </a:accent5>
      <a:accent6>
        <a:srgbClr val="606B7E"/>
      </a:accent6>
      <a:hlink>
        <a:srgbClr val="0000FF"/>
      </a:hlink>
      <a:folHlink>
        <a:srgbClr val="FF00FF"/>
      </a:folHlink>
    </a:clrScheme>
    <a:fontScheme name="Showroom">
      <a:majorFont>
        <a:latin typeface="Helvetica Neue"/>
        <a:ea typeface="Helvetica Neue"/>
        <a:cs typeface="Helvetica Neue"/>
      </a:majorFont>
      <a:minorFont>
        <a:latin typeface="Helvetica Neue"/>
        <a:ea typeface="Helvetica Neue"/>
        <a:cs typeface="Helvetica Neue"/>
      </a:minorFont>
    </a:fontScheme>
    <a:fmtScheme name="Showroom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808785"/>
        </a:solidFill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ctr">
        <a:spAutoFit/>
      </a:bodyPr>
      <a:lstStyle>
        <a:defPPr marL="0" marR="0" indent="0" algn="l" defTabSz="584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5500" b="0" i="0" u="none" strike="noStrike" cap="none" spc="0" normalizeH="0" baseline="0">
            <a:ln>
              <a:noFill/>
            </a:ln>
            <a:solidFill>
              <a:srgbClr val="D30F11"/>
            </a:solidFill>
            <a:effectLst/>
            <a:uFillTx/>
            <a:latin typeface="Helvetica Neue Light"/>
            <a:ea typeface="Helvetica Neue Light"/>
            <a:cs typeface="Helvetica Neue Light"/>
            <a:sym typeface="Helvetica Neue Light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rgbClr val="5A5F5E"/>
          </a:solidFill>
          <a:prstDash val="solid"/>
          <a:miter lim="400000"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50800" tIns="50800" rIns="50800" bIns="50800" numCol="1" spcCol="38100" rtlCol="0" anchor="t">
        <a:normAutofit/>
      </a:bodyPr>
      <a:lstStyle>
        <a:defPPr marL="0" marR="0" indent="0" algn="l" defTabSz="584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5500" b="0" i="0" u="none" strike="noStrike" cap="none" spc="0" normalizeH="0" baseline="0">
            <a:ln>
              <a:noFill/>
            </a:ln>
            <a:solidFill>
              <a:srgbClr val="D30F11"/>
            </a:solidFill>
            <a:effectLst/>
            <a:uFillTx/>
            <a:latin typeface="Helvetica Neue Light"/>
            <a:ea typeface="Helvetica Neue Light"/>
            <a:cs typeface="Helvetica Neue Light"/>
            <a:sym typeface="Helvetica Neue Light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72</TotalTime>
  <Words>534</Words>
  <Application>Microsoft Office PowerPoint</Application>
  <PresentationFormat>自訂</PresentationFormat>
  <Paragraphs>86</Paragraphs>
  <Slides>15</Slides>
  <Notes>1</Notes>
  <HiddenSlides>0</HiddenSlides>
  <MMClips>0</MMClips>
  <ScaleCrop>false</ScaleCrop>
  <HeadingPairs>
    <vt:vector size="6" baseType="variant">
      <vt:variant>
        <vt:lpstr>使用字型</vt:lpstr>
      </vt:variant>
      <vt:variant>
        <vt:i4>6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15</vt:i4>
      </vt:variant>
    </vt:vector>
  </HeadingPairs>
  <TitlesOfParts>
    <vt:vector size="22" baseType="lpstr">
      <vt:lpstr>Avenir Roman</vt:lpstr>
      <vt:lpstr>Helvetica Neue</vt:lpstr>
      <vt:lpstr>Helvetica Neue Light</vt:lpstr>
      <vt:lpstr>Helvetica Neue Thin</vt:lpstr>
      <vt:lpstr>Lucida Grande</vt:lpstr>
      <vt:lpstr>Arial</vt:lpstr>
      <vt:lpstr>Showroom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chia-yen chang</cp:lastModifiedBy>
  <cp:revision>2</cp:revision>
  <dcterms:modified xsi:type="dcterms:W3CDTF">2025-10-12T18:50:05Z</dcterms:modified>
</cp:coreProperties>
</file>